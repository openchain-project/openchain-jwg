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  <p:sldMasterId id="2147483899" r:id="rId2"/>
  </p:sldMasterIdLst>
  <p:notesMasterIdLst>
    <p:notesMasterId r:id="rId16"/>
  </p:notesMasterIdLst>
  <p:sldIdLst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6" r:id="rId14"/>
    <p:sldId id="32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00" autoAdjust="0"/>
    <p:restoredTop sz="94899" autoAdjust="0"/>
  </p:normalViewPr>
  <p:slideViewPr>
    <p:cSldViewPr snapToGrid="0">
      <p:cViewPr varScale="1">
        <p:scale>
          <a:sx n="131" d="100"/>
          <a:sy n="131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A0F1E-6A7A-408C-9B73-64CA77DFA15B}" type="datetimeFigureOut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C7B7E-EBD4-4B56-80C7-AFA5C2719C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14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4739-6B5A-4F8B-B16A-0057429AE121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56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D0EEA-4AC9-487F-BF7E-E7ADE265C8B1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20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06900"/>
            <a:ext cx="10515600" cy="1362075"/>
          </a:xfrm>
        </p:spPr>
        <p:txBody>
          <a:bodyPr anchor="t"/>
          <a:lstStyle>
            <a:lvl1pPr>
              <a:defRPr sz="4000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0671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472B9-0DC0-43A3-A586-259C5CCCC7B7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53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AD0A-FF56-440C-8866-2DBB85638F26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16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35113"/>
            <a:ext cx="5156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74875"/>
            <a:ext cx="51562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535113"/>
            <a:ext cx="51577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74875"/>
            <a:ext cx="5157787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01A6-9B05-4412-9B66-4612911364EA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27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7C22-1549-405D-A0B3-B16D97AD5E99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650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ACC1-FFB1-4714-840C-A511AA693359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93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85800"/>
            <a:ext cx="4013200" cy="1160463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6663" y="685800"/>
            <a:ext cx="6300787" cy="548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850" y="1846263"/>
            <a:ext cx="4013200" cy="4325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D9A3-D474-427A-8BEC-4724A22B28E1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01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075" y="4800600"/>
            <a:ext cx="7177088" cy="566738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5075" y="685800"/>
            <a:ext cx="7177088" cy="4041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5075" y="5367338"/>
            <a:ext cx="71770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BE405-2BEB-4CB5-9650-43A5C6CAEB09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CC0-1.0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15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4767-C37E-45FC-97CA-CB11AB76749C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616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1CA7-7D10-4549-A359-CC229CBEA567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81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98854" y="1802717"/>
            <a:ext cx="10794377" cy="1440333"/>
          </a:xfrm>
          <a:prstGeom prst="rect">
            <a:avLst/>
          </a:prstGeom>
        </p:spPr>
        <p:txBody>
          <a:bodyPr wrap="none" lIns="26196" tIns="0" rIns="26196" bIns="0" anchor="b" anchorCtr="0">
            <a:noAutofit/>
          </a:bodyPr>
          <a:lstStyle>
            <a:lvl1pPr algn="l">
              <a:defRPr sz="2700"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98854" y="3595653"/>
            <a:ext cx="10794377" cy="1080251"/>
          </a:xfrm>
          <a:prstGeom prst="rect">
            <a:avLst/>
          </a:prstGeom>
        </p:spPr>
        <p:txBody>
          <a:bodyPr wrap="none" lIns="26196" tIns="0" rIns="26196" bIns="0"/>
          <a:lstStyle>
            <a:lvl1pPr marL="0" indent="0" algn="l">
              <a:defRPr sz="1800"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359813" y="3429795"/>
            <a:ext cx="11514003" cy="0"/>
          </a:xfrm>
          <a:prstGeom prst="line">
            <a:avLst/>
          </a:prstGeom>
          <a:ln w="317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スライド番号プレースホルダ 7"/>
          <p:cNvSpPr txBox="1">
            <a:spLocks noGrp="1"/>
          </p:cNvSpPr>
          <p:nvPr userDrawn="1"/>
        </p:nvSpPr>
        <p:spPr bwMode="auto">
          <a:xfrm>
            <a:off x="215891" y="6408000"/>
            <a:ext cx="6476627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7B6D7-B93D-4A81-9951-1EF138C68E07}" type="slidenum">
              <a:rPr lang="en-US" altLang="ja-JP" sz="1300" b="1" kern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ja-JP" sz="1300" b="1" kern="0" dirty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t>  </a:t>
            </a:r>
            <a:r>
              <a:rPr lang="en-US" altLang="ja-JP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EA157A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D6ECFF">
                    <a:lumMod val="50000"/>
                  </a:srgbClr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ja-JP" altLang="en-US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 </a:t>
            </a:r>
            <a:endParaRPr lang="ja-JP" altLang="ja-JP" sz="1200" dirty="0">
              <a:solidFill>
                <a:prstClr val="white">
                  <a:lumMod val="65000"/>
                </a:prstClr>
              </a:solidFill>
              <a:latin typeface="Myriad Pro" pitchFamily="34" charset="0"/>
              <a:ea typeface="Adobe Gothic Std B" pitchFamily="34" charset="-128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21659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iddlePage_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576000" y="46032"/>
            <a:ext cx="11040000" cy="792183"/>
          </a:xfrm>
          <a:prstGeom prst="rect">
            <a:avLst/>
          </a:prstGeom>
        </p:spPr>
        <p:txBody>
          <a:bodyPr wrap="none" lIns="0" tIns="0" rIns="0" bIns="0" anchor="b"/>
          <a:lstStyle>
            <a:lvl1pPr>
              <a:defRPr baseline="0">
                <a:solidFill>
                  <a:schemeClr val="tx1"/>
                </a:solidFill>
                <a:latin typeface="Tahoma" pitchFamily="34" charset="0"/>
                <a:ea typeface="ＭＳ Ｐゴシック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4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576000" y="1056491"/>
            <a:ext cx="11040000" cy="5114521"/>
          </a:xfrm>
          <a:prstGeom prst="rect">
            <a:avLst/>
          </a:prstGeom>
        </p:spPr>
        <p:txBody>
          <a:bodyPr lIns="66191" tIns="33182" rIns="66191" bIns="33182"/>
          <a:lstStyle>
            <a:lvl1pPr marL="128965" indent="-128965">
              <a:spcBef>
                <a:spcPts val="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326988" indent="-133565">
              <a:spcBef>
                <a:spcPts val="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517013" indent="-124407">
              <a:spcBef>
                <a:spcPts val="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715071" indent="-128965">
              <a:spcBef>
                <a:spcPts val="0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913128" indent="-133565">
              <a:spcBef>
                <a:spcPts val="0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359813" y="908931"/>
            <a:ext cx="11514003" cy="0"/>
          </a:xfrm>
          <a:prstGeom prst="line">
            <a:avLst/>
          </a:prstGeom>
          <a:ln w="317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スライド番号プレースホルダ 7"/>
          <p:cNvSpPr txBox="1">
            <a:spLocks noGrp="1"/>
          </p:cNvSpPr>
          <p:nvPr userDrawn="1"/>
        </p:nvSpPr>
        <p:spPr bwMode="auto">
          <a:xfrm>
            <a:off x="215891" y="6408000"/>
            <a:ext cx="6476627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7B6D7-B93D-4A81-9951-1EF138C68E07}" type="slidenum">
              <a:rPr lang="en-US" altLang="ja-JP" sz="1300" b="1" kern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ja-JP" sz="1300" b="1" kern="0" dirty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t>  </a:t>
            </a:r>
            <a:r>
              <a:rPr lang="en-US" altLang="ja-JP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EA157A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D6ECFF">
                    <a:lumMod val="50000"/>
                  </a:srgbClr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ja-JP" altLang="en-US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  </a:t>
            </a:r>
            <a:endParaRPr lang="ja-JP" altLang="ja-JP" sz="1200" dirty="0">
              <a:solidFill>
                <a:prstClr val="white">
                  <a:lumMod val="65000"/>
                </a:prstClr>
              </a:solidFill>
              <a:latin typeface="Myriad Pro" pitchFamily="34" charset="0"/>
              <a:ea typeface="Adobe Gothic Std B" pitchFamily="34" charset="-128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17144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MiddlePage_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576000" y="46032"/>
            <a:ext cx="11040000" cy="792183"/>
          </a:xfrm>
          <a:prstGeom prst="rect">
            <a:avLst/>
          </a:prstGeom>
        </p:spPr>
        <p:txBody>
          <a:bodyPr wrap="none" lIns="0" tIns="0" rIns="0" bIns="0" anchor="b"/>
          <a:lstStyle>
            <a:lvl1pPr>
              <a:defRPr baseline="0">
                <a:solidFill>
                  <a:schemeClr val="tx1"/>
                </a:solidFill>
                <a:latin typeface="Tahoma" pitchFamily="34" charset="0"/>
                <a:ea typeface="ＭＳ Ｐゴシック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359813" y="908931"/>
            <a:ext cx="11514003" cy="0"/>
          </a:xfrm>
          <a:prstGeom prst="line">
            <a:avLst/>
          </a:prstGeom>
          <a:ln w="317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スライド番号プレースホルダ 7"/>
          <p:cNvSpPr txBox="1">
            <a:spLocks noGrp="1"/>
          </p:cNvSpPr>
          <p:nvPr userDrawn="1"/>
        </p:nvSpPr>
        <p:spPr bwMode="auto">
          <a:xfrm>
            <a:off x="215891" y="6408000"/>
            <a:ext cx="6476627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7B6D7-B93D-4A81-9951-1EF138C68E07}" type="slidenum">
              <a:rPr lang="en-US" altLang="ja-JP" sz="1300" b="1" kern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ja-JP" sz="1300" b="1" kern="0" dirty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t>  </a:t>
            </a:r>
            <a:r>
              <a:rPr lang="en-US" altLang="ja-JP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EA157A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D6ECFF">
                    <a:lumMod val="50000"/>
                  </a:srgbClr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ja-JP" altLang="en-US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  </a:t>
            </a:r>
            <a:endParaRPr lang="ja-JP" altLang="ja-JP" sz="1200" dirty="0">
              <a:solidFill>
                <a:prstClr val="white">
                  <a:lumMod val="65000"/>
                </a:prstClr>
              </a:solidFill>
              <a:latin typeface="Myriad Pro" pitchFamily="34" charset="0"/>
              <a:ea typeface="Adobe Gothic Std B" pitchFamily="34" charset="-128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35471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39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86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79D9F-14C0-4FEA-A161-9952562F370E}" type="datetime1">
              <a:rPr kumimoji="1" lang="ja-JP" altLang="en-US" smtClean="0"/>
              <a:t>2018/11/5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00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8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HGP創英角ｺﾞｼｯｸUB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5pPr>
      <a:lvl6pPr marL="331688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6pPr>
      <a:lvl7pPr marL="663340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7pPr>
      <a:lvl8pPr marL="994996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8pPr>
      <a:lvl9pPr marL="1326667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248749" indent="-248749" algn="l" rtl="0" eaLnBrk="1" fontAlgn="base" hangingPunct="1">
        <a:spcBef>
          <a:spcPct val="20000"/>
        </a:spcBef>
        <a:spcAft>
          <a:spcPct val="0"/>
        </a:spcAft>
        <a:defRPr kumimoji="1" sz="21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1pPr>
      <a:lvl2pPr marL="538956" indent="-207235" algn="l" rtl="0" eaLnBrk="1" fontAlgn="base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2pPr>
      <a:lvl3pPr marL="829164" indent="-165858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3pPr>
      <a:lvl4pPr marL="1160829" indent="-165858" algn="l" rtl="0" eaLnBrk="1" fontAlgn="base" hangingPunct="1">
        <a:spcBef>
          <a:spcPct val="20000"/>
        </a:spcBef>
        <a:spcAft>
          <a:spcPct val="0"/>
        </a:spcAft>
        <a:defRPr kumimoji="1" sz="15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4pPr>
      <a:lvl5pPr marL="1492498" indent="-165858" algn="l" rtl="0" eaLnBrk="1" fontAlgn="base" hangingPunct="1">
        <a:spcBef>
          <a:spcPct val="20000"/>
        </a:spcBef>
        <a:spcAft>
          <a:spcPct val="0"/>
        </a:spcAft>
        <a:defRPr kumimoji="1" sz="15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5pPr>
      <a:lvl6pPr marL="1824170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155840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487502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819171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1688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63340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94996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26667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58334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90004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21669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53340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Activity Report</a:t>
            </a:r>
            <a:r>
              <a:rPr kumimoji="1" lang="ja-JP" altLang="en-US" dirty="0"/>
              <a:t> </a:t>
            </a:r>
            <a:r>
              <a:rPr kumimoji="1" lang="en-US" altLang="ja-JP" dirty="0"/>
              <a:t>of</a:t>
            </a:r>
            <a:r>
              <a:rPr kumimoji="1" lang="ja-JP" altLang="en-US" dirty="0"/>
              <a:t> </a:t>
            </a:r>
            <a:br>
              <a:rPr kumimoji="1" lang="en-US" altLang="ja-JP" dirty="0"/>
            </a:br>
            <a:r>
              <a:rPr kumimoji="1" lang="en-US" altLang="ja-JP" dirty="0"/>
              <a:t>Planning</a:t>
            </a:r>
            <a:r>
              <a:rPr kumimoji="1" lang="ja-JP" altLang="en-US" dirty="0"/>
              <a:t> </a:t>
            </a:r>
            <a:r>
              <a:rPr kumimoji="1" lang="en-US" altLang="ja-JP" dirty="0"/>
              <a:t>Subgroup</a:t>
            </a:r>
            <a:br>
              <a:rPr lang="en-US" altLang="ja-JP" dirty="0"/>
            </a:br>
            <a:r>
              <a:rPr lang="ja-JP" altLang="en-US" sz="3200" dirty="0"/>
              <a:t>（</a:t>
            </a:r>
            <a:r>
              <a:rPr lang="en-US" altLang="ja-JP" sz="3200" dirty="0"/>
              <a:t>Sep.–Oct. /2018</a:t>
            </a:r>
            <a:r>
              <a:rPr lang="ja-JP" altLang="en-US" sz="3200" dirty="0"/>
              <a:t>）</a:t>
            </a:r>
            <a:endParaRPr kumimoji="1" lang="ja-JP" altLang="en-US" sz="3200" dirty="0"/>
          </a:p>
        </p:txBody>
      </p:sp>
      <p:sp>
        <p:nvSpPr>
          <p:cNvPr id="4" name="サブタイトル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Hiroyuki Fukuchi</a:t>
            </a:r>
            <a:endParaRPr kumimoji="1" lang="ja-JP" altLang="en-US" dirty="0"/>
          </a:p>
        </p:txBody>
      </p:sp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457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92B5E8-7187-44CB-8716-B3F3417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AC7FD6-D6DB-496C-94DF-84892226E501}"/>
              </a:ext>
            </a:extLst>
          </p:cNvPr>
          <p:cNvSpPr txBox="1"/>
          <p:nvPr/>
        </p:nvSpPr>
        <p:spPr>
          <a:xfrm>
            <a:off x="3373120" y="2773680"/>
            <a:ext cx="5445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dirty="0"/>
              <a:t>Part-I</a:t>
            </a:r>
          </a:p>
          <a:p>
            <a:pPr algn="ctr"/>
            <a:r>
              <a:rPr kumimoji="1" lang="en-US" altLang="ja-JP" sz="4800" dirty="0"/>
              <a:t>Activity Report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49772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FCA54-6DE0-4D02-884C-187A81FA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Overview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C5241A-713D-41C3-804C-BB1806C9E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ja-JP" dirty="0"/>
              <a:t>Member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Nomura, </a:t>
            </a:r>
            <a:r>
              <a:rPr kumimoji="1" lang="en-US" altLang="ja-JP" dirty="0" err="1"/>
              <a:t>Imada</a:t>
            </a:r>
            <a:r>
              <a:rPr kumimoji="1" lang="en-US" altLang="ja-JP" dirty="0"/>
              <a:t>, Endo, Abe, Nozue, Ueda, Yamaoka, Kobota</a:t>
            </a:r>
            <a:endParaRPr lang="en-US" altLang="ja-JP" dirty="0"/>
          </a:p>
          <a:p>
            <a:pPr lvl="1"/>
            <a:r>
              <a:rPr lang="en-US" altLang="ja-JP" dirty="0"/>
              <a:t>Ohuchi, Harada, </a:t>
            </a:r>
            <a:r>
              <a:rPr lang="en-US" altLang="ja-JP" dirty="0" err="1"/>
              <a:t>Asaba</a:t>
            </a:r>
            <a:r>
              <a:rPr lang="en-US" altLang="ja-JP" dirty="0"/>
              <a:t>, Watanabe, Koizumi, Kato</a:t>
            </a:r>
          </a:p>
          <a:p>
            <a:pPr lvl="1"/>
            <a:r>
              <a:rPr kumimoji="1" lang="en-US" altLang="ja-JP" dirty="0"/>
              <a:t>Fukuchi(reporter)</a:t>
            </a:r>
          </a:p>
          <a:p>
            <a:r>
              <a:rPr lang="en-US" altLang="ja-JP" dirty="0"/>
              <a:t>Outcome</a:t>
            </a:r>
          </a:p>
          <a:p>
            <a:pPr lvl="1"/>
            <a:r>
              <a:rPr kumimoji="1" lang="en-US" altLang="ja-JP" dirty="0"/>
              <a:t>F2F</a:t>
            </a:r>
            <a:r>
              <a:rPr lang="ja-JP" altLang="en-US" dirty="0"/>
              <a:t> </a:t>
            </a:r>
            <a:r>
              <a:rPr lang="en-US" altLang="ja-JP" dirty="0"/>
              <a:t>meeting</a:t>
            </a:r>
            <a:r>
              <a:rPr kumimoji="1" lang="ja-JP" altLang="en-US" dirty="0"/>
              <a:t>：　</a:t>
            </a:r>
            <a:r>
              <a:rPr kumimoji="1" lang="en-US" altLang="ja-JP" dirty="0"/>
              <a:t>Oct. 1</a:t>
            </a:r>
            <a:r>
              <a:rPr kumimoji="1" lang="en-US" altLang="ja-JP" baseline="30000" dirty="0"/>
              <a:t>st</a:t>
            </a:r>
            <a:r>
              <a:rPr kumimoji="1" lang="en-US" altLang="ja-JP" dirty="0"/>
              <a:t> (@Toyota), Oct. 16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(@Sony), Oct. 24</a:t>
            </a:r>
            <a:r>
              <a:rPr kumimoji="1" lang="en-US" altLang="ja-JP" baseline="30000" dirty="0"/>
              <a:t>th</a:t>
            </a:r>
            <a:r>
              <a:rPr lang="en-US" altLang="ja-JP" baseline="30000" dirty="0"/>
              <a:t> </a:t>
            </a:r>
            <a:r>
              <a:rPr kumimoji="1" lang="en-US" altLang="ja-JP" dirty="0"/>
              <a:t>(@Hitachi)</a:t>
            </a:r>
          </a:p>
          <a:p>
            <a:pPr lvl="1"/>
            <a:r>
              <a:rPr lang="en-US" altLang="ja-JP" dirty="0"/>
              <a:t>Discussion about the direction of our activity</a:t>
            </a:r>
          </a:p>
          <a:p>
            <a:pPr lvl="1"/>
            <a:r>
              <a:rPr lang="en-US" altLang="ja-JP" dirty="0"/>
              <a:t>Case study of business workflow (automotive, CE, IT )</a:t>
            </a:r>
          </a:p>
          <a:p>
            <a:pPr lvl="1"/>
            <a:r>
              <a:rPr lang="en-US" altLang="ja-JP" dirty="0"/>
              <a:t>Building universal business workflow model</a:t>
            </a:r>
          </a:p>
          <a:p>
            <a:pPr lvl="1"/>
            <a:r>
              <a:rPr kumimoji="1" lang="en-US" altLang="ja-JP" dirty="0"/>
              <a:t>Planning of all member meeting</a:t>
            </a:r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8B8DCC-70D1-4C28-A8D6-651F0E9A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8990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A2EE8FB-1D44-433A-B191-28D12E1D9B5C}"/>
              </a:ext>
            </a:extLst>
          </p:cNvPr>
          <p:cNvSpPr/>
          <p:nvPr/>
        </p:nvSpPr>
        <p:spPr>
          <a:xfrm>
            <a:off x="714375" y="815062"/>
            <a:ext cx="11002704" cy="4241224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3" name="正方形/長方形 2"/>
          <p:cNvSpPr/>
          <p:nvPr/>
        </p:nvSpPr>
        <p:spPr>
          <a:xfrm>
            <a:off x="7543800" y="2327044"/>
            <a:ext cx="3498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仕様変更を先取り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　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Curriculum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Team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との分担必要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7869065-6277-4099-9902-9804523733FC}"/>
              </a:ext>
            </a:extLst>
          </p:cNvPr>
          <p:cNvSpPr/>
          <p:nvPr/>
        </p:nvSpPr>
        <p:spPr>
          <a:xfrm>
            <a:off x="4066835" y="1177414"/>
            <a:ext cx="7491752" cy="786703"/>
          </a:xfrm>
          <a:prstGeom prst="roundRect">
            <a:avLst>
              <a:gd name="adj" fmla="val 3288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230CB34-BEF4-4BB0-A7F7-907C915D075E}"/>
              </a:ext>
            </a:extLst>
          </p:cNvPr>
          <p:cNvSpPr/>
          <p:nvPr/>
        </p:nvSpPr>
        <p:spPr>
          <a:xfrm>
            <a:off x="4069274" y="4322897"/>
            <a:ext cx="7435594" cy="646331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943844" y="83653"/>
            <a:ext cx="500149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Organizing ideas from the view point of </a:t>
            </a:r>
          </a:p>
          <a:p>
            <a:r>
              <a:rPr kumimoji="1" lang="en-US" altLang="ja-JP" dirty="0"/>
              <a:t>Inside Framework</a:t>
            </a:r>
            <a:r>
              <a:rPr kumimoji="1" lang="ja-JP" altLang="en-US" dirty="0"/>
              <a:t>（</a:t>
            </a:r>
            <a:r>
              <a:rPr kumimoji="1" lang="en-US" altLang="ja-JP" dirty="0"/>
              <a:t>Spec,</a:t>
            </a:r>
            <a:r>
              <a:rPr kumimoji="1" lang="ja-JP" altLang="en-US" dirty="0"/>
              <a:t> </a:t>
            </a:r>
            <a:r>
              <a:rPr kumimoji="1" lang="en-US" altLang="ja-JP" dirty="0"/>
              <a:t>Curriculum,</a:t>
            </a:r>
            <a:r>
              <a:rPr kumimoji="1" lang="ja-JP" altLang="en-US" dirty="0"/>
              <a:t> </a:t>
            </a:r>
            <a:r>
              <a:rPr kumimoji="1" lang="en-US" altLang="ja-JP" dirty="0"/>
              <a:t>Conformance)</a:t>
            </a:r>
            <a:r>
              <a:rPr kumimoji="1" lang="ja-JP" altLang="en-US" dirty="0"/>
              <a:t> </a:t>
            </a:r>
            <a:r>
              <a:rPr kumimoji="1" lang="en-US" altLang="ja-JP" dirty="0"/>
              <a:t>and Outside Framework.</a:t>
            </a:r>
            <a:r>
              <a:rPr kumimoji="1" lang="ja-JP" altLang="en-US"/>
              <a:t> 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B321067-77E9-4814-BB49-2E3455F7D95E}"/>
              </a:ext>
            </a:extLst>
          </p:cNvPr>
          <p:cNvSpPr/>
          <p:nvPr/>
        </p:nvSpPr>
        <p:spPr>
          <a:xfrm>
            <a:off x="714375" y="5056284"/>
            <a:ext cx="11002704" cy="1376545"/>
          </a:xfrm>
          <a:prstGeom prst="roundRect">
            <a:avLst>
              <a:gd name="adj" fmla="val 1228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/>
          <p:cNvSpPr/>
          <p:nvPr/>
        </p:nvSpPr>
        <p:spPr>
          <a:xfrm>
            <a:off x="4069274" y="2110301"/>
            <a:ext cx="7435594" cy="2031325"/>
          </a:xfrm>
          <a:prstGeom prst="roundRect">
            <a:avLst>
              <a:gd name="adj" fmla="val 10006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373441-ABE4-4675-96CB-BE3EBB7DB9C9}"/>
              </a:ext>
            </a:extLst>
          </p:cNvPr>
          <p:cNvSpPr txBox="1"/>
          <p:nvPr/>
        </p:nvSpPr>
        <p:spPr>
          <a:xfrm>
            <a:off x="781050" y="914400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Inside Framework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C67A10-2AF0-4943-9E16-17687C527022}"/>
              </a:ext>
            </a:extLst>
          </p:cNvPr>
          <p:cNvSpPr txBox="1"/>
          <p:nvPr/>
        </p:nvSpPr>
        <p:spPr>
          <a:xfrm>
            <a:off x="714375" y="5052890"/>
            <a:ext cx="248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Outside Framework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8AB02C-41AB-4B63-9929-C98CB68A5AB0}"/>
              </a:ext>
            </a:extLst>
          </p:cNvPr>
          <p:cNvSpPr txBox="1"/>
          <p:nvPr/>
        </p:nvSpPr>
        <p:spPr>
          <a:xfrm>
            <a:off x="2165824" y="1400362"/>
            <a:ext cx="137769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4B40B8-5B79-4995-9F74-DF3822CCA5CB}"/>
              </a:ext>
            </a:extLst>
          </p:cNvPr>
          <p:cNvSpPr txBox="1"/>
          <p:nvPr/>
        </p:nvSpPr>
        <p:spPr>
          <a:xfrm>
            <a:off x="2174185" y="2786767"/>
            <a:ext cx="1301494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Curriculum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E60145-5B5D-4817-96BE-0EECC6ABFC81}"/>
              </a:ext>
            </a:extLst>
          </p:cNvPr>
          <p:cNvSpPr txBox="1"/>
          <p:nvPr/>
        </p:nvSpPr>
        <p:spPr>
          <a:xfrm>
            <a:off x="2176894" y="4461396"/>
            <a:ext cx="150495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Conformance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5A3169-3F20-4549-9D49-64A19FFFFE55}"/>
              </a:ext>
            </a:extLst>
          </p:cNvPr>
          <p:cNvSpPr txBox="1"/>
          <p:nvPr/>
        </p:nvSpPr>
        <p:spPr>
          <a:xfrm>
            <a:off x="4397888" y="1261863"/>
            <a:ext cx="5304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Building Guideline for Specification</a:t>
            </a:r>
          </a:p>
          <a:p>
            <a:r>
              <a:rPr kumimoji="1" lang="ja-JP" altLang="en-US" dirty="0"/>
              <a:t>　　</a:t>
            </a:r>
            <a:r>
              <a:rPr kumimoji="1" lang="en-US" altLang="ja-JP" dirty="0"/>
              <a:t>Prioritizing item by Industry, Company size etc.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033CC1-AB20-487D-8F2D-D24ABE113AF1}"/>
              </a:ext>
            </a:extLst>
          </p:cNvPr>
          <p:cNvSpPr txBox="1"/>
          <p:nvPr/>
        </p:nvSpPr>
        <p:spPr>
          <a:xfrm>
            <a:off x="4397888" y="2119668"/>
            <a:ext cx="64796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Making education materials for each role in the OSS process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Procurement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>
                <a:solidFill>
                  <a:srgbClr val="FF0000"/>
                </a:solidFill>
              </a:rPr>
              <a:t>Developer		FAQ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Release Engineer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Management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>
                <a:solidFill>
                  <a:srgbClr val="FF0000"/>
                </a:solidFill>
              </a:rPr>
              <a:t>Sales/Marketing	Leaflet</a:t>
            </a:r>
          </a:p>
          <a:p>
            <a:r>
              <a:rPr kumimoji="1" lang="ja-JP" altLang="en-US" dirty="0"/>
              <a:t>　　</a:t>
            </a:r>
            <a:r>
              <a:rPr kumimoji="1" lang="ja-JP" altLang="en-US"/>
              <a:t>　</a:t>
            </a:r>
            <a:r>
              <a:rPr kumimoji="1" lang="en-US" altLang="ja-JP" dirty="0"/>
              <a:t> Community Role</a:t>
            </a:r>
            <a:r>
              <a:rPr kumimoji="1" lang="ja-JP" altLang="en-US"/>
              <a:t>　　</a:t>
            </a:r>
            <a:r>
              <a:rPr kumimoji="1" lang="en-US" altLang="ja-JP" dirty="0"/>
              <a:t>	Understanding the ecosystem</a:t>
            </a:r>
            <a:r>
              <a:rPr kumimoji="1" lang="ja-JP" altLang="en-US"/>
              <a:t>？</a:t>
            </a:r>
            <a:endParaRPr kumimoji="1"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D4534C7-CC70-4187-AD62-413F96D5D998}"/>
              </a:ext>
            </a:extLst>
          </p:cNvPr>
          <p:cNvSpPr txBox="1"/>
          <p:nvPr/>
        </p:nvSpPr>
        <p:spPr>
          <a:xfrm>
            <a:off x="4434891" y="4477957"/>
            <a:ext cx="576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Case</a:t>
            </a:r>
            <a:r>
              <a:rPr kumimoji="1" lang="ja-JP" altLang="en-US" dirty="0"/>
              <a:t> </a:t>
            </a:r>
            <a:r>
              <a:rPr kumimoji="1" lang="en-US" altLang="ja-JP" dirty="0"/>
              <a:t>Study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(specific idea has not been proposed yet)</a:t>
            </a:r>
            <a:endParaRPr kumimoji="1" lang="ja-JP" altLang="en-US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5082A71-1AD4-4F4F-93C9-FB5C8D34F49B}"/>
              </a:ext>
            </a:extLst>
          </p:cNvPr>
          <p:cNvSpPr/>
          <p:nvPr/>
        </p:nvSpPr>
        <p:spPr>
          <a:xfrm>
            <a:off x="4122993" y="5277025"/>
            <a:ext cx="7435594" cy="961850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CDE4390-9E63-4BFA-BFEE-6F5AFCD99628}"/>
              </a:ext>
            </a:extLst>
          </p:cNvPr>
          <p:cNvSpPr/>
          <p:nvPr/>
        </p:nvSpPr>
        <p:spPr>
          <a:xfrm>
            <a:off x="4397888" y="5425483"/>
            <a:ext cx="67433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Organizing and analyzing case</a:t>
            </a:r>
            <a:r>
              <a:rPr kumimoji="1" lang="ja-JP" altLang="en-US" dirty="0"/>
              <a:t> </a:t>
            </a:r>
            <a:r>
              <a:rPr kumimoji="1" lang="en-US" altLang="ja-JP" dirty="0"/>
              <a:t>studies	</a:t>
            </a:r>
          </a:p>
          <a:p>
            <a:r>
              <a:rPr kumimoji="1" lang="ja-JP" altLang="en-US" dirty="0"/>
              <a:t>★</a:t>
            </a:r>
            <a:r>
              <a:rPr kumimoji="1" lang="en-US" altLang="ja-JP" dirty="0"/>
              <a:t>Considering usage of SPDX in supply chains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86BDE0-D475-435C-B5E2-9A9FFA1A189B}"/>
              </a:ext>
            </a:extLst>
          </p:cNvPr>
          <p:cNvSpPr txBox="1"/>
          <p:nvPr/>
        </p:nvSpPr>
        <p:spPr>
          <a:xfrm>
            <a:off x="5970844" y="794571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Idea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590BFAC-4CE1-46BA-ADFC-CF8A9551A210}"/>
              </a:ext>
            </a:extLst>
          </p:cNvPr>
          <p:cNvCxnSpPr/>
          <p:nvPr/>
        </p:nvCxnSpPr>
        <p:spPr>
          <a:xfrm>
            <a:off x="3838575" y="815062"/>
            <a:ext cx="0" cy="5602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9DBDA30-4985-4E8B-8F5C-B7000C023E8C}"/>
              </a:ext>
            </a:extLst>
          </p:cNvPr>
          <p:cNvSpPr txBox="1"/>
          <p:nvPr/>
        </p:nvSpPr>
        <p:spPr>
          <a:xfrm>
            <a:off x="714374" y="363797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Ideas Discussed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5011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647DA82-7C29-438D-B0E4-42831686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2253803-F449-48AC-99D1-A4F065AB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6" y="1710522"/>
            <a:ext cx="4520043" cy="337516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E1CAD76-7D18-4EFF-851A-C33F4603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127" y="3460442"/>
            <a:ext cx="4520043" cy="3230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BC4FF3F-C952-4217-BA3F-732775DE8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00288"/>
            <a:ext cx="6053453" cy="3375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CDC6C2-46E6-4C34-8652-68893A356036}"/>
              </a:ext>
            </a:extLst>
          </p:cNvPr>
          <p:cNvSpPr txBox="1"/>
          <p:nvPr/>
        </p:nvSpPr>
        <p:spPr>
          <a:xfrm>
            <a:off x="714374" y="363797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Case</a:t>
            </a:r>
            <a:r>
              <a:rPr kumimoji="1" lang="ja-JP" altLang="en-US" sz="2400"/>
              <a:t> </a:t>
            </a:r>
            <a:r>
              <a:rPr kumimoji="1" lang="en-US" altLang="ja-JP" sz="2400" dirty="0"/>
              <a:t>Study of Business Workflow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4BEE6C-788F-49D9-9B71-28F697EDB6F9}"/>
              </a:ext>
            </a:extLst>
          </p:cNvPr>
          <p:cNvSpPr txBox="1"/>
          <p:nvPr/>
        </p:nvSpPr>
        <p:spPr>
          <a:xfrm>
            <a:off x="1542150" y="929047"/>
            <a:ext cx="9296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Materials</a:t>
            </a:r>
            <a:r>
              <a:rPr kumimoji="1" lang="ja-JP" altLang="en-US" dirty="0"/>
              <a:t> </a:t>
            </a:r>
            <a:r>
              <a:rPr kumimoji="1" lang="en-US" altLang="ja-JP" dirty="0"/>
              <a:t>are</a:t>
            </a:r>
            <a:r>
              <a:rPr kumimoji="1" lang="ja-JP" altLang="en-US" dirty="0"/>
              <a:t> </a:t>
            </a:r>
            <a:r>
              <a:rPr kumimoji="1" lang="en-US" altLang="ja-JP" dirty="0"/>
              <a:t>shared</a:t>
            </a:r>
            <a:r>
              <a:rPr kumimoji="1" lang="ja-JP" altLang="en-US"/>
              <a:t> </a:t>
            </a:r>
            <a:r>
              <a:rPr kumimoji="1" lang="en-US" altLang="ja-JP" dirty="0"/>
              <a:t>on</a:t>
            </a:r>
            <a:r>
              <a:rPr kumimoji="1" lang="ja-JP" altLang="en-US"/>
              <a:t> </a:t>
            </a:r>
            <a:r>
              <a:rPr kumimoji="1" lang="en-US" altLang="ja-JP" dirty="0"/>
              <a:t>GitHub</a:t>
            </a:r>
          </a:p>
          <a:p>
            <a:r>
              <a:rPr kumimoji="1" lang="en-US" altLang="ja-JP" dirty="0"/>
              <a:t>https://github.com/OpenChain-Project/Onboarding-JWG/tree/master/CaseStudy/BusinessFlow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934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D3BAF66-74AC-4F53-891D-87F3A0889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936" y="825462"/>
            <a:ext cx="8738125" cy="491519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C43334-4100-40A2-B57E-9CC056CEA752}"/>
              </a:ext>
            </a:extLst>
          </p:cNvPr>
          <p:cNvSpPr txBox="1"/>
          <p:nvPr/>
        </p:nvSpPr>
        <p:spPr>
          <a:xfrm>
            <a:off x="714374" y="363797"/>
            <a:ext cx="4655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Universal Business Workflow Model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625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D045F5A-81EB-4D18-B6DA-B62DBBA8E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634" y="594629"/>
            <a:ext cx="6096528" cy="3429297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55DD76D-98C1-49F2-964E-CA381BE3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981F38-1424-4C61-850B-96A4C8BF9F9A}"/>
              </a:ext>
            </a:extLst>
          </p:cNvPr>
          <p:cNvSpPr txBox="1"/>
          <p:nvPr/>
        </p:nvSpPr>
        <p:spPr>
          <a:xfrm>
            <a:off x="614382" y="166021"/>
            <a:ext cx="422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Applying Universal Model</a:t>
            </a:r>
            <a:endParaRPr kumimoji="1" lang="ja-JP" altLang="en-US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72F6CF3-A99B-4B38-BFC3-3C9A6821F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919" y="4869076"/>
            <a:ext cx="2176381" cy="162512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E6949DC-B9D1-484E-B7B9-E16321075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59" y="4858913"/>
            <a:ext cx="2176382" cy="15552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07E19BA-9B00-40DE-966B-64293632C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113" y="4858913"/>
            <a:ext cx="2820965" cy="1572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87F23E8B-A378-48ED-9F5A-D336CCF01660}"/>
              </a:ext>
            </a:extLst>
          </p:cNvPr>
          <p:cNvSpPr/>
          <p:nvPr/>
        </p:nvSpPr>
        <p:spPr>
          <a:xfrm>
            <a:off x="2952750" y="3962400"/>
            <a:ext cx="942975" cy="86985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4CD7BC70-7771-41CD-B15E-B2ECFB488FF7}"/>
              </a:ext>
            </a:extLst>
          </p:cNvPr>
          <p:cNvSpPr/>
          <p:nvPr/>
        </p:nvSpPr>
        <p:spPr>
          <a:xfrm>
            <a:off x="5538787" y="3962400"/>
            <a:ext cx="942975" cy="8704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11DB1572-B3F2-4E61-B946-D6A1ED5CB0AA}"/>
              </a:ext>
            </a:extLst>
          </p:cNvPr>
          <p:cNvSpPr/>
          <p:nvPr/>
        </p:nvSpPr>
        <p:spPr>
          <a:xfrm>
            <a:off x="8124824" y="3961762"/>
            <a:ext cx="942975" cy="8704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85C4F5-F979-4346-A17B-89D1B6A06AB2}"/>
              </a:ext>
            </a:extLst>
          </p:cNvPr>
          <p:cNvSpPr txBox="1"/>
          <p:nvPr/>
        </p:nvSpPr>
        <p:spPr>
          <a:xfrm>
            <a:off x="2139077" y="4148007"/>
            <a:ext cx="791384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Applying universal model to specific businesses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7388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92B5E8-7187-44CB-8716-B3F3417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AC7FD6-D6DB-496C-94DF-84892226E501}"/>
              </a:ext>
            </a:extLst>
          </p:cNvPr>
          <p:cNvSpPr txBox="1"/>
          <p:nvPr/>
        </p:nvSpPr>
        <p:spPr>
          <a:xfrm>
            <a:off x="3373120" y="2773680"/>
            <a:ext cx="5445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dirty="0"/>
              <a:t>Part-II</a:t>
            </a:r>
          </a:p>
          <a:p>
            <a:pPr algn="ctr"/>
            <a:r>
              <a:rPr kumimoji="1" lang="en-US" altLang="ja-JP" sz="4800" dirty="0"/>
              <a:t>New Activities</a:t>
            </a:r>
          </a:p>
        </p:txBody>
      </p:sp>
    </p:spTree>
    <p:extLst>
      <p:ext uri="{BB962C8B-B14F-4D97-AF65-F5344CB8AC3E}">
        <p14:creationId xmlns:p14="http://schemas.microsoft.com/office/powerpoint/2010/main" val="159429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69BDB19-CD71-4307-A2FA-6E267EDA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9A487DB-17AC-45F1-8F66-E91805970B6F}"/>
              </a:ext>
            </a:extLst>
          </p:cNvPr>
          <p:cNvSpPr/>
          <p:nvPr/>
        </p:nvSpPr>
        <p:spPr>
          <a:xfrm>
            <a:off x="2557575" y="3110558"/>
            <a:ext cx="1968087" cy="27181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Software</a:t>
            </a:r>
            <a:r>
              <a:rPr kumimoji="1" lang="ja-JP" altLang="en-US" sz="1600">
                <a:solidFill>
                  <a:schemeClr val="bg1"/>
                </a:solidFill>
              </a:rPr>
              <a:t> </a:t>
            </a:r>
            <a:r>
              <a:rPr kumimoji="1" lang="en-US" altLang="ja-JP" sz="1600" dirty="0">
                <a:solidFill>
                  <a:schemeClr val="bg1"/>
                </a:solidFill>
              </a:rPr>
              <a:t>Supplier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92C6F66-1E5C-46E6-80EE-07E6DB5AB408}"/>
              </a:ext>
            </a:extLst>
          </p:cNvPr>
          <p:cNvSpPr/>
          <p:nvPr/>
        </p:nvSpPr>
        <p:spPr>
          <a:xfrm>
            <a:off x="2658221" y="4649768"/>
            <a:ext cx="1707514" cy="10513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Process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03980BC-A15F-4544-AE1C-735067B19B13}"/>
              </a:ext>
            </a:extLst>
          </p:cNvPr>
          <p:cNvSpPr/>
          <p:nvPr/>
        </p:nvSpPr>
        <p:spPr>
          <a:xfrm>
            <a:off x="6948600" y="3110558"/>
            <a:ext cx="1968087" cy="271818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Software Recipient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47E2440-AA45-4D5D-AEFC-B1FC2B8B442B}"/>
              </a:ext>
            </a:extLst>
          </p:cNvPr>
          <p:cNvSpPr/>
          <p:nvPr/>
        </p:nvSpPr>
        <p:spPr>
          <a:xfrm>
            <a:off x="7061895" y="4649768"/>
            <a:ext cx="1707514" cy="10513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Process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9E56291-3398-4DCA-843A-8599F1C3C6B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525662" y="4469648"/>
            <a:ext cx="242293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CDB1BD-F6D3-40DE-A80F-C61696ED272D}"/>
              </a:ext>
            </a:extLst>
          </p:cNvPr>
          <p:cNvSpPr txBox="1"/>
          <p:nvPr/>
        </p:nvSpPr>
        <p:spPr>
          <a:xfrm>
            <a:off x="4592352" y="4852254"/>
            <a:ext cx="2143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Open Source</a:t>
            </a:r>
            <a:br>
              <a:rPr kumimoji="1" lang="en-US" altLang="ja-JP" dirty="0"/>
            </a:br>
            <a:r>
              <a:rPr kumimoji="1" lang="en-US" altLang="ja-JP" dirty="0"/>
              <a:t>License</a:t>
            </a:r>
            <a:r>
              <a:rPr kumimoji="1" lang="ja-JP" altLang="en-US"/>
              <a:t> </a:t>
            </a:r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8D64B4-9A4A-4A5F-977A-6398FC648950}"/>
              </a:ext>
            </a:extLst>
          </p:cNvPr>
          <p:cNvSpPr txBox="1"/>
          <p:nvPr/>
        </p:nvSpPr>
        <p:spPr>
          <a:xfrm>
            <a:off x="714374" y="363797"/>
            <a:ext cx="6234226" cy="830997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r>
              <a:rPr kumimoji="1" lang="en-US" altLang="ja-JP" sz="2400" dirty="0"/>
              <a:t>Potentially Building Guidelines </a:t>
            </a:r>
          </a:p>
          <a:p>
            <a:r>
              <a:rPr kumimoji="1" lang="en-US" altLang="ja-JP" sz="2400" dirty="0"/>
              <a:t>for the Exchange of License Information</a:t>
            </a:r>
            <a:endParaRPr kumimoji="1" lang="ja-JP" altLang="en-US" sz="2400" dirty="0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8BB7D462-DE85-4673-AD14-03BCBCE83CA4}"/>
              </a:ext>
            </a:extLst>
          </p:cNvPr>
          <p:cNvSpPr/>
          <p:nvPr/>
        </p:nvSpPr>
        <p:spPr>
          <a:xfrm>
            <a:off x="9145562" y="5457087"/>
            <a:ext cx="2348542" cy="743302"/>
          </a:xfrm>
          <a:prstGeom prst="wedgeRoundRectCallout">
            <a:avLst>
              <a:gd name="adj1" fmla="val -76529"/>
              <a:gd name="adj2" fmla="val -7688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OpenChain Specification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2943FE7-F7FF-42D6-955A-196D96CE3DD1}"/>
              </a:ext>
            </a:extLst>
          </p:cNvPr>
          <p:cNvSpPr/>
          <p:nvPr/>
        </p:nvSpPr>
        <p:spPr>
          <a:xfrm>
            <a:off x="5563719" y="3861885"/>
            <a:ext cx="346824" cy="896903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ED0D8CD4-A060-4D52-ABCD-7E5BDA39E025}"/>
              </a:ext>
            </a:extLst>
          </p:cNvPr>
          <p:cNvSpPr/>
          <p:nvPr/>
        </p:nvSpPr>
        <p:spPr>
          <a:xfrm>
            <a:off x="149752" y="5457087"/>
            <a:ext cx="2348542" cy="743302"/>
          </a:xfrm>
          <a:prstGeom prst="wedgeRoundRectCallout">
            <a:avLst>
              <a:gd name="adj1" fmla="val 65421"/>
              <a:gd name="adj2" fmla="val -9481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OpenChain Specification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39EBAF2-CDF9-4092-80BB-E795A7CB6686}"/>
              </a:ext>
            </a:extLst>
          </p:cNvPr>
          <p:cNvSpPr/>
          <p:nvPr/>
        </p:nvSpPr>
        <p:spPr>
          <a:xfrm>
            <a:off x="4735758" y="1439552"/>
            <a:ext cx="3283916" cy="115194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Exchanging license information between companies may be out of scope of OpenChain but is useful for the market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CC48F79-1147-4498-ACE3-1495B94B27AB}"/>
              </a:ext>
            </a:extLst>
          </p:cNvPr>
          <p:cNvCxnSpPr>
            <a:cxnSpLocks/>
            <a:stCxn id="18" idx="2"/>
            <a:endCxn id="15" idx="7"/>
          </p:cNvCxnSpPr>
          <p:nvPr/>
        </p:nvCxnSpPr>
        <p:spPr>
          <a:xfrm flipH="1">
            <a:off x="5859752" y="2591495"/>
            <a:ext cx="517964" cy="1401738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0E8F1B0-5FEE-4D60-9BC1-6C686F2991E6}"/>
              </a:ext>
            </a:extLst>
          </p:cNvPr>
          <p:cNvSpPr/>
          <p:nvPr/>
        </p:nvSpPr>
        <p:spPr>
          <a:xfrm>
            <a:off x="8019674" y="169162"/>
            <a:ext cx="3877686" cy="2781549"/>
          </a:xfrm>
          <a:prstGeom prst="roundRect">
            <a:avLst>
              <a:gd name="adj" fmla="val 385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Proposed Items</a:t>
            </a:r>
            <a:r>
              <a:rPr kumimoji="1" lang="ja-JP" altLang="en-US" sz="1600">
                <a:solidFill>
                  <a:schemeClr val="tx1"/>
                </a:solidFill>
              </a:rPr>
              <a:t>：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</a:t>
            </a:r>
            <a:r>
              <a:rPr kumimoji="1" lang="en-US" altLang="ja-JP" sz="1600" dirty="0">
                <a:solidFill>
                  <a:schemeClr val="tx1"/>
                </a:solidFill>
              </a:rPr>
              <a:t>License Information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</a:t>
            </a:r>
            <a:r>
              <a:rPr kumimoji="1" lang="ja-JP" altLang="en-US" sz="1600">
                <a:solidFill>
                  <a:schemeClr val="tx1"/>
                </a:solidFill>
              </a:rPr>
              <a:t>　</a:t>
            </a:r>
            <a:r>
              <a:rPr kumimoji="1" lang="en-US" altLang="ja-JP" sz="1600" dirty="0">
                <a:solidFill>
                  <a:schemeClr val="tx1"/>
                </a:solidFill>
              </a:rPr>
              <a:t>usage of SPDX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600" dirty="0">
                <a:solidFill>
                  <a:schemeClr val="tx1"/>
                </a:solidFill>
              </a:rPr>
              <a:t>simple /standard version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600" dirty="0">
                <a:solidFill>
                  <a:schemeClr val="tx1"/>
                </a:solidFill>
              </a:rPr>
              <a:t>items</a:t>
            </a:r>
            <a:r>
              <a:rPr kumimoji="1"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ja-JP" sz="1600" dirty="0">
                <a:solidFill>
                  <a:schemeClr val="tx1"/>
                </a:solidFill>
              </a:rPr>
              <a:t>for</a:t>
            </a:r>
            <a:r>
              <a:rPr kumimoji="1"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ja-JP" sz="1600" dirty="0">
                <a:solidFill>
                  <a:schemeClr val="tx1"/>
                </a:solidFill>
              </a:rPr>
              <a:t>exchange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600" dirty="0">
                <a:solidFill>
                  <a:schemeClr val="tx1"/>
                </a:solidFill>
              </a:rPr>
              <a:t>background</a:t>
            </a:r>
            <a:r>
              <a:rPr kumimoji="1"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ja-JP" sz="1600" dirty="0">
                <a:solidFill>
                  <a:schemeClr val="tx1"/>
                </a:solidFill>
              </a:rPr>
              <a:t>explanation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600" dirty="0">
                <a:solidFill>
                  <a:schemeClr val="tx1"/>
                </a:solidFill>
              </a:rPr>
              <a:t>sample</a:t>
            </a:r>
            <a:r>
              <a:rPr kumimoji="1"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ja-JP" sz="1600" dirty="0">
                <a:solidFill>
                  <a:schemeClr val="tx1"/>
                </a:solidFill>
              </a:rPr>
              <a:t>of</a:t>
            </a:r>
            <a:r>
              <a:rPr kumimoji="1"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ja-JP" sz="1600" dirty="0">
                <a:solidFill>
                  <a:schemeClr val="tx1"/>
                </a:solidFill>
              </a:rPr>
              <a:t>format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600" dirty="0">
                <a:solidFill>
                  <a:schemeClr val="tx1"/>
                </a:solidFill>
              </a:rPr>
              <a:t>procedure of making formatted data</a:t>
            </a:r>
          </a:p>
          <a:p>
            <a:r>
              <a:rPr kumimoji="1" lang="en-US" altLang="ja-JP" sz="1600" dirty="0">
                <a:solidFill>
                  <a:schemeClr val="tx1"/>
                </a:solidFill>
              </a:rPr>
              <a:t>         tooling</a:t>
            </a:r>
          </a:p>
          <a:p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en-US" altLang="ja-JP" sz="1600" dirty="0">
                <a:solidFill>
                  <a:schemeClr val="tx1"/>
                </a:solidFill>
              </a:rPr>
              <a:t> Experiment of Exchange</a:t>
            </a:r>
          </a:p>
        </p:txBody>
      </p:sp>
    </p:spTree>
    <p:extLst>
      <p:ext uri="{BB962C8B-B14F-4D97-AF65-F5344CB8AC3E}">
        <p14:creationId xmlns:p14="http://schemas.microsoft.com/office/powerpoint/2010/main" val="3558726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E9EDC75-4940-4FB3-9829-A8AC50D1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7154" y="6858000"/>
            <a:ext cx="2895600" cy="365125"/>
          </a:xfrm>
        </p:spPr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35DFAF-F876-426A-A67B-6E7B6F5943AC}"/>
              </a:ext>
            </a:extLst>
          </p:cNvPr>
          <p:cNvSpPr txBox="1"/>
          <p:nvPr/>
        </p:nvSpPr>
        <p:spPr>
          <a:xfrm>
            <a:off x="714374" y="363798"/>
            <a:ext cx="858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Call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for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Proposal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No.1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“license information between companies”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0B073A-7CE6-43AC-9EAB-B3913F48442F}"/>
              </a:ext>
            </a:extLst>
          </p:cNvPr>
          <p:cNvSpPr txBox="1"/>
          <p:nvPr/>
        </p:nvSpPr>
        <p:spPr>
          <a:xfrm>
            <a:off x="1009650" y="1171575"/>
            <a:ext cx="9552842" cy="5355312"/>
          </a:xfrm>
          <a:prstGeom prst="rect">
            <a:avLst/>
          </a:prstGeom>
          <a:noFill/>
          <a:ln w="79375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r>
              <a:rPr kumimoji="1" lang="en-US" altLang="ja-JP" dirty="0"/>
              <a:t>   Call for Proposal for ideas for “exchanging license information between companies”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We would like to start the subgroup activity dedicated to this theme.</a:t>
            </a:r>
          </a:p>
          <a:p>
            <a:r>
              <a:rPr kumimoji="1" lang="en-US" altLang="ja-JP" dirty="0"/>
              <a:t>   If you have proposals or comments, please contact with </a:t>
            </a:r>
            <a:r>
              <a:rPr kumimoji="1" lang="en-US" altLang="ja-JP" dirty="0" err="1"/>
              <a:t>H.Fukuchi</a:t>
            </a:r>
            <a:r>
              <a:rPr kumimoji="1" lang="en-US" altLang="ja-JP" dirty="0"/>
              <a:t>.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You can join the subgroup without a proposal, please contact with </a:t>
            </a:r>
            <a:r>
              <a:rPr kumimoji="1" lang="en-US" altLang="ja-JP" dirty="0" err="1"/>
              <a:t>H.Fukuchi</a:t>
            </a:r>
            <a:r>
              <a:rPr kumimoji="1" lang="en-US" altLang="ja-JP" dirty="0"/>
              <a:t>.</a:t>
            </a:r>
          </a:p>
          <a:p>
            <a:r>
              <a:rPr kumimoji="1" lang="en-US" altLang="ja-JP" dirty="0"/>
              <a:t>   Before 10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Nov., we want to start the subgroup for preparing the first draft </a:t>
            </a:r>
          </a:p>
          <a:p>
            <a:r>
              <a:rPr kumimoji="1" lang="en-US" altLang="ja-JP" dirty="0"/>
              <a:t>   at the 7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meeting(Dec. 4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). (The subgroup will continue after the meeting.)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Suggested items to be proposed</a:t>
            </a:r>
            <a:r>
              <a:rPr kumimoji="1" lang="ja-JP" altLang="en-US" dirty="0"/>
              <a:t>：</a:t>
            </a:r>
            <a:endParaRPr kumimoji="1" lang="en-US" altLang="ja-JP" dirty="0"/>
          </a:p>
          <a:p>
            <a:r>
              <a:rPr kumimoji="1" lang="ja-JP" altLang="en-US" dirty="0"/>
              <a:t>      </a:t>
            </a:r>
            <a:r>
              <a:rPr kumimoji="1" lang="en-US" altLang="ja-JP" dirty="0"/>
              <a:t>License information</a:t>
            </a:r>
          </a:p>
          <a:p>
            <a:r>
              <a:rPr kumimoji="1" lang="ja-JP" altLang="en-US" dirty="0"/>
              <a:t>　　    </a:t>
            </a:r>
            <a:r>
              <a:rPr kumimoji="1" lang="en-US" altLang="ja-JP" dirty="0"/>
              <a:t>Usage of SPDX</a:t>
            </a:r>
          </a:p>
          <a:p>
            <a:r>
              <a:rPr kumimoji="1" lang="ja-JP" altLang="en-US" dirty="0"/>
              <a:t>　　    </a:t>
            </a:r>
            <a:r>
              <a:rPr kumimoji="1" lang="en-US" altLang="ja-JP" dirty="0"/>
              <a:t>simple /standard version</a:t>
            </a:r>
          </a:p>
          <a:p>
            <a:r>
              <a:rPr kumimoji="1" lang="ja-JP" altLang="en-US" dirty="0"/>
              <a:t>　　    </a:t>
            </a:r>
            <a:r>
              <a:rPr kumimoji="1" lang="en-US" altLang="ja-JP" dirty="0"/>
              <a:t>items</a:t>
            </a:r>
            <a:r>
              <a:rPr kumimoji="1" lang="ja-JP" altLang="en-US" dirty="0"/>
              <a:t> </a:t>
            </a:r>
            <a:r>
              <a:rPr kumimoji="1" lang="en-US" altLang="ja-JP" dirty="0"/>
              <a:t>for</a:t>
            </a:r>
            <a:r>
              <a:rPr kumimoji="1" lang="ja-JP" altLang="en-US" dirty="0"/>
              <a:t> </a:t>
            </a:r>
            <a:r>
              <a:rPr kumimoji="1" lang="en-US" altLang="ja-JP" dirty="0"/>
              <a:t>exchange</a:t>
            </a:r>
          </a:p>
          <a:p>
            <a:r>
              <a:rPr kumimoji="1" lang="ja-JP" altLang="en-US" dirty="0"/>
              <a:t>　　    </a:t>
            </a:r>
            <a:r>
              <a:rPr kumimoji="1" lang="en-US" altLang="ja-JP" dirty="0"/>
              <a:t>background</a:t>
            </a:r>
            <a:r>
              <a:rPr kumimoji="1" lang="ja-JP" altLang="en-US" dirty="0"/>
              <a:t> </a:t>
            </a:r>
            <a:r>
              <a:rPr kumimoji="1" lang="en-US" altLang="ja-JP" dirty="0"/>
              <a:t>explanation</a:t>
            </a:r>
          </a:p>
          <a:p>
            <a:r>
              <a:rPr kumimoji="1" lang="ja-JP" altLang="en-US" dirty="0"/>
              <a:t>　　    </a:t>
            </a:r>
            <a:r>
              <a:rPr kumimoji="1" lang="en-US" altLang="ja-JP" dirty="0"/>
              <a:t>sample</a:t>
            </a:r>
            <a:r>
              <a:rPr kumimoji="1" lang="ja-JP" altLang="en-US" dirty="0"/>
              <a:t> </a:t>
            </a:r>
            <a:r>
              <a:rPr kumimoji="1" lang="en-US" altLang="ja-JP" dirty="0"/>
              <a:t>of</a:t>
            </a:r>
            <a:r>
              <a:rPr kumimoji="1" lang="ja-JP" altLang="en-US" dirty="0"/>
              <a:t> </a:t>
            </a:r>
            <a:r>
              <a:rPr kumimoji="1" lang="en-US" altLang="ja-JP" dirty="0"/>
              <a:t>format</a:t>
            </a:r>
          </a:p>
          <a:p>
            <a:r>
              <a:rPr kumimoji="1" lang="ja-JP" altLang="en-US" dirty="0"/>
              <a:t>　　    </a:t>
            </a:r>
            <a:r>
              <a:rPr kumimoji="1" lang="en-US" altLang="ja-JP" dirty="0"/>
              <a:t>procedure of making formatted data</a:t>
            </a:r>
          </a:p>
          <a:p>
            <a:r>
              <a:rPr kumimoji="1" lang="en-US" altLang="ja-JP" dirty="0"/>
              <a:t>          tooling</a:t>
            </a:r>
          </a:p>
          <a:p>
            <a:r>
              <a:rPr kumimoji="1" lang="en-US" altLang="ja-JP" dirty="0"/>
              <a:t>     experiment of exchanging</a:t>
            </a:r>
          </a:p>
        </p:txBody>
      </p:sp>
    </p:spTree>
    <p:extLst>
      <p:ext uri="{BB962C8B-B14F-4D97-AF65-F5344CB8AC3E}">
        <p14:creationId xmlns:p14="http://schemas.microsoft.com/office/powerpoint/2010/main" val="188925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E9EDC75-4940-4FB3-9829-A8AC50D1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7154" y="6858000"/>
            <a:ext cx="2895600" cy="365125"/>
          </a:xfrm>
        </p:spPr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35DFAF-F876-426A-A67B-6E7B6F5943AC}"/>
              </a:ext>
            </a:extLst>
          </p:cNvPr>
          <p:cNvSpPr txBox="1"/>
          <p:nvPr/>
        </p:nvSpPr>
        <p:spPr>
          <a:xfrm>
            <a:off x="714374" y="363797"/>
            <a:ext cx="6773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Call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for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Proposal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No.2 “Education for each roles”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0B073A-7CE6-43AC-9EAB-B3913F48442F}"/>
              </a:ext>
            </a:extLst>
          </p:cNvPr>
          <p:cNvSpPr txBox="1"/>
          <p:nvPr/>
        </p:nvSpPr>
        <p:spPr>
          <a:xfrm>
            <a:off x="1009650" y="1171575"/>
            <a:ext cx="9552842" cy="4524315"/>
          </a:xfrm>
          <a:prstGeom prst="rect">
            <a:avLst/>
          </a:prstGeom>
          <a:noFill/>
          <a:ln w="79375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r>
              <a:rPr kumimoji="1" lang="en-US" altLang="ja-JP" dirty="0"/>
              <a:t>   Call for Proposal for ideas for “education for each roles”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We would like to start the subgroup activity dedicated to this theme.</a:t>
            </a:r>
          </a:p>
          <a:p>
            <a:r>
              <a:rPr kumimoji="1" lang="en-US" altLang="ja-JP" dirty="0"/>
              <a:t>   If you have proposals or comments, please contact with </a:t>
            </a:r>
            <a:r>
              <a:rPr kumimoji="1" lang="en-US" altLang="ja-JP" dirty="0" err="1"/>
              <a:t>H.Fukuchi</a:t>
            </a:r>
            <a:r>
              <a:rPr kumimoji="1" lang="en-US" altLang="ja-JP" dirty="0"/>
              <a:t>.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You can join the subgroup even without a proposal, please contact with </a:t>
            </a:r>
            <a:r>
              <a:rPr kumimoji="1" lang="en-US" altLang="ja-JP" dirty="0" err="1"/>
              <a:t>H.Fukuch</a:t>
            </a:r>
            <a:r>
              <a:rPr kumimoji="1" lang="en-US" altLang="ja-JP" dirty="0"/>
              <a:t>  </a:t>
            </a:r>
            <a:r>
              <a:rPr kumimoji="1" lang="en-US" altLang="ja-JP" dirty="0" err="1"/>
              <a:t>i</a:t>
            </a:r>
            <a:r>
              <a:rPr kumimoji="1" lang="en-US" altLang="ja-JP" dirty="0"/>
              <a:t>.</a:t>
            </a:r>
          </a:p>
          <a:p>
            <a:r>
              <a:rPr kumimoji="1" lang="en-US" altLang="ja-JP" dirty="0"/>
              <a:t>   Before 10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Nov., we want to start the subgroup for preparing the first draft </a:t>
            </a:r>
          </a:p>
          <a:p>
            <a:r>
              <a:rPr kumimoji="1" lang="en-US" altLang="ja-JP" dirty="0"/>
              <a:t>   at the 7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meeting(Dec. 4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). (The subgroup will continue after the meeting.)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Suggested items to be proposed</a:t>
            </a:r>
            <a:r>
              <a:rPr kumimoji="1" lang="ja-JP" altLang="en-US" dirty="0"/>
              <a:t>：</a:t>
            </a:r>
            <a:endParaRPr kumimoji="1" lang="en-US" altLang="ja-JP" dirty="0"/>
          </a:p>
          <a:p>
            <a:r>
              <a:rPr kumimoji="1" lang="en-US" altLang="ja-JP" dirty="0"/>
              <a:t>       definition of roles</a:t>
            </a:r>
          </a:p>
          <a:p>
            <a:r>
              <a:rPr kumimoji="1" lang="en-US" altLang="ja-JP" dirty="0"/>
              <a:t>       education material for each roles (Inbound, Outbound, Management, legal, IP, sales, etc.)</a:t>
            </a:r>
          </a:p>
          <a:p>
            <a:r>
              <a:rPr kumimoji="1" lang="en-US" altLang="ja-JP" dirty="0"/>
              <a:t>       disclosing an education material used in a company</a:t>
            </a:r>
          </a:p>
          <a:p>
            <a:r>
              <a:rPr kumimoji="1" lang="en-US" altLang="ja-JP" dirty="0"/>
              <a:t>       selecting roles</a:t>
            </a:r>
          </a:p>
          <a:p>
            <a:r>
              <a:rPr kumimoji="1" lang="en-US" altLang="ja-JP" dirty="0"/>
              <a:t>       collaboration with Curriculum work team</a:t>
            </a:r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3411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A2EE8FB-1D44-433A-B191-28D12E1D9B5C}"/>
              </a:ext>
            </a:extLst>
          </p:cNvPr>
          <p:cNvSpPr/>
          <p:nvPr/>
        </p:nvSpPr>
        <p:spPr>
          <a:xfrm>
            <a:off x="714375" y="815062"/>
            <a:ext cx="11002704" cy="4241224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3" name="正方形/長方形 2"/>
          <p:cNvSpPr/>
          <p:nvPr/>
        </p:nvSpPr>
        <p:spPr>
          <a:xfrm>
            <a:off x="7543800" y="2327044"/>
            <a:ext cx="3498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仕様変更を先取り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　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Curriculum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Team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との分担必要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7869065-6277-4099-9902-9804523733FC}"/>
              </a:ext>
            </a:extLst>
          </p:cNvPr>
          <p:cNvSpPr/>
          <p:nvPr/>
        </p:nvSpPr>
        <p:spPr>
          <a:xfrm>
            <a:off x="4066835" y="1177414"/>
            <a:ext cx="7491752" cy="786703"/>
          </a:xfrm>
          <a:prstGeom prst="roundRect">
            <a:avLst>
              <a:gd name="adj" fmla="val 3288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230CB34-BEF4-4BB0-A7F7-907C915D075E}"/>
              </a:ext>
            </a:extLst>
          </p:cNvPr>
          <p:cNvSpPr/>
          <p:nvPr/>
        </p:nvSpPr>
        <p:spPr>
          <a:xfrm>
            <a:off x="4069274" y="4322897"/>
            <a:ext cx="7435594" cy="646331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943844" y="83653"/>
            <a:ext cx="500149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Organizing ideas from the view point of </a:t>
            </a:r>
          </a:p>
          <a:p>
            <a:r>
              <a:rPr kumimoji="1" lang="en-US" altLang="ja-JP" dirty="0"/>
              <a:t>Inside Framework</a:t>
            </a:r>
            <a:r>
              <a:rPr kumimoji="1" lang="ja-JP" altLang="en-US"/>
              <a:t>（</a:t>
            </a:r>
            <a:r>
              <a:rPr kumimoji="1" lang="en-US" altLang="ja-JP" dirty="0"/>
              <a:t>Spec,</a:t>
            </a:r>
            <a:r>
              <a:rPr kumimoji="1" lang="ja-JP" altLang="en-US"/>
              <a:t> </a:t>
            </a:r>
            <a:r>
              <a:rPr kumimoji="1" lang="en-US" altLang="ja-JP" dirty="0"/>
              <a:t>Curriculum,</a:t>
            </a:r>
            <a:r>
              <a:rPr kumimoji="1" lang="ja-JP" altLang="en-US"/>
              <a:t> </a:t>
            </a:r>
            <a:r>
              <a:rPr kumimoji="1" lang="en-US" altLang="ja-JP" dirty="0"/>
              <a:t>Conformance)</a:t>
            </a:r>
            <a:r>
              <a:rPr kumimoji="1" lang="ja-JP" altLang="en-US"/>
              <a:t> </a:t>
            </a:r>
            <a:r>
              <a:rPr kumimoji="1" lang="en-US" altLang="ja-JP" dirty="0"/>
              <a:t>and Outside Framework.</a:t>
            </a:r>
            <a:r>
              <a:rPr kumimoji="1" lang="ja-JP" altLang="en-US"/>
              <a:t> 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B321067-77E9-4814-BB49-2E3455F7D95E}"/>
              </a:ext>
            </a:extLst>
          </p:cNvPr>
          <p:cNvSpPr/>
          <p:nvPr/>
        </p:nvSpPr>
        <p:spPr>
          <a:xfrm>
            <a:off x="714375" y="5056284"/>
            <a:ext cx="11002704" cy="1376545"/>
          </a:xfrm>
          <a:prstGeom prst="roundRect">
            <a:avLst>
              <a:gd name="adj" fmla="val 1228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/>
          <p:cNvSpPr/>
          <p:nvPr/>
        </p:nvSpPr>
        <p:spPr>
          <a:xfrm>
            <a:off x="4069274" y="2110301"/>
            <a:ext cx="7435594" cy="2031325"/>
          </a:xfrm>
          <a:prstGeom prst="roundRect">
            <a:avLst>
              <a:gd name="adj" fmla="val 10006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373441-ABE4-4675-96CB-BE3EBB7DB9C9}"/>
              </a:ext>
            </a:extLst>
          </p:cNvPr>
          <p:cNvSpPr txBox="1"/>
          <p:nvPr/>
        </p:nvSpPr>
        <p:spPr>
          <a:xfrm>
            <a:off x="781050" y="914400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Inside Framework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8AB02C-41AB-4B63-9929-C98CB68A5AB0}"/>
              </a:ext>
            </a:extLst>
          </p:cNvPr>
          <p:cNvSpPr txBox="1"/>
          <p:nvPr/>
        </p:nvSpPr>
        <p:spPr>
          <a:xfrm>
            <a:off x="2165824" y="1400362"/>
            <a:ext cx="137769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4B40B8-5B79-4995-9F74-DF3822CCA5CB}"/>
              </a:ext>
            </a:extLst>
          </p:cNvPr>
          <p:cNvSpPr txBox="1"/>
          <p:nvPr/>
        </p:nvSpPr>
        <p:spPr>
          <a:xfrm>
            <a:off x="2174185" y="2786767"/>
            <a:ext cx="1301494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Curriculum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E60145-5B5D-4817-96BE-0EECC6ABFC81}"/>
              </a:ext>
            </a:extLst>
          </p:cNvPr>
          <p:cNvSpPr txBox="1"/>
          <p:nvPr/>
        </p:nvSpPr>
        <p:spPr>
          <a:xfrm>
            <a:off x="2176894" y="4461396"/>
            <a:ext cx="150495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Conformance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5A3169-3F20-4549-9D49-64A19FFFFE55}"/>
              </a:ext>
            </a:extLst>
          </p:cNvPr>
          <p:cNvSpPr txBox="1"/>
          <p:nvPr/>
        </p:nvSpPr>
        <p:spPr>
          <a:xfrm>
            <a:off x="4397888" y="1261863"/>
            <a:ext cx="5304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Building Guideline for Specification</a:t>
            </a:r>
          </a:p>
          <a:p>
            <a:r>
              <a:rPr kumimoji="1" lang="ja-JP" altLang="en-US" dirty="0"/>
              <a:t>　　</a:t>
            </a:r>
            <a:r>
              <a:rPr kumimoji="1" lang="en-US" altLang="ja-JP" dirty="0"/>
              <a:t>Prioritizing item by Industry, Company size etc.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033CC1-AB20-487D-8F2D-D24ABE113AF1}"/>
              </a:ext>
            </a:extLst>
          </p:cNvPr>
          <p:cNvSpPr txBox="1"/>
          <p:nvPr/>
        </p:nvSpPr>
        <p:spPr>
          <a:xfrm>
            <a:off x="4397888" y="2119668"/>
            <a:ext cx="64796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Making education materials for each roles in OSS process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Procurement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>
                <a:solidFill>
                  <a:srgbClr val="FF0000"/>
                </a:solidFill>
              </a:rPr>
              <a:t>Developer		FAQ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Release engineer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Management</a:t>
            </a:r>
          </a:p>
          <a:p>
            <a:r>
              <a:rPr kumimoji="1" lang="ja-JP" altLang="en-US" dirty="0"/>
              <a:t>　　　</a:t>
            </a:r>
            <a:r>
              <a:rPr kumimoji="1" lang="en-US" altLang="ja-JP" dirty="0">
                <a:solidFill>
                  <a:srgbClr val="FF0000"/>
                </a:solidFill>
              </a:rPr>
              <a:t>Sales/Marketing	Leaflet</a:t>
            </a:r>
          </a:p>
          <a:p>
            <a:r>
              <a:rPr kumimoji="1" lang="ja-JP" altLang="en-US" dirty="0"/>
              <a:t>　　</a:t>
            </a:r>
            <a:r>
              <a:rPr kumimoji="1" lang="ja-JP" altLang="en-US"/>
              <a:t>　</a:t>
            </a:r>
            <a:r>
              <a:rPr kumimoji="1" lang="en-US" altLang="ja-JP" dirty="0"/>
              <a:t>Community Role</a:t>
            </a:r>
            <a:r>
              <a:rPr kumimoji="1" lang="ja-JP" altLang="en-US" dirty="0"/>
              <a:t>　</a:t>
            </a:r>
            <a:r>
              <a:rPr kumimoji="1" lang="ja-JP" altLang="en-US"/>
              <a:t>　</a:t>
            </a:r>
            <a:r>
              <a:rPr kumimoji="1" lang="en-US" altLang="ja-JP" dirty="0"/>
              <a:t>	Understanding the ecosystem</a:t>
            </a:r>
            <a:r>
              <a:rPr kumimoji="1" lang="ja-JP" altLang="en-US"/>
              <a:t>？</a:t>
            </a:r>
            <a:endParaRPr kumimoji="1"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D4534C7-CC70-4187-AD62-413F96D5D998}"/>
              </a:ext>
            </a:extLst>
          </p:cNvPr>
          <p:cNvSpPr txBox="1"/>
          <p:nvPr/>
        </p:nvSpPr>
        <p:spPr>
          <a:xfrm>
            <a:off x="4434891" y="4477957"/>
            <a:ext cx="576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Case</a:t>
            </a:r>
            <a:r>
              <a:rPr kumimoji="1" lang="ja-JP" altLang="en-US" dirty="0"/>
              <a:t> </a:t>
            </a:r>
            <a:r>
              <a:rPr kumimoji="1" lang="en-US" altLang="ja-JP" dirty="0"/>
              <a:t>Study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(specific idea has not been proposed yet)</a:t>
            </a:r>
            <a:endParaRPr kumimoji="1" lang="ja-JP" altLang="en-US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5082A71-1AD4-4F4F-93C9-FB5C8D34F49B}"/>
              </a:ext>
            </a:extLst>
          </p:cNvPr>
          <p:cNvSpPr/>
          <p:nvPr/>
        </p:nvSpPr>
        <p:spPr>
          <a:xfrm>
            <a:off x="4122993" y="5277025"/>
            <a:ext cx="7435594" cy="961850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86BDE0-D475-435C-B5E2-9A9FFA1A189B}"/>
              </a:ext>
            </a:extLst>
          </p:cNvPr>
          <p:cNvSpPr txBox="1"/>
          <p:nvPr/>
        </p:nvSpPr>
        <p:spPr>
          <a:xfrm>
            <a:off x="5970844" y="794571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Idea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590BFAC-4CE1-46BA-ADFC-CF8A9551A210}"/>
              </a:ext>
            </a:extLst>
          </p:cNvPr>
          <p:cNvCxnSpPr/>
          <p:nvPr/>
        </p:nvCxnSpPr>
        <p:spPr>
          <a:xfrm>
            <a:off x="3838575" y="815062"/>
            <a:ext cx="0" cy="5602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9DBDA30-4985-4E8B-8F5C-B7000C023E8C}"/>
              </a:ext>
            </a:extLst>
          </p:cNvPr>
          <p:cNvSpPr txBox="1"/>
          <p:nvPr/>
        </p:nvSpPr>
        <p:spPr>
          <a:xfrm>
            <a:off x="714374" y="363797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Ideas Discussed</a:t>
            </a:r>
            <a:endParaRPr kumimoji="1" lang="ja-JP" altLang="en-US" sz="2400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CAE0051-E2BA-43D5-B1A3-C20DD6E31A55}"/>
              </a:ext>
            </a:extLst>
          </p:cNvPr>
          <p:cNvSpPr/>
          <p:nvPr/>
        </p:nvSpPr>
        <p:spPr>
          <a:xfrm>
            <a:off x="4206290" y="5680587"/>
            <a:ext cx="7435594" cy="675764"/>
          </a:xfrm>
          <a:prstGeom prst="roundRect">
            <a:avLst>
              <a:gd name="adj" fmla="val 10006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CDE4390-9E63-4BFA-BFEE-6F5AFCD99628}"/>
              </a:ext>
            </a:extLst>
          </p:cNvPr>
          <p:cNvSpPr/>
          <p:nvPr/>
        </p:nvSpPr>
        <p:spPr>
          <a:xfrm>
            <a:off x="4397888" y="5425483"/>
            <a:ext cx="76820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Organizing and analyzing case</a:t>
            </a:r>
            <a:r>
              <a:rPr kumimoji="1" lang="ja-JP" altLang="en-US" dirty="0"/>
              <a:t> </a:t>
            </a:r>
            <a:r>
              <a:rPr kumimoji="1" lang="en-US" altLang="ja-JP" dirty="0"/>
              <a:t>studies	</a:t>
            </a:r>
          </a:p>
          <a:p>
            <a:r>
              <a:rPr kumimoji="1" lang="ja-JP" altLang="en-US" dirty="0"/>
              <a:t>★</a:t>
            </a:r>
            <a:r>
              <a:rPr kumimoji="1" lang="en-US" altLang="ja-JP" dirty="0"/>
              <a:t>Considering usage of SPDX in supply chains</a:t>
            </a:r>
          </a:p>
          <a:p>
            <a:r>
              <a:rPr kumimoji="1" lang="ja-JP" altLang="en-US" dirty="0"/>
              <a:t>★</a:t>
            </a:r>
            <a:r>
              <a:rPr kumimoji="1" lang="en-US" altLang="ja-JP" dirty="0"/>
              <a:t>Building guidelines for exchanging license information between companies</a:t>
            </a:r>
          </a:p>
        </p:txBody>
      </p:sp>
      <p:sp>
        <p:nvSpPr>
          <p:cNvPr id="26" name="テキスト ボックス 11">
            <a:extLst>
              <a:ext uri="{FF2B5EF4-FFF2-40B4-BE49-F238E27FC236}">
                <a16:creationId xmlns:a16="http://schemas.microsoft.com/office/drawing/2014/main" id="{D37BFDF6-F8A6-5A4F-83D9-5B4A1698CD78}"/>
              </a:ext>
            </a:extLst>
          </p:cNvPr>
          <p:cNvSpPr txBox="1"/>
          <p:nvPr/>
        </p:nvSpPr>
        <p:spPr>
          <a:xfrm>
            <a:off x="714375" y="5052890"/>
            <a:ext cx="248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Outside Framework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731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A50CC38-7271-432F-B127-A3F10336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8472" y="6492875"/>
            <a:ext cx="2895600" cy="365125"/>
          </a:xfrm>
        </p:spPr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DBCE1FBD-C8FA-45E8-9060-79BE0F0850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32000" y="719666"/>
          <a:ext cx="8128000" cy="5858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003967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339070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125075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760602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03087299"/>
                    </a:ext>
                  </a:extLst>
                </a:gridCol>
              </a:tblGrid>
              <a:tr h="5350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2018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92275"/>
                  </a:ext>
                </a:extLst>
              </a:tr>
              <a:tr h="2431204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372108"/>
                  </a:ext>
                </a:extLst>
              </a:tr>
              <a:tr h="2787083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73720"/>
                  </a:ext>
                </a:extLst>
              </a:tr>
            </a:tbl>
          </a:graphicData>
        </a:graphic>
      </p:graphicFrame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DA8C9C30-D711-4610-9C65-8E477700E4D1}"/>
              </a:ext>
            </a:extLst>
          </p:cNvPr>
          <p:cNvSpPr/>
          <p:nvPr/>
        </p:nvSpPr>
        <p:spPr>
          <a:xfrm>
            <a:off x="2362200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C53884BE-A12F-4E8E-A918-162757DFEF41}"/>
              </a:ext>
            </a:extLst>
          </p:cNvPr>
          <p:cNvSpPr/>
          <p:nvPr/>
        </p:nvSpPr>
        <p:spPr>
          <a:xfrm>
            <a:off x="3124200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8142FD77-F75C-4E9E-B487-94B081CF30E3}"/>
              </a:ext>
            </a:extLst>
          </p:cNvPr>
          <p:cNvSpPr/>
          <p:nvPr/>
        </p:nvSpPr>
        <p:spPr>
          <a:xfrm>
            <a:off x="4381500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B52320C5-18D3-4719-A7E9-942FC059CBD0}"/>
              </a:ext>
            </a:extLst>
          </p:cNvPr>
          <p:cNvSpPr/>
          <p:nvPr/>
        </p:nvSpPr>
        <p:spPr>
          <a:xfrm>
            <a:off x="5514975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425481-5968-41D5-98FF-59E32D3B2191}"/>
              </a:ext>
            </a:extLst>
          </p:cNvPr>
          <p:cNvSpPr txBox="1"/>
          <p:nvPr/>
        </p:nvSpPr>
        <p:spPr>
          <a:xfrm>
            <a:off x="2205037" y="1895475"/>
            <a:ext cx="80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6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ja-JP" altLang="en-US" sz="1200" dirty="0"/>
              <a:t>東芝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42AF2E-B9A4-437A-9342-5CBACA081CB5}"/>
              </a:ext>
            </a:extLst>
          </p:cNvPr>
          <p:cNvSpPr txBox="1"/>
          <p:nvPr/>
        </p:nvSpPr>
        <p:spPr>
          <a:xfrm>
            <a:off x="2938461" y="1895475"/>
            <a:ext cx="1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7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en-US" altLang="ja-JP" sz="1200" dirty="0" err="1"/>
              <a:t>TuvSud</a:t>
            </a:r>
            <a:endParaRPr kumimoji="1" lang="ja-JP" altLang="en-US" sz="1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25DE27-09DF-4516-A8C4-1CAE9DE0625B}"/>
              </a:ext>
            </a:extLst>
          </p:cNvPr>
          <p:cNvSpPr txBox="1"/>
          <p:nvPr/>
        </p:nvSpPr>
        <p:spPr>
          <a:xfrm>
            <a:off x="4126705" y="1895475"/>
            <a:ext cx="1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ja-JP" altLang="en-US" sz="1200" dirty="0"/>
              <a:t>三菱電機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0C444B6-9B8D-45A3-9CBD-64C1D7C51B55}"/>
              </a:ext>
            </a:extLst>
          </p:cNvPr>
          <p:cNvSpPr txBox="1"/>
          <p:nvPr/>
        </p:nvSpPr>
        <p:spPr>
          <a:xfrm>
            <a:off x="5357812" y="1895475"/>
            <a:ext cx="1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9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ja-JP" altLang="en-US" sz="1200" dirty="0"/>
              <a:t>デンソーテン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FD2A496D-0E0C-4D77-8A68-91FB1ABFA918}"/>
              </a:ext>
            </a:extLst>
          </p:cNvPr>
          <p:cNvSpPr/>
          <p:nvPr/>
        </p:nvSpPr>
        <p:spPr>
          <a:xfrm>
            <a:off x="6456362" y="1552573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746DF0DC-CEBE-44FC-840F-DA267E3B83DA}"/>
              </a:ext>
            </a:extLst>
          </p:cNvPr>
          <p:cNvSpPr/>
          <p:nvPr/>
        </p:nvSpPr>
        <p:spPr>
          <a:xfrm>
            <a:off x="2238375" y="2504544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670F50A-1C2C-43C7-BEB8-0BF64E91A7F6}"/>
              </a:ext>
            </a:extLst>
          </p:cNvPr>
          <p:cNvSpPr txBox="1"/>
          <p:nvPr/>
        </p:nvSpPr>
        <p:spPr>
          <a:xfrm>
            <a:off x="2070099" y="2890073"/>
            <a:ext cx="69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EU</a:t>
            </a: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9FC4845E-9165-42BE-B969-527146DBA5C5}"/>
              </a:ext>
            </a:extLst>
          </p:cNvPr>
          <p:cNvSpPr/>
          <p:nvPr/>
        </p:nvSpPr>
        <p:spPr>
          <a:xfrm>
            <a:off x="4824412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943D3B-9B98-4B34-91EE-1FBE56329355}"/>
              </a:ext>
            </a:extLst>
          </p:cNvPr>
          <p:cNvSpPr txBox="1"/>
          <p:nvPr/>
        </p:nvSpPr>
        <p:spPr>
          <a:xfrm>
            <a:off x="4505325" y="2846182"/>
            <a:ext cx="966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Leadership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Summit</a:t>
            </a: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41F4994A-4F1E-4F62-9759-E927A6B3014C}"/>
              </a:ext>
            </a:extLst>
          </p:cNvPr>
          <p:cNvSpPr/>
          <p:nvPr/>
        </p:nvSpPr>
        <p:spPr>
          <a:xfrm>
            <a:off x="7664451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7FB882-F474-411C-84A9-EEBB63A90EFA}"/>
              </a:ext>
            </a:extLst>
          </p:cNvPr>
          <p:cNvSpPr txBox="1"/>
          <p:nvPr/>
        </p:nvSpPr>
        <p:spPr>
          <a:xfrm>
            <a:off x="7496175" y="2847445"/>
            <a:ext cx="69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NA</a:t>
            </a: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276606BF-CA18-4AA6-9820-B76A443AEE07}"/>
              </a:ext>
            </a:extLst>
          </p:cNvPr>
          <p:cNvSpPr/>
          <p:nvPr/>
        </p:nvSpPr>
        <p:spPr>
          <a:xfrm>
            <a:off x="8718550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4DC983C-38E4-4DF2-A149-18BE28D733FD}"/>
              </a:ext>
            </a:extLst>
          </p:cNvPr>
          <p:cNvSpPr txBox="1"/>
          <p:nvPr/>
        </p:nvSpPr>
        <p:spPr>
          <a:xfrm>
            <a:off x="8550274" y="2847445"/>
            <a:ext cx="69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EU</a:t>
            </a:r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1BFA1FED-0A5B-41D7-9AFE-B6D420263D29}"/>
              </a:ext>
            </a:extLst>
          </p:cNvPr>
          <p:cNvSpPr/>
          <p:nvPr/>
        </p:nvSpPr>
        <p:spPr>
          <a:xfrm>
            <a:off x="6208712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98AA4B-20F2-404D-89B5-20D1A05C5857}"/>
              </a:ext>
            </a:extLst>
          </p:cNvPr>
          <p:cNvSpPr txBox="1"/>
          <p:nvPr/>
        </p:nvSpPr>
        <p:spPr>
          <a:xfrm>
            <a:off x="6040436" y="2847445"/>
            <a:ext cx="855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Japan</a:t>
            </a:r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38005700-9EE3-417A-A72B-439FE04E9BDB}"/>
              </a:ext>
            </a:extLst>
          </p:cNvPr>
          <p:cNvSpPr/>
          <p:nvPr/>
        </p:nvSpPr>
        <p:spPr>
          <a:xfrm>
            <a:off x="3114675" y="251227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9D57411-B6BD-41B7-AFF0-36063920CD1B}"/>
              </a:ext>
            </a:extLst>
          </p:cNvPr>
          <p:cNvSpPr txBox="1"/>
          <p:nvPr/>
        </p:nvSpPr>
        <p:spPr>
          <a:xfrm>
            <a:off x="2946399" y="2897805"/>
            <a:ext cx="1282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Open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Compliance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Summit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D8635C8-2B68-43CD-AE30-F3FE42AAE2AA}"/>
              </a:ext>
            </a:extLst>
          </p:cNvPr>
          <p:cNvSpPr txBox="1"/>
          <p:nvPr/>
        </p:nvSpPr>
        <p:spPr>
          <a:xfrm>
            <a:off x="192421" y="1570232"/>
            <a:ext cx="1327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  <a:t>Japan</a:t>
            </a:r>
            <a:r>
              <a:rPr kumimoji="1" lang="ja-JP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  <a:t>WG</a:t>
            </a:r>
          </a:p>
          <a:p>
            <a: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  <a:t>meeting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804025-9258-475B-BCA8-E19E8730B35A}"/>
              </a:ext>
            </a:extLst>
          </p:cNvPr>
          <p:cNvSpPr txBox="1"/>
          <p:nvPr/>
        </p:nvSpPr>
        <p:spPr>
          <a:xfrm>
            <a:off x="180976" y="2495674"/>
            <a:ext cx="1327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Conference</a:t>
            </a:r>
          </a:p>
        </p:txBody>
      </p: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BF8451F2-B676-4B46-83A7-798DCCACD8CE}"/>
              </a:ext>
            </a:extLst>
          </p:cNvPr>
          <p:cNvSpPr/>
          <p:nvPr/>
        </p:nvSpPr>
        <p:spPr>
          <a:xfrm>
            <a:off x="2238375" y="3294824"/>
            <a:ext cx="247650" cy="238125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21297A5-891A-4C08-A3C7-09F1293CE012}"/>
              </a:ext>
            </a:extLst>
          </p:cNvPr>
          <p:cNvSpPr txBox="1"/>
          <p:nvPr/>
        </p:nvSpPr>
        <p:spPr>
          <a:xfrm>
            <a:off x="176870" y="3041001"/>
            <a:ext cx="2043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  <a:t>OpenChain</a:t>
            </a:r>
            <a:r>
              <a:rPr kumimoji="1" lang="ja-JP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  <a:t>Steering </a:t>
            </a:r>
            <a:b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ja-JP" sz="1600" dirty="0">
                <a:latin typeface="Calibri" panose="020F0502020204030204" pitchFamily="34" charset="0"/>
                <a:cs typeface="Calibri" panose="020F0502020204030204" pitchFamily="34" charset="0"/>
              </a:rPr>
              <a:t>Committee</a:t>
            </a:r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FC2B0F1C-585D-4136-A319-930A8F017695}"/>
              </a:ext>
            </a:extLst>
          </p:cNvPr>
          <p:cNvSpPr/>
          <p:nvPr/>
        </p:nvSpPr>
        <p:spPr>
          <a:xfrm>
            <a:off x="4824412" y="3294824"/>
            <a:ext cx="247650" cy="238125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二等辺三角形 29">
            <a:extLst>
              <a:ext uri="{FF2B5EF4-FFF2-40B4-BE49-F238E27FC236}">
                <a16:creationId xmlns:a16="http://schemas.microsoft.com/office/drawing/2014/main" id="{9C3E2B3D-F91F-44F0-80C4-E04F2BEFD628}"/>
              </a:ext>
            </a:extLst>
          </p:cNvPr>
          <p:cNvSpPr/>
          <p:nvPr/>
        </p:nvSpPr>
        <p:spPr>
          <a:xfrm>
            <a:off x="7658499" y="1552573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C8A8E7F5-953A-4F5A-B172-F948692FE109}"/>
              </a:ext>
            </a:extLst>
          </p:cNvPr>
          <p:cNvSpPr/>
          <p:nvPr/>
        </p:nvSpPr>
        <p:spPr>
          <a:xfrm>
            <a:off x="8719544" y="1552573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0EA2C0CB-6541-4FC3-88AF-744A6AFA4E3F}"/>
              </a:ext>
            </a:extLst>
          </p:cNvPr>
          <p:cNvSpPr/>
          <p:nvPr/>
        </p:nvSpPr>
        <p:spPr>
          <a:xfrm>
            <a:off x="6208712" y="3294824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827D1598-EDBC-4ABE-A4F4-35FC4273EEC5}"/>
              </a:ext>
            </a:extLst>
          </p:cNvPr>
          <p:cNvSpPr/>
          <p:nvPr/>
        </p:nvSpPr>
        <p:spPr>
          <a:xfrm>
            <a:off x="7697787" y="3294824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045713BB-5CB0-425A-92F8-3D621602A9C6}"/>
              </a:ext>
            </a:extLst>
          </p:cNvPr>
          <p:cNvSpPr/>
          <p:nvPr/>
        </p:nvSpPr>
        <p:spPr>
          <a:xfrm>
            <a:off x="8718550" y="3294824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53503725-C916-4B5C-8733-E372ADA60AE4}"/>
              </a:ext>
            </a:extLst>
          </p:cNvPr>
          <p:cNvSpPr/>
          <p:nvPr/>
        </p:nvSpPr>
        <p:spPr>
          <a:xfrm>
            <a:off x="9664699" y="1552572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D320424-F6D1-4178-B32E-422064E27AA5}"/>
              </a:ext>
            </a:extLst>
          </p:cNvPr>
          <p:cNvSpPr txBox="1"/>
          <p:nvPr/>
        </p:nvSpPr>
        <p:spPr>
          <a:xfrm>
            <a:off x="170654" y="3999761"/>
            <a:ext cx="1566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Business Workflow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B13A1F-F047-4B41-A271-FF0A78C977F0}"/>
              </a:ext>
            </a:extLst>
          </p:cNvPr>
          <p:cNvSpPr txBox="1"/>
          <p:nvPr/>
        </p:nvSpPr>
        <p:spPr>
          <a:xfrm>
            <a:off x="166642" y="5842933"/>
            <a:ext cx="1304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Education Material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946D787-F6AF-4AD3-9CD7-CEE0B8E445FF}"/>
              </a:ext>
            </a:extLst>
          </p:cNvPr>
          <p:cNvSpPr txBox="1"/>
          <p:nvPr/>
        </p:nvSpPr>
        <p:spPr>
          <a:xfrm>
            <a:off x="166642" y="4903632"/>
            <a:ext cx="1959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Guideline for Exchanging</a:t>
            </a:r>
          </a:p>
        </p:txBody>
      </p:sp>
      <p:sp>
        <p:nvSpPr>
          <p:cNvPr id="39" name="矢印: 五方向 38">
            <a:extLst>
              <a:ext uri="{FF2B5EF4-FFF2-40B4-BE49-F238E27FC236}">
                <a16:creationId xmlns:a16="http://schemas.microsoft.com/office/drawing/2014/main" id="{75C19E2B-786F-46D5-ABD6-E67B1ACD166A}"/>
              </a:ext>
            </a:extLst>
          </p:cNvPr>
          <p:cNvSpPr/>
          <p:nvPr/>
        </p:nvSpPr>
        <p:spPr>
          <a:xfrm>
            <a:off x="2015133" y="4153300"/>
            <a:ext cx="1631948" cy="12472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五方向 40">
            <a:extLst>
              <a:ext uri="{FF2B5EF4-FFF2-40B4-BE49-F238E27FC236}">
                <a16:creationId xmlns:a16="http://schemas.microsoft.com/office/drawing/2014/main" id="{68D7B529-E3E9-4D37-B8FE-C894D1882139}"/>
              </a:ext>
            </a:extLst>
          </p:cNvPr>
          <p:cNvSpPr/>
          <p:nvPr/>
        </p:nvSpPr>
        <p:spPr>
          <a:xfrm>
            <a:off x="2488206" y="5189554"/>
            <a:ext cx="7688661" cy="10789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FAF06FFC-3381-4C76-BBC3-34F5CD358C96}"/>
              </a:ext>
            </a:extLst>
          </p:cNvPr>
          <p:cNvSpPr/>
          <p:nvPr/>
        </p:nvSpPr>
        <p:spPr>
          <a:xfrm rot="10800000">
            <a:off x="3114675" y="4928657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0310E41C-EE13-47C9-A610-1C605FABE785}"/>
              </a:ext>
            </a:extLst>
          </p:cNvPr>
          <p:cNvSpPr/>
          <p:nvPr/>
        </p:nvSpPr>
        <p:spPr>
          <a:xfrm rot="10800000">
            <a:off x="4381500" y="4929220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023AF5CD-6AB3-4F26-A4BE-27EC5ACE13CA}"/>
              </a:ext>
            </a:extLst>
          </p:cNvPr>
          <p:cNvSpPr/>
          <p:nvPr/>
        </p:nvSpPr>
        <p:spPr>
          <a:xfrm rot="10800000">
            <a:off x="5534024" y="4936088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二等辺三角形 45">
            <a:extLst>
              <a:ext uri="{FF2B5EF4-FFF2-40B4-BE49-F238E27FC236}">
                <a16:creationId xmlns:a16="http://schemas.microsoft.com/office/drawing/2014/main" id="{A0681634-27A0-4E07-AA2F-681B03E5815D}"/>
              </a:ext>
            </a:extLst>
          </p:cNvPr>
          <p:cNvSpPr/>
          <p:nvPr/>
        </p:nvSpPr>
        <p:spPr>
          <a:xfrm rot="10800000">
            <a:off x="6519067" y="4936089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二等辺三角形 47">
            <a:extLst>
              <a:ext uri="{FF2B5EF4-FFF2-40B4-BE49-F238E27FC236}">
                <a16:creationId xmlns:a16="http://schemas.microsoft.com/office/drawing/2014/main" id="{30806A6C-80D2-4D5B-A061-1BE8993B70C2}"/>
              </a:ext>
            </a:extLst>
          </p:cNvPr>
          <p:cNvSpPr/>
          <p:nvPr/>
        </p:nvSpPr>
        <p:spPr>
          <a:xfrm rot="10800000">
            <a:off x="2292349" y="3890073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二等辺三角形 48">
            <a:extLst>
              <a:ext uri="{FF2B5EF4-FFF2-40B4-BE49-F238E27FC236}">
                <a16:creationId xmlns:a16="http://schemas.microsoft.com/office/drawing/2014/main" id="{129F9BD0-B276-46C5-A864-AC2A850B0C01}"/>
              </a:ext>
            </a:extLst>
          </p:cNvPr>
          <p:cNvSpPr/>
          <p:nvPr/>
        </p:nvSpPr>
        <p:spPr>
          <a:xfrm rot="10800000">
            <a:off x="3102767" y="3880698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033CC18-ABD3-415D-BAE3-39C0492675C2}"/>
              </a:ext>
            </a:extLst>
          </p:cNvPr>
          <p:cNvCxnSpPr>
            <a:stCxn id="49" idx="3"/>
            <a:endCxn id="23" idx="3"/>
          </p:cNvCxnSpPr>
          <p:nvPr/>
        </p:nvCxnSpPr>
        <p:spPr>
          <a:xfrm flipV="1">
            <a:off x="3226592" y="2750401"/>
            <a:ext cx="11908" cy="113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02922EDE-EF9C-4B53-85A5-C7F757EF3A8F}"/>
              </a:ext>
            </a:extLst>
          </p:cNvPr>
          <p:cNvCxnSpPr>
            <a:cxnSpLocks/>
            <a:stCxn id="45" idx="3"/>
            <a:endCxn id="21" idx="3"/>
          </p:cNvCxnSpPr>
          <p:nvPr/>
        </p:nvCxnSpPr>
        <p:spPr>
          <a:xfrm flipV="1">
            <a:off x="5657849" y="2700041"/>
            <a:ext cx="674688" cy="2236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376BBDD6-EF82-46F2-AAB0-0FA0A678079C}"/>
              </a:ext>
            </a:extLst>
          </p:cNvPr>
          <p:cNvCxnSpPr>
            <a:cxnSpLocks/>
            <a:stCxn id="44" idx="3"/>
            <a:endCxn id="15" idx="3"/>
          </p:cNvCxnSpPr>
          <p:nvPr/>
        </p:nvCxnSpPr>
        <p:spPr>
          <a:xfrm flipV="1">
            <a:off x="4505325" y="2700041"/>
            <a:ext cx="442912" cy="222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矢印: 五方向 54">
            <a:extLst>
              <a:ext uri="{FF2B5EF4-FFF2-40B4-BE49-F238E27FC236}">
                <a16:creationId xmlns:a16="http://schemas.microsoft.com/office/drawing/2014/main" id="{6A937CD1-6F4B-4890-965F-DCA3A4D966D8}"/>
              </a:ext>
            </a:extLst>
          </p:cNvPr>
          <p:cNvSpPr/>
          <p:nvPr/>
        </p:nvSpPr>
        <p:spPr>
          <a:xfrm>
            <a:off x="2479772" y="6137935"/>
            <a:ext cx="7688661" cy="10789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二等辺三角形 55">
            <a:extLst>
              <a:ext uri="{FF2B5EF4-FFF2-40B4-BE49-F238E27FC236}">
                <a16:creationId xmlns:a16="http://schemas.microsoft.com/office/drawing/2014/main" id="{CD16D1FF-F6F2-4AA0-B4E3-550AAE075447}"/>
              </a:ext>
            </a:extLst>
          </p:cNvPr>
          <p:cNvSpPr/>
          <p:nvPr/>
        </p:nvSpPr>
        <p:spPr>
          <a:xfrm rot="10800000">
            <a:off x="3106241" y="5877038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二等辺三角形 56">
            <a:extLst>
              <a:ext uri="{FF2B5EF4-FFF2-40B4-BE49-F238E27FC236}">
                <a16:creationId xmlns:a16="http://schemas.microsoft.com/office/drawing/2014/main" id="{909CFBFF-A1ED-4EA9-A3F8-156CA41EB649}"/>
              </a:ext>
            </a:extLst>
          </p:cNvPr>
          <p:cNvSpPr/>
          <p:nvPr/>
        </p:nvSpPr>
        <p:spPr>
          <a:xfrm rot="10800000">
            <a:off x="4373066" y="5877601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二等辺三角形 57">
            <a:extLst>
              <a:ext uri="{FF2B5EF4-FFF2-40B4-BE49-F238E27FC236}">
                <a16:creationId xmlns:a16="http://schemas.microsoft.com/office/drawing/2014/main" id="{D856DAAA-0334-4DE4-8B5B-6CD9DC4D568B}"/>
              </a:ext>
            </a:extLst>
          </p:cNvPr>
          <p:cNvSpPr/>
          <p:nvPr/>
        </p:nvSpPr>
        <p:spPr>
          <a:xfrm rot="10800000">
            <a:off x="5525590" y="5884469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二等辺三角形 59">
            <a:extLst>
              <a:ext uri="{FF2B5EF4-FFF2-40B4-BE49-F238E27FC236}">
                <a16:creationId xmlns:a16="http://schemas.microsoft.com/office/drawing/2014/main" id="{9488D0BF-1CCA-4D2D-96D8-E674A042DDA2}"/>
              </a:ext>
            </a:extLst>
          </p:cNvPr>
          <p:cNvSpPr/>
          <p:nvPr/>
        </p:nvSpPr>
        <p:spPr>
          <a:xfrm rot="10800000">
            <a:off x="6510633" y="5884470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23">
            <a:extLst>
              <a:ext uri="{FF2B5EF4-FFF2-40B4-BE49-F238E27FC236}">
                <a16:creationId xmlns:a16="http://schemas.microsoft.com/office/drawing/2014/main" id="{1D3E971A-8B8A-1B42-AE86-7AB2E37BA87C}"/>
              </a:ext>
            </a:extLst>
          </p:cNvPr>
          <p:cNvSpPr txBox="1"/>
          <p:nvPr/>
        </p:nvSpPr>
        <p:spPr>
          <a:xfrm>
            <a:off x="166642" y="240763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Proposed Milestones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326460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SSL資料_20160418_c">
  <a:themeElements>
    <a:clrScheme name="ユーザー定義 1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007DEA"/>
      </a:accent1>
      <a:accent2>
        <a:srgbClr val="FCB95D"/>
      </a:accent2>
      <a:accent3>
        <a:srgbClr val="FF0000"/>
      </a:accent3>
      <a:accent4>
        <a:srgbClr val="007DEA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ユーザー定義 3">
      <a:majorFont>
        <a:latin typeface="Segoe UI"/>
        <a:ea typeface="メイリオ"/>
        <a:cs typeface=""/>
      </a:majorFont>
      <a:minorFont>
        <a:latin typeface="Segoe UI Symbo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2060"/>
        </a:solidFill>
        <a:ln w="28575">
          <a:solidFill>
            <a:schemeClr val="bg1"/>
          </a:solidFill>
        </a:ln>
        <a:effectLst/>
      </a:spPr>
      <a:bodyPr rtlCol="0" anchor="ctr">
        <a:normAutofit/>
      </a:bodyPr>
      <a:lstStyle>
        <a:defPPr algn="ctr">
          <a:defRPr kumimoji="1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TM02836342[[fn=イオン]]</Template>
  <TotalTime>2818</TotalTime>
  <Words>591</Words>
  <Application>Microsoft Macintosh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Adobe Gothic Std B</vt:lpstr>
      <vt:lpstr>HGP創英角ｺﾞｼｯｸUB</vt:lpstr>
      <vt:lpstr>メイリオ</vt:lpstr>
      <vt:lpstr>ＭＳ Ｐゴシック</vt:lpstr>
      <vt:lpstr>Myriad Pro</vt:lpstr>
      <vt:lpstr>Segoe UI</vt:lpstr>
      <vt:lpstr>游ゴシック</vt:lpstr>
      <vt:lpstr>Arial</vt:lpstr>
      <vt:lpstr>Calibri</vt:lpstr>
      <vt:lpstr>Segoe UI Symbol</vt:lpstr>
      <vt:lpstr>Tahoma</vt:lpstr>
      <vt:lpstr>Times New Roman</vt:lpstr>
      <vt:lpstr>Blank</vt:lpstr>
      <vt:lpstr>1_OSSL資料_20160418_c</vt:lpstr>
      <vt:lpstr>Activity Report of  Planning Subgroup （Sep.–Oct. /2018）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GitHubメモ</dc:title>
  <dc:creator>Fukuchi, Hiroyuki (Sony)</dc:creator>
  <cp:lastModifiedBy>Shane Coughlan</cp:lastModifiedBy>
  <cp:revision>201</cp:revision>
  <dcterms:created xsi:type="dcterms:W3CDTF">2018-07-20T07:39:34Z</dcterms:created>
  <dcterms:modified xsi:type="dcterms:W3CDTF">2018-11-04T23:15:49Z</dcterms:modified>
</cp:coreProperties>
</file>