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86" r:id="rId11"/>
    <p:sldId id="265" r:id="rId12"/>
    <p:sldId id="266" r:id="rId13"/>
    <p:sldId id="267" r:id="rId14"/>
    <p:sldId id="268" r:id="rId15"/>
    <p:sldId id="269" r:id="rId16"/>
    <p:sldId id="270" r:id="rId17"/>
    <p:sldId id="271" r:id="rId18"/>
    <p:sldId id="274" r:id="rId19"/>
    <p:sldId id="273" r:id="rId20"/>
    <p:sldId id="275" r:id="rId21"/>
    <p:sldId id="272" r:id="rId22"/>
    <p:sldId id="276" r:id="rId23"/>
    <p:sldId id="277" r:id="rId24"/>
    <p:sldId id="278" r:id="rId25"/>
    <p:sldId id="279" r:id="rId26"/>
    <p:sldId id="280" r:id="rId27"/>
    <p:sldId id="281" r:id="rId28"/>
    <p:sldId id="282" r:id="rId29"/>
    <p:sldId id="283" r:id="rId30"/>
    <p:sldId id="284" r:id="rId31"/>
    <p:sldId id="285" r:id="rId32"/>
  </p:sldIdLst>
  <p:sldSz cx="12192000" cy="6858000"/>
  <p:notesSz cx="6858000" cy="9144000"/>
  <p:embeddedFontLst>
    <p:embeddedFont>
      <p:font typeface="Noto Sans" panose="020B0502040504020204" pitchFamily="34" charset="0"/>
      <p:regular r:id="rId34"/>
      <p:bold r:id="rId35"/>
      <p:italic r:id="rId36"/>
      <p:boldItalic r:id="rId37"/>
    </p:embeddedFont>
    <p:embeddedFont>
      <p:font typeface="Quattrocento Sans" panose="020B0502050000020003" pitchFamily="34" charset="0"/>
      <p:regular r:id="rId38"/>
      <p:bold r:id="rId39"/>
      <p:italic r:id="rId40"/>
      <p:boldItalic r:id="rId41"/>
    </p:embeddedFont>
    <p:embeddedFont>
      <p:font typeface="Roboto" panose="020000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hQpiK0nZVu3+vsdTDlIbRIc3kJ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CCC8F9-4F9A-4063-8D8D-B4B2CFCE4DA6}" v="59" dt="2026-10-22T04:46:28.223"/>
  </p1510:revLst>
</p1510:revInfo>
</file>

<file path=ppt/tableStyles.xml><?xml version="1.0" encoding="utf-8"?>
<a:tblStyleLst xmlns:a="http://schemas.openxmlformats.org/drawingml/2006/main" def="{D3E39EA5-418F-4871-997F-E158D709882C}">
  <a:tblStyle styleId="{D3E39EA5-418F-4871-997F-E158D709882C}" styleName="Table_0">
    <a:wholeTbl>
      <a:tcTxStyle b="off" i="off">
        <a:font>
          <a:latin typeface="Segoe UI"/>
          <a:ea typeface="Segoe UI"/>
          <a:cs typeface="Segoe U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4B471566-597B-4893-B0F6-045F1BB9BCDC}" styleName="Table_1">
    <a:wholeTbl>
      <a:tcTxStyle b="off" i="off">
        <a:font>
          <a:latin typeface="Segoe UI"/>
          <a:ea typeface="Segoe UI"/>
          <a:cs typeface="Segoe U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4">
              <a:alpha val="20000"/>
            </a:schemeClr>
          </a:solidFill>
        </a:fill>
      </a:tcStyle>
    </a:band1H>
    <a:band2H>
      <a:tcTxStyle b="off" i="off"/>
      <a:tcStyle>
        <a:tcBdr/>
      </a:tcStyle>
    </a:band2H>
    <a:band1V>
      <a:tcTxStyle b="off" i="off"/>
      <a:tcStyle>
        <a:tcBdr/>
        <a:fill>
          <a:solidFill>
            <a:schemeClr val="accent4">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chemeClr val="accent4"/>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chemeClr val="accent4"/>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F78F0FE4-2017-4BBF-AFAC-3617AE86A5F0}" styleName="Table_2">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276" autoAdjust="0"/>
  </p:normalViewPr>
  <p:slideViewPr>
    <p:cSldViewPr snapToGrid="0">
      <p:cViewPr varScale="1">
        <p:scale>
          <a:sx n="70" d="100"/>
          <a:sy n="70" d="100"/>
        </p:scale>
        <p:origin x="12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o Shinsuke (加藤 慎介)" userId="efa9ed1f-874e-43f5-8b11-235d448afa49" providerId="ADAL" clId="{43096BD7-55A2-4CA9-8199-977E7A9EDACB}"/>
    <pc:docChg chg="custSel addSld modSld sldOrd">
      <pc:chgData name="Kato Shinsuke (加藤 慎介)" userId="efa9ed1f-874e-43f5-8b11-235d448afa49" providerId="ADAL" clId="{43096BD7-55A2-4CA9-8199-977E7A9EDACB}" dt="2026-10-22T04:46:28.223" v="595"/>
      <pc:docMkLst>
        <pc:docMk/>
      </pc:docMkLst>
      <pc:sldChg chg="modSp mod">
        <pc:chgData name="Kato Shinsuke (加藤 慎介)" userId="efa9ed1f-874e-43f5-8b11-235d448afa49" providerId="ADAL" clId="{43096BD7-55A2-4CA9-8199-977E7A9EDACB}" dt="2026-10-21T07:50:02.479" v="9"/>
        <pc:sldMkLst>
          <pc:docMk/>
          <pc:sldMk cId="0" sldId="256"/>
        </pc:sldMkLst>
        <pc:spChg chg="mod">
          <ac:chgData name="Kato Shinsuke (加藤 慎介)" userId="efa9ed1f-874e-43f5-8b11-235d448afa49" providerId="ADAL" clId="{43096BD7-55A2-4CA9-8199-977E7A9EDACB}" dt="2026-10-21T07:50:02.479" v="9"/>
          <ac:spMkLst>
            <pc:docMk/>
            <pc:sldMk cId="0" sldId="256"/>
            <ac:spMk id="71" creationId="{00000000-0000-0000-0000-000000000000}"/>
          </ac:spMkLst>
        </pc:spChg>
      </pc:sldChg>
      <pc:sldChg chg="addSp delSp modSp mod modNotesTx">
        <pc:chgData name="Kato Shinsuke (加藤 慎介)" userId="efa9ed1f-874e-43f5-8b11-235d448afa49" providerId="ADAL" clId="{43096BD7-55A2-4CA9-8199-977E7A9EDACB}" dt="2026-10-22T01:55:02.899" v="298" actId="20577"/>
        <pc:sldMkLst>
          <pc:docMk/>
          <pc:sldMk cId="0" sldId="265"/>
        </pc:sldMkLst>
        <pc:grpChg chg="del">
          <ac:chgData name="Kato Shinsuke (加藤 慎介)" userId="efa9ed1f-874e-43f5-8b11-235d448afa49" providerId="ADAL" clId="{43096BD7-55A2-4CA9-8199-977E7A9EDACB}" dt="2026-10-22T01:54:21.178" v="284" actId="478"/>
          <ac:grpSpMkLst>
            <pc:docMk/>
            <pc:sldMk cId="0" sldId="265"/>
            <ac:grpSpMk id="205" creationId="{00000000-0000-0000-0000-000000000000}"/>
          </ac:grpSpMkLst>
        </pc:grpChg>
        <pc:picChg chg="add mod">
          <ac:chgData name="Kato Shinsuke (加藤 慎介)" userId="efa9ed1f-874e-43f5-8b11-235d448afa49" providerId="ADAL" clId="{43096BD7-55A2-4CA9-8199-977E7A9EDACB}" dt="2026-10-22T01:54:39.663" v="287" actId="14100"/>
          <ac:picMkLst>
            <pc:docMk/>
            <pc:sldMk cId="0" sldId="265"/>
            <ac:picMk id="3" creationId="{793A01EC-4917-6E94-BA0E-1283BF588969}"/>
          </ac:picMkLst>
        </pc:picChg>
      </pc:sldChg>
      <pc:sldChg chg="addSp modSp mod">
        <pc:chgData name="Kato Shinsuke (加藤 慎介)" userId="efa9ed1f-874e-43f5-8b11-235d448afa49" providerId="ADAL" clId="{43096BD7-55A2-4CA9-8199-977E7A9EDACB}" dt="2026-10-21T16:20:49.214" v="226" actId="20577"/>
        <pc:sldMkLst>
          <pc:docMk/>
          <pc:sldMk cId="0" sldId="268"/>
        </pc:sldMkLst>
        <pc:spChg chg="add mod">
          <ac:chgData name="Kato Shinsuke (加藤 慎介)" userId="efa9ed1f-874e-43f5-8b11-235d448afa49" providerId="ADAL" clId="{43096BD7-55A2-4CA9-8199-977E7A9EDACB}" dt="2026-10-21T16:20:49.214" v="226" actId="20577"/>
          <ac:spMkLst>
            <pc:docMk/>
            <pc:sldMk cId="0" sldId="268"/>
            <ac:spMk id="3" creationId="{AA68E7FA-1784-80C7-01D8-54E6E13DE636}"/>
          </ac:spMkLst>
        </pc:spChg>
        <pc:spChg chg="mod">
          <ac:chgData name="Kato Shinsuke (加藤 慎介)" userId="efa9ed1f-874e-43f5-8b11-235d448afa49" providerId="ADAL" clId="{43096BD7-55A2-4CA9-8199-977E7A9EDACB}" dt="2026-10-21T16:15:42.883" v="194" actId="1036"/>
          <ac:spMkLst>
            <pc:docMk/>
            <pc:sldMk cId="0" sldId="268"/>
            <ac:spMk id="249" creationId="{00000000-0000-0000-0000-000000000000}"/>
          </ac:spMkLst>
        </pc:spChg>
      </pc:sldChg>
      <pc:sldChg chg="addSp delSp modSp mod modNotesTx">
        <pc:chgData name="Kato Shinsuke (加藤 慎介)" userId="efa9ed1f-874e-43f5-8b11-235d448afa49" providerId="ADAL" clId="{43096BD7-55A2-4CA9-8199-977E7A9EDACB}" dt="2026-10-22T04:18:57.986" v="420" actId="1076"/>
        <pc:sldMkLst>
          <pc:docMk/>
          <pc:sldMk cId="0" sldId="270"/>
        </pc:sldMkLst>
        <pc:picChg chg="add del mod">
          <ac:chgData name="Kato Shinsuke (加藤 慎介)" userId="efa9ed1f-874e-43f5-8b11-235d448afa49" providerId="ADAL" clId="{43096BD7-55A2-4CA9-8199-977E7A9EDACB}" dt="2026-10-22T01:56:53.371" v="306" actId="478"/>
          <ac:picMkLst>
            <pc:docMk/>
            <pc:sldMk cId="0" sldId="270"/>
            <ac:picMk id="3" creationId="{D84BFA12-09B4-4CE1-5863-DE0EDF9954BB}"/>
          </ac:picMkLst>
        </pc:picChg>
        <pc:picChg chg="add mod">
          <ac:chgData name="Kato Shinsuke (加藤 慎介)" userId="efa9ed1f-874e-43f5-8b11-235d448afa49" providerId="ADAL" clId="{43096BD7-55A2-4CA9-8199-977E7A9EDACB}" dt="2026-10-22T04:18:14.747" v="393" actId="1076"/>
          <ac:picMkLst>
            <pc:docMk/>
            <pc:sldMk cId="0" sldId="270"/>
            <ac:picMk id="5" creationId="{EE3948DA-A840-0C8C-E178-670BD2E184DF}"/>
          </ac:picMkLst>
        </pc:picChg>
        <pc:picChg chg="add mod">
          <ac:chgData name="Kato Shinsuke (加藤 慎介)" userId="efa9ed1f-874e-43f5-8b11-235d448afa49" providerId="ADAL" clId="{43096BD7-55A2-4CA9-8199-977E7A9EDACB}" dt="2026-10-22T04:18:27.197" v="397" actId="14100"/>
          <ac:picMkLst>
            <pc:docMk/>
            <pc:sldMk cId="0" sldId="270"/>
            <ac:picMk id="7" creationId="{9B857ED5-6C79-371A-E85C-A2154002FE53}"/>
          </ac:picMkLst>
        </pc:picChg>
        <pc:picChg chg="add mod">
          <ac:chgData name="Kato Shinsuke (加藤 慎介)" userId="efa9ed1f-874e-43f5-8b11-235d448afa49" providerId="ADAL" clId="{43096BD7-55A2-4CA9-8199-977E7A9EDACB}" dt="2026-10-22T04:18:47.613" v="418" actId="1035"/>
          <ac:picMkLst>
            <pc:docMk/>
            <pc:sldMk cId="0" sldId="270"/>
            <ac:picMk id="9" creationId="{C82BF0D5-124D-B20A-0119-7626D0478069}"/>
          </ac:picMkLst>
        </pc:picChg>
        <pc:picChg chg="add del mod">
          <ac:chgData name="Kato Shinsuke (加藤 慎介)" userId="efa9ed1f-874e-43f5-8b11-235d448afa49" providerId="ADAL" clId="{43096BD7-55A2-4CA9-8199-977E7A9EDACB}" dt="2026-10-22T04:17:05.216" v="384" actId="478"/>
          <ac:picMkLst>
            <pc:docMk/>
            <pc:sldMk cId="0" sldId="270"/>
            <ac:picMk id="11" creationId="{D532B059-026C-EC7D-2335-3B4EBF76190A}"/>
          </ac:picMkLst>
        </pc:picChg>
        <pc:picChg chg="add mod">
          <ac:chgData name="Kato Shinsuke (加藤 慎介)" userId="efa9ed1f-874e-43f5-8b11-235d448afa49" providerId="ADAL" clId="{43096BD7-55A2-4CA9-8199-977E7A9EDACB}" dt="2026-10-22T04:18:57.986" v="420" actId="1076"/>
          <ac:picMkLst>
            <pc:docMk/>
            <pc:sldMk cId="0" sldId="270"/>
            <ac:picMk id="13" creationId="{CC07E3F4-B346-2B54-1EE1-2D71C9FEAFB1}"/>
          </ac:picMkLst>
        </pc:picChg>
        <pc:picChg chg="del">
          <ac:chgData name="Kato Shinsuke (加藤 慎介)" userId="efa9ed1f-874e-43f5-8b11-235d448afa49" providerId="ADAL" clId="{43096BD7-55A2-4CA9-8199-977E7A9EDACB}" dt="2026-10-22T01:56:12.351" v="299" actId="478"/>
          <ac:picMkLst>
            <pc:docMk/>
            <pc:sldMk cId="0" sldId="270"/>
            <ac:picMk id="277" creationId="{00000000-0000-0000-0000-000000000000}"/>
          </ac:picMkLst>
        </pc:picChg>
        <pc:picChg chg="del">
          <ac:chgData name="Kato Shinsuke (加藤 慎介)" userId="efa9ed1f-874e-43f5-8b11-235d448afa49" providerId="ADAL" clId="{43096BD7-55A2-4CA9-8199-977E7A9EDACB}" dt="2026-10-22T01:56:16.175" v="301" actId="478"/>
          <ac:picMkLst>
            <pc:docMk/>
            <pc:sldMk cId="0" sldId="270"/>
            <ac:picMk id="278" creationId="{00000000-0000-0000-0000-000000000000}"/>
          </ac:picMkLst>
        </pc:picChg>
        <pc:picChg chg="del">
          <ac:chgData name="Kato Shinsuke (加藤 慎介)" userId="efa9ed1f-874e-43f5-8b11-235d448afa49" providerId="ADAL" clId="{43096BD7-55A2-4CA9-8199-977E7A9EDACB}" dt="2026-10-22T01:56:17.975" v="302" actId="478"/>
          <ac:picMkLst>
            <pc:docMk/>
            <pc:sldMk cId="0" sldId="270"/>
            <ac:picMk id="279" creationId="{00000000-0000-0000-0000-000000000000}"/>
          </ac:picMkLst>
        </pc:picChg>
        <pc:picChg chg="del">
          <ac:chgData name="Kato Shinsuke (加藤 慎介)" userId="efa9ed1f-874e-43f5-8b11-235d448afa49" providerId="ADAL" clId="{43096BD7-55A2-4CA9-8199-977E7A9EDACB}" dt="2026-10-22T01:56:14.350" v="300" actId="478"/>
          <ac:picMkLst>
            <pc:docMk/>
            <pc:sldMk cId="0" sldId="270"/>
            <ac:picMk id="280" creationId="{00000000-0000-0000-0000-000000000000}"/>
          </ac:picMkLst>
        </pc:picChg>
      </pc:sldChg>
      <pc:sldChg chg="mod modShow">
        <pc:chgData name="Kato Shinsuke (加藤 慎介)" userId="efa9ed1f-874e-43f5-8b11-235d448afa49" providerId="ADAL" clId="{43096BD7-55A2-4CA9-8199-977E7A9EDACB}" dt="2026-10-22T02:01:19.271" v="335" actId="729"/>
        <pc:sldMkLst>
          <pc:docMk/>
          <pc:sldMk cId="0" sldId="271"/>
        </pc:sldMkLst>
      </pc:sldChg>
      <pc:sldChg chg="addSp delSp modSp mod ord modNotesTx">
        <pc:chgData name="Kato Shinsuke (加藤 慎介)" userId="efa9ed1f-874e-43f5-8b11-235d448afa49" providerId="ADAL" clId="{43096BD7-55A2-4CA9-8199-977E7A9EDACB}" dt="2026-10-22T04:22:06.277" v="488"/>
        <pc:sldMkLst>
          <pc:docMk/>
          <pc:sldMk cId="0" sldId="272"/>
        </pc:sldMkLst>
        <pc:spChg chg="mod">
          <ac:chgData name="Kato Shinsuke (加藤 慎介)" userId="efa9ed1f-874e-43f5-8b11-235d448afa49" providerId="ADAL" clId="{43096BD7-55A2-4CA9-8199-977E7A9EDACB}" dt="2026-10-21T16:19:11.387" v="200" actId="14100"/>
          <ac:spMkLst>
            <pc:docMk/>
            <pc:sldMk cId="0" sldId="272"/>
            <ac:spMk id="295" creationId="{00000000-0000-0000-0000-000000000000}"/>
          </ac:spMkLst>
        </pc:spChg>
        <pc:spChg chg="mod">
          <ac:chgData name="Kato Shinsuke (加藤 慎介)" userId="efa9ed1f-874e-43f5-8b11-235d448afa49" providerId="ADAL" clId="{43096BD7-55A2-4CA9-8199-977E7A9EDACB}" dt="2026-10-21T16:19:11.387" v="200" actId="14100"/>
          <ac:spMkLst>
            <pc:docMk/>
            <pc:sldMk cId="0" sldId="272"/>
            <ac:spMk id="296" creationId="{00000000-0000-0000-0000-000000000000}"/>
          </ac:spMkLst>
        </pc:spChg>
        <pc:spChg chg="mod">
          <ac:chgData name="Kato Shinsuke (加藤 慎介)" userId="efa9ed1f-874e-43f5-8b11-235d448afa49" providerId="ADAL" clId="{43096BD7-55A2-4CA9-8199-977E7A9EDACB}" dt="2026-10-21T16:19:35.804" v="206" actId="1076"/>
          <ac:spMkLst>
            <pc:docMk/>
            <pc:sldMk cId="0" sldId="272"/>
            <ac:spMk id="298" creationId="{00000000-0000-0000-0000-000000000000}"/>
          </ac:spMkLst>
        </pc:spChg>
        <pc:spChg chg="del">
          <ac:chgData name="Kato Shinsuke (加藤 慎介)" userId="efa9ed1f-874e-43f5-8b11-235d448afa49" providerId="ADAL" clId="{43096BD7-55A2-4CA9-8199-977E7A9EDACB}" dt="2026-10-21T16:16:18.119" v="195" actId="478"/>
          <ac:spMkLst>
            <pc:docMk/>
            <pc:sldMk cId="0" sldId="272"/>
            <ac:spMk id="301" creationId="{00000000-0000-0000-0000-000000000000}"/>
          </ac:spMkLst>
        </pc:spChg>
        <pc:picChg chg="add mod">
          <ac:chgData name="Kato Shinsuke (加藤 慎介)" userId="efa9ed1f-874e-43f5-8b11-235d448afa49" providerId="ADAL" clId="{43096BD7-55A2-4CA9-8199-977E7A9EDACB}" dt="2026-10-21T16:19:29.148" v="205" actId="1076"/>
          <ac:picMkLst>
            <pc:docMk/>
            <pc:sldMk cId="0" sldId="272"/>
            <ac:picMk id="3" creationId="{2D73C979-0FD6-ABCD-0E26-22C7A49194F2}"/>
          </ac:picMkLst>
        </pc:picChg>
        <pc:picChg chg="del">
          <ac:chgData name="Kato Shinsuke (加藤 慎介)" userId="efa9ed1f-874e-43f5-8b11-235d448afa49" providerId="ADAL" clId="{43096BD7-55A2-4CA9-8199-977E7A9EDACB}" dt="2026-10-21T16:19:01.772" v="197" actId="478"/>
          <ac:picMkLst>
            <pc:docMk/>
            <pc:sldMk cId="0" sldId="272"/>
            <ac:picMk id="300" creationId="{00000000-0000-0000-0000-000000000000}"/>
          </ac:picMkLst>
        </pc:picChg>
      </pc:sldChg>
      <pc:sldChg chg="mod modShow">
        <pc:chgData name="Kato Shinsuke (加藤 慎介)" userId="efa9ed1f-874e-43f5-8b11-235d448afa49" providerId="ADAL" clId="{43096BD7-55A2-4CA9-8199-977E7A9EDACB}" dt="2026-10-22T02:01:35.179" v="336" actId="729"/>
        <pc:sldMkLst>
          <pc:docMk/>
          <pc:sldMk cId="0" sldId="273"/>
        </pc:sldMkLst>
      </pc:sldChg>
      <pc:sldChg chg="addSp delSp modSp mod ord modShow modNotesTx">
        <pc:chgData name="Kato Shinsuke (加藤 慎介)" userId="efa9ed1f-874e-43f5-8b11-235d448afa49" providerId="ADAL" clId="{43096BD7-55A2-4CA9-8199-977E7A9EDACB}" dt="2026-10-22T04:21:10.719" v="484"/>
        <pc:sldMkLst>
          <pc:docMk/>
          <pc:sldMk cId="0" sldId="274"/>
        </pc:sldMkLst>
        <pc:spChg chg="mod ord">
          <ac:chgData name="Kato Shinsuke (加藤 慎介)" userId="efa9ed1f-874e-43f5-8b11-235d448afa49" providerId="ADAL" clId="{43096BD7-55A2-4CA9-8199-977E7A9EDACB}" dt="2026-10-22T04:20:53.842" v="482" actId="1036"/>
          <ac:spMkLst>
            <pc:docMk/>
            <pc:sldMk cId="0" sldId="274"/>
            <ac:spMk id="327" creationId="{00000000-0000-0000-0000-000000000000}"/>
          </ac:spMkLst>
        </pc:spChg>
        <pc:picChg chg="add mod">
          <ac:chgData name="Kato Shinsuke (加藤 慎介)" userId="efa9ed1f-874e-43f5-8b11-235d448afa49" providerId="ADAL" clId="{43096BD7-55A2-4CA9-8199-977E7A9EDACB}" dt="2026-10-22T04:20:43.744" v="469" actId="14100"/>
          <ac:picMkLst>
            <pc:docMk/>
            <pc:sldMk cId="0" sldId="274"/>
            <ac:picMk id="3" creationId="{294962F2-8108-C302-D4B7-B7F0B2A67F4B}"/>
          </ac:picMkLst>
        </pc:picChg>
        <pc:picChg chg="del">
          <ac:chgData name="Kato Shinsuke (加藤 慎介)" userId="efa9ed1f-874e-43f5-8b11-235d448afa49" providerId="ADAL" clId="{43096BD7-55A2-4CA9-8199-977E7A9EDACB}" dt="2026-10-22T04:20:19.244" v="443" actId="478"/>
          <ac:picMkLst>
            <pc:docMk/>
            <pc:sldMk cId="0" sldId="274"/>
            <ac:picMk id="329" creationId="{00000000-0000-0000-0000-000000000000}"/>
          </ac:picMkLst>
        </pc:picChg>
      </pc:sldChg>
      <pc:sldChg chg="addSp delSp modSp mod">
        <pc:chgData name="Kato Shinsuke (加藤 慎介)" userId="efa9ed1f-874e-43f5-8b11-235d448afa49" providerId="ADAL" clId="{43096BD7-55A2-4CA9-8199-977E7A9EDACB}" dt="2026-10-22T04:46:28.223" v="595"/>
        <pc:sldMkLst>
          <pc:docMk/>
          <pc:sldMk cId="0" sldId="282"/>
        </pc:sldMkLst>
        <pc:spChg chg="add del mod">
          <ac:chgData name="Kato Shinsuke (加藤 慎介)" userId="efa9ed1f-874e-43f5-8b11-235d448afa49" providerId="ADAL" clId="{43096BD7-55A2-4CA9-8199-977E7A9EDACB}" dt="2026-10-21T16:29:25.666" v="255"/>
          <ac:spMkLst>
            <pc:docMk/>
            <pc:sldMk cId="0" sldId="282"/>
            <ac:spMk id="2" creationId="{C2213FE4-82D8-E9E8-5B05-A3FCDF96A459}"/>
          </ac:spMkLst>
        </pc:spChg>
        <pc:spChg chg="add del mod">
          <ac:chgData name="Kato Shinsuke (加藤 慎介)" userId="efa9ed1f-874e-43f5-8b11-235d448afa49" providerId="ADAL" clId="{43096BD7-55A2-4CA9-8199-977E7A9EDACB}" dt="2026-10-21T16:29:39.172" v="262" actId="478"/>
          <ac:spMkLst>
            <pc:docMk/>
            <pc:sldMk cId="0" sldId="282"/>
            <ac:spMk id="3" creationId="{42AD098F-9CB1-D08F-947F-9DC4C715A3FA}"/>
          </ac:spMkLst>
        </pc:spChg>
        <pc:graphicFrameChg chg="mod modGraphic">
          <ac:chgData name="Kato Shinsuke (加藤 慎介)" userId="efa9ed1f-874e-43f5-8b11-235d448afa49" providerId="ADAL" clId="{43096BD7-55A2-4CA9-8199-977E7A9EDACB}" dt="2026-10-22T04:46:28.223" v="595"/>
          <ac:graphicFrameMkLst>
            <pc:docMk/>
            <pc:sldMk cId="0" sldId="282"/>
            <ac:graphicFrameMk id="453" creationId="{00000000-0000-0000-0000-000000000000}"/>
          </ac:graphicFrameMkLst>
        </pc:graphicFrameChg>
      </pc:sldChg>
      <pc:sldChg chg="addSp delSp modSp new mod ord">
        <pc:chgData name="Kato Shinsuke (加藤 慎介)" userId="efa9ed1f-874e-43f5-8b11-235d448afa49" providerId="ADAL" clId="{43096BD7-55A2-4CA9-8199-977E7A9EDACB}" dt="2026-10-22T02:06:39.459" v="383"/>
        <pc:sldMkLst>
          <pc:docMk/>
          <pc:sldMk cId="3312245052" sldId="286"/>
        </pc:sldMkLst>
        <pc:spChg chg="mod">
          <ac:chgData name="Kato Shinsuke (加藤 慎介)" userId="efa9ed1f-874e-43f5-8b11-235d448afa49" providerId="ADAL" clId="{43096BD7-55A2-4CA9-8199-977E7A9EDACB}" dt="2026-10-22T02:04:06.272" v="371"/>
          <ac:spMkLst>
            <pc:docMk/>
            <pc:sldMk cId="3312245052" sldId="286"/>
            <ac:spMk id="2" creationId="{5A4D2DC2-2465-7AC7-47FD-BD7B68CFF35F}"/>
          </ac:spMkLst>
        </pc:spChg>
        <pc:spChg chg="mod">
          <ac:chgData name="Kato Shinsuke (加藤 慎介)" userId="efa9ed1f-874e-43f5-8b11-235d448afa49" providerId="ADAL" clId="{43096BD7-55A2-4CA9-8199-977E7A9EDACB}" dt="2026-10-22T02:06:12.631" v="379" actId="14100"/>
          <ac:spMkLst>
            <pc:docMk/>
            <pc:sldMk cId="3312245052" sldId="286"/>
            <ac:spMk id="3" creationId="{09A3E27C-9429-1375-02BB-6C3DB0C832E9}"/>
          </ac:spMkLst>
        </pc:spChg>
        <pc:spChg chg="add del">
          <ac:chgData name="Kato Shinsuke (加藤 慎介)" userId="efa9ed1f-874e-43f5-8b11-235d448afa49" providerId="ADAL" clId="{43096BD7-55A2-4CA9-8199-977E7A9EDACB}" dt="2026-10-22T02:03:13.068" v="340" actId="478"/>
          <ac:spMkLst>
            <pc:docMk/>
            <pc:sldMk cId="3312245052" sldId="286"/>
            <ac:spMk id="6" creationId="{05D48857-1427-2121-974F-D280438E682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openchainproject.org/community-of-conformance"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73d37e544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g373d37e544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8" name="Google Shape;68;g373d37e544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73d37e5442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 name="Google Shape;76;g373d37e5442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73d37e5442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 name="Google Shape;84;g373d37e5442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73d37e5442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g373d37e5442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73d37e5442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373d37e5442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73d37e5442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g373d37e5442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73d37e5442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g373d37e5442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73d37e5442_0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73d37e5442_0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73d37e5442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g373d37e5442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https://openchainproject.org/community</a:t>
            </a:r>
            <a:endParaRPr kumimoji="1" lang="ja-JP" altLang="en-US" dirty="0"/>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48139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73d37e5442_0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373d37e5442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https://openchainproject.org/partners</a:t>
            </a:r>
            <a:endParaRPr dirty="0"/>
          </a:p>
        </p:txBody>
      </p:sp>
      <p:sp>
        <p:nvSpPr>
          <p:cNvPr id="190" name="Google Shape;190;g373d37e5442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73d37e5442_0_1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73d37e5442_0_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73d37e5442_0_1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g373d37e5442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8" name="Google Shape;228;g373d37e5442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73d37e5442_0_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g373d37e5442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g373d37e5442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73d37e5442_0_1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g373d37e5442_0_1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ja-JP" sz="1200" b="0" i="0" u="none" strike="noStrike" cap="none" dirty="0">
                <a:solidFill>
                  <a:schemeClr val="dk1"/>
                </a:solidFill>
                <a:latin typeface="Quattrocento Sans"/>
                <a:ea typeface="Quattrocento Sans"/>
                <a:cs typeface="Quattrocento Sans"/>
                <a:sym typeface="Quattrocento Sans"/>
              </a:rPr>
              <a:t> </a:t>
            </a:r>
            <a:r>
              <a:rPr lang="en-US" altLang="ja-JP" sz="1200" b="0" i="0" u="sng" strike="noStrike" cap="none"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https://www.openchainproject.org/community-of-conformance</a:t>
            </a:r>
            <a:endParaRPr lang="en-US" altLang="ja-JP" sz="1200" b="0" i="0" u="none" strike="noStrike" cap="none" dirty="0">
              <a:solidFill>
                <a:schemeClr val="dk1"/>
              </a:solidFill>
              <a:latin typeface="Quattrocento Sans"/>
              <a:ea typeface="Quattrocento Sans"/>
              <a:cs typeface="Quattrocento Sans"/>
              <a:sym typeface="Quattrocento Sans"/>
            </a:endParaRPr>
          </a:p>
          <a:p>
            <a:pPr marL="0" lvl="0" indent="0" algn="l" rtl="0">
              <a:lnSpc>
                <a:spcPct val="100000"/>
              </a:lnSpc>
              <a:spcBef>
                <a:spcPts val="0"/>
              </a:spcBef>
              <a:spcAft>
                <a:spcPts val="0"/>
              </a:spcAft>
              <a:buSzPts val="1400"/>
              <a:buNone/>
            </a:pPr>
            <a:endParaRPr dirty="0"/>
          </a:p>
        </p:txBody>
      </p:sp>
      <p:sp>
        <p:nvSpPr>
          <p:cNvPr id="270" name="Google Shape;270;g373d37e5442_0_1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73d37e5442_0_1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73d37e5442_0_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73d37e5442_0_2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tLang="ja-JP" dirty="0"/>
              <a:t>https://openchainproject.org/community-of-conformance</a:t>
            </a:r>
          </a:p>
          <a:p>
            <a:pPr marL="0" lvl="0" indent="0" algn="l" rtl="0">
              <a:lnSpc>
                <a:spcPct val="100000"/>
              </a:lnSpc>
              <a:spcBef>
                <a:spcPts val="0"/>
              </a:spcBef>
              <a:spcAft>
                <a:spcPts val="0"/>
              </a:spcAft>
              <a:buSzPts val="1400"/>
              <a:buNone/>
            </a:pPr>
            <a:r>
              <a:rPr lang="ja-JP" altLang="en-US" dirty="0"/>
              <a:t>の下の方にある</a:t>
            </a:r>
            <a:endParaRPr lang="en-US" dirty="0"/>
          </a:p>
        </p:txBody>
      </p:sp>
      <p:sp>
        <p:nvSpPr>
          <p:cNvPr id="320" name="Google Shape;320;g373d37e5442_0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73d37e5442_0_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g373d37e5442_0_2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73d37e5442_0_2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73d37e5442_0_2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g373d37e5442_0_2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g373d37e5442_0_2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73d37e5442_0_2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373d37e5442_0_2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更新日：</a:t>
            </a:r>
            <a:r>
              <a:rPr lang="en-US" altLang="ja-JP" dirty="0"/>
              <a:t>2026/10/22</a:t>
            </a:r>
          </a:p>
          <a:p>
            <a:pPr marL="0" lvl="0" indent="0" algn="l" rtl="0">
              <a:lnSpc>
                <a:spcPct val="100000"/>
              </a:lnSpc>
              <a:spcBef>
                <a:spcPts val="0"/>
              </a:spcBef>
              <a:spcAft>
                <a:spcPts val="0"/>
              </a:spcAft>
              <a:buSzPts val="1400"/>
              <a:buNone/>
            </a:pPr>
            <a:r>
              <a:rPr lang="en-US" altLang="ja-JP" dirty="0"/>
              <a:t>■</a:t>
            </a:r>
            <a:r>
              <a:rPr lang="ja-JP" altLang="en-US" dirty="0"/>
              <a:t>このページの更新について</a:t>
            </a:r>
          </a:p>
          <a:p>
            <a:pPr marL="0" lvl="0" indent="0" algn="l" rtl="0">
              <a:lnSpc>
                <a:spcPct val="100000"/>
              </a:lnSpc>
              <a:spcBef>
                <a:spcPts val="0"/>
              </a:spcBef>
              <a:spcAft>
                <a:spcPts val="0"/>
              </a:spcAft>
              <a:buSzPts val="1400"/>
              <a:buNone/>
            </a:pPr>
            <a:r>
              <a:rPr lang="en-US" altLang="ja-JP" dirty="0"/>
              <a:t>https://www.openchainproject.org/</a:t>
            </a:r>
          </a:p>
          <a:p>
            <a:pPr marL="0" lvl="0" indent="0" algn="l" rtl="0">
              <a:lnSpc>
                <a:spcPct val="100000"/>
              </a:lnSpc>
              <a:spcBef>
                <a:spcPts val="0"/>
              </a:spcBef>
              <a:spcAft>
                <a:spcPts val="0"/>
              </a:spcAft>
              <a:buSzPts val="1400"/>
              <a:buNone/>
            </a:pPr>
            <a:r>
              <a:rPr lang="ja-JP" altLang="en-US" dirty="0"/>
              <a:t>から，</a:t>
            </a:r>
            <a:r>
              <a:rPr lang="en-US" altLang="ja-JP" dirty="0"/>
              <a:t>Platinum Members </a:t>
            </a:r>
            <a:r>
              <a:rPr lang="ja-JP" altLang="en-US" dirty="0"/>
              <a:t>のスクショを貼り付ける．</a:t>
            </a:r>
          </a:p>
          <a:p>
            <a:pPr marL="0" lvl="0" indent="0" algn="l" rtl="0">
              <a:lnSpc>
                <a:spcPct val="100000"/>
              </a:lnSpc>
              <a:spcBef>
                <a:spcPts val="0"/>
              </a:spcBef>
              <a:spcAft>
                <a:spcPts val="0"/>
              </a:spcAft>
              <a:buSzPts val="1400"/>
              <a:buNone/>
            </a:pPr>
            <a:endParaRPr dirty="0"/>
          </a:p>
        </p:txBody>
      </p:sp>
      <p:sp>
        <p:nvSpPr>
          <p:cNvPr id="292" name="Google Shape;292;g373d37e5442_0_2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73d37e5442_0_2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g373d37e5442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73d37e5442_0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g373d37e5442_0_2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0" name="Google Shape;360;g373d37e5442_0_2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73d37e5442_0_2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g373d37e5442_0_2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0" name="Google Shape;370;g373d37e5442_0_2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73d37e5442_0_2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g373d37e5442_0_2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g373d37e5442_0_2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73d37e5442_0_3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g373d37e5442_0_3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g373d37e5442_0_3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73d37e5442_0_3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9" name="Google Shape;429;g373d37e5442_0_3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0" name="Google Shape;430;g373d37e5442_0_3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73d37e5442_0_3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g373d37e5442_0_3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g373d37e5442_0_3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73d37e5442_0_3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g373d37e5442_0_3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g373d37e5442_0_3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73d37e5442_0_3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1" name="Google Shape;471;g373d37e5442_0_3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2" name="Google Shape;472;g373d37e5442_0_3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73d37e5442_0_3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4" name="Google Shape;484;g373d37e5442_0_3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openchainproject.org/"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chainproject.org/" TargetMode="External"/><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creativecommons.org/publicdomain/zero/1.0/"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chainproject.org/" TargetMode="External"/><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creativecommons.org/publicdomain/zero/1.0/"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中表紙" type="title">
  <p:cSld name="TITLE">
    <p:spTree>
      <p:nvGrpSpPr>
        <p:cNvPr id="1" name="Shape 22"/>
        <p:cNvGrpSpPr/>
        <p:nvPr/>
      </p:nvGrpSpPr>
      <p:grpSpPr>
        <a:xfrm>
          <a:off x="0" y="0"/>
          <a:ext cx="0" cy="0"/>
          <a:chOff x="0" y="0"/>
          <a:chExt cx="0" cy="0"/>
        </a:xfrm>
      </p:grpSpPr>
      <p:sp>
        <p:nvSpPr>
          <p:cNvPr id="23" name="Google Shape;23;p34"/>
          <p:cNvSpPr txBox="1">
            <a:spLocks noGrp="1"/>
          </p:cNvSpPr>
          <p:nvPr>
            <p:ph type="ctrTitle"/>
          </p:nvPr>
        </p:nvSpPr>
        <p:spPr>
          <a:xfrm>
            <a:off x="311151" y="4083323"/>
            <a:ext cx="11545568" cy="874757"/>
          </a:xfrm>
          <a:prstGeom prst="rect">
            <a:avLst/>
          </a:prstGeom>
          <a:noFill/>
          <a:ln>
            <a:noFill/>
          </a:ln>
        </p:spPr>
        <p:txBody>
          <a:bodyPr spcFirstLastPara="1" wrap="square" lIns="0" tIns="228600" rIns="0" bIns="228600" anchor="b" anchorCtr="0">
            <a:noAutofit/>
          </a:bodyPr>
          <a:lstStyle>
            <a:lvl1pPr lvl="0" algn="ctr">
              <a:lnSpc>
                <a:spcPct val="100000"/>
              </a:lnSpc>
              <a:spcBef>
                <a:spcPts val="0"/>
              </a:spcBef>
              <a:spcAft>
                <a:spcPts val="0"/>
              </a:spcAft>
              <a:buSzPts val="1400"/>
              <a:buNone/>
              <a:defRPr sz="3200" b="0">
                <a:solidFill>
                  <a:srgbClr val="00B4C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 name="Google Shape;24;p34"/>
          <p:cNvSpPr txBox="1">
            <a:spLocks noGrp="1"/>
          </p:cNvSpPr>
          <p:nvPr>
            <p:ph type="subTitle" idx="1"/>
          </p:nvPr>
        </p:nvSpPr>
        <p:spPr>
          <a:xfrm>
            <a:off x="310091" y="4905807"/>
            <a:ext cx="11546627" cy="699731"/>
          </a:xfrm>
          <a:prstGeom prst="rect">
            <a:avLst/>
          </a:prstGeom>
          <a:noFill/>
          <a:ln>
            <a:noFill/>
          </a:ln>
        </p:spPr>
        <p:txBody>
          <a:bodyPr spcFirstLastPara="1" wrap="square" lIns="0" tIns="0" rIns="0" bIns="0" anchor="t" anchorCtr="0">
            <a:noAutofit/>
          </a:bodyPr>
          <a:lstStyle>
            <a:lvl1pPr marR="0" lvl="0" algn="ctr">
              <a:lnSpc>
                <a:spcPct val="100000"/>
              </a:lnSpc>
              <a:spcBef>
                <a:spcPts val="320"/>
              </a:spcBef>
              <a:spcAft>
                <a:spcPts val="0"/>
              </a:spcAft>
              <a:buClr>
                <a:srgbClr val="87867E"/>
              </a:buClr>
              <a:buSzPts val="3200"/>
              <a:buFont typeface="Noto Sans Symbols"/>
              <a:buChar char="■"/>
              <a:defRPr sz="3200">
                <a:solidFill>
                  <a:srgbClr val="797979"/>
                </a:solidFill>
                <a:latin typeface="Quattrocento Sans"/>
                <a:ea typeface="Quattrocento Sans"/>
                <a:cs typeface="Quattrocento Sans"/>
                <a:sym typeface="Quattrocento Sans"/>
              </a:defRPr>
            </a:lvl1pPr>
            <a:lvl2pPr lvl="1" algn="l">
              <a:lnSpc>
                <a:spcPct val="100000"/>
              </a:lnSpc>
              <a:spcBef>
                <a:spcPts val="360"/>
              </a:spcBef>
              <a:spcAft>
                <a:spcPts val="0"/>
              </a:spcAft>
              <a:buSzPts val="1800"/>
              <a:buChar char="■"/>
              <a:defRPr/>
            </a:lvl2pPr>
            <a:lvl3pPr lvl="2" algn="l">
              <a:lnSpc>
                <a:spcPct val="100000"/>
              </a:lnSpc>
              <a:spcBef>
                <a:spcPts val="360"/>
              </a:spcBef>
              <a:spcAft>
                <a:spcPts val="0"/>
              </a:spcAft>
              <a:buSzPts val="1800"/>
              <a:buChar char="●"/>
              <a:defRPr/>
            </a:lvl3pPr>
            <a:lvl4pPr lvl="3" algn="l">
              <a:lnSpc>
                <a:spcPct val="100000"/>
              </a:lnSpc>
              <a:spcBef>
                <a:spcPts val="360"/>
              </a:spcBef>
              <a:spcAft>
                <a:spcPts val="0"/>
              </a:spcAft>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a:endParaRPr/>
          </a:p>
        </p:txBody>
      </p:sp>
      <p:pic>
        <p:nvPicPr>
          <p:cNvPr id="25" name="Google Shape;25;p34" descr="OpenChain Logo"/>
          <p:cNvPicPr preferRelativeResize="0"/>
          <p:nvPr/>
        </p:nvPicPr>
        <p:blipFill rotWithShape="1">
          <a:blip r:embed="rId2">
            <a:alphaModFix/>
          </a:blip>
          <a:srcRect/>
          <a:stretch/>
        </p:blipFill>
        <p:spPr>
          <a:xfrm>
            <a:off x="3576712" y="836325"/>
            <a:ext cx="5031505" cy="2800956"/>
          </a:xfrm>
          <a:prstGeom prst="rect">
            <a:avLst/>
          </a:prstGeom>
          <a:noFill/>
          <a:ln>
            <a:noFill/>
          </a:ln>
        </p:spPr>
      </p:pic>
      <p:grpSp>
        <p:nvGrpSpPr>
          <p:cNvPr id="26" name="Google Shape;26;p34"/>
          <p:cNvGrpSpPr/>
          <p:nvPr/>
        </p:nvGrpSpPr>
        <p:grpSpPr>
          <a:xfrm>
            <a:off x="466" y="6766845"/>
            <a:ext cx="12191535" cy="100800"/>
            <a:chOff x="0" y="4968000"/>
            <a:chExt cx="9143651" cy="75600"/>
          </a:xfrm>
        </p:grpSpPr>
        <p:sp>
          <p:nvSpPr>
            <p:cNvPr id="27" name="Google Shape;27;p34"/>
            <p:cNvSpPr/>
            <p:nvPr/>
          </p:nvSpPr>
          <p:spPr>
            <a:xfrm>
              <a:off x="3060435" y="4968000"/>
              <a:ext cx="3020400" cy="75600"/>
            </a:xfrm>
            <a:prstGeom prst="rect">
              <a:avLst/>
            </a:prstGeom>
            <a:solidFill>
              <a:srgbClr val="00849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133"/>
                <a:buFont typeface="Quattrocento Sans"/>
                <a:buNone/>
              </a:pPr>
              <a:endParaRPr sz="2133" b="0" i="0" u="none" strike="noStrike" cap="none">
                <a:solidFill>
                  <a:schemeClr val="dk1"/>
                </a:solidFill>
                <a:latin typeface="Arial"/>
                <a:ea typeface="Arial"/>
                <a:cs typeface="Arial"/>
                <a:sym typeface="Arial"/>
              </a:endParaRPr>
            </a:p>
          </p:txBody>
        </p:sp>
        <p:sp>
          <p:nvSpPr>
            <p:cNvPr id="28" name="Google Shape;28;p34"/>
            <p:cNvSpPr/>
            <p:nvPr/>
          </p:nvSpPr>
          <p:spPr>
            <a:xfrm>
              <a:off x="0" y="4968000"/>
              <a:ext cx="3020400" cy="75600"/>
            </a:xfrm>
            <a:prstGeom prst="rect">
              <a:avLst/>
            </a:prstGeom>
            <a:solidFill>
              <a:srgbClr val="E65A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133"/>
                <a:buFont typeface="Quattrocento Sans"/>
                <a:buNone/>
              </a:pPr>
              <a:endParaRPr sz="2133" b="0" i="0" u="none" strike="noStrike" cap="none">
                <a:solidFill>
                  <a:schemeClr val="dk1"/>
                </a:solidFill>
                <a:latin typeface="Arial"/>
                <a:ea typeface="Arial"/>
                <a:cs typeface="Arial"/>
                <a:sym typeface="Arial"/>
              </a:endParaRPr>
            </a:p>
          </p:txBody>
        </p:sp>
        <p:sp>
          <p:nvSpPr>
            <p:cNvPr id="29" name="Google Shape;29;p34"/>
            <p:cNvSpPr/>
            <p:nvPr/>
          </p:nvSpPr>
          <p:spPr>
            <a:xfrm>
              <a:off x="6123251" y="4968000"/>
              <a:ext cx="3020400" cy="75600"/>
            </a:xfrm>
            <a:prstGeom prst="rect">
              <a:avLst/>
            </a:prstGeom>
            <a:solidFill>
              <a:srgbClr val="00B4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133"/>
                <a:buFont typeface="Quattrocento Sans"/>
                <a:buNone/>
              </a:pPr>
              <a:endParaRPr sz="2133" b="0" i="0" u="none" strike="noStrike" cap="none">
                <a:solidFill>
                  <a:schemeClr val="dk1"/>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30"/>
        <p:cNvGrpSpPr/>
        <p:nvPr/>
      </p:nvGrpSpPr>
      <p:grpSpPr>
        <a:xfrm>
          <a:off x="0" y="0"/>
          <a:ext cx="0" cy="0"/>
          <a:chOff x="0" y="0"/>
          <a:chExt cx="0" cy="0"/>
        </a:xfrm>
      </p:grpSpPr>
      <p:pic>
        <p:nvPicPr>
          <p:cNvPr id="31" name="Google Shape;31;p35"/>
          <p:cNvPicPr preferRelativeResize="0"/>
          <p:nvPr/>
        </p:nvPicPr>
        <p:blipFill rotWithShape="1">
          <a:blip r:embed="rId2">
            <a:alphaModFix/>
          </a:blip>
          <a:srcRect/>
          <a:stretch/>
        </p:blipFill>
        <p:spPr>
          <a:xfrm>
            <a:off x="345061" y="6581775"/>
            <a:ext cx="762000" cy="142697"/>
          </a:xfrm>
          <a:prstGeom prst="rect">
            <a:avLst/>
          </a:prstGeom>
          <a:noFill/>
          <a:ln>
            <a:noFill/>
          </a:ln>
        </p:spPr>
      </p:pic>
      <p:sp>
        <p:nvSpPr>
          <p:cNvPr id="32" name="Google Shape;32;p35"/>
          <p:cNvSpPr txBox="1">
            <a:spLocks noGrp="1"/>
          </p:cNvSpPr>
          <p:nvPr>
            <p:ph type="title"/>
          </p:nvPr>
        </p:nvSpPr>
        <p:spPr>
          <a:xfrm>
            <a:off x="890271" y="531580"/>
            <a:ext cx="10320000" cy="645269"/>
          </a:xfrm>
          <a:prstGeom prst="rect">
            <a:avLst/>
          </a:prstGeom>
          <a:noFill/>
          <a:ln>
            <a:noFill/>
          </a:ln>
        </p:spPr>
        <p:txBody>
          <a:bodyPr spcFirstLastPara="1" wrap="square" lIns="0" tIns="228600" rIns="0" bIns="228600" anchor="ctr" anchorCtr="0">
            <a:noAutofit/>
          </a:bodyPr>
          <a:lstStyle>
            <a:lvl1pPr lvl="0" algn="l">
              <a:lnSpc>
                <a:spcPct val="90000"/>
              </a:lnSpc>
              <a:spcBef>
                <a:spcPts val="0"/>
              </a:spcBef>
              <a:spcAft>
                <a:spcPts val="0"/>
              </a:spcAft>
              <a:buSzPts val="1400"/>
              <a:buNone/>
              <a:defRPr>
                <a:solidFill>
                  <a:srgbClr val="00849D"/>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3" name="Google Shape;33;p35"/>
          <p:cNvSpPr txBox="1">
            <a:spLocks noGrp="1"/>
          </p:cNvSpPr>
          <p:nvPr>
            <p:ph type="body" idx="1"/>
          </p:nvPr>
        </p:nvSpPr>
        <p:spPr>
          <a:xfrm>
            <a:off x="890272" y="1422401"/>
            <a:ext cx="10320000" cy="4871236"/>
          </a:xfrm>
          <a:prstGeom prst="rect">
            <a:avLst/>
          </a:prstGeom>
          <a:noFill/>
          <a:ln>
            <a:noFill/>
          </a:ln>
        </p:spPr>
        <p:txBody>
          <a:bodyPr spcFirstLastPara="1" wrap="square" lIns="0" tIns="0" rIns="0" bIns="0" anchor="t" anchorCtr="0">
            <a:noAutofit/>
          </a:bodyPr>
          <a:lstStyle>
            <a:lvl1pPr marL="457200" lvl="0" indent="-414846" algn="l">
              <a:lnSpc>
                <a:spcPct val="100000"/>
              </a:lnSpc>
              <a:spcBef>
                <a:spcPts val="587"/>
              </a:spcBef>
              <a:spcAft>
                <a:spcPts val="0"/>
              </a:spcAft>
              <a:buClr>
                <a:srgbClr val="7F7F7F"/>
              </a:buClr>
              <a:buSzPts val="2933"/>
              <a:buChar char="■"/>
              <a:defRPr>
                <a:solidFill>
                  <a:srgbClr val="20252B"/>
                </a:solidFill>
                <a:latin typeface="Quattrocento Sans"/>
                <a:ea typeface="Quattrocento Sans"/>
                <a:cs typeface="Quattrocento Sans"/>
                <a:sym typeface="Quattrocento Sans"/>
              </a:defRPr>
            </a:lvl1pPr>
            <a:lvl2pPr marL="914400" lvl="1" indent="-397955" algn="l">
              <a:lnSpc>
                <a:spcPct val="100000"/>
              </a:lnSpc>
              <a:spcBef>
                <a:spcPts val="533"/>
              </a:spcBef>
              <a:spcAft>
                <a:spcPts val="0"/>
              </a:spcAft>
              <a:buSzPts val="2667"/>
              <a:buChar char="■"/>
              <a:defRPr>
                <a:solidFill>
                  <a:srgbClr val="20252B"/>
                </a:solidFill>
                <a:latin typeface="Quattrocento Sans"/>
                <a:ea typeface="Quattrocento Sans"/>
                <a:cs typeface="Quattrocento Sans"/>
                <a:sym typeface="Quattrocento Sans"/>
              </a:defRPr>
            </a:lvl2pPr>
            <a:lvl3pPr marL="1371600" lvl="2" indent="-381000" algn="l">
              <a:lnSpc>
                <a:spcPct val="100000"/>
              </a:lnSpc>
              <a:spcBef>
                <a:spcPts val="480"/>
              </a:spcBef>
              <a:spcAft>
                <a:spcPts val="0"/>
              </a:spcAft>
              <a:buSzPts val="2400"/>
              <a:buChar char="●"/>
              <a:defRPr>
                <a:solidFill>
                  <a:srgbClr val="20252B"/>
                </a:solidFill>
                <a:latin typeface="Quattrocento Sans"/>
                <a:ea typeface="Quattrocento Sans"/>
                <a:cs typeface="Quattrocento Sans"/>
                <a:sym typeface="Quattrocento Sans"/>
              </a:defRPr>
            </a:lvl3pPr>
            <a:lvl4pPr marL="1828800" lvl="3" indent="-381000" algn="l">
              <a:lnSpc>
                <a:spcPct val="100000"/>
              </a:lnSpc>
              <a:spcBef>
                <a:spcPts val="480"/>
              </a:spcBef>
              <a:spcAft>
                <a:spcPts val="0"/>
              </a:spcAft>
              <a:buSzPts val="2400"/>
              <a:buChar char="•"/>
              <a:defRPr>
                <a:solidFill>
                  <a:srgbClr val="20252B"/>
                </a:solidFill>
                <a:latin typeface="Quattrocento Sans"/>
                <a:ea typeface="Quattrocento Sans"/>
                <a:cs typeface="Quattrocento Sans"/>
                <a:sym typeface="Quattrocento Sans"/>
              </a:defRPr>
            </a:lvl4pPr>
            <a:lvl5pPr marL="2286000" lvl="4" indent="-397955" algn="l">
              <a:lnSpc>
                <a:spcPct val="100000"/>
              </a:lnSpc>
              <a:spcBef>
                <a:spcPts val="533"/>
              </a:spcBef>
              <a:spcAft>
                <a:spcPts val="0"/>
              </a:spcAft>
              <a:buClr>
                <a:srgbClr val="20252B"/>
              </a:buClr>
              <a:buSzPts val="2667"/>
              <a:buFont typeface="Quattrocento Sans"/>
              <a:buChar char="»"/>
              <a:defRPr>
                <a:solidFill>
                  <a:srgbClr val="20252B"/>
                </a:solidFill>
                <a:latin typeface="Quattrocento Sans"/>
                <a:ea typeface="Quattrocento Sans"/>
                <a:cs typeface="Quattrocento Sans"/>
                <a:sym typeface="Quattrocento Sans"/>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4" name="Google Shape;34;p35"/>
          <p:cNvSpPr txBox="1">
            <a:spLocks noGrp="1"/>
          </p:cNvSpPr>
          <p:nvPr>
            <p:ph type="dt" idx="10"/>
          </p:nvPr>
        </p:nvSpPr>
        <p:spPr>
          <a:xfrm>
            <a:off x="9365610" y="6415459"/>
            <a:ext cx="2743200" cy="16631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5"/>
          <p:cNvSpPr txBox="1">
            <a:spLocks noGrp="1"/>
          </p:cNvSpPr>
          <p:nvPr>
            <p:ph type="ftr" idx="11"/>
          </p:nvPr>
        </p:nvSpPr>
        <p:spPr>
          <a:xfrm>
            <a:off x="1331339" y="6423024"/>
            <a:ext cx="2874389" cy="139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5"/>
          <p:cNvSpPr txBox="1">
            <a:spLocks noGrp="1"/>
          </p:cNvSpPr>
          <p:nvPr>
            <p:ph type="sldNum" idx="12"/>
          </p:nvPr>
        </p:nvSpPr>
        <p:spPr>
          <a:xfrm>
            <a:off x="9365610" y="6581775"/>
            <a:ext cx="2743200" cy="139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pic>
        <p:nvPicPr>
          <p:cNvPr id="37" name="Google Shape;37;p35" descr="OpenChain">
            <a:hlinkClick r:id="rId3"/>
          </p:cNvPr>
          <p:cNvPicPr preferRelativeResize="0"/>
          <p:nvPr/>
        </p:nvPicPr>
        <p:blipFill rotWithShape="1">
          <a:blip r:embed="rId4">
            <a:alphaModFix/>
          </a:blip>
          <a:srcRect/>
          <a:stretch/>
        </p:blipFill>
        <p:spPr>
          <a:xfrm>
            <a:off x="345061" y="6441095"/>
            <a:ext cx="986278" cy="10355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エンドカット">
  <p:cSld name="エンドカット">
    <p:spTree>
      <p:nvGrpSpPr>
        <p:cNvPr id="1" name="Shape 38"/>
        <p:cNvGrpSpPr/>
        <p:nvPr/>
      </p:nvGrpSpPr>
      <p:grpSpPr>
        <a:xfrm>
          <a:off x="0" y="0"/>
          <a:ext cx="0" cy="0"/>
          <a:chOff x="0" y="0"/>
          <a:chExt cx="0" cy="0"/>
        </a:xfrm>
      </p:grpSpPr>
      <p:pic>
        <p:nvPicPr>
          <p:cNvPr id="39" name="Google Shape;39;p36" descr="OpenChain Logo"/>
          <p:cNvPicPr preferRelativeResize="0"/>
          <p:nvPr/>
        </p:nvPicPr>
        <p:blipFill rotWithShape="1">
          <a:blip r:embed="rId2">
            <a:alphaModFix/>
          </a:blip>
          <a:srcRect t="-3"/>
          <a:stretch/>
        </p:blipFill>
        <p:spPr>
          <a:xfrm>
            <a:off x="-81280" y="1944253"/>
            <a:ext cx="5866061" cy="1886067"/>
          </a:xfrm>
          <a:prstGeom prst="rect">
            <a:avLst/>
          </a:prstGeom>
          <a:noFill/>
          <a:ln>
            <a:noFill/>
          </a:ln>
        </p:spPr>
      </p:pic>
      <p:sp>
        <p:nvSpPr>
          <p:cNvPr id="40" name="Google Shape;40;p36"/>
          <p:cNvSpPr txBox="1">
            <a:spLocks noGrp="1"/>
          </p:cNvSpPr>
          <p:nvPr>
            <p:ph type="body" idx="1"/>
          </p:nvPr>
        </p:nvSpPr>
        <p:spPr>
          <a:xfrm>
            <a:off x="5008034" y="1945217"/>
            <a:ext cx="7183967" cy="1792816"/>
          </a:xfrm>
          <a:prstGeom prst="rect">
            <a:avLst/>
          </a:prstGeom>
          <a:solidFill>
            <a:srgbClr val="00B4C1"/>
          </a:solidFill>
          <a:ln>
            <a:noFill/>
          </a:ln>
        </p:spPr>
        <p:txBody>
          <a:bodyPr spcFirstLastPara="1" wrap="square" lIns="0" tIns="0" rIns="0" bIns="0" anchor="ctr" anchorCtr="0">
            <a:noAutofit/>
          </a:bodyPr>
          <a:lstStyle>
            <a:lvl1pPr marL="457200" lvl="0" indent="-228600" algn="l">
              <a:lnSpc>
                <a:spcPct val="100000"/>
              </a:lnSpc>
              <a:spcBef>
                <a:spcPts val="587"/>
              </a:spcBef>
              <a:spcAft>
                <a:spcPts val="0"/>
              </a:spcAft>
              <a:buSzPts val="2933"/>
              <a:buNone/>
              <a:defRPr b="0">
                <a:solidFill>
                  <a:schemeClr val="lt1"/>
                </a:solidFill>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1"/>
        <p:cNvGrpSpPr/>
        <p:nvPr/>
      </p:nvGrpSpPr>
      <p:grpSpPr>
        <a:xfrm>
          <a:off x="0" y="0"/>
          <a:ext cx="0" cy="0"/>
          <a:chOff x="0" y="0"/>
          <a:chExt cx="0" cy="0"/>
        </a:xfrm>
      </p:grpSpPr>
      <p:sp>
        <p:nvSpPr>
          <p:cNvPr id="42" name="Google Shape;42;p37"/>
          <p:cNvSpPr txBox="1">
            <a:spLocks noGrp="1"/>
          </p:cNvSpPr>
          <p:nvPr>
            <p:ph type="title"/>
          </p:nvPr>
        </p:nvSpPr>
        <p:spPr>
          <a:xfrm>
            <a:off x="880111" y="531580"/>
            <a:ext cx="10320000" cy="645269"/>
          </a:xfrm>
          <a:prstGeom prst="rect">
            <a:avLst/>
          </a:prstGeom>
          <a:noFill/>
          <a:ln>
            <a:noFill/>
          </a:ln>
        </p:spPr>
        <p:txBody>
          <a:bodyPr spcFirstLastPara="1" wrap="square" lIns="0" tIns="228600" rIns="0" bIns="228600" anchor="ctr" anchorCtr="0">
            <a:noAutofit/>
          </a:bodyPr>
          <a:lstStyle>
            <a:lvl1pPr lvl="0" algn="l">
              <a:lnSpc>
                <a:spcPct val="90000"/>
              </a:lnSpc>
              <a:spcBef>
                <a:spcPts val="0"/>
              </a:spcBef>
              <a:spcAft>
                <a:spcPts val="0"/>
              </a:spcAft>
              <a:buSzPts val="1400"/>
              <a:buNone/>
              <a:defRPr>
                <a:solidFill>
                  <a:srgbClr val="00849D"/>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3" name="Google Shape;43;p37"/>
          <p:cNvSpPr txBox="1">
            <a:spLocks noGrp="1"/>
          </p:cNvSpPr>
          <p:nvPr>
            <p:ph type="dt" idx="10"/>
          </p:nvPr>
        </p:nvSpPr>
        <p:spPr>
          <a:xfrm>
            <a:off x="9365610" y="6415459"/>
            <a:ext cx="2743200" cy="16631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7"/>
          <p:cNvSpPr txBox="1">
            <a:spLocks noGrp="1"/>
          </p:cNvSpPr>
          <p:nvPr>
            <p:ph type="ftr" idx="11"/>
          </p:nvPr>
        </p:nvSpPr>
        <p:spPr>
          <a:xfrm>
            <a:off x="1331339" y="6423024"/>
            <a:ext cx="2874389" cy="139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7"/>
          <p:cNvSpPr txBox="1">
            <a:spLocks noGrp="1"/>
          </p:cNvSpPr>
          <p:nvPr>
            <p:ph type="sldNum" idx="12"/>
          </p:nvPr>
        </p:nvSpPr>
        <p:spPr>
          <a:xfrm>
            <a:off x="9365610" y="6581775"/>
            <a:ext cx="2743200" cy="139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pic>
        <p:nvPicPr>
          <p:cNvPr id="46" name="Google Shape;46;p37" descr="OpenChain">
            <a:hlinkClick r:id="rId2"/>
          </p:cNvPr>
          <p:cNvPicPr preferRelativeResize="0"/>
          <p:nvPr/>
        </p:nvPicPr>
        <p:blipFill rotWithShape="1">
          <a:blip r:embed="rId3">
            <a:alphaModFix/>
          </a:blip>
          <a:srcRect/>
          <a:stretch/>
        </p:blipFill>
        <p:spPr>
          <a:xfrm>
            <a:off x="345061" y="6441095"/>
            <a:ext cx="986278" cy="103559"/>
          </a:xfrm>
          <a:prstGeom prst="rect">
            <a:avLst/>
          </a:prstGeom>
          <a:noFill/>
          <a:ln>
            <a:noFill/>
          </a:ln>
        </p:spPr>
      </p:pic>
      <p:pic>
        <p:nvPicPr>
          <p:cNvPr id="47" name="Google Shape;47;p37">
            <a:hlinkClick r:id="rId4"/>
          </p:cNvPr>
          <p:cNvPicPr preferRelativeResize="0"/>
          <p:nvPr/>
        </p:nvPicPr>
        <p:blipFill rotWithShape="1">
          <a:blip r:embed="rId5">
            <a:alphaModFix/>
          </a:blip>
          <a:srcRect/>
          <a:stretch/>
        </p:blipFill>
        <p:spPr>
          <a:xfrm>
            <a:off x="345061" y="6581775"/>
            <a:ext cx="762000" cy="1428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白紙" type="blank">
  <p:cSld name="BLANK">
    <p:bg>
      <p:bgPr>
        <a:solidFill>
          <a:schemeClr val="lt1"/>
        </a:solidFill>
        <a:effectLst/>
      </p:bgPr>
    </p:bg>
    <p:spTree>
      <p:nvGrpSpPr>
        <p:cNvPr id="1" name="Shape 48"/>
        <p:cNvGrpSpPr/>
        <p:nvPr/>
      </p:nvGrpSpPr>
      <p:grpSpPr>
        <a:xfrm>
          <a:off x="0" y="0"/>
          <a:ext cx="0" cy="0"/>
          <a:chOff x="0" y="0"/>
          <a:chExt cx="0" cy="0"/>
        </a:xfrm>
      </p:grpSpPr>
      <p:sp>
        <p:nvSpPr>
          <p:cNvPr id="49" name="Google Shape;49;p38"/>
          <p:cNvSpPr txBox="1">
            <a:spLocks noGrp="1"/>
          </p:cNvSpPr>
          <p:nvPr>
            <p:ph type="dt" idx="10"/>
          </p:nvPr>
        </p:nvSpPr>
        <p:spPr>
          <a:xfrm>
            <a:off x="9365610" y="6415459"/>
            <a:ext cx="2743200" cy="166316"/>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8"/>
          <p:cNvSpPr txBox="1">
            <a:spLocks noGrp="1"/>
          </p:cNvSpPr>
          <p:nvPr>
            <p:ph type="ftr" idx="11"/>
          </p:nvPr>
        </p:nvSpPr>
        <p:spPr>
          <a:xfrm>
            <a:off x="1331339" y="6423024"/>
            <a:ext cx="2874389" cy="1397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8"/>
          <p:cNvSpPr txBox="1">
            <a:spLocks noGrp="1"/>
          </p:cNvSpPr>
          <p:nvPr>
            <p:ph type="sldNum" idx="12"/>
          </p:nvPr>
        </p:nvSpPr>
        <p:spPr>
          <a:xfrm>
            <a:off x="9365610" y="6581775"/>
            <a:ext cx="2743200" cy="1397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pic>
        <p:nvPicPr>
          <p:cNvPr id="52" name="Google Shape;52;p38" descr="OpenChain">
            <a:hlinkClick r:id="rId2"/>
          </p:cNvPr>
          <p:cNvPicPr preferRelativeResize="0"/>
          <p:nvPr/>
        </p:nvPicPr>
        <p:blipFill rotWithShape="1">
          <a:blip r:embed="rId3">
            <a:alphaModFix/>
          </a:blip>
          <a:srcRect/>
          <a:stretch/>
        </p:blipFill>
        <p:spPr>
          <a:xfrm>
            <a:off x="345061" y="6441095"/>
            <a:ext cx="986278" cy="103559"/>
          </a:xfrm>
          <a:prstGeom prst="rect">
            <a:avLst/>
          </a:prstGeom>
          <a:noFill/>
          <a:ln>
            <a:noFill/>
          </a:ln>
        </p:spPr>
      </p:pic>
      <p:pic>
        <p:nvPicPr>
          <p:cNvPr id="53" name="Google Shape;53;p38">
            <a:hlinkClick r:id="rId4"/>
          </p:cNvPr>
          <p:cNvPicPr preferRelativeResize="0"/>
          <p:nvPr/>
        </p:nvPicPr>
        <p:blipFill rotWithShape="1">
          <a:blip r:embed="rId5">
            <a:alphaModFix/>
          </a:blip>
          <a:srcRect/>
          <a:stretch/>
        </p:blipFill>
        <p:spPr>
          <a:xfrm>
            <a:off x="345061" y="6581775"/>
            <a:ext cx="762000" cy="1428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4"/>
        <p:cNvGrpSpPr/>
        <p:nvPr/>
      </p:nvGrpSpPr>
      <p:grpSpPr>
        <a:xfrm>
          <a:off x="0" y="0"/>
          <a:ext cx="0" cy="0"/>
          <a:chOff x="0" y="0"/>
          <a:chExt cx="0" cy="0"/>
        </a:xfrm>
      </p:grpSpPr>
      <p:sp>
        <p:nvSpPr>
          <p:cNvPr id="55" name="Google Shape;55;g32668781080_0_74"/>
          <p:cNvSpPr/>
          <p:nvPr/>
        </p:nvSpPr>
        <p:spPr>
          <a:xfrm>
            <a:off x="11243921" y="5908223"/>
            <a:ext cx="965700" cy="965700"/>
          </a:xfrm>
          <a:prstGeom prst="rect">
            <a:avLst/>
          </a:prstGeom>
          <a:solidFill>
            <a:schemeClr val="accen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56" name="Google Shape;56;g32668781080_0_74"/>
          <p:cNvSpPr/>
          <p:nvPr/>
        </p:nvSpPr>
        <p:spPr>
          <a:xfrm rot="10800000">
            <a:off x="10268601" y="5908167"/>
            <a:ext cx="975300" cy="974100"/>
          </a:xfrm>
          <a:prstGeom prst="rtTriangle">
            <a:avLst/>
          </a:pr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57" name="Google Shape;57;g32668781080_0_74"/>
          <p:cNvSpPr txBox="1">
            <a:spLocks noGrp="1"/>
          </p:cNvSpPr>
          <p:nvPr>
            <p:ph type="title"/>
          </p:nvPr>
        </p:nvSpPr>
        <p:spPr>
          <a:xfrm>
            <a:off x="415600" y="546667"/>
            <a:ext cx="11360700" cy="8103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a:endParaRPr/>
          </a:p>
        </p:txBody>
      </p:sp>
      <p:sp>
        <p:nvSpPr>
          <p:cNvPr id="58" name="Google Shape;58;g32668781080_0_74"/>
          <p:cNvSpPr txBox="1">
            <a:spLocks noGrp="1"/>
          </p:cNvSpPr>
          <p:nvPr>
            <p:ph type="sldNum" idx="12"/>
          </p:nvPr>
        </p:nvSpPr>
        <p:spPr>
          <a:xfrm>
            <a:off x="11280575" y="6201587"/>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59" name="Google Shape;59;g32668781080_0_74"/>
          <p:cNvSpPr/>
          <p:nvPr/>
        </p:nvSpPr>
        <p:spPr>
          <a:xfrm>
            <a:off x="11224800" y="0"/>
            <a:ext cx="967200" cy="967200"/>
          </a:xfrm>
          <a:prstGeom prst="rect">
            <a:avLst/>
          </a:prstGeom>
          <a:solidFill>
            <a:schemeClr val="accent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0" name="Google Shape;60;g32668781080_0_74"/>
          <p:cNvPicPr preferRelativeResize="0"/>
          <p:nvPr/>
        </p:nvPicPr>
        <p:blipFill rotWithShape="1">
          <a:blip r:embed="rId2">
            <a:alphaModFix/>
          </a:blip>
          <a:srcRect/>
          <a:stretch/>
        </p:blipFill>
        <p:spPr>
          <a:xfrm>
            <a:off x="253780" y="6182026"/>
            <a:ext cx="1294373" cy="426466"/>
          </a:xfrm>
          <a:prstGeom prst="rect">
            <a:avLst/>
          </a:prstGeom>
          <a:noFill/>
          <a:ln>
            <a:noFill/>
          </a:ln>
        </p:spPr>
      </p:pic>
      <p:pic>
        <p:nvPicPr>
          <p:cNvPr id="61" name="Google Shape;61;g32668781080_0_74"/>
          <p:cNvPicPr preferRelativeResize="0"/>
          <p:nvPr/>
        </p:nvPicPr>
        <p:blipFill rotWithShape="1">
          <a:blip r:embed="rId3">
            <a:alphaModFix/>
          </a:blip>
          <a:srcRect/>
          <a:stretch/>
        </p:blipFill>
        <p:spPr>
          <a:xfrm>
            <a:off x="3149758" y="6138338"/>
            <a:ext cx="897765" cy="513843"/>
          </a:xfrm>
          <a:prstGeom prst="rect">
            <a:avLst/>
          </a:prstGeom>
          <a:noFill/>
          <a:ln>
            <a:noFill/>
          </a:ln>
        </p:spPr>
      </p:pic>
      <p:pic>
        <p:nvPicPr>
          <p:cNvPr id="62" name="Google Shape;62;g32668781080_0_74"/>
          <p:cNvPicPr preferRelativeResize="0"/>
          <p:nvPr/>
        </p:nvPicPr>
        <p:blipFill rotWithShape="1">
          <a:blip r:embed="rId4">
            <a:alphaModFix/>
          </a:blip>
          <a:srcRect/>
          <a:stretch/>
        </p:blipFill>
        <p:spPr>
          <a:xfrm>
            <a:off x="1701756" y="6071651"/>
            <a:ext cx="1294400" cy="647216"/>
          </a:xfrm>
          <a:prstGeom prst="rect">
            <a:avLst/>
          </a:prstGeom>
          <a:noFill/>
          <a:ln>
            <a:noFill/>
          </a:ln>
        </p:spPr>
      </p:pic>
      <p:pic>
        <p:nvPicPr>
          <p:cNvPr id="63" name="Google Shape;63;g32668781080_0_74"/>
          <p:cNvPicPr preferRelativeResize="0"/>
          <p:nvPr/>
        </p:nvPicPr>
        <p:blipFill rotWithShape="1">
          <a:blip r:embed="rId5">
            <a:alphaModFix/>
          </a:blip>
          <a:srcRect/>
          <a:stretch/>
        </p:blipFill>
        <p:spPr>
          <a:xfrm>
            <a:off x="4201126" y="6100376"/>
            <a:ext cx="2320277" cy="589766"/>
          </a:xfrm>
          <a:prstGeom prst="rect">
            <a:avLst/>
          </a:prstGeom>
          <a:noFill/>
          <a:ln>
            <a:noFill/>
          </a:ln>
        </p:spPr>
      </p:pic>
      <p:sp>
        <p:nvSpPr>
          <p:cNvPr id="64" name="Google Shape;64;g32668781080_0_74"/>
          <p:cNvSpPr txBox="1">
            <a:spLocks noGrp="1"/>
          </p:cNvSpPr>
          <p:nvPr>
            <p:ph type="body" idx="1"/>
          </p:nvPr>
        </p:nvSpPr>
        <p:spPr>
          <a:xfrm>
            <a:off x="373800" y="1688600"/>
            <a:ext cx="11360700" cy="44520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s://www.openchainproject.org/" TargetMode="Externa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hyperlink" Target="https://creativecommons.org/publicdomain/zero/1.0/" TargetMode="Externa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body" idx="1"/>
          </p:nvPr>
        </p:nvSpPr>
        <p:spPr>
          <a:xfrm>
            <a:off x="311151" y="1349829"/>
            <a:ext cx="11527367" cy="5233089"/>
          </a:xfrm>
          <a:prstGeom prst="rect">
            <a:avLst/>
          </a:prstGeom>
          <a:noFill/>
          <a:ln>
            <a:noFill/>
          </a:ln>
        </p:spPr>
        <p:txBody>
          <a:bodyPr spcFirstLastPara="1" wrap="square" lIns="0" tIns="0" rIns="0" bIns="0" anchor="t" anchorCtr="0">
            <a:noAutofit/>
          </a:bodyPr>
          <a:lstStyle>
            <a:lvl1pPr marL="457200" marR="0" lvl="0" indent="-414846" algn="l" rtl="0">
              <a:lnSpc>
                <a:spcPct val="100000"/>
              </a:lnSpc>
              <a:spcBef>
                <a:spcPts val="587"/>
              </a:spcBef>
              <a:spcAft>
                <a:spcPts val="0"/>
              </a:spcAft>
              <a:buClr>
                <a:srgbClr val="7F7F7F"/>
              </a:buClr>
              <a:buSzPts val="2933"/>
              <a:buFont typeface="Noto Sans Symbols"/>
              <a:buChar char="■"/>
              <a:defRPr sz="2933" b="0" i="0" u="none" strike="noStrike" cap="none">
                <a:solidFill>
                  <a:srgbClr val="20252B"/>
                </a:solidFill>
                <a:latin typeface="Quattrocento Sans"/>
                <a:ea typeface="Quattrocento Sans"/>
                <a:cs typeface="Quattrocento Sans"/>
                <a:sym typeface="Quattrocento Sans"/>
              </a:defRPr>
            </a:lvl1pPr>
            <a:lvl2pPr marL="914400" marR="0" lvl="1" indent="-397955" algn="l" rtl="0">
              <a:lnSpc>
                <a:spcPct val="100000"/>
              </a:lnSpc>
              <a:spcBef>
                <a:spcPts val="533"/>
              </a:spcBef>
              <a:spcAft>
                <a:spcPts val="0"/>
              </a:spcAft>
              <a:buClr>
                <a:srgbClr val="87867E"/>
              </a:buClr>
              <a:buSzPts val="2667"/>
              <a:buFont typeface="Noto Sans Symbols"/>
              <a:buChar char="■"/>
              <a:defRPr sz="2667" b="0" i="0" u="none" strike="noStrike" cap="none">
                <a:solidFill>
                  <a:srgbClr val="20252B"/>
                </a:solidFill>
                <a:latin typeface="Quattrocento Sans"/>
                <a:ea typeface="Quattrocento Sans"/>
                <a:cs typeface="Quattrocento Sans"/>
                <a:sym typeface="Quattrocento Sans"/>
              </a:defRPr>
            </a:lvl2pPr>
            <a:lvl3pPr marL="1371600" marR="0" lvl="2" indent="-381000" algn="l" rtl="0">
              <a:lnSpc>
                <a:spcPct val="100000"/>
              </a:lnSpc>
              <a:spcBef>
                <a:spcPts val="480"/>
              </a:spcBef>
              <a:spcAft>
                <a:spcPts val="0"/>
              </a:spcAft>
              <a:buClr>
                <a:srgbClr val="808080"/>
              </a:buClr>
              <a:buSzPts val="2400"/>
              <a:buFont typeface="Noto Sans Symbols"/>
              <a:buChar char="●"/>
              <a:defRPr sz="2400" b="0" i="0" u="none" strike="noStrike" cap="none">
                <a:solidFill>
                  <a:srgbClr val="20252B"/>
                </a:solidFill>
                <a:latin typeface="Quattrocento Sans"/>
                <a:ea typeface="Quattrocento Sans"/>
                <a:cs typeface="Quattrocento Sans"/>
                <a:sym typeface="Quattrocento Sans"/>
              </a:defRPr>
            </a:lvl3pPr>
            <a:lvl4pPr marL="1828800" marR="0" lvl="3" indent="-381000" algn="l" rtl="0">
              <a:lnSpc>
                <a:spcPct val="100000"/>
              </a:lnSpc>
              <a:spcBef>
                <a:spcPts val="480"/>
              </a:spcBef>
              <a:spcAft>
                <a:spcPts val="0"/>
              </a:spcAft>
              <a:buClr>
                <a:srgbClr val="87867E"/>
              </a:buClr>
              <a:buSzPts val="2400"/>
              <a:buFont typeface="Arial"/>
              <a:buChar char="•"/>
              <a:defRPr sz="2400" b="0" i="0" u="none" strike="noStrike" cap="none">
                <a:solidFill>
                  <a:srgbClr val="20252B"/>
                </a:solidFill>
                <a:latin typeface="Quattrocento Sans"/>
                <a:ea typeface="Quattrocento Sans"/>
                <a:cs typeface="Quattrocento Sans"/>
                <a:sym typeface="Quattrocento Sans"/>
              </a:defRPr>
            </a:lvl4pPr>
            <a:lvl5pPr marL="2286000" marR="0" lvl="4" indent="-397955" algn="l" rtl="0">
              <a:lnSpc>
                <a:spcPct val="100000"/>
              </a:lnSpc>
              <a:spcBef>
                <a:spcPts val="533"/>
              </a:spcBef>
              <a:spcAft>
                <a:spcPts val="0"/>
              </a:spcAft>
              <a:buClr>
                <a:schemeClr val="dk1"/>
              </a:buClr>
              <a:buSzPts val="2667"/>
              <a:buFont typeface="Quattrocento Sans"/>
              <a:buChar char="»"/>
              <a:defRPr sz="2667" b="0" i="0" u="none" strike="noStrike" cap="none">
                <a:solidFill>
                  <a:schemeClr val="dk1"/>
                </a:solidFill>
                <a:latin typeface="Quattrocento Sans"/>
                <a:ea typeface="Quattrocento Sans"/>
                <a:cs typeface="Quattrocento Sans"/>
                <a:sym typeface="Quattrocento Sans"/>
              </a:defRPr>
            </a:lvl5pPr>
            <a:lvl6pPr marL="2743200" marR="0" lvl="5" indent="-397955" algn="l" rtl="0">
              <a:lnSpc>
                <a:spcPct val="100000"/>
              </a:lnSpc>
              <a:spcBef>
                <a:spcPts val="533"/>
              </a:spcBef>
              <a:spcAft>
                <a:spcPts val="0"/>
              </a:spcAft>
              <a:buClr>
                <a:schemeClr val="dk1"/>
              </a:buClr>
              <a:buSzPts val="2667"/>
              <a:buFont typeface="Quattrocento Sans"/>
              <a:buChar char="»"/>
              <a:defRPr sz="2667" b="0" i="0" u="none" strike="noStrike" cap="none">
                <a:solidFill>
                  <a:schemeClr val="dk1"/>
                </a:solidFill>
                <a:latin typeface="Quattrocento Sans"/>
                <a:ea typeface="Quattrocento Sans"/>
                <a:cs typeface="Quattrocento Sans"/>
                <a:sym typeface="Quattrocento Sans"/>
              </a:defRPr>
            </a:lvl6pPr>
            <a:lvl7pPr marL="3200400" marR="0" lvl="6" indent="-397955" algn="l" rtl="0">
              <a:lnSpc>
                <a:spcPct val="100000"/>
              </a:lnSpc>
              <a:spcBef>
                <a:spcPts val="533"/>
              </a:spcBef>
              <a:spcAft>
                <a:spcPts val="0"/>
              </a:spcAft>
              <a:buClr>
                <a:schemeClr val="dk1"/>
              </a:buClr>
              <a:buSzPts val="2667"/>
              <a:buFont typeface="Quattrocento Sans"/>
              <a:buChar char="»"/>
              <a:defRPr sz="2667" b="0" i="0" u="none" strike="noStrike" cap="none">
                <a:solidFill>
                  <a:schemeClr val="dk1"/>
                </a:solidFill>
                <a:latin typeface="Quattrocento Sans"/>
                <a:ea typeface="Quattrocento Sans"/>
                <a:cs typeface="Quattrocento Sans"/>
                <a:sym typeface="Quattrocento Sans"/>
              </a:defRPr>
            </a:lvl7pPr>
            <a:lvl8pPr marL="3657600" marR="0" lvl="7" indent="-397954" algn="l" rtl="0">
              <a:lnSpc>
                <a:spcPct val="100000"/>
              </a:lnSpc>
              <a:spcBef>
                <a:spcPts val="533"/>
              </a:spcBef>
              <a:spcAft>
                <a:spcPts val="0"/>
              </a:spcAft>
              <a:buClr>
                <a:schemeClr val="dk1"/>
              </a:buClr>
              <a:buSzPts val="2667"/>
              <a:buFont typeface="Quattrocento Sans"/>
              <a:buChar char="»"/>
              <a:defRPr sz="2667" b="0" i="0" u="none" strike="noStrike" cap="none">
                <a:solidFill>
                  <a:schemeClr val="dk1"/>
                </a:solidFill>
                <a:latin typeface="Quattrocento Sans"/>
                <a:ea typeface="Quattrocento Sans"/>
                <a:cs typeface="Quattrocento Sans"/>
                <a:sym typeface="Quattrocento Sans"/>
              </a:defRPr>
            </a:lvl8pPr>
            <a:lvl9pPr marL="4114800" marR="0" lvl="8" indent="-397954" algn="l" rtl="0">
              <a:lnSpc>
                <a:spcPct val="100000"/>
              </a:lnSpc>
              <a:spcBef>
                <a:spcPts val="533"/>
              </a:spcBef>
              <a:spcAft>
                <a:spcPts val="0"/>
              </a:spcAft>
              <a:buClr>
                <a:schemeClr val="dk1"/>
              </a:buClr>
              <a:buSzPts val="2667"/>
              <a:buFont typeface="Quattrocento Sans"/>
              <a:buChar char="»"/>
              <a:defRPr sz="2667" b="0" i="0" u="none" strike="noStrike" cap="none">
                <a:solidFill>
                  <a:schemeClr val="dk1"/>
                </a:solidFill>
                <a:latin typeface="Quattrocento Sans"/>
                <a:ea typeface="Quattrocento Sans"/>
                <a:cs typeface="Quattrocento Sans"/>
                <a:sym typeface="Quattrocento Sans"/>
              </a:defRPr>
            </a:lvl9pPr>
          </a:lstStyle>
          <a:p>
            <a:endParaRPr/>
          </a:p>
        </p:txBody>
      </p:sp>
      <p:sp>
        <p:nvSpPr>
          <p:cNvPr id="11" name="Google Shape;11;p33"/>
          <p:cNvSpPr txBox="1">
            <a:spLocks noGrp="1"/>
          </p:cNvSpPr>
          <p:nvPr>
            <p:ph type="title"/>
          </p:nvPr>
        </p:nvSpPr>
        <p:spPr>
          <a:xfrm>
            <a:off x="311151" y="531580"/>
            <a:ext cx="10320000" cy="645269"/>
          </a:xfrm>
          <a:prstGeom prst="rect">
            <a:avLst/>
          </a:prstGeom>
          <a:noFill/>
          <a:ln>
            <a:noFill/>
          </a:ln>
        </p:spPr>
        <p:txBody>
          <a:bodyPr spcFirstLastPara="1" wrap="square" lIns="0" tIns="228600" rIns="0" bIns="228600" anchor="ctr" anchorCtr="0">
            <a:noAutofit/>
          </a:bodyPr>
          <a:lstStyle>
            <a:lvl1pPr marR="0" lvl="0" algn="l" rtl="0">
              <a:lnSpc>
                <a:spcPct val="90000"/>
              </a:lnSpc>
              <a:spcBef>
                <a:spcPts val="0"/>
              </a:spcBef>
              <a:spcAft>
                <a:spcPts val="0"/>
              </a:spcAft>
              <a:buClr>
                <a:srgbClr val="000000"/>
              </a:buClr>
              <a:buSzPts val="1400"/>
              <a:buFont typeface="Arial"/>
              <a:buNone/>
              <a:defRPr sz="3733" b="0" i="0" u="none" strike="noStrike" cap="none">
                <a:solidFill>
                  <a:srgbClr val="00849D"/>
                </a:solidFill>
                <a:latin typeface="Quattrocento Sans"/>
                <a:ea typeface="Quattrocento Sans"/>
                <a:cs typeface="Quattrocento Sans"/>
                <a:sym typeface="Quattrocento Sans"/>
              </a:defRPr>
            </a:lvl1pPr>
            <a:lvl2pPr marR="0" lvl="1" algn="l" rtl="0">
              <a:lnSpc>
                <a:spcPct val="90000"/>
              </a:lnSpc>
              <a:spcBef>
                <a:spcPts val="0"/>
              </a:spcBef>
              <a:spcAft>
                <a:spcPts val="0"/>
              </a:spcAft>
              <a:buClr>
                <a:srgbClr val="000000"/>
              </a:buClr>
              <a:buSzPts val="1400"/>
              <a:buFont typeface="Arial"/>
              <a:buNone/>
              <a:defRPr sz="3733" b="0" i="0" u="none" strike="noStrike" cap="none">
                <a:solidFill>
                  <a:schemeClr val="dk2"/>
                </a:solidFill>
                <a:latin typeface="Arial"/>
                <a:ea typeface="Arial"/>
                <a:cs typeface="Arial"/>
                <a:sym typeface="Arial"/>
              </a:defRPr>
            </a:lvl2pPr>
            <a:lvl3pPr marR="0" lvl="2" algn="l" rtl="0">
              <a:lnSpc>
                <a:spcPct val="90000"/>
              </a:lnSpc>
              <a:spcBef>
                <a:spcPts val="0"/>
              </a:spcBef>
              <a:spcAft>
                <a:spcPts val="0"/>
              </a:spcAft>
              <a:buClr>
                <a:srgbClr val="000000"/>
              </a:buClr>
              <a:buSzPts val="1400"/>
              <a:buFont typeface="Arial"/>
              <a:buNone/>
              <a:defRPr sz="3733" b="0" i="0" u="none" strike="noStrike" cap="none">
                <a:solidFill>
                  <a:schemeClr val="dk2"/>
                </a:solidFill>
                <a:latin typeface="Arial"/>
                <a:ea typeface="Arial"/>
                <a:cs typeface="Arial"/>
                <a:sym typeface="Arial"/>
              </a:defRPr>
            </a:lvl3pPr>
            <a:lvl4pPr marR="0" lvl="3" algn="l" rtl="0">
              <a:lnSpc>
                <a:spcPct val="90000"/>
              </a:lnSpc>
              <a:spcBef>
                <a:spcPts val="0"/>
              </a:spcBef>
              <a:spcAft>
                <a:spcPts val="0"/>
              </a:spcAft>
              <a:buClr>
                <a:srgbClr val="000000"/>
              </a:buClr>
              <a:buSzPts val="1400"/>
              <a:buFont typeface="Arial"/>
              <a:buNone/>
              <a:defRPr sz="3733" b="0" i="0" u="none" strike="noStrike" cap="none">
                <a:solidFill>
                  <a:schemeClr val="dk2"/>
                </a:solidFill>
                <a:latin typeface="Arial"/>
                <a:ea typeface="Arial"/>
                <a:cs typeface="Arial"/>
                <a:sym typeface="Arial"/>
              </a:defRPr>
            </a:lvl4pPr>
            <a:lvl5pPr marR="0" lvl="4" algn="l" rtl="0">
              <a:lnSpc>
                <a:spcPct val="90000"/>
              </a:lnSpc>
              <a:spcBef>
                <a:spcPts val="0"/>
              </a:spcBef>
              <a:spcAft>
                <a:spcPts val="0"/>
              </a:spcAft>
              <a:buClr>
                <a:srgbClr val="000000"/>
              </a:buClr>
              <a:buSzPts val="1400"/>
              <a:buFont typeface="Arial"/>
              <a:buNone/>
              <a:defRPr sz="3733" b="0" i="0" u="none" strike="noStrike" cap="none">
                <a:solidFill>
                  <a:schemeClr val="dk2"/>
                </a:solidFill>
                <a:latin typeface="Arial"/>
                <a:ea typeface="Arial"/>
                <a:cs typeface="Arial"/>
                <a:sym typeface="Arial"/>
              </a:defRPr>
            </a:lvl5pPr>
            <a:lvl6pPr marR="0" lvl="5" algn="l" rtl="0">
              <a:lnSpc>
                <a:spcPct val="90000"/>
              </a:lnSpc>
              <a:spcBef>
                <a:spcPts val="0"/>
              </a:spcBef>
              <a:spcAft>
                <a:spcPts val="0"/>
              </a:spcAft>
              <a:buClr>
                <a:srgbClr val="000000"/>
              </a:buClr>
              <a:buSzPts val="1400"/>
              <a:buFont typeface="Arial"/>
              <a:buNone/>
              <a:defRPr sz="3733" b="0" i="0" u="none" strike="noStrike" cap="none">
                <a:solidFill>
                  <a:schemeClr val="dk2"/>
                </a:solidFill>
                <a:latin typeface="Arial"/>
                <a:ea typeface="Arial"/>
                <a:cs typeface="Arial"/>
                <a:sym typeface="Arial"/>
              </a:defRPr>
            </a:lvl6pPr>
            <a:lvl7pPr marR="0" lvl="6" algn="l" rtl="0">
              <a:lnSpc>
                <a:spcPct val="90000"/>
              </a:lnSpc>
              <a:spcBef>
                <a:spcPts val="0"/>
              </a:spcBef>
              <a:spcAft>
                <a:spcPts val="0"/>
              </a:spcAft>
              <a:buClr>
                <a:srgbClr val="000000"/>
              </a:buClr>
              <a:buSzPts val="1400"/>
              <a:buFont typeface="Arial"/>
              <a:buNone/>
              <a:defRPr sz="3733" b="0" i="0" u="none" strike="noStrike" cap="none">
                <a:solidFill>
                  <a:schemeClr val="dk2"/>
                </a:solidFill>
                <a:latin typeface="Arial"/>
                <a:ea typeface="Arial"/>
                <a:cs typeface="Arial"/>
                <a:sym typeface="Arial"/>
              </a:defRPr>
            </a:lvl7pPr>
            <a:lvl8pPr marR="0" lvl="7" algn="l" rtl="0">
              <a:lnSpc>
                <a:spcPct val="90000"/>
              </a:lnSpc>
              <a:spcBef>
                <a:spcPts val="0"/>
              </a:spcBef>
              <a:spcAft>
                <a:spcPts val="0"/>
              </a:spcAft>
              <a:buClr>
                <a:srgbClr val="000000"/>
              </a:buClr>
              <a:buSzPts val="1400"/>
              <a:buFont typeface="Arial"/>
              <a:buNone/>
              <a:defRPr sz="3733" b="0" i="0" u="none" strike="noStrike" cap="none">
                <a:solidFill>
                  <a:schemeClr val="dk2"/>
                </a:solidFill>
                <a:latin typeface="Arial"/>
                <a:ea typeface="Arial"/>
                <a:cs typeface="Arial"/>
                <a:sym typeface="Arial"/>
              </a:defRPr>
            </a:lvl8pPr>
            <a:lvl9pPr marR="0" lvl="8" algn="l" rtl="0">
              <a:lnSpc>
                <a:spcPct val="90000"/>
              </a:lnSpc>
              <a:spcBef>
                <a:spcPts val="0"/>
              </a:spcBef>
              <a:spcAft>
                <a:spcPts val="0"/>
              </a:spcAft>
              <a:buClr>
                <a:srgbClr val="000000"/>
              </a:buClr>
              <a:buSzPts val="1400"/>
              <a:buFont typeface="Arial"/>
              <a:buNone/>
              <a:defRPr sz="3733" b="0" i="0" u="none" strike="noStrike" cap="none">
                <a:solidFill>
                  <a:schemeClr val="dk2"/>
                </a:solidFill>
                <a:latin typeface="Arial"/>
                <a:ea typeface="Arial"/>
                <a:cs typeface="Arial"/>
                <a:sym typeface="Arial"/>
              </a:defRPr>
            </a:lvl9pPr>
          </a:lstStyle>
          <a:p>
            <a:endParaRPr/>
          </a:p>
        </p:txBody>
      </p:sp>
      <p:grpSp>
        <p:nvGrpSpPr>
          <p:cNvPr id="12" name="Google Shape;12;p33"/>
          <p:cNvGrpSpPr/>
          <p:nvPr/>
        </p:nvGrpSpPr>
        <p:grpSpPr>
          <a:xfrm>
            <a:off x="466" y="6766845"/>
            <a:ext cx="12191535" cy="100800"/>
            <a:chOff x="0" y="4968000"/>
            <a:chExt cx="9143651" cy="75600"/>
          </a:xfrm>
        </p:grpSpPr>
        <p:sp>
          <p:nvSpPr>
            <p:cNvPr id="13" name="Google Shape;13;p33"/>
            <p:cNvSpPr/>
            <p:nvPr/>
          </p:nvSpPr>
          <p:spPr>
            <a:xfrm>
              <a:off x="3060435" y="4968000"/>
              <a:ext cx="3020400" cy="75600"/>
            </a:xfrm>
            <a:prstGeom prst="rect">
              <a:avLst/>
            </a:prstGeom>
            <a:solidFill>
              <a:srgbClr val="00849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133"/>
                <a:buFont typeface="Quattrocento Sans"/>
                <a:buNone/>
              </a:pPr>
              <a:endParaRPr sz="2133" b="0" i="0" u="none" strike="noStrike" cap="none">
                <a:solidFill>
                  <a:schemeClr val="dk1"/>
                </a:solidFill>
                <a:latin typeface="Arial"/>
                <a:ea typeface="Arial"/>
                <a:cs typeface="Arial"/>
                <a:sym typeface="Arial"/>
              </a:endParaRPr>
            </a:p>
          </p:txBody>
        </p:sp>
        <p:sp>
          <p:nvSpPr>
            <p:cNvPr id="14" name="Google Shape;14;p33"/>
            <p:cNvSpPr/>
            <p:nvPr/>
          </p:nvSpPr>
          <p:spPr>
            <a:xfrm>
              <a:off x="0" y="4968000"/>
              <a:ext cx="3020400" cy="75600"/>
            </a:xfrm>
            <a:prstGeom prst="rect">
              <a:avLst/>
            </a:prstGeom>
            <a:solidFill>
              <a:srgbClr val="E65A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133"/>
                <a:buFont typeface="Quattrocento Sans"/>
                <a:buNone/>
              </a:pPr>
              <a:endParaRPr sz="2133" b="0" i="0" u="none" strike="noStrike" cap="none">
                <a:solidFill>
                  <a:schemeClr val="dk1"/>
                </a:solidFill>
                <a:latin typeface="Arial"/>
                <a:ea typeface="Arial"/>
                <a:cs typeface="Arial"/>
                <a:sym typeface="Arial"/>
              </a:endParaRPr>
            </a:p>
          </p:txBody>
        </p:sp>
        <p:sp>
          <p:nvSpPr>
            <p:cNvPr id="15" name="Google Shape;15;p33"/>
            <p:cNvSpPr/>
            <p:nvPr/>
          </p:nvSpPr>
          <p:spPr>
            <a:xfrm>
              <a:off x="6123251" y="4968000"/>
              <a:ext cx="3020400" cy="75600"/>
            </a:xfrm>
            <a:prstGeom prst="rect">
              <a:avLst/>
            </a:prstGeom>
            <a:solidFill>
              <a:srgbClr val="00B4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133"/>
                <a:buFont typeface="Quattrocento Sans"/>
                <a:buNone/>
              </a:pPr>
              <a:endParaRPr sz="2133" b="0" i="0" u="none" strike="noStrike" cap="none">
                <a:solidFill>
                  <a:schemeClr val="dk1"/>
                </a:solidFill>
                <a:latin typeface="Arial"/>
                <a:ea typeface="Arial"/>
                <a:cs typeface="Arial"/>
                <a:sym typeface="Arial"/>
              </a:endParaRPr>
            </a:p>
          </p:txBody>
        </p:sp>
      </p:grpSp>
      <p:sp>
        <p:nvSpPr>
          <p:cNvPr id="16" name="Google Shape;16;p33"/>
          <p:cNvSpPr txBox="1">
            <a:spLocks noGrp="1"/>
          </p:cNvSpPr>
          <p:nvPr>
            <p:ph type="dt" idx="10"/>
          </p:nvPr>
        </p:nvSpPr>
        <p:spPr>
          <a:xfrm>
            <a:off x="9365610" y="6415459"/>
            <a:ext cx="2743200" cy="166316"/>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7" name="Google Shape;17;p33"/>
          <p:cNvSpPr txBox="1">
            <a:spLocks noGrp="1"/>
          </p:cNvSpPr>
          <p:nvPr>
            <p:ph type="ftr" idx="11"/>
          </p:nvPr>
        </p:nvSpPr>
        <p:spPr>
          <a:xfrm>
            <a:off x="1331339" y="6423024"/>
            <a:ext cx="2874389" cy="1397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8" name="Google Shape;18;p33"/>
          <p:cNvSpPr txBox="1">
            <a:spLocks noGrp="1"/>
          </p:cNvSpPr>
          <p:nvPr>
            <p:ph type="sldNum" idx="12"/>
          </p:nvPr>
        </p:nvSpPr>
        <p:spPr>
          <a:xfrm>
            <a:off x="9365610" y="6581775"/>
            <a:ext cx="2743200" cy="1397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pic>
        <p:nvPicPr>
          <p:cNvPr id="19" name="Google Shape;19;p33" descr="OpenChain">
            <a:hlinkClick r:id="rId8"/>
          </p:cNvPr>
          <p:cNvPicPr preferRelativeResize="0"/>
          <p:nvPr/>
        </p:nvPicPr>
        <p:blipFill rotWithShape="1">
          <a:blip r:embed="rId9">
            <a:alphaModFix/>
          </a:blip>
          <a:srcRect/>
          <a:stretch/>
        </p:blipFill>
        <p:spPr>
          <a:xfrm>
            <a:off x="345061" y="6441095"/>
            <a:ext cx="986278" cy="103559"/>
          </a:xfrm>
          <a:prstGeom prst="rect">
            <a:avLst/>
          </a:prstGeom>
          <a:noFill/>
          <a:ln>
            <a:noFill/>
          </a:ln>
        </p:spPr>
      </p:pic>
      <p:sp>
        <p:nvSpPr>
          <p:cNvPr id="20" name="Google Shape;20;p33"/>
          <p:cNvSpPr txBox="1"/>
          <p:nvPr/>
        </p:nvSpPr>
        <p:spPr>
          <a:xfrm>
            <a:off x="1331339" y="6526212"/>
            <a:ext cx="5651847" cy="25082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Quattrocento Sans"/>
                <a:ea typeface="Quattrocento Sans"/>
                <a:cs typeface="Quattrocento Sans"/>
                <a:sym typeface="Quattrocento Sans"/>
              </a:rPr>
              <a:t>This slide is licensed under </a:t>
            </a:r>
            <a:r>
              <a:rPr lang="en-US" sz="1200" b="0" i="0" u="sng" strike="noStrike" cap="none">
                <a:solidFill>
                  <a:schemeClr val="dk1"/>
                </a:solidFill>
                <a:latin typeface="Quattrocento Sans"/>
                <a:ea typeface="Quattrocento Sans"/>
                <a:cs typeface="Quattrocento Sans"/>
                <a:sym typeface="Quattrocento Sans"/>
                <a:hlinkClick r:id="rId10">
                  <a:extLst>
                    <a:ext uri="{A12FA001-AC4F-418D-AE19-62706E023703}">
                      <ahyp:hlinkClr xmlns:ahyp="http://schemas.microsoft.com/office/drawing/2018/hyperlinkcolor" val="tx"/>
                    </a:ext>
                  </a:extLst>
                </a:hlinkClick>
              </a:rPr>
              <a:t>the Creative Commons Zero 1.0 Universal </a:t>
            </a:r>
            <a:endParaRPr sz="1200" b="0" i="0" u="none" strike="noStrike" cap="none">
              <a:solidFill>
                <a:schemeClr val="dk1"/>
              </a:solidFill>
              <a:latin typeface="Quattrocento Sans"/>
              <a:ea typeface="Quattrocento Sans"/>
              <a:cs typeface="Quattrocento Sans"/>
              <a:sym typeface="Quattrocento Sans"/>
            </a:endParaRPr>
          </a:p>
        </p:txBody>
      </p:sp>
      <p:pic>
        <p:nvPicPr>
          <p:cNvPr id="21" name="Google Shape;21;p33">
            <a:hlinkClick r:id="rId10"/>
          </p:cNvPr>
          <p:cNvPicPr preferRelativeResize="0"/>
          <p:nvPr/>
        </p:nvPicPr>
        <p:blipFill rotWithShape="1">
          <a:blip r:embed="rId11">
            <a:alphaModFix/>
          </a:blip>
          <a:srcRect/>
          <a:stretch/>
        </p:blipFill>
        <p:spPr>
          <a:xfrm>
            <a:off x="345061" y="6581775"/>
            <a:ext cx="762000" cy="1428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16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openchainproject.org/license-complianc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https://www.openchainproject.org/resources" TargetMode="External"/><Relationship Id="rId4" Type="http://schemas.openxmlformats.org/officeDocument/2006/relationships/hyperlink" Target="https://www.openchainproject.org/get-started"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github.com/OpenChain-Project/License-Compliance-Specification/blob/676f83777b61be7ffe61821d8ec9f0f09feec1a2/Official/en/2.1/openchainspec-2.1.draft.pdf" TargetMode="External"/><Relationship Id="rId13" Type="http://schemas.openxmlformats.org/officeDocument/2006/relationships/hyperlink" Target="https://github.com/OpenChain-Project/Security-Assurance-Specification/blob/main/Security-Assurance-Guide-Depreciated/2.0/OpenChainSecurityAssuranceGuide.2.0-DRAFT.docx" TargetMode="External"/><Relationship Id="rId18" Type="http://schemas.openxmlformats.org/officeDocument/2006/relationships/hyperlink" Target="https://www.iso.org/standard/86450.html" TargetMode="External"/><Relationship Id="rId3" Type="http://schemas.openxmlformats.org/officeDocument/2006/relationships/hyperlink" Target="https://linuxgizmos.com/linux-foundation-values-linux-and-open-source-at-5-billion-dollars/" TargetMode="External"/><Relationship Id="rId7" Type="http://schemas.openxmlformats.org/officeDocument/2006/relationships/hyperlink" Target="https://github.com/OpenChain-Project/License-Compliance-Specification/blob/master/Official/en/2.0/openchainspec-2.0.pdf" TargetMode="External"/><Relationship Id="rId12" Type="http://schemas.openxmlformats.org/officeDocument/2006/relationships/hyperlink" Target="https://github.com/OpenChain-Project/Security-Assurance-Specification/blob/main/Security-Assurance-Guide-Depreciated/1.0/OpenChainSecurityAssuranceGuide.1.0-2021a.docx" TargetMode="External"/><Relationship Id="rId17" Type="http://schemas.openxmlformats.org/officeDocument/2006/relationships/hyperlink" Target="https://github.com/OpenChain-Project/Security-Assurance-Specification/blob/main/Security-Assurance-Specification/2.0/en/openchain-security-specification-2.0.md" TargetMode="External"/><Relationship Id="rId2" Type="http://schemas.openxmlformats.org/officeDocument/2006/relationships/notesSlide" Target="../notesSlides/notesSlide10.xml"/><Relationship Id="rId16" Type="http://schemas.openxmlformats.org/officeDocument/2006/relationships/hyperlink" Target="https://openchainproject.org/featured/2023/03/16/introducing-dis-18974" TargetMode="External"/><Relationship Id="rId1" Type="http://schemas.openxmlformats.org/officeDocument/2006/relationships/slideLayout" Target="../slideLayouts/slideLayout2.xml"/><Relationship Id="rId6" Type="http://schemas.openxmlformats.org/officeDocument/2006/relationships/hyperlink" Target="https://github.com/OpenChain-Project/License-Compliance-Specification/blob/master/Official/en/1.0/openchainspec-1.0.pdf" TargetMode="External"/><Relationship Id="rId11" Type="http://schemas.openxmlformats.org/officeDocument/2006/relationships/hyperlink" Target="https://www.iso.org/standard/81039.html" TargetMode="External"/><Relationship Id="rId5" Type="http://schemas.openxmlformats.org/officeDocument/2006/relationships/hyperlink" Target="https://www.linuxfoundation.org/press/press-release/the-linux-foundation-drives-standardization-of-open-source-software-supply-chain" TargetMode="External"/><Relationship Id="rId15" Type="http://schemas.openxmlformats.org/officeDocument/2006/relationships/hyperlink" Target="https://github.com/OpenChain-Project/Security-Assurance-Specification/blob/main/Security-Assurance-Specification/1.1/en/openchain-security-specification-1.1.md" TargetMode="External"/><Relationship Id="rId10" Type="http://schemas.openxmlformats.org/officeDocument/2006/relationships/hyperlink" Target="https://github.com/OpenChain-Project/License-Compliance-Specification/blob/master/Official/en/2.1/openchainspec-2.1.pdf" TargetMode="External"/><Relationship Id="rId4" Type="http://schemas.openxmlformats.org/officeDocument/2006/relationships/hyperlink" Target="https://wiki.linuxfoundation.org/openchain/start" TargetMode="External"/><Relationship Id="rId9" Type="http://schemas.openxmlformats.org/officeDocument/2006/relationships/hyperlink" Target="https://jointdevelopment.org/" TargetMode="External"/><Relationship Id="rId14" Type="http://schemas.openxmlformats.org/officeDocument/2006/relationships/hyperlink" Target="https://github.com/OpenChain-Project/Security-Assurance-Specification/blob/main/Security-Assurance-Specification/1.0/en/openchain-security-specification-1.0.md"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www.openchainproject.org/partners" TargetMode="External"/><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s://www.openchainproject.org/checklist-iso-5230-2020" TargetMode="Externa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hyperlink" Target="https://www.openchainproject.org/featured/2020/12/15/toyota-iso-5230" TargetMode="External"/><Relationship Id="rId4" Type="http://schemas.openxmlformats.org/officeDocument/2006/relationships/hyperlink" Target="https://www.iso.org/standard/81039.html"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openchainproject.org/new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openchainproject.org/new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openchainproject.org/community-of-conformance" TargetMode="External"/><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iso.org/standard/86450.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openchainproject.org/community-of-conformance" TargetMode="Externa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https://www.openchainproject.org/partners" TargetMode="External"/><Relationship Id="rId7"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hyperlink" Target="https://www.openchainproject.org/news" TargetMode="External"/><Relationship Id="rId7"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jp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jpg"/><Relationship Id="rId10" Type="http://schemas.openxmlformats.org/officeDocument/2006/relationships/image" Target="../media/image48.jpg"/><Relationship Id="rId4" Type="http://schemas.openxmlformats.org/officeDocument/2006/relationships/image" Target="../media/image42.png"/><Relationship Id="rId9"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hyperlink" Target="mailto:japan-sg-sbom+subscribe@lists.openchainproject.org" TargetMode="External"/><Relationship Id="rId3" Type="http://schemas.openxmlformats.org/officeDocument/2006/relationships/hyperlink" Target="https://openchain-project.github.io/OpenChain-JWG/" TargetMode="External"/><Relationship Id="rId7" Type="http://schemas.openxmlformats.org/officeDocument/2006/relationships/hyperlink" Target="mailto:japan-sg-education+subscribe@lists.openchainproject.org" TargetMode="External"/><Relationship Id="rId12"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mailto:japan-sg-faq+subscribe@lists.openchainproject.org" TargetMode="External"/><Relationship Id="rId11" Type="http://schemas.openxmlformats.org/officeDocument/2006/relationships/hyperlink" Target="https://join.slack.com/t/openchain-japanwg/shared_invite/zt-2f9lbstd0-D__Jkfs_kwnyGhD0x7tTkw" TargetMode="External"/><Relationship Id="rId5" Type="http://schemas.openxmlformats.org/officeDocument/2006/relationships/hyperlink" Target="mailto:japan-sg-planning+subscribe@lists.openchainproject.org" TargetMode="External"/><Relationship Id="rId10" Type="http://schemas.openxmlformats.org/officeDocument/2006/relationships/hyperlink" Target="mailto:japan-sg-ospo+subscribe@lists.openchainproject.org" TargetMode="External"/><Relationship Id="rId4" Type="http://schemas.openxmlformats.org/officeDocument/2006/relationships/hyperlink" Target="mailto:japan-wg+subscribe@lists.openchainproject.org" TargetMode="External"/><Relationship Id="rId9" Type="http://schemas.openxmlformats.org/officeDocument/2006/relationships/hyperlink" Target="mailto:japan-sg-automation+subscribe@lists.openchainproject.org"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g373d37e5442_0_0"/>
          <p:cNvSpPr txBox="1">
            <a:spLocks noGrp="1"/>
          </p:cNvSpPr>
          <p:nvPr>
            <p:ph type="ctrTitle"/>
          </p:nvPr>
        </p:nvSpPr>
        <p:spPr>
          <a:xfrm>
            <a:off x="320387" y="3972491"/>
            <a:ext cx="11545500" cy="874800"/>
          </a:xfrm>
          <a:prstGeom prst="rect">
            <a:avLst/>
          </a:prstGeom>
          <a:noFill/>
          <a:ln>
            <a:noFill/>
          </a:ln>
        </p:spPr>
        <p:txBody>
          <a:bodyPr spcFirstLastPara="1" wrap="square" lIns="0" tIns="228600" rIns="0" bIns="228600" anchor="b" anchorCtr="0">
            <a:noAutofit/>
          </a:bodyPr>
          <a:lstStyle/>
          <a:p>
            <a:pPr marL="0" lvl="0" indent="0" algn="ctr" rtl="0">
              <a:lnSpc>
                <a:spcPct val="100000"/>
              </a:lnSpc>
              <a:spcBef>
                <a:spcPts val="0"/>
              </a:spcBef>
              <a:spcAft>
                <a:spcPts val="0"/>
              </a:spcAft>
              <a:buSzPts val="1400"/>
              <a:buNone/>
            </a:pPr>
            <a:r>
              <a:rPr lang="en-US" sz="3600" b="1"/>
              <a:t>OpenChain</a:t>
            </a:r>
            <a:r>
              <a:rPr lang="en-US" sz="3600" b="1">
                <a:latin typeface="Arial"/>
                <a:ea typeface="Arial"/>
                <a:cs typeface="Arial"/>
                <a:sym typeface="Arial"/>
              </a:rPr>
              <a:t>プロジェクト紹介</a:t>
            </a:r>
            <a:endParaRPr sz="3600" b="1">
              <a:latin typeface="Arial"/>
              <a:ea typeface="Arial"/>
              <a:cs typeface="Arial"/>
              <a:sym typeface="Arial"/>
            </a:endParaRPr>
          </a:p>
        </p:txBody>
      </p:sp>
      <p:sp>
        <p:nvSpPr>
          <p:cNvPr id="71" name="Google Shape;71;g373d37e5442_0_0"/>
          <p:cNvSpPr txBox="1">
            <a:spLocks noGrp="1"/>
          </p:cNvSpPr>
          <p:nvPr>
            <p:ph type="subTitle" idx="1"/>
          </p:nvPr>
        </p:nvSpPr>
        <p:spPr>
          <a:xfrm>
            <a:off x="310091" y="4905807"/>
            <a:ext cx="11546700" cy="11439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200"/>
              <a:buNone/>
            </a:pPr>
            <a:r>
              <a:rPr lang="en-US" dirty="0">
                <a:solidFill>
                  <a:srgbClr val="3F3F3F"/>
                </a:solidFill>
              </a:rPr>
              <a:t>2026.</a:t>
            </a:r>
            <a:r>
              <a:rPr lang="en-US" altLang="ja-JP" dirty="0">
                <a:solidFill>
                  <a:srgbClr val="3F3F3F"/>
                </a:solidFill>
              </a:rPr>
              <a:t>10.22</a:t>
            </a:r>
            <a:endParaRPr dirty="0"/>
          </a:p>
          <a:p>
            <a:pPr marL="0" lvl="0" indent="0" algn="ctr" rtl="0">
              <a:lnSpc>
                <a:spcPct val="100000"/>
              </a:lnSpc>
              <a:spcBef>
                <a:spcPts val="640"/>
              </a:spcBef>
              <a:spcAft>
                <a:spcPts val="0"/>
              </a:spcAft>
              <a:buSzPts val="3200"/>
              <a:buNone/>
            </a:pPr>
            <a:r>
              <a:rPr lang="en-US" dirty="0" err="1">
                <a:solidFill>
                  <a:srgbClr val="3F3F3F"/>
                </a:solidFill>
              </a:rPr>
              <a:t>OpenChain</a:t>
            </a:r>
            <a:r>
              <a:rPr lang="en-US" dirty="0">
                <a:solidFill>
                  <a:srgbClr val="3F3F3F"/>
                </a:solidFill>
              </a:rPr>
              <a:t> Japan Work Group</a:t>
            </a:r>
            <a:endParaRPr dirty="0"/>
          </a:p>
        </p:txBody>
      </p:sp>
      <p:sp>
        <p:nvSpPr>
          <p:cNvPr id="72" name="Google Shape;72;g373d37e5442_0_0"/>
          <p:cNvSpPr txBox="1"/>
          <p:nvPr/>
        </p:nvSpPr>
        <p:spPr>
          <a:xfrm>
            <a:off x="9310774" y="6280398"/>
            <a:ext cx="27432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p:txBody>
      </p:sp>
      <p:pic>
        <p:nvPicPr>
          <p:cNvPr id="73" name="Google Shape;73;g373d37e5442_0_0"/>
          <p:cNvPicPr preferRelativeResize="0"/>
          <p:nvPr/>
        </p:nvPicPr>
        <p:blipFill rotWithShape="1">
          <a:blip r:embed="rId3">
            <a:alphaModFix/>
          </a:blip>
          <a:srcRect/>
          <a:stretch/>
        </p:blipFill>
        <p:spPr>
          <a:xfrm>
            <a:off x="731701" y="133900"/>
            <a:ext cx="10728596" cy="3889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g373d37e5442_0_8"/>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目次</a:t>
            </a:r>
            <a:endParaRPr b="1">
              <a:latin typeface="Quattrocento Sans"/>
              <a:ea typeface="Quattrocento Sans"/>
              <a:cs typeface="Quattrocento Sans"/>
              <a:sym typeface="Quattrocento Sans"/>
            </a:endParaRPr>
          </a:p>
        </p:txBody>
      </p:sp>
      <p:sp>
        <p:nvSpPr>
          <p:cNvPr id="79" name="Google Shape;79;g373d37e5442_0_8"/>
          <p:cNvSpPr txBox="1">
            <a:spLocks noGrp="1"/>
          </p:cNvSpPr>
          <p:nvPr>
            <p:ph type="body" idx="1"/>
          </p:nvPr>
        </p:nvSpPr>
        <p:spPr>
          <a:xfrm>
            <a:off x="890271" y="1951719"/>
            <a:ext cx="10320000" cy="3068100"/>
          </a:xfrm>
          <a:prstGeom prst="rect">
            <a:avLst/>
          </a:prstGeom>
          <a:noFill/>
          <a:ln>
            <a:noFill/>
          </a:ln>
        </p:spPr>
        <p:txBody>
          <a:bodyPr spcFirstLastPara="1" wrap="square" lIns="0" tIns="0" rIns="0" bIns="0" anchor="t" anchorCtr="0">
            <a:noAutofit/>
          </a:bodyPr>
          <a:lstStyle/>
          <a:p>
            <a:pPr marL="478355" lvl="0" indent="-478355" algn="l" rtl="0">
              <a:lnSpc>
                <a:spcPct val="100000"/>
              </a:lnSpc>
              <a:spcBef>
                <a:spcPts val="0"/>
              </a:spcBef>
              <a:spcAft>
                <a:spcPts val="0"/>
              </a:spcAft>
              <a:buClr>
                <a:srgbClr val="7F7F7F"/>
              </a:buClr>
              <a:buSzPts val="2900"/>
              <a:buChar char="■"/>
            </a:pPr>
            <a:r>
              <a:rPr lang="en-US" b="1">
                <a:latin typeface="Quattrocento Sans"/>
                <a:ea typeface="Quattrocento Sans"/>
                <a:cs typeface="Quattrocento Sans"/>
                <a:sym typeface="Quattrocento Sans"/>
              </a:rPr>
              <a:t>OpenChainプロジェクトの紹介 </a:t>
            </a:r>
            <a:endParaRPr/>
          </a:p>
          <a:p>
            <a:pPr marL="478355" lvl="0" indent="-292110" algn="l" rtl="0">
              <a:lnSpc>
                <a:spcPct val="100000"/>
              </a:lnSpc>
              <a:spcBef>
                <a:spcPts val="877"/>
              </a:spcBef>
              <a:spcAft>
                <a:spcPts val="0"/>
              </a:spcAft>
              <a:buClr>
                <a:srgbClr val="7F7F7F"/>
              </a:buClr>
              <a:buSzPts val="2933"/>
              <a:buNone/>
            </a:pPr>
            <a:endParaRPr b="1"/>
          </a:p>
          <a:p>
            <a:pPr marL="478355" lvl="0" indent="-478355" algn="l" rtl="0">
              <a:lnSpc>
                <a:spcPct val="100000"/>
              </a:lnSpc>
              <a:spcBef>
                <a:spcPts val="873"/>
              </a:spcBef>
              <a:spcAft>
                <a:spcPts val="0"/>
              </a:spcAft>
              <a:buClr>
                <a:srgbClr val="7F7F7F"/>
              </a:buClr>
              <a:buSzPts val="2900"/>
              <a:buChar char="■"/>
            </a:pPr>
            <a:r>
              <a:rPr lang="en-US" b="1">
                <a:latin typeface="Quattrocento Sans"/>
                <a:ea typeface="Quattrocento Sans"/>
                <a:cs typeface="Quattrocento Sans"/>
                <a:sym typeface="Quattrocento Sans"/>
              </a:rPr>
              <a:t>OpenChain Japan WGの紹介</a:t>
            </a:r>
            <a:endParaRPr/>
          </a:p>
        </p:txBody>
      </p:sp>
      <p:sp>
        <p:nvSpPr>
          <p:cNvPr id="80" name="Google Shape;80;g373d37e5442_0_8"/>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81" name="Google Shape;81;g373d37e5442_0_8"/>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g373d37e5442_0_15"/>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endParaRPr b="1">
              <a:latin typeface="Quattrocento Sans"/>
              <a:ea typeface="Quattrocento Sans"/>
              <a:cs typeface="Quattrocento Sans"/>
              <a:sym typeface="Quattrocento Sans"/>
            </a:endParaRPr>
          </a:p>
        </p:txBody>
      </p:sp>
      <p:sp>
        <p:nvSpPr>
          <p:cNvPr id="87" name="Google Shape;87;g373d37e5442_0_15"/>
          <p:cNvSpPr txBox="1">
            <a:spLocks noGrp="1"/>
          </p:cNvSpPr>
          <p:nvPr>
            <p:ph type="body" idx="1"/>
          </p:nvPr>
        </p:nvSpPr>
        <p:spPr>
          <a:xfrm>
            <a:off x="890271" y="1951719"/>
            <a:ext cx="10320000" cy="3068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4000"/>
              <a:buNone/>
            </a:pPr>
            <a:r>
              <a:rPr lang="en-US" sz="4000" b="1">
                <a:solidFill>
                  <a:srgbClr val="00849D"/>
                </a:solidFill>
              </a:rPr>
              <a:t>OpenChain</a:t>
            </a:r>
            <a:r>
              <a:rPr lang="en-US" sz="4000" b="1">
                <a:solidFill>
                  <a:srgbClr val="00849D"/>
                </a:solidFill>
                <a:latin typeface="Arial"/>
                <a:ea typeface="Arial"/>
                <a:cs typeface="Arial"/>
                <a:sym typeface="Arial"/>
              </a:rPr>
              <a:t>プロジェクトの紹介</a:t>
            </a:r>
            <a:endParaRPr/>
          </a:p>
        </p:txBody>
      </p:sp>
      <p:sp>
        <p:nvSpPr>
          <p:cNvPr id="88" name="Google Shape;88;g373d37e5442_0_15"/>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89" name="Google Shape;89;g373d37e5442_0_15"/>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g373d37e5442_0_22"/>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OpenChain</a:t>
            </a:r>
            <a:r>
              <a:rPr lang="en-US" b="1">
                <a:latin typeface="Arial"/>
                <a:ea typeface="Arial"/>
                <a:cs typeface="Arial"/>
                <a:sym typeface="Arial"/>
              </a:rPr>
              <a:t>プロジェクト</a:t>
            </a:r>
            <a:endParaRPr b="1">
              <a:latin typeface="Quattrocento Sans"/>
              <a:ea typeface="Quattrocento Sans"/>
              <a:cs typeface="Quattrocento Sans"/>
              <a:sym typeface="Quattrocento Sans"/>
            </a:endParaRPr>
          </a:p>
        </p:txBody>
      </p:sp>
      <p:sp>
        <p:nvSpPr>
          <p:cNvPr id="95" name="Google Shape;95;g373d37e5442_0_22"/>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96" name="Google Shape;96;g373d37e5442_0_22"/>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pic>
        <p:nvPicPr>
          <p:cNvPr id="97" name="Google Shape;97;g373d37e5442_0_22"/>
          <p:cNvPicPr preferRelativeResize="0"/>
          <p:nvPr/>
        </p:nvPicPr>
        <p:blipFill rotWithShape="1">
          <a:blip r:embed="rId3">
            <a:alphaModFix/>
          </a:blip>
          <a:srcRect/>
          <a:stretch/>
        </p:blipFill>
        <p:spPr>
          <a:xfrm>
            <a:off x="3063891" y="2659175"/>
            <a:ext cx="6064219" cy="3493159"/>
          </a:xfrm>
          <a:prstGeom prst="rect">
            <a:avLst/>
          </a:prstGeom>
          <a:noFill/>
          <a:ln w="28575" cap="flat" cmpd="sng">
            <a:solidFill>
              <a:srgbClr val="0070C0"/>
            </a:solidFill>
            <a:prstDash val="solid"/>
            <a:round/>
            <a:headEnd type="none" w="sm" len="sm"/>
            <a:tailEnd type="none" w="sm" len="sm"/>
          </a:ln>
        </p:spPr>
      </p:pic>
      <p:sp>
        <p:nvSpPr>
          <p:cNvPr id="98" name="Google Shape;98;g373d37e5442_0_22"/>
          <p:cNvSpPr/>
          <p:nvPr/>
        </p:nvSpPr>
        <p:spPr>
          <a:xfrm>
            <a:off x="4620242" y="2153467"/>
            <a:ext cx="2860200" cy="644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sng" strike="noStrike" cap="none">
                <a:solidFill>
                  <a:srgbClr val="484848"/>
                </a:solidFill>
                <a:latin typeface="Quattrocento Sans"/>
                <a:ea typeface="Quattrocento Sans"/>
                <a:cs typeface="Quattrocento Sans"/>
                <a:sym typeface="Quattrocento Sans"/>
              </a:rPr>
              <a:t>ソースコード (Code)</a:t>
            </a:r>
            <a:endParaRPr sz="2000" b="1" i="0" u="sng" strike="noStrike" cap="none">
              <a:solidFill>
                <a:srgbClr val="484848"/>
              </a:solidFill>
              <a:latin typeface="Quattrocento Sans"/>
              <a:ea typeface="Quattrocento Sans"/>
              <a:cs typeface="Quattrocento Sans"/>
              <a:sym typeface="Quattrocento Sans"/>
            </a:endParaRPr>
          </a:p>
        </p:txBody>
      </p:sp>
      <p:sp>
        <p:nvSpPr>
          <p:cNvPr id="99" name="Google Shape;99;g373d37e5442_0_22"/>
          <p:cNvSpPr/>
          <p:nvPr/>
        </p:nvSpPr>
        <p:spPr>
          <a:xfrm>
            <a:off x="4861965" y="6020336"/>
            <a:ext cx="2468100" cy="687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sng" strike="noStrike" cap="none">
                <a:solidFill>
                  <a:srgbClr val="484848"/>
                </a:solidFill>
                <a:latin typeface="Quattrocento Sans"/>
                <a:ea typeface="Quattrocento Sans"/>
                <a:cs typeface="Quattrocento Sans"/>
                <a:sym typeface="Quattrocento Sans"/>
              </a:rPr>
              <a:t>仕様 (Specification)</a:t>
            </a:r>
            <a:endParaRPr sz="2000" b="1" i="0" u="sng" strike="noStrike" cap="none">
              <a:solidFill>
                <a:srgbClr val="484848"/>
              </a:solidFill>
              <a:latin typeface="Quattrocento Sans"/>
              <a:ea typeface="Quattrocento Sans"/>
              <a:cs typeface="Quattrocento Sans"/>
              <a:sym typeface="Quattrocento Sans"/>
            </a:endParaRPr>
          </a:p>
        </p:txBody>
      </p:sp>
      <p:sp>
        <p:nvSpPr>
          <p:cNvPr id="100" name="Google Shape;100;g373d37e5442_0_22"/>
          <p:cNvSpPr/>
          <p:nvPr/>
        </p:nvSpPr>
        <p:spPr>
          <a:xfrm>
            <a:off x="1417122" y="4219161"/>
            <a:ext cx="1808700" cy="645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sng" strike="noStrike" cap="none">
                <a:solidFill>
                  <a:srgbClr val="484848"/>
                </a:solidFill>
                <a:latin typeface="Quattrocento Sans"/>
                <a:ea typeface="Quattrocento Sans"/>
                <a:cs typeface="Quattrocento Sans"/>
                <a:sym typeface="Quattrocento Sans"/>
              </a:rPr>
              <a:t>単体 </a:t>
            </a:r>
            <a:endParaRPr sz="2000" b="1" i="0" u="sng" strike="noStrike" cap="none">
              <a:solidFill>
                <a:srgbClr val="484848"/>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2000"/>
              <a:buFont typeface="Arial"/>
              <a:buNone/>
            </a:pPr>
            <a:r>
              <a:rPr lang="en-US" sz="2000" b="1" i="0" u="sng" strike="noStrike" cap="none">
                <a:solidFill>
                  <a:srgbClr val="484848"/>
                </a:solidFill>
                <a:latin typeface="Quattrocento Sans"/>
                <a:ea typeface="Quattrocento Sans"/>
                <a:cs typeface="Quattrocento Sans"/>
                <a:sym typeface="Quattrocento Sans"/>
              </a:rPr>
              <a:t>(Single)</a:t>
            </a:r>
            <a:endParaRPr sz="2000" b="1" i="0" u="sng" strike="noStrike" cap="none">
              <a:solidFill>
                <a:srgbClr val="484848"/>
              </a:solidFill>
              <a:latin typeface="Quattrocento Sans"/>
              <a:ea typeface="Quattrocento Sans"/>
              <a:cs typeface="Quattrocento Sans"/>
              <a:sym typeface="Quattrocento Sans"/>
            </a:endParaRPr>
          </a:p>
        </p:txBody>
      </p:sp>
      <p:sp>
        <p:nvSpPr>
          <p:cNvPr id="101" name="Google Shape;101;g373d37e5442_0_22"/>
          <p:cNvSpPr/>
          <p:nvPr/>
        </p:nvSpPr>
        <p:spPr>
          <a:xfrm>
            <a:off x="8616310" y="4219161"/>
            <a:ext cx="2468100" cy="645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sng" strike="noStrike" cap="none">
                <a:solidFill>
                  <a:srgbClr val="484848"/>
                </a:solidFill>
                <a:latin typeface="Quattrocento Sans"/>
                <a:ea typeface="Quattrocento Sans"/>
                <a:cs typeface="Quattrocento Sans"/>
                <a:sym typeface="Quattrocento Sans"/>
              </a:rPr>
              <a:t>集合 </a:t>
            </a:r>
            <a:endParaRPr sz="2000" b="1" i="0" u="sng" strike="noStrike" cap="none">
              <a:solidFill>
                <a:srgbClr val="484848"/>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2000"/>
              <a:buFont typeface="Arial"/>
              <a:buNone/>
            </a:pPr>
            <a:r>
              <a:rPr lang="en-US" sz="2000" b="1" i="0" u="sng" strike="noStrike" cap="none">
                <a:solidFill>
                  <a:srgbClr val="484848"/>
                </a:solidFill>
                <a:latin typeface="Quattrocento Sans"/>
                <a:ea typeface="Quattrocento Sans"/>
                <a:cs typeface="Quattrocento Sans"/>
                <a:sym typeface="Quattrocento Sans"/>
              </a:rPr>
              <a:t>(Umbrella)</a:t>
            </a:r>
            <a:endParaRPr sz="2000" b="1" i="0" u="sng" strike="noStrike" cap="none">
              <a:solidFill>
                <a:srgbClr val="484848"/>
              </a:solidFill>
              <a:latin typeface="Quattrocento Sans"/>
              <a:ea typeface="Quattrocento Sans"/>
              <a:cs typeface="Quattrocento Sans"/>
              <a:sym typeface="Quattrocento Sans"/>
            </a:endParaRPr>
          </a:p>
        </p:txBody>
      </p:sp>
      <p:sp>
        <p:nvSpPr>
          <p:cNvPr id="102" name="Google Shape;102;g373d37e5442_0_22"/>
          <p:cNvSpPr/>
          <p:nvPr/>
        </p:nvSpPr>
        <p:spPr>
          <a:xfrm>
            <a:off x="3063891" y="5598219"/>
            <a:ext cx="2028900" cy="4098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03" name="Google Shape;103;g373d37e5442_0_22"/>
          <p:cNvSpPr txBox="1">
            <a:spLocks noGrp="1"/>
          </p:cNvSpPr>
          <p:nvPr>
            <p:ph type="body" idx="1"/>
          </p:nvPr>
        </p:nvSpPr>
        <p:spPr>
          <a:xfrm>
            <a:off x="1441675" y="1193800"/>
            <a:ext cx="9227400" cy="12369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933"/>
              <a:buNone/>
            </a:pPr>
            <a:r>
              <a:rPr lang="en-US" sz="2400" b="1"/>
              <a:t>信頼性があり、一貫性のあるプロセスマネジメント情報とともに</a:t>
            </a:r>
            <a:endParaRPr sz="2400" b="1"/>
          </a:p>
          <a:p>
            <a:pPr marL="0" lvl="0" indent="0" algn="l" rtl="0">
              <a:lnSpc>
                <a:spcPct val="100000"/>
              </a:lnSpc>
              <a:spcBef>
                <a:spcPts val="0"/>
              </a:spcBef>
              <a:spcAft>
                <a:spcPts val="0"/>
              </a:spcAft>
              <a:buSzPts val="2933"/>
              <a:buNone/>
            </a:pPr>
            <a:r>
              <a:rPr lang="en-US" sz="2400" b="1"/>
              <a:t>オープンソースが配布されるサプライチェーンの実現を</a:t>
            </a:r>
            <a:r>
              <a:rPr lang="en-US" sz="2400" b="1">
                <a:latin typeface="Quattrocento Sans"/>
                <a:ea typeface="Quattrocento Sans"/>
                <a:cs typeface="Quattrocento Sans"/>
                <a:sym typeface="Quattrocento Sans"/>
              </a:rPr>
              <a:t>目指す、</a:t>
            </a:r>
            <a:endParaRPr sz="2400" b="1">
              <a:latin typeface="Quattrocento Sans"/>
              <a:ea typeface="Quattrocento Sans"/>
              <a:cs typeface="Quattrocento Sans"/>
              <a:sym typeface="Quattrocento Sans"/>
            </a:endParaRPr>
          </a:p>
          <a:p>
            <a:pPr marL="0" lvl="0" indent="0" algn="l" rtl="0">
              <a:lnSpc>
                <a:spcPct val="100000"/>
              </a:lnSpc>
              <a:spcBef>
                <a:spcPts val="0"/>
              </a:spcBef>
              <a:spcAft>
                <a:spcPts val="0"/>
              </a:spcAft>
              <a:buSzPts val="2933"/>
              <a:buNone/>
            </a:pPr>
            <a:r>
              <a:rPr lang="en-US" sz="2400" b="1">
                <a:latin typeface="Quattrocento Sans"/>
                <a:ea typeface="Quattrocento Sans"/>
                <a:cs typeface="Quattrocento Sans"/>
                <a:sym typeface="Quattrocento Sans"/>
              </a:rPr>
              <a:t>Linux Foundationのプロジェクトの一つ。</a:t>
            </a:r>
            <a:endParaRPr sz="2400" b="1">
              <a:latin typeface="Quattrocento Sans"/>
              <a:ea typeface="Quattrocento Sans"/>
              <a:cs typeface="Quattrocento Sans"/>
              <a:sym typeface="Quattrocento Sans"/>
            </a:endParaRPr>
          </a:p>
        </p:txBody>
      </p:sp>
      <p:pic>
        <p:nvPicPr>
          <p:cNvPr id="104" name="Google Shape;104;g373d37e5442_0_22"/>
          <p:cNvPicPr preferRelativeResize="0"/>
          <p:nvPr/>
        </p:nvPicPr>
        <p:blipFill rotWithShape="1">
          <a:blip r:embed="rId4">
            <a:alphaModFix/>
          </a:blip>
          <a:srcRect/>
          <a:stretch/>
        </p:blipFill>
        <p:spPr>
          <a:xfrm>
            <a:off x="6044600" y="754115"/>
            <a:ext cx="6064200" cy="3525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08"/>
        <p:cNvGrpSpPr/>
        <p:nvPr/>
      </p:nvGrpSpPr>
      <p:grpSpPr>
        <a:xfrm>
          <a:off x="0" y="0"/>
          <a:ext cx="0" cy="0"/>
          <a:chOff x="0" y="0"/>
          <a:chExt cx="0" cy="0"/>
        </a:xfrm>
      </p:grpSpPr>
      <p:sp>
        <p:nvSpPr>
          <p:cNvPr id="109" name="Google Shape;109;g373d37e5442_0_36"/>
          <p:cNvSpPr/>
          <p:nvPr/>
        </p:nvSpPr>
        <p:spPr>
          <a:xfrm>
            <a:off x="890271" y="1290371"/>
            <a:ext cx="6840000" cy="528900"/>
          </a:xfrm>
          <a:prstGeom prst="rect">
            <a:avLst/>
          </a:prstGeom>
          <a:solidFill>
            <a:srgbClr val="C7F1C7"/>
          </a:solidFill>
          <a:ln w="9525" cap="flat" cmpd="sng">
            <a:solidFill>
              <a:srgbClr val="B1B1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110" name="Google Shape;110;g373d37e5442_0_36"/>
          <p:cNvSpPr/>
          <p:nvPr/>
        </p:nvSpPr>
        <p:spPr>
          <a:xfrm>
            <a:off x="4387848" y="4451892"/>
            <a:ext cx="6840000" cy="528900"/>
          </a:xfrm>
          <a:prstGeom prst="rect">
            <a:avLst/>
          </a:prstGeom>
          <a:solidFill>
            <a:srgbClr val="FFCC99"/>
          </a:solidFill>
          <a:ln w="9525" cap="flat" cmpd="sng">
            <a:solidFill>
              <a:srgbClr val="B1B1A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111" name="Google Shape;111;g373d37e5442_0_36"/>
          <p:cNvSpPr txBox="1">
            <a:spLocks noGrp="1"/>
          </p:cNvSpPr>
          <p:nvPr>
            <p:ph type="title"/>
          </p:nvPr>
        </p:nvSpPr>
        <p:spPr>
          <a:xfrm>
            <a:off x="890271" y="531580"/>
            <a:ext cx="109968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オープンソースライセンス</a:t>
            </a:r>
            <a:r>
              <a:rPr lang="en-US" b="1">
                <a:solidFill>
                  <a:srgbClr val="C7F1C7"/>
                </a:solidFill>
                <a:latin typeface="Quattrocento Sans"/>
                <a:ea typeface="Quattrocento Sans"/>
                <a:cs typeface="Quattrocento Sans"/>
                <a:sym typeface="Quattrocento Sans"/>
              </a:rPr>
              <a:t>■</a:t>
            </a:r>
            <a:r>
              <a:rPr lang="en-US" b="1">
                <a:latin typeface="Quattrocento Sans"/>
                <a:ea typeface="Quattrocento Sans"/>
                <a:cs typeface="Quattrocento Sans"/>
                <a:sym typeface="Quattrocento Sans"/>
              </a:rPr>
              <a:t>とコンプライアンス</a:t>
            </a:r>
            <a:r>
              <a:rPr lang="en-US" b="1">
                <a:solidFill>
                  <a:srgbClr val="FFCC99"/>
                </a:solidFill>
                <a:latin typeface="Quattrocento Sans"/>
                <a:ea typeface="Quattrocento Sans"/>
                <a:cs typeface="Quattrocento Sans"/>
                <a:sym typeface="Quattrocento Sans"/>
              </a:rPr>
              <a:t>■</a:t>
            </a:r>
            <a:endParaRPr b="1">
              <a:solidFill>
                <a:srgbClr val="FFCC99"/>
              </a:solidFill>
              <a:latin typeface="Quattrocento Sans"/>
              <a:ea typeface="Quattrocento Sans"/>
              <a:cs typeface="Quattrocento Sans"/>
              <a:sym typeface="Quattrocento Sans"/>
            </a:endParaRPr>
          </a:p>
        </p:txBody>
      </p:sp>
      <p:sp>
        <p:nvSpPr>
          <p:cNvPr id="112" name="Google Shape;112;g373d37e5442_0_36"/>
          <p:cNvSpPr txBox="1">
            <a:spLocks noGrp="1"/>
          </p:cNvSpPr>
          <p:nvPr>
            <p:ph type="body" idx="1"/>
          </p:nvPr>
        </p:nvSpPr>
        <p:spPr>
          <a:xfrm>
            <a:off x="1247142" y="1404670"/>
            <a:ext cx="6996300" cy="2933700"/>
          </a:xfrm>
          <a:prstGeom prst="rect">
            <a:avLst/>
          </a:prstGeom>
          <a:noFill/>
          <a:ln>
            <a:noFill/>
          </a:ln>
        </p:spPr>
        <p:txBody>
          <a:bodyPr spcFirstLastPara="1" wrap="square" lIns="0" tIns="0" rIns="0" bIns="0" anchor="t" anchorCtr="0">
            <a:noAutofit/>
          </a:bodyPr>
          <a:lstStyle/>
          <a:p>
            <a:pPr marL="478355" lvl="0" indent="-478355" algn="l" rtl="0">
              <a:lnSpc>
                <a:spcPct val="100000"/>
              </a:lnSpc>
              <a:spcBef>
                <a:spcPts val="0"/>
              </a:spcBef>
              <a:spcAft>
                <a:spcPts val="0"/>
              </a:spcAft>
              <a:buClr>
                <a:srgbClr val="7F7F7F"/>
              </a:buClr>
              <a:buSzPts val="2400"/>
              <a:buChar char="■"/>
            </a:pPr>
            <a:r>
              <a:rPr lang="en-US" sz="2400" b="1">
                <a:latin typeface="Quattrocento Sans"/>
                <a:ea typeface="Quattrocento Sans"/>
                <a:cs typeface="Quattrocento Sans"/>
                <a:sym typeface="Quattrocento Sans"/>
              </a:rPr>
              <a:t>ライセンスに基づくソースコードの公開</a:t>
            </a:r>
            <a:endParaRPr sz="2134" b="1">
              <a:latin typeface="Quattrocento Sans"/>
              <a:ea typeface="Quattrocento Sans"/>
              <a:cs typeface="Quattrocento Sans"/>
              <a:sym typeface="Quattrocento Sans"/>
            </a:endParaRPr>
          </a:p>
          <a:p>
            <a:pPr marL="833945" lvl="1" indent="-476237" algn="l" rtl="0">
              <a:lnSpc>
                <a:spcPct val="100000"/>
              </a:lnSpc>
              <a:spcBef>
                <a:spcPts val="667"/>
              </a:spcBef>
              <a:spcAft>
                <a:spcPts val="0"/>
              </a:spcAft>
              <a:buSzPts val="2134"/>
              <a:buChar char="■"/>
            </a:pPr>
            <a:r>
              <a:rPr lang="en-US" sz="2134" b="1">
                <a:latin typeface="Quattrocento Sans"/>
                <a:ea typeface="Quattrocento Sans"/>
                <a:cs typeface="Quattrocento Sans"/>
                <a:sym typeface="Quattrocento Sans"/>
              </a:rPr>
              <a:t>配布および修正などの利用は自由、だが；</a:t>
            </a:r>
            <a:endParaRPr/>
          </a:p>
          <a:p>
            <a:pPr marL="833945" lvl="1" indent="-476237" algn="l" rtl="0">
              <a:lnSpc>
                <a:spcPct val="100000"/>
              </a:lnSpc>
              <a:spcBef>
                <a:spcPts val="640"/>
              </a:spcBef>
              <a:spcAft>
                <a:spcPts val="0"/>
              </a:spcAft>
              <a:buSzPts val="2134"/>
              <a:buChar char="■"/>
            </a:pPr>
            <a:r>
              <a:rPr lang="en-US" sz="2134" b="1">
                <a:latin typeface="Quattrocento Sans"/>
                <a:ea typeface="Quattrocento Sans"/>
                <a:cs typeface="Quattrocento Sans"/>
                <a:sym typeface="Quattrocento Sans"/>
              </a:rPr>
              <a:t>著作権者が提示する「条件」を遵守</a:t>
            </a:r>
            <a:endParaRPr/>
          </a:p>
          <a:p>
            <a:pPr marL="1198003" lvl="2" indent="-482588" algn="l" rtl="0">
              <a:lnSpc>
                <a:spcPct val="100000"/>
              </a:lnSpc>
              <a:spcBef>
                <a:spcPts val="587"/>
              </a:spcBef>
              <a:spcAft>
                <a:spcPts val="0"/>
              </a:spcAft>
              <a:buSzPts val="1867"/>
              <a:buChar char="●"/>
            </a:pPr>
            <a:r>
              <a:rPr lang="en-US" sz="1867" b="1">
                <a:latin typeface="Quattrocento Sans"/>
                <a:ea typeface="Quattrocento Sans"/>
                <a:cs typeface="Quattrocento Sans"/>
                <a:sym typeface="Quattrocento Sans"/>
              </a:rPr>
              <a:t>例１：著作権者などの明示</a:t>
            </a:r>
            <a:endParaRPr sz="1867" b="1">
              <a:latin typeface="Quattrocento Sans"/>
              <a:ea typeface="Quattrocento Sans"/>
              <a:cs typeface="Quattrocento Sans"/>
              <a:sym typeface="Quattrocento Sans"/>
            </a:endParaRPr>
          </a:p>
          <a:p>
            <a:pPr marL="1198003" lvl="2" indent="-482588" algn="l" rtl="0">
              <a:lnSpc>
                <a:spcPct val="100000"/>
              </a:lnSpc>
              <a:spcBef>
                <a:spcPts val="560"/>
              </a:spcBef>
              <a:spcAft>
                <a:spcPts val="0"/>
              </a:spcAft>
              <a:buSzPts val="1867"/>
              <a:buChar char="●"/>
            </a:pPr>
            <a:r>
              <a:rPr lang="en-US" sz="1867" b="1">
                <a:latin typeface="Quattrocento Sans"/>
                <a:ea typeface="Quattrocento Sans"/>
                <a:cs typeface="Quattrocento Sans"/>
                <a:sym typeface="Quattrocento Sans"/>
              </a:rPr>
              <a:t>例２：ライセンス文書の添付</a:t>
            </a:r>
            <a:endParaRPr sz="1867" b="1">
              <a:latin typeface="Quattrocento Sans"/>
              <a:ea typeface="Quattrocento Sans"/>
              <a:cs typeface="Quattrocento Sans"/>
              <a:sym typeface="Quattrocento Sans"/>
            </a:endParaRPr>
          </a:p>
          <a:p>
            <a:pPr marL="1198003" lvl="2" indent="-482588" algn="l" rtl="0">
              <a:lnSpc>
                <a:spcPct val="100000"/>
              </a:lnSpc>
              <a:spcBef>
                <a:spcPts val="560"/>
              </a:spcBef>
              <a:spcAft>
                <a:spcPts val="0"/>
              </a:spcAft>
              <a:buSzPts val="1867"/>
              <a:buChar char="●"/>
            </a:pPr>
            <a:r>
              <a:rPr lang="en-US" sz="1867" b="1">
                <a:latin typeface="Quattrocento Sans"/>
                <a:ea typeface="Quattrocento Sans"/>
                <a:cs typeface="Quattrocento Sans"/>
                <a:sym typeface="Quattrocento Sans"/>
              </a:rPr>
              <a:t>例３：派生物を含めたソースコードの公開</a:t>
            </a:r>
            <a:endParaRPr sz="1867" b="1">
              <a:latin typeface="Quattrocento Sans"/>
              <a:ea typeface="Quattrocento Sans"/>
              <a:cs typeface="Quattrocento Sans"/>
              <a:sym typeface="Quattrocento Sans"/>
            </a:endParaRPr>
          </a:p>
          <a:p>
            <a:pPr marL="1198003" lvl="2" indent="-482588" algn="l" rtl="0">
              <a:lnSpc>
                <a:spcPct val="100000"/>
              </a:lnSpc>
              <a:spcBef>
                <a:spcPts val="560"/>
              </a:spcBef>
              <a:spcAft>
                <a:spcPts val="0"/>
              </a:spcAft>
              <a:buSzPts val="1867"/>
              <a:buChar char="●"/>
            </a:pPr>
            <a:r>
              <a:rPr lang="en-US" sz="1867" b="1">
                <a:latin typeface="Quattrocento Sans"/>
                <a:ea typeface="Quattrocento Sans"/>
                <a:cs typeface="Quattrocento Sans"/>
                <a:sym typeface="Quattrocento Sans"/>
              </a:rPr>
              <a:t>例４：無償、免責無保証、権利者との個別契約不要</a:t>
            </a:r>
            <a:endParaRPr sz="2400" b="1">
              <a:latin typeface="Quattrocento Sans"/>
              <a:ea typeface="Quattrocento Sans"/>
              <a:cs typeface="Quattrocento Sans"/>
              <a:sym typeface="Quattrocento Sans"/>
            </a:endParaRPr>
          </a:p>
        </p:txBody>
      </p:sp>
      <p:sp>
        <p:nvSpPr>
          <p:cNvPr id="113" name="Google Shape;113;g373d37e5442_0_36"/>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114" name="Google Shape;114;g373d37e5442_0_36"/>
          <p:cNvSpPr txBox="1"/>
          <p:nvPr/>
        </p:nvSpPr>
        <p:spPr>
          <a:xfrm>
            <a:off x="4800598" y="4549777"/>
            <a:ext cx="7086600" cy="1725900"/>
          </a:xfrm>
          <a:prstGeom prst="rect">
            <a:avLst/>
          </a:prstGeom>
          <a:noFill/>
          <a:ln>
            <a:noFill/>
          </a:ln>
        </p:spPr>
        <p:txBody>
          <a:bodyPr spcFirstLastPara="1" wrap="square" lIns="0" tIns="0" rIns="0" bIns="0" anchor="t" anchorCtr="0">
            <a:noAutofit/>
          </a:bodyPr>
          <a:lstStyle/>
          <a:p>
            <a:pPr marL="478355" marR="0" lvl="0" indent="-478355" algn="l" rtl="0">
              <a:lnSpc>
                <a:spcPct val="100000"/>
              </a:lnSpc>
              <a:spcBef>
                <a:spcPts val="0"/>
              </a:spcBef>
              <a:spcAft>
                <a:spcPts val="0"/>
              </a:spcAft>
              <a:buClr>
                <a:srgbClr val="7F7F7F"/>
              </a:buClr>
              <a:buSzPts val="2400"/>
              <a:buFont typeface="Noto Sans Symbols"/>
              <a:buChar char="■"/>
            </a:pPr>
            <a:r>
              <a:rPr lang="en-US" sz="2400" b="1" i="0" u="none" strike="noStrike" cap="none">
                <a:solidFill>
                  <a:srgbClr val="20252B"/>
                </a:solidFill>
                <a:latin typeface="Quattrocento Sans"/>
                <a:ea typeface="Quattrocento Sans"/>
                <a:cs typeface="Quattrocento Sans"/>
                <a:sym typeface="Quattrocento Sans"/>
              </a:rPr>
              <a:t>ライセンスにあった使い方をしているか</a:t>
            </a:r>
            <a:endParaRPr sz="1400" b="0" i="0" u="none" strike="noStrike" cap="none">
              <a:solidFill>
                <a:srgbClr val="000000"/>
              </a:solidFill>
              <a:latin typeface="Arial"/>
              <a:ea typeface="Arial"/>
              <a:cs typeface="Arial"/>
              <a:sym typeface="Arial"/>
            </a:endParaRPr>
          </a:p>
          <a:p>
            <a:pPr marL="833945" marR="0" lvl="1" indent="-476237" algn="l" rtl="0">
              <a:lnSpc>
                <a:spcPct val="100000"/>
              </a:lnSpc>
              <a:spcBef>
                <a:spcPts val="667"/>
              </a:spcBef>
              <a:spcAft>
                <a:spcPts val="0"/>
              </a:spcAft>
              <a:buClr>
                <a:srgbClr val="87867E"/>
              </a:buClr>
              <a:buSzPts val="2134"/>
              <a:buFont typeface="Noto Sans Symbols"/>
              <a:buChar char="■"/>
            </a:pPr>
            <a:r>
              <a:rPr lang="en-US" sz="2134" b="1" i="0" u="none" strike="noStrike" cap="none">
                <a:solidFill>
                  <a:srgbClr val="20252B"/>
                </a:solidFill>
                <a:latin typeface="Quattrocento Sans"/>
                <a:ea typeface="Quattrocento Sans"/>
                <a:cs typeface="Quattrocento Sans"/>
                <a:sym typeface="Quattrocento Sans"/>
              </a:rPr>
              <a:t>製品やサービスなどのパッケージの「部品」として入っているものを把握できているか</a:t>
            </a:r>
            <a:endParaRPr sz="1400" b="0" i="0" u="none" strike="noStrike" cap="none">
              <a:solidFill>
                <a:srgbClr val="000000"/>
              </a:solidFill>
              <a:latin typeface="Arial"/>
              <a:ea typeface="Arial"/>
              <a:cs typeface="Arial"/>
              <a:sym typeface="Arial"/>
            </a:endParaRPr>
          </a:p>
          <a:p>
            <a:pPr marL="833945" marR="0" lvl="1" indent="-476237" algn="l" rtl="0">
              <a:lnSpc>
                <a:spcPct val="100000"/>
              </a:lnSpc>
              <a:spcBef>
                <a:spcPts val="640"/>
              </a:spcBef>
              <a:spcAft>
                <a:spcPts val="0"/>
              </a:spcAft>
              <a:buClr>
                <a:srgbClr val="87867E"/>
              </a:buClr>
              <a:buSzPts val="2134"/>
              <a:buFont typeface="Noto Sans Symbols"/>
              <a:buChar char="■"/>
            </a:pPr>
            <a:r>
              <a:rPr lang="en-US" sz="2134" b="1" i="0" u="none" strike="noStrike" cap="none">
                <a:solidFill>
                  <a:srgbClr val="20252B"/>
                </a:solidFill>
                <a:latin typeface="Quattrocento Sans"/>
                <a:ea typeface="Quattrocento Sans"/>
                <a:cs typeface="Quattrocento Sans"/>
                <a:sym typeface="Quattrocento Sans"/>
              </a:rPr>
              <a:t>開発コミュニティの修正や改良による「変更」の</a:t>
            </a:r>
            <a:br>
              <a:rPr lang="en-US" sz="2134" b="1" i="0" u="none" strike="noStrike" cap="none">
                <a:solidFill>
                  <a:srgbClr val="20252B"/>
                </a:solidFill>
                <a:latin typeface="Quattrocento Sans"/>
                <a:ea typeface="Quattrocento Sans"/>
                <a:cs typeface="Quattrocento Sans"/>
                <a:sym typeface="Quattrocento Sans"/>
              </a:rPr>
            </a:br>
            <a:r>
              <a:rPr lang="en-US" sz="2134" b="1" i="0" u="none" strike="noStrike" cap="none">
                <a:solidFill>
                  <a:srgbClr val="20252B"/>
                </a:solidFill>
                <a:latin typeface="Quattrocento Sans"/>
                <a:ea typeface="Quattrocento Sans"/>
                <a:cs typeface="Quattrocento Sans"/>
                <a:sym typeface="Quattrocento Sans"/>
              </a:rPr>
              <a:t>内容を把握できているか</a:t>
            </a:r>
            <a:endParaRPr sz="1400" b="0" i="0" u="none" strike="noStrike" cap="none">
              <a:solidFill>
                <a:srgbClr val="000000"/>
              </a:solidFill>
              <a:latin typeface="Arial"/>
              <a:ea typeface="Arial"/>
              <a:cs typeface="Arial"/>
              <a:sym typeface="Arial"/>
            </a:endParaRPr>
          </a:p>
        </p:txBody>
      </p:sp>
      <p:sp>
        <p:nvSpPr>
          <p:cNvPr id="115" name="Google Shape;115;g373d37e5442_0_36"/>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g373d37e5442_0_46"/>
          <p:cNvSpPr/>
          <p:nvPr/>
        </p:nvSpPr>
        <p:spPr>
          <a:xfrm>
            <a:off x="7795260" y="1771650"/>
            <a:ext cx="3994500" cy="3966300"/>
          </a:xfrm>
          <a:prstGeom prst="downArrow">
            <a:avLst>
              <a:gd name="adj1" fmla="val 100000"/>
              <a:gd name="adj2" fmla="val 11443"/>
            </a:avLst>
          </a:prstGeom>
          <a:solidFill>
            <a:schemeClr val="lt1"/>
          </a:solidFill>
          <a:ln w="304800" cap="flat" cmpd="sng">
            <a:solidFill>
              <a:srgbClr val="CC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121" name="Google Shape;121;g373d37e5442_0_46"/>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OSSライセンスに伴うリスク</a:t>
            </a:r>
            <a:endParaRPr/>
          </a:p>
        </p:txBody>
      </p:sp>
      <p:grpSp>
        <p:nvGrpSpPr>
          <p:cNvPr id="122" name="Google Shape;122;g373d37e5442_0_46"/>
          <p:cNvGrpSpPr/>
          <p:nvPr/>
        </p:nvGrpSpPr>
        <p:grpSpPr>
          <a:xfrm>
            <a:off x="797382" y="1652445"/>
            <a:ext cx="6326953" cy="4239059"/>
            <a:chOff x="4832169" y="1038088"/>
            <a:chExt cx="6099444" cy="4086627"/>
          </a:xfrm>
        </p:grpSpPr>
        <p:pic>
          <p:nvPicPr>
            <p:cNvPr id="123" name="Google Shape;123;g373d37e5442_0_46"/>
            <p:cNvPicPr preferRelativeResize="0"/>
            <p:nvPr/>
          </p:nvPicPr>
          <p:blipFill rotWithShape="1">
            <a:blip r:embed="rId3">
              <a:alphaModFix/>
            </a:blip>
            <a:srcRect/>
            <a:stretch/>
          </p:blipFill>
          <p:spPr>
            <a:xfrm>
              <a:off x="4832169" y="1038088"/>
              <a:ext cx="6099444" cy="4086627"/>
            </a:xfrm>
            <a:prstGeom prst="rect">
              <a:avLst/>
            </a:prstGeom>
            <a:noFill/>
            <a:ln w="28575" cap="flat" cmpd="sng">
              <a:solidFill>
                <a:srgbClr val="0070C0"/>
              </a:solidFill>
              <a:prstDash val="solid"/>
              <a:round/>
              <a:headEnd type="none" w="sm" len="sm"/>
              <a:tailEnd type="none" w="sm" len="sm"/>
            </a:ln>
          </p:spPr>
        </p:pic>
        <p:sp>
          <p:nvSpPr>
            <p:cNvPr id="124" name="Google Shape;124;g373d37e5442_0_46"/>
            <p:cNvSpPr/>
            <p:nvPr/>
          </p:nvSpPr>
          <p:spPr>
            <a:xfrm>
              <a:off x="9107144" y="4146886"/>
              <a:ext cx="537894" cy="324378"/>
            </a:xfrm>
            <a:prstGeom prst="irregularSeal1">
              <a:avLst/>
            </a:prstGeom>
            <a:solidFill>
              <a:srgbClr val="C90C1F"/>
            </a:solidFill>
            <a:ln w="28575"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grpSp>
      <p:sp>
        <p:nvSpPr>
          <p:cNvPr id="125" name="Google Shape;125;g373d37e5442_0_46"/>
          <p:cNvSpPr txBox="1">
            <a:spLocks noGrp="1"/>
          </p:cNvSpPr>
          <p:nvPr>
            <p:ph type="body" idx="1"/>
          </p:nvPr>
        </p:nvSpPr>
        <p:spPr>
          <a:xfrm>
            <a:off x="7628999" y="3124378"/>
            <a:ext cx="4327200" cy="12954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2000"/>
              <a:buNone/>
            </a:pPr>
            <a:r>
              <a:rPr lang="en-US" sz="2000" b="1">
                <a:latin typeface="Quattrocento Sans"/>
                <a:ea typeface="Quattrocento Sans"/>
                <a:cs typeface="Quattrocento Sans"/>
                <a:sym typeface="Quattrocento Sans"/>
              </a:rPr>
              <a:t>オープンソースが流通する</a:t>
            </a:r>
            <a:endParaRPr sz="2000" b="1">
              <a:latin typeface="Quattrocento Sans"/>
              <a:ea typeface="Quattrocento Sans"/>
              <a:cs typeface="Quattrocento Sans"/>
              <a:sym typeface="Quattrocento Sans"/>
            </a:endParaRPr>
          </a:p>
          <a:p>
            <a:pPr marL="0" lvl="0" indent="0" algn="ctr" rtl="0">
              <a:lnSpc>
                <a:spcPct val="100000"/>
              </a:lnSpc>
              <a:spcBef>
                <a:spcPts val="600"/>
              </a:spcBef>
              <a:spcAft>
                <a:spcPts val="0"/>
              </a:spcAft>
              <a:buSzPts val="2000"/>
              <a:buNone/>
            </a:pPr>
            <a:r>
              <a:rPr lang="en-US" sz="2000" b="1">
                <a:latin typeface="Quattrocento Sans"/>
                <a:ea typeface="Quattrocento Sans"/>
                <a:cs typeface="Quattrocento Sans"/>
                <a:sym typeface="Quattrocento Sans"/>
              </a:rPr>
              <a:t>ソフトウェアサプライチェーン</a:t>
            </a:r>
            <a:endParaRPr sz="2000" b="1">
              <a:latin typeface="Quattrocento Sans"/>
              <a:ea typeface="Quattrocento Sans"/>
              <a:cs typeface="Quattrocento Sans"/>
              <a:sym typeface="Quattrocento Sans"/>
            </a:endParaRPr>
          </a:p>
          <a:p>
            <a:pPr marL="0" lvl="0" indent="0" algn="ctr" rtl="0">
              <a:lnSpc>
                <a:spcPct val="100000"/>
              </a:lnSpc>
              <a:spcBef>
                <a:spcPts val="600"/>
              </a:spcBef>
              <a:spcAft>
                <a:spcPts val="0"/>
              </a:spcAft>
              <a:buSzPts val="2000"/>
              <a:buNone/>
            </a:pPr>
            <a:r>
              <a:rPr lang="en-US" sz="2000" b="1">
                <a:latin typeface="Quattrocento Sans"/>
                <a:ea typeface="Quattrocento Sans"/>
                <a:cs typeface="Quattrocento Sans"/>
                <a:sym typeface="Quattrocento Sans"/>
              </a:rPr>
              <a:t>全過程で、リスク管理が必要</a:t>
            </a:r>
            <a:endParaRPr/>
          </a:p>
        </p:txBody>
      </p:sp>
      <p:sp>
        <p:nvSpPr>
          <p:cNvPr id="126" name="Google Shape;126;g373d37e5442_0_46"/>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127" name="Google Shape;127;g373d37e5442_0_46"/>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31"/>
        <p:cNvGrpSpPr/>
        <p:nvPr/>
      </p:nvGrpSpPr>
      <p:grpSpPr>
        <a:xfrm>
          <a:off x="0" y="0"/>
          <a:ext cx="0" cy="0"/>
          <a:chOff x="0" y="0"/>
          <a:chExt cx="0" cy="0"/>
        </a:xfrm>
      </p:grpSpPr>
      <p:sp>
        <p:nvSpPr>
          <p:cNvPr id="132" name="Google Shape;132;g373d37e5442_0_57"/>
          <p:cNvSpPr/>
          <p:nvPr/>
        </p:nvSpPr>
        <p:spPr>
          <a:xfrm>
            <a:off x="1430767" y="3078230"/>
            <a:ext cx="9306300" cy="3260400"/>
          </a:xfrm>
          <a:prstGeom prst="rect">
            <a:avLst/>
          </a:prstGeom>
          <a:solidFill>
            <a:schemeClr val="lt1"/>
          </a:solidFill>
          <a:ln w="127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133" name="Google Shape;133;g373d37e5442_0_57"/>
          <p:cNvSpPr/>
          <p:nvPr/>
        </p:nvSpPr>
        <p:spPr>
          <a:xfrm>
            <a:off x="890270" y="1312091"/>
            <a:ext cx="9975300" cy="1013100"/>
          </a:xfrm>
          <a:prstGeom prst="rect">
            <a:avLst/>
          </a:prstGeom>
          <a:solidFill>
            <a:schemeClr val="lt1"/>
          </a:solidFill>
          <a:ln w="76200" cap="flat" cmpd="sng">
            <a:solidFill>
              <a:srgbClr val="8E8B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134" name="Google Shape;134;g373d37e5442_0_57"/>
          <p:cNvSpPr txBox="1">
            <a:spLocks noGrp="1"/>
          </p:cNvSpPr>
          <p:nvPr>
            <p:ph type="title"/>
          </p:nvPr>
        </p:nvSpPr>
        <p:spPr>
          <a:xfrm>
            <a:off x="641838" y="531580"/>
            <a:ext cx="111057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サプライチェーンにおけるOSSのライセンスリスク</a:t>
            </a:r>
            <a:endParaRPr/>
          </a:p>
        </p:txBody>
      </p:sp>
      <p:sp>
        <p:nvSpPr>
          <p:cNvPr id="135" name="Google Shape;135;g373d37e5442_0_57"/>
          <p:cNvSpPr txBox="1">
            <a:spLocks noGrp="1"/>
          </p:cNvSpPr>
          <p:nvPr>
            <p:ph type="body" idx="1"/>
          </p:nvPr>
        </p:nvSpPr>
        <p:spPr>
          <a:xfrm>
            <a:off x="1018552" y="1399889"/>
            <a:ext cx="9718800" cy="875400"/>
          </a:xfrm>
          <a:prstGeom prst="rect">
            <a:avLst/>
          </a:prstGeom>
          <a:noFill/>
          <a:ln>
            <a:noFill/>
          </a:ln>
        </p:spPr>
        <p:txBody>
          <a:bodyPr spcFirstLastPara="1" wrap="square" lIns="0" tIns="0" rIns="0" bIns="0" anchor="t" anchorCtr="0">
            <a:noAutofit/>
          </a:bodyPr>
          <a:lstStyle/>
          <a:p>
            <a:pPr marL="478355" lvl="0" indent="-478355" algn="l" rtl="0">
              <a:lnSpc>
                <a:spcPct val="100000"/>
              </a:lnSpc>
              <a:spcBef>
                <a:spcPts val="0"/>
              </a:spcBef>
              <a:spcAft>
                <a:spcPts val="0"/>
              </a:spcAft>
              <a:buClr>
                <a:srgbClr val="7F7F7F"/>
              </a:buClr>
              <a:buSzPts val="2400"/>
              <a:buChar char="■"/>
            </a:pPr>
            <a:r>
              <a:rPr lang="en-US" sz="2400" b="1">
                <a:latin typeface="Quattrocento Sans"/>
                <a:ea typeface="Quattrocento Sans"/>
                <a:cs typeface="Quattrocento Sans"/>
                <a:sym typeface="Quattrocento Sans"/>
              </a:rPr>
              <a:t>未確認のOSSが、未知のライセンス違反リスクにつながる可能性</a:t>
            </a:r>
            <a:endParaRPr/>
          </a:p>
          <a:p>
            <a:pPr marL="478355" lvl="0" indent="-478355" algn="l" rtl="0">
              <a:lnSpc>
                <a:spcPct val="100000"/>
              </a:lnSpc>
              <a:spcBef>
                <a:spcPts val="720"/>
              </a:spcBef>
              <a:spcAft>
                <a:spcPts val="0"/>
              </a:spcAft>
              <a:buClr>
                <a:srgbClr val="7F7F7F"/>
              </a:buClr>
              <a:buSzPts val="2400"/>
              <a:buChar char="■"/>
            </a:pPr>
            <a:r>
              <a:rPr lang="en-US" sz="2400" b="1">
                <a:latin typeface="Quattrocento Sans"/>
                <a:ea typeface="Quattrocento Sans"/>
                <a:cs typeface="Quattrocento Sans"/>
                <a:sym typeface="Quattrocento Sans"/>
              </a:rPr>
              <a:t>組織の管理体制の不備が、サプライチェーン全体の脆弱性</a:t>
            </a:r>
            <a:endParaRPr/>
          </a:p>
        </p:txBody>
      </p:sp>
      <p:sp>
        <p:nvSpPr>
          <p:cNvPr id="136" name="Google Shape;136;g373d37e5442_0_57"/>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137" name="Google Shape;137;g373d37e5442_0_57"/>
          <p:cNvSpPr/>
          <p:nvPr/>
        </p:nvSpPr>
        <p:spPr>
          <a:xfrm>
            <a:off x="2462118" y="4330281"/>
            <a:ext cx="1656300" cy="792000"/>
          </a:xfrm>
          <a:prstGeom prst="roundRect">
            <a:avLst>
              <a:gd name="adj" fmla="val 16667"/>
            </a:avLst>
          </a:prstGeom>
          <a:solidFill>
            <a:srgbClr val="79B553"/>
          </a:solid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Quattrocento Sans"/>
              <a:buNone/>
            </a:pPr>
            <a:r>
              <a:rPr lang="en-US" sz="2400" b="1" i="0" u="none" strike="noStrike" cap="none">
                <a:solidFill>
                  <a:schemeClr val="lt1"/>
                </a:solidFill>
                <a:latin typeface="Quattrocento Sans"/>
                <a:ea typeface="Quattrocento Sans"/>
                <a:cs typeface="Quattrocento Sans"/>
                <a:sym typeface="Quattrocento Sans"/>
              </a:rPr>
              <a:t>Tier 2</a:t>
            </a:r>
            <a:endParaRPr sz="2400" b="1" i="0" u="none" strike="noStrike" cap="none">
              <a:solidFill>
                <a:schemeClr val="lt1"/>
              </a:solidFill>
              <a:latin typeface="Quattrocento Sans"/>
              <a:ea typeface="Quattrocento Sans"/>
              <a:cs typeface="Quattrocento Sans"/>
              <a:sym typeface="Quattrocento Sans"/>
            </a:endParaRPr>
          </a:p>
        </p:txBody>
      </p:sp>
      <p:sp>
        <p:nvSpPr>
          <p:cNvPr id="138" name="Google Shape;138;g373d37e5442_0_57"/>
          <p:cNvSpPr/>
          <p:nvPr/>
        </p:nvSpPr>
        <p:spPr>
          <a:xfrm>
            <a:off x="5384215" y="4330281"/>
            <a:ext cx="1656300" cy="792000"/>
          </a:xfrm>
          <a:prstGeom prst="roundRect">
            <a:avLst>
              <a:gd name="adj" fmla="val 16667"/>
            </a:avLst>
          </a:prstGeom>
          <a:solidFill>
            <a:srgbClr val="79B553"/>
          </a:solid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Quattrocento Sans"/>
              <a:buNone/>
            </a:pPr>
            <a:r>
              <a:rPr lang="en-US" sz="2400" b="1" i="0" u="none" strike="noStrike" cap="none">
                <a:solidFill>
                  <a:schemeClr val="lt1"/>
                </a:solidFill>
                <a:latin typeface="Quattrocento Sans"/>
                <a:ea typeface="Quattrocento Sans"/>
                <a:cs typeface="Quattrocento Sans"/>
                <a:sym typeface="Quattrocento Sans"/>
              </a:rPr>
              <a:t>Tier 1</a:t>
            </a:r>
            <a:endParaRPr sz="2400" b="1" i="0" u="none" strike="noStrike" cap="none">
              <a:solidFill>
                <a:schemeClr val="lt1"/>
              </a:solidFill>
              <a:latin typeface="Quattrocento Sans"/>
              <a:ea typeface="Quattrocento Sans"/>
              <a:cs typeface="Quattrocento Sans"/>
              <a:sym typeface="Quattrocento Sans"/>
            </a:endParaRPr>
          </a:p>
        </p:txBody>
      </p:sp>
      <p:sp>
        <p:nvSpPr>
          <p:cNvPr id="139" name="Google Shape;139;g373d37e5442_0_57"/>
          <p:cNvSpPr/>
          <p:nvPr/>
        </p:nvSpPr>
        <p:spPr>
          <a:xfrm>
            <a:off x="4016063" y="3398491"/>
            <a:ext cx="1520400" cy="890700"/>
          </a:xfrm>
          <a:prstGeom prst="verticalScroll">
            <a:avLst>
              <a:gd name="adj" fmla="val 12500"/>
            </a:avLst>
          </a:prstGeom>
          <a:solidFill>
            <a:srgbClr val="68A2DB"/>
          </a:solidFill>
          <a:ln w="38100" cap="flat" cmpd="sng">
            <a:solidFill>
              <a:srgbClr val="5B9BD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Quattrocento Sans"/>
              <a:buNone/>
            </a:pPr>
            <a:r>
              <a:rPr lang="en-US" sz="1800" b="1" i="0" u="none" strike="noStrike" cap="none">
                <a:solidFill>
                  <a:schemeClr val="lt1"/>
                </a:solidFill>
                <a:latin typeface="Quattrocento Sans"/>
                <a:ea typeface="Quattrocento Sans"/>
                <a:cs typeface="Quattrocento Sans"/>
                <a:sym typeface="Quattrocento Sans"/>
              </a:rPr>
              <a:t>Software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Quattrocento Sans"/>
              <a:buNone/>
            </a:pPr>
            <a:endParaRPr sz="1800" b="1" i="0" u="none" strike="noStrike" cap="none">
              <a:solidFill>
                <a:schemeClr val="lt1"/>
              </a:solidFill>
              <a:latin typeface="Quattrocento Sans"/>
              <a:ea typeface="Quattrocento Sans"/>
              <a:cs typeface="Quattrocento Sans"/>
              <a:sym typeface="Quattrocento Sans"/>
            </a:endParaRPr>
          </a:p>
        </p:txBody>
      </p:sp>
      <p:sp>
        <p:nvSpPr>
          <p:cNvPr id="140" name="Google Shape;140;g373d37e5442_0_57"/>
          <p:cNvSpPr/>
          <p:nvPr/>
        </p:nvSpPr>
        <p:spPr>
          <a:xfrm>
            <a:off x="4420633" y="3974555"/>
            <a:ext cx="756000" cy="216000"/>
          </a:xfrm>
          <a:prstGeom prst="roundRect">
            <a:avLst>
              <a:gd name="adj" fmla="val 16667"/>
            </a:avLst>
          </a:prstGeom>
          <a:noFill/>
          <a:ln w="25400" cap="flat" cmpd="sng">
            <a:solidFill>
              <a:srgbClr val="395E89"/>
            </a:solidFill>
            <a:prstDash val="dashDot"/>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lt1"/>
                </a:solidFill>
                <a:latin typeface="Quattrocento Sans"/>
                <a:ea typeface="Quattrocento Sans"/>
                <a:cs typeface="Quattrocento Sans"/>
                <a:sym typeface="Quattrocento Sans"/>
              </a:rPr>
              <a:t>OSS</a:t>
            </a:r>
            <a:endParaRPr sz="1600" b="1" i="0" u="none" strike="noStrike" cap="none">
              <a:solidFill>
                <a:schemeClr val="lt1"/>
              </a:solidFill>
              <a:latin typeface="Quattrocento Sans"/>
              <a:ea typeface="Quattrocento Sans"/>
              <a:cs typeface="Quattrocento Sans"/>
              <a:sym typeface="Quattrocento Sans"/>
            </a:endParaRPr>
          </a:p>
        </p:txBody>
      </p:sp>
      <p:sp>
        <p:nvSpPr>
          <p:cNvPr id="141" name="Google Shape;141;g373d37e5442_0_57"/>
          <p:cNvSpPr/>
          <p:nvPr/>
        </p:nvSpPr>
        <p:spPr>
          <a:xfrm>
            <a:off x="4269493" y="4484009"/>
            <a:ext cx="996600" cy="484500"/>
          </a:xfrm>
          <a:prstGeom prst="rightArrow">
            <a:avLst>
              <a:gd name="adj1" fmla="val 50000"/>
              <a:gd name="adj2" fmla="val 50000"/>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Quattrocento Sans"/>
              <a:ea typeface="Quattrocento Sans"/>
              <a:cs typeface="Quattrocento Sans"/>
              <a:sym typeface="Quattrocento Sans"/>
            </a:endParaRPr>
          </a:p>
        </p:txBody>
      </p:sp>
      <p:sp>
        <p:nvSpPr>
          <p:cNvPr id="142" name="Google Shape;142;g373d37e5442_0_57"/>
          <p:cNvSpPr/>
          <p:nvPr/>
        </p:nvSpPr>
        <p:spPr>
          <a:xfrm>
            <a:off x="7168332" y="4496585"/>
            <a:ext cx="964500" cy="484500"/>
          </a:xfrm>
          <a:prstGeom prst="rightArrow">
            <a:avLst>
              <a:gd name="adj1" fmla="val 50000"/>
              <a:gd name="adj2" fmla="val 50000"/>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Quattrocento Sans"/>
              <a:ea typeface="Quattrocento Sans"/>
              <a:cs typeface="Quattrocento Sans"/>
              <a:sym typeface="Quattrocento Sans"/>
            </a:endParaRPr>
          </a:p>
        </p:txBody>
      </p:sp>
      <p:sp>
        <p:nvSpPr>
          <p:cNvPr id="143" name="Google Shape;143;g373d37e5442_0_57"/>
          <p:cNvSpPr/>
          <p:nvPr/>
        </p:nvSpPr>
        <p:spPr>
          <a:xfrm>
            <a:off x="8228376" y="4330281"/>
            <a:ext cx="1656300" cy="792000"/>
          </a:xfrm>
          <a:prstGeom prst="roundRect">
            <a:avLst>
              <a:gd name="adj" fmla="val 16667"/>
            </a:avLst>
          </a:prstGeom>
          <a:solidFill>
            <a:srgbClr val="79B553"/>
          </a:solid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Quattrocento Sans"/>
              <a:buNone/>
            </a:pPr>
            <a:r>
              <a:rPr lang="en-US" sz="2400" b="1" i="0" u="none" strike="noStrike" cap="none">
                <a:solidFill>
                  <a:schemeClr val="lt1"/>
                </a:solidFill>
                <a:latin typeface="Quattrocento Sans"/>
                <a:ea typeface="Quattrocento Sans"/>
                <a:cs typeface="Quattrocento Sans"/>
                <a:sym typeface="Quattrocento Sans"/>
              </a:rPr>
              <a:t>OEM</a:t>
            </a:r>
            <a:endParaRPr sz="2400" b="1" i="0" u="none" strike="noStrike" cap="none">
              <a:solidFill>
                <a:schemeClr val="lt1"/>
              </a:solidFill>
              <a:latin typeface="Quattrocento Sans"/>
              <a:ea typeface="Quattrocento Sans"/>
              <a:cs typeface="Quattrocento Sans"/>
              <a:sym typeface="Quattrocento Sans"/>
            </a:endParaRPr>
          </a:p>
        </p:txBody>
      </p:sp>
      <p:sp>
        <p:nvSpPr>
          <p:cNvPr id="144" name="Google Shape;144;g373d37e5442_0_57"/>
          <p:cNvSpPr/>
          <p:nvPr/>
        </p:nvSpPr>
        <p:spPr>
          <a:xfrm>
            <a:off x="1566168" y="3296450"/>
            <a:ext cx="2449800" cy="894000"/>
          </a:xfrm>
          <a:prstGeom prst="wedgeEllipseCallout">
            <a:avLst>
              <a:gd name="adj1" fmla="val 61465"/>
              <a:gd name="adj2" fmla="val 35676"/>
            </a:avLst>
          </a:prstGeom>
          <a:solidFill>
            <a:srgbClr val="C9C8E2"/>
          </a:solidFill>
          <a:ln w="38100" cap="flat" cmpd="sng">
            <a:solidFill>
              <a:srgbClr val="B8B6D8"/>
            </a:solidFill>
            <a:prstDash val="solid"/>
            <a:miter lim="800000"/>
            <a:headEnd type="none" w="sm" len="sm"/>
            <a:tailEnd type="none" w="sm" len="sm"/>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chemeClr val="dk1"/>
              </a:buClr>
              <a:buSzPts val="1400"/>
              <a:buFont typeface="Quattrocento Sans"/>
              <a:buNone/>
            </a:pPr>
            <a:endParaRPr sz="1400" b="1" i="0" u="none" strike="noStrike" cap="none">
              <a:solidFill>
                <a:srgbClr val="000000"/>
              </a:solidFill>
              <a:latin typeface="Quattrocento Sans"/>
              <a:ea typeface="Quattrocento Sans"/>
              <a:cs typeface="Quattrocento Sans"/>
              <a:sym typeface="Quattrocento Sans"/>
            </a:endParaRPr>
          </a:p>
        </p:txBody>
      </p:sp>
      <p:sp>
        <p:nvSpPr>
          <p:cNvPr id="145" name="Google Shape;145;g373d37e5442_0_57"/>
          <p:cNvSpPr/>
          <p:nvPr/>
        </p:nvSpPr>
        <p:spPr>
          <a:xfrm>
            <a:off x="1747009" y="5167218"/>
            <a:ext cx="2071800" cy="1023000"/>
          </a:xfrm>
          <a:prstGeom prst="wedgeEllipseCallout">
            <a:avLst>
              <a:gd name="adj1" fmla="val 36802"/>
              <a:gd name="adj2" fmla="val -71124"/>
            </a:avLst>
          </a:prstGeom>
          <a:solidFill>
            <a:srgbClr val="C9C8E2"/>
          </a:solidFill>
          <a:ln w="38100" cap="flat" cmpd="sng">
            <a:solidFill>
              <a:srgbClr val="B8B6D8"/>
            </a:solidFill>
            <a:prstDash val="solid"/>
            <a:miter lim="800000"/>
            <a:headEnd type="none" w="sm" len="sm"/>
            <a:tailEnd type="none" w="sm" len="sm"/>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1" i="0" u="none" strike="noStrike" cap="none">
              <a:solidFill>
                <a:srgbClr val="000000"/>
              </a:solidFill>
              <a:latin typeface="Quattrocento Sans"/>
              <a:ea typeface="Quattrocento Sans"/>
              <a:cs typeface="Quattrocento Sans"/>
              <a:sym typeface="Quattrocento Sans"/>
            </a:endParaRPr>
          </a:p>
        </p:txBody>
      </p:sp>
      <p:sp>
        <p:nvSpPr>
          <p:cNvPr id="146" name="Google Shape;146;g373d37e5442_0_57"/>
          <p:cNvSpPr/>
          <p:nvPr/>
        </p:nvSpPr>
        <p:spPr>
          <a:xfrm>
            <a:off x="8177432" y="5296206"/>
            <a:ext cx="2364300" cy="894000"/>
          </a:xfrm>
          <a:prstGeom prst="wedgeEllipseCallout">
            <a:avLst>
              <a:gd name="adj1" fmla="val -33129"/>
              <a:gd name="adj2" fmla="val -91032"/>
            </a:avLst>
          </a:prstGeom>
          <a:solidFill>
            <a:srgbClr val="C9C8E2"/>
          </a:solidFill>
          <a:ln w="38100" cap="flat" cmpd="sng">
            <a:solidFill>
              <a:srgbClr val="B8B6D8"/>
            </a:solidFill>
            <a:prstDash val="solid"/>
            <a:miter lim="800000"/>
            <a:headEnd type="none" w="sm" len="sm"/>
            <a:tailEnd type="none" w="sm" len="sm"/>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1" i="0" u="none" strike="noStrike" cap="none">
              <a:solidFill>
                <a:srgbClr val="000000"/>
              </a:solidFill>
              <a:latin typeface="Quattrocento Sans"/>
              <a:ea typeface="Quattrocento Sans"/>
              <a:cs typeface="Quattrocento Sans"/>
              <a:sym typeface="Quattrocento Sans"/>
            </a:endParaRPr>
          </a:p>
        </p:txBody>
      </p:sp>
      <p:sp>
        <p:nvSpPr>
          <p:cNvPr id="147" name="Google Shape;147;g373d37e5442_0_57"/>
          <p:cNvSpPr/>
          <p:nvPr/>
        </p:nvSpPr>
        <p:spPr>
          <a:xfrm>
            <a:off x="5032519" y="5167218"/>
            <a:ext cx="2007900" cy="997500"/>
          </a:xfrm>
          <a:prstGeom prst="wedgeEllipseCallout">
            <a:avLst>
              <a:gd name="adj1" fmla="val 18815"/>
              <a:gd name="adj2" fmla="val -78639"/>
            </a:avLst>
          </a:prstGeom>
          <a:solidFill>
            <a:srgbClr val="C9C8E2"/>
          </a:solidFill>
          <a:ln w="38100" cap="flat" cmpd="sng">
            <a:solidFill>
              <a:srgbClr val="B8B6D8"/>
            </a:solidFill>
            <a:prstDash val="solid"/>
            <a:miter lim="800000"/>
            <a:headEnd type="none" w="sm" len="sm"/>
            <a:tailEnd type="none" w="sm" len="sm"/>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1" i="0" u="none" strike="noStrike" cap="none">
              <a:solidFill>
                <a:srgbClr val="000000"/>
              </a:solidFill>
              <a:latin typeface="Quattrocento Sans"/>
              <a:ea typeface="Quattrocento Sans"/>
              <a:cs typeface="Quattrocento Sans"/>
              <a:sym typeface="Quattrocento Sans"/>
            </a:endParaRPr>
          </a:p>
        </p:txBody>
      </p:sp>
      <p:sp>
        <p:nvSpPr>
          <p:cNvPr id="148" name="Google Shape;148;g373d37e5442_0_57"/>
          <p:cNvSpPr/>
          <p:nvPr/>
        </p:nvSpPr>
        <p:spPr>
          <a:xfrm>
            <a:off x="8084359" y="3307163"/>
            <a:ext cx="2316300" cy="1023000"/>
          </a:xfrm>
          <a:prstGeom prst="wedgeEllipseCallout">
            <a:avLst>
              <a:gd name="adj1" fmla="val -37518"/>
              <a:gd name="adj2" fmla="val 63614"/>
            </a:avLst>
          </a:prstGeom>
          <a:solidFill>
            <a:srgbClr val="C9C8E2"/>
          </a:solidFill>
          <a:ln w="38100" cap="flat" cmpd="sng">
            <a:solidFill>
              <a:srgbClr val="B8B6D8"/>
            </a:solidFill>
            <a:prstDash val="solid"/>
            <a:miter lim="800000"/>
            <a:headEnd type="none" w="sm" len="sm"/>
            <a:tailEnd type="none" w="sm" len="sm"/>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1" i="0" u="none" strike="noStrike" cap="none">
              <a:solidFill>
                <a:srgbClr val="000000"/>
              </a:solidFill>
              <a:latin typeface="Quattrocento Sans"/>
              <a:ea typeface="Quattrocento Sans"/>
              <a:cs typeface="Quattrocento Sans"/>
              <a:sym typeface="Quattrocento Sans"/>
            </a:endParaRPr>
          </a:p>
        </p:txBody>
      </p:sp>
      <p:sp>
        <p:nvSpPr>
          <p:cNvPr id="149" name="Google Shape;149;g373d37e5442_0_57"/>
          <p:cNvSpPr/>
          <p:nvPr/>
        </p:nvSpPr>
        <p:spPr>
          <a:xfrm>
            <a:off x="6649951" y="3398491"/>
            <a:ext cx="1520400" cy="890700"/>
          </a:xfrm>
          <a:prstGeom prst="verticalScroll">
            <a:avLst>
              <a:gd name="adj" fmla="val 12500"/>
            </a:avLst>
          </a:prstGeom>
          <a:solidFill>
            <a:srgbClr val="68A2DB"/>
          </a:solidFill>
          <a:ln w="38100" cap="flat" cmpd="sng">
            <a:solidFill>
              <a:srgbClr val="5B9BD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Quattrocento Sans"/>
              <a:buNone/>
            </a:pPr>
            <a:r>
              <a:rPr lang="en-US" sz="1800" b="1" i="0" u="none" strike="noStrike" cap="none">
                <a:solidFill>
                  <a:schemeClr val="lt1"/>
                </a:solidFill>
                <a:latin typeface="Quattrocento Sans"/>
                <a:ea typeface="Quattrocento Sans"/>
                <a:cs typeface="Quattrocento Sans"/>
                <a:sym typeface="Quattrocento Sans"/>
              </a:rPr>
              <a:t>Software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800"/>
              <a:buFont typeface="Quattrocento Sans"/>
              <a:buNone/>
            </a:pPr>
            <a:endParaRPr sz="1800" b="1" i="0" u="none" strike="noStrike" cap="none">
              <a:solidFill>
                <a:schemeClr val="lt1"/>
              </a:solidFill>
              <a:latin typeface="Quattrocento Sans"/>
              <a:ea typeface="Quattrocento Sans"/>
              <a:cs typeface="Quattrocento Sans"/>
              <a:sym typeface="Quattrocento Sans"/>
            </a:endParaRPr>
          </a:p>
        </p:txBody>
      </p:sp>
      <p:sp>
        <p:nvSpPr>
          <p:cNvPr id="150" name="Google Shape;150;g373d37e5442_0_57"/>
          <p:cNvSpPr/>
          <p:nvPr/>
        </p:nvSpPr>
        <p:spPr>
          <a:xfrm>
            <a:off x="7054521" y="3974555"/>
            <a:ext cx="756000" cy="216000"/>
          </a:xfrm>
          <a:prstGeom prst="roundRect">
            <a:avLst>
              <a:gd name="adj" fmla="val 16667"/>
            </a:avLst>
          </a:prstGeom>
          <a:noFill/>
          <a:ln w="25400" cap="flat" cmpd="sng">
            <a:solidFill>
              <a:srgbClr val="395E89"/>
            </a:solidFill>
            <a:prstDash val="dashDot"/>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lt1"/>
                </a:solidFill>
                <a:latin typeface="Quattrocento Sans"/>
                <a:ea typeface="Quattrocento Sans"/>
                <a:cs typeface="Quattrocento Sans"/>
                <a:sym typeface="Quattrocento Sans"/>
              </a:rPr>
              <a:t>OSS</a:t>
            </a:r>
            <a:endParaRPr sz="1600" b="1" i="0" u="none" strike="noStrike" cap="none">
              <a:solidFill>
                <a:schemeClr val="lt1"/>
              </a:solidFill>
              <a:latin typeface="Quattrocento Sans"/>
              <a:ea typeface="Quattrocento Sans"/>
              <a:cs typeface="Quattrocento Sans"/>
              <a:sym typeface="Quattrocento Sans"/>
            </a:endParaRPr>
          </a:p>
        </p:txBody>
      </p:sp>
      <p:sp>
        <p:nvSpPr>
          <p:cNvPr id="151" name="Google Shape;151;g373d37e5442_0_57"/>
          <p:cNvSpPr txBox="1"/>
          <p:nvPr/>
        </p:nvSpPr>
        <p:spPr>
          <a:xfrm>
            <a:off x="2708971" y="2496483"/>
            <a:ext cx="8028300" cy="461700"/>
          </a:xfrm>
          <a:prstGeom prst="rect">
            <a:avLst/>
          </a:prstGeom>
          <a:solidFill>
            <a:schemeClr val="lt1"/>
          </a:solidFill>
          <a:ln w="76200" cap="flat" cmpd="sng">
            <a:solidFill>
              <a:srgbClr val="CCFFF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Quattrocento Sans"/>
              <a:buNone/>
            </a:pPr>
            <a:r>
              <a:rPr lang="en-US" sz="2400" b="1" i="0" u="none" strike="noStrike" cap="none">
                <a:solidFill>
                  <a:schemeClr val="dk1"/>
                </a:solidFill>
                <a:latin typeface="Quattrocento Sans"/>
                <a:ea typeface="Quattrocento Sans"/>
                <a:cs typeface="Quattrocento Sans"/>
                <a:sym typeface="Quattrocento Sans"/>
              </a:rPr>
              <a:t>各組織のガバナンスとトレーサビリティの確保が、重要</a:t>
            </a:r>
            <a:endParaRPr sz="1400" b="0" i="0" u="none" strike="noStrike" cap="none">
              <a:solidFill>
                <a:srgbClr val="000000"/>
              </a:solidFill>
              <a:latin typeface="Arial"/>
              <a:ea typeface="Arial"/>
              <a:cs typeface="Arial"/>
              <a:sym typeface="Arial"/>
            </a:endParaRPr>
          </a:p>
        </p:txBody>
      </p:sp>
      <p:sp>
        <p:nvSpPr>
          <p:cNvPr id="152" name="Google Shape;152;g373d37e5442_0_57"/>
          <p:cNvSpPr/>
          <p:nvPr/>
        </p:nvSpPr>
        <p:spPr>
          <a:xfrm>
            <a:off x="2159000" y="2593322"/>
            <a:ext cx="493500" cy="207600"/>
          </a:xfrm>
          <a:prstGeom prst="rightArrow">
            <a:avLst>
              <a:gd name="adj1" fmla="val 87758"/>
              <a:gd name="adj2" fmla="val 39930"/>
            </a:avLst>
          </a:prstGeom>
          <a:solidFill>
            <a:srgbClr val="A5A5A5"/>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153" name="Google Shape;153;g373d37e5442_0_57"/>
          <p:cNvSpPr txBox="1"/>
          <p:nvPr/>
        </p:nvSpPr>
        <p:spPr>
          <a:xfrm>
            <a:off x="1829959" y="3411791"/>
            <a:ext cx="1873500" cy="83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スニペットなどで未知のOSSが混入するリスク有</a:t>
            </a:r>
            <a:endParaRPr sz="1600" b="1" i="0" u="none" strike="noStrike" cap="none">
              <a:solidFill>
                <a:schemeClr val="dk1"/>
              </a:solidFill>
              <a:latin typeface="Quattrocento Sans"/>
              <a:ea typeface="Quattrocento Sans"/>
              <a:cs typeface="Quattrocento Sans"/>
              <a:sym typeface="Quattrocento Sans"/>
            </a:endParaRPr>
          </a:p>
        </p:txBody>
      </p:sp>
      <p:sp>
        <p:nvSpPr>
          <p:cNvPr id="154" name="Google Shape;154;g373d37e5442_0_57"/>
          <p:cNvSpPr txBox="1"/>
          <p:nvPr/>
        </p:nvSpPr>
        <p:spPr>
          <a:xfrm>
            <a:off x="1747009" y="5298948"/>
            <a:ext cx="2212500" cy="83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OSSをどのように</a:t>
            </a:r>
            <a:endParaRPr sz="1600" b="1"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管理して良いか</a:t>
            </a:r>
            <a:endParaRPr sz="1600" b="1"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わからない</a:t>
            </a:r>
            <a:endParaRPr sz="1400" b="0" i="0" u="none" strike="noStrike" cap="none">
              <a:solidFill>
                <a:srgbClr val="000000"/>
              </a:solidFill>
              <a:latin typeface="Arial"/>
              <a:ea typeface="Arial"/>
              <a:cs typeface="Arial"/>
              <a:sym typeface="Arial"/>
            </a:endParaRPr>
          </a:p>
        </p:txBody>
      </p:sp>
      <p:sp>
        <p:nvSpPr>
          <p:cNvPr id="155" name="Google Shape;155;g373d37e5442_0_57"/>
          <p:cNvSpPr txBox="1"/>
          <p:nvPr/>
        </p:nvSpPr>
        <p:spPr>
          <a:xfrm>
            <a:off x="5097332" y="5298948"/>
            <a:ext cx="1878300" cy="83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教育資料を</a:t>
            </a:r>
            <a:endParaRPr sz="1600" b="1"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アップデートするのが大変</a:t>
            </a:r>
            <a:endParaRPr sz="1400" b="0" i="0" u="none" strike="noStrike" cap="none">
              <a:solidFill>
                <a:srgbClr val="000000"/>
              </a:solidFill>
              <a:latin typeface="Arial"/>
              <a:ea typeface="Arial"/>
              <a:cs typeface="Arial"/>
              <a:sym typeface="Arial"/>
            </a:endParaRPr>
          </a:p>
        </p:txBody>
      </p:sp>
      <p:sp>
        <p:nvSpPr>
          <p:cNvPr id="156" name="Google Shape;156;g373d37e5442_0_57"/>
          <p:cNvSpPr txBox="1"/>
          <p:nvPr/>
        </p:nvSpPr>
        <p:spPr>
          <a:xfrm>
            <a:off x="8132956" y="3398491"/>
            <a:ext cx="2322600" cy="83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製品にどんな</a:t>
            </a:r>
            <a:endParaRPr sz="1600" b="1"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OSSが含まれているか</a:t>
            </a:r>
            <a:endParaRPr sz="1600" b="1"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わからない</a:t>
            </a:r>
            <a:endParaRPr sz="1400" b="0" i="0" u="none" strike="noStrike" cap="none">
              <a:solidFill>
                <a:srgbClr val="000000"/>
              </a:solidFill>
              <a:latin typeface="Arial"/>
              <a:ea typeface="Arial"/>
              <a:cs typeface="Arial"/>
              <a:sym typeface="Arial"/>
            </a:endParaRPr>
          </a:p>
        </p:txBody>
      </p:sp>
      <p:sp>
        <p:nvSpPr>
          <p:cNvPr id="157" name="Google Shape;157;g373d37e5442_0_57"/>
          <p:cNvSpPr txBox="1"/>
          <p:nvPr/>
        </p:nvSpPr>
        <p:spPr>
          <a:xfrm>
            <a:off x="8084359" y="5463160"/>
            <a:ext cx="25830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全てのサプライヤに</a:t>
            </a:r>
            <a:endParaRPr sz="1600" b="1"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chemeClr val="dk1"/>
              </a:buClr>
              <a:buSzPts val="1600"/>
              <a:buFont typeface="Quattrocento Sans"/>
              <a:buNone/>
            </a:pPr>
            <a:r>
              <a:rPr lang="en-US" sz="1600" b="1" i="0" u="none" strike="noStrike" cap="none">
                <a:solidFill>
                  <a:schemeClr val="dk1"/>
                </a:solidFill>
                <a:latin typeface="Quattrocento Sans"/>
                <a:ea typeface="Quattrocento Sans"/>
                <a:cs typeface="Quattrocento Sans"/>
                <a:sym typeface="Quattrocento Sans"/>
              </a:rPr>
              <a:t>教育することは困難</a:t>
            </a:r>
            <a:endParaRPr sz="1400" b="0" i="0" u="none" strike="noStrike" cap="none">
              <a:solidFill>
                <a:srgbClr val="000000"/>
              </a:solidFill>
              <a:latin typeface="Arial"/>
              <a:ea typeface="Arial"/>
              <a:cs typeface="Arial"/>
              <a:sym typeface="Arial"/>
            </a:endParaRPr>
          </a:p>
        </p:txBody>
      </p:sp>
      <p:sp>
        <p:nvSpPr>
          <p:cNvPr id="158" name="Google Shape;158;g373d37e5442_0_57"/>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73d37e5442_0_87"/>
          <p:cNvSpPr txBox="1">
            <a:spLocks noGrp="1"/>
          </p:cNvSpPr>
          <p:nvPr>
            <p:ph type="title"/>
          </p:nvPr>
        </p:nvSpPr>
        <p:spPr>
          <a:xfrm>
            <a:off x="890270" y="531580"/>
            <a:ext cx="108573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OpenChainプロジェクトの目的</a:t>
            </a:r>
            <a:endParaRPr/>
          </a:p>
        </p:txBody>
      </p:sp>
      <p:sp>
        <p:nvSpPr>
          <p:cNvPr id="164" name="Google Shape;164;g373d37e5442_0_87"/>
          <p:cNvSpPr txBox="1">
            <a:spLocks noGrp="1"/>
          </p:cNvSpPr>
          <p:nvPr>
            <p:ph type="body" idx="1"/>
          </p:nvPr>
        </p:nvSpPr>
        <p:spPr>
          <a:xfrm>
            <a:off x="890270" y="1695574"/>
            <a:ext cx="5310900" cy="1733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800"/>
              <a:buNone/>
            </a:pPr>
            <a:r>
              <a:rPr lang="en-US" sz="2800" b="1" u="sng">
                <a:latin typeface="Quattrocento Sans"/>
                <a:ea typeface="Quattrocento Sans"/>
                <a:cs typeface="Quattrocento Sans"/>
                <a:sym typeface="Quattrocento Sans"/>
              </a:rPr>
              <a:t>役割 (mission)</a:t>
            </a:r>
            <a:endParaRPr/>
          </a:p>
          <a:p>
            <a:pPr marL="478355" lvl="0" indent="-478355" algn="l" rtl="0">
              <a:lnSpc>
                <a:spcPct val="100000"/>
              </a:lnSpc>
              <a:spcBef>
                <a:spcPts val="760"/>
              </a:spcBef>
              <a:spcAft>
                <a:spcPts val="0"/>
              </a:spcAft>
              <a:buClr>
                <a:srgbClr val="7F7F7F"/>
              </a:buClr>
              <a:buSzPts val="2400"/>
              <a:buChar char="■"/>
            </a:pPr>
            <a:r>
              <a:rPr lang="en-US" sz="2400" b="1">
                <a:latin typeface="Quattrocento Sans"/>
                <a:ea typeface="Quattrocento Sans"/>
                <a:cs typeface="Quattrocento Sans"/>
                <a:sym typeface="Quattrocento Sans"/>
              </a:rPr>
              <a:t>OSSを含むソフトウェアを相互にやり取りする</a:t>
            </a:r>
            <a:r>
              <a:rPr lang="en-US" sz="2400" b="1">
                <a:solidFill>
                  <a:srgbClr val="FF0000"/>
                </a:solidFill>
                <a:latin typeface="Quattrocento Sans"/>
                <a:ea typeface="Quattrocento Sans"/>
                <a:cs typeface="Quattrocento Sans"/>
                <a:sym typeface="Quattrocento Sans"/>
              </a:rPr>
              <a:t>組織間における信頼構築に至る基準</a:t>
            </a:r>
            <a:r>
              <a:rPr lang="en-US" sz="2400" b="1">
                <a:latin typeface="Quattrocento Sans"/>
                <a:ea typeface="Quattrocento Sans"/>
                <a:cs typeface="Quattrocento Sans"/>
                <a:sym typeface="Quattrocento Sans"/>
              </a:rPr>
              <a:t>を提供する</a:t>
            </a:r>
            <a:endParaRPr/>
          </a:p>
        </p:txBody>
      </p:sp>
      <p:sp>
        <p:nvSpPr>
          <p:cNvPr id="165" name="Google Shape;165;g373d37e5442_0_87"/>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pic>
        <p:nvPicPr>
          <p:cNvPr id="166" name="Google Shape;166;g373d37e5442_0_87"/>
          <p:cNvPicPr preferRelativeResize="0"/>
          <p:nvPr/>
        </p:nvPicPr>
        <p:blipFill rotWithShape="1">
          <a:blip r:embed="rId3">
            <a:alphaModFix/>
          </a:blip>
          <a:srcRect/>
          <a:stretch/>
        </p:blipFill>
        <p:spPr>
          <a:xfrm>
            <a:off x="6677029" y="2589044"/>
            <a:ext cx="5061965" cy="2246602"/>
          </a:xfrm>
          <a:prstGeom prst="rect">
            <a:avLst/>
          </a:prstGeom>
          <a:noFill/>
          <a:ln>
            <a:noFill/>
          </a:ln>
        </p:spPr>
      </p:pic>
      <p:sp>
        <p:nvSpPr>
          <p:cNvPr id="167" name="Google Shape;167;g373d37e5442_0_87"/>
          <p:cNvSpPr/>
          <p:nvPr/>
        </p:nvSpPr>
        <p:spPr>
          <a:xfrm>
            <a:off x="6550084" y="2495773"/>
            <a:ext cx="5278500" cy="2523900"/>
          </a:xfrm>
          <a:prstGeom prst="rect">
            <a:avLst/>
          </a:prstGeom>
          <a:noFill/>
          <a:ln w="28575"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168" name="Google Shape;168;g373d37e5442_0_87"/>
          <p:cNvSpPr txBox="1"/>
          <p:nvPr/>
        </p:nvSpPr>
        <p:spPr>
          <a:xfrm>
            <a:off x="890269" y="3772571"/>
            <a:ext cx="5400600" cy="2101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F7F7F"/>
              </a:buClr>
              <a:buSzPts val="2800"/>
              <a:buFont typeface="Noto Sans Symbols"/>
              <a:buNone/>
            </a:pPr>
            <a:r>
              <a:rPr lang="en-US" sz="2800" b="1" i="0" u="sng" strike="noStrike" cap="none">
                <a:solidFill>
                  <a:srgbClr val="20252B"/>
                </a:solidFill>
                <a:latin typeface="Quattrocento Sans"/>
                <a:ea typeface="Quattrocento Sans"/>
                <a:cs typeface="Quattrocento Sans"/>
                <a:sym typeface="Quattrocento Sans"/>
              </a:rPr>
              <a:t>目的 (vision)</a:t>
            </a:r>
            <a:endParaRPr sz="1400" b="0" i="0" u="none" strike="noStrike" cap="none">
              <a:solidFill>
                <a:srgbClr val="000000"/>
              </a:solidFill>
              <a:latin typeface="Arial"/>
              <a:ea typeface="Arial"/>
              <a:cs typeface="Arial"/>
              <a:sym typeface="Arial"/>
            </a:endParaRPr>
          </a:p>
          <a:p>
            <a:pPr marL="478355" marR="0" lvl="0" indent="-478355" algn="l" rtl="0">
              <a:lnSpc>
                <a:spcPct val="100000"/>
              </a:lnSpc>
              <a:spcBef>
                <a:spcPts val="760"/>
              </a:spcBef>
              <a:spcAft>
                <a:spcPts val="0"/>
              </a:spcAft>
              <a:buClr>
                <a:srgbClr val="7F7F7F"/>
              </a:buClr>
              <a:buSzPts val="2400"/>
              <a:buFont typeface="Noto Sans Symbols"/>
              <a:buChar char="■"/>
            </a:pPr>
            <a:r>
              <a:rPr lang="en-US" sz="2400" b="1" i="0" u="none" strike="noStrike" cap="none">
                <a:solidFill>
                  <a:srgbClr val="20252B"/>
                </a:solidFill>
                <a:latin typeface="Quattrocento Sans"/>
                <a:ea typeface="Quattrocento Sans"/>
                <a:cs typeface="Quattrocento Sans"/>
                <a:sym typeface="Quattrocento Sans"/>
              </a:rPr>
              <a:t>OSSが、信頼できる形式に整合した</a:t>
            </a:r>
            <a:r>
              <a:rPr lang="en-US" sz="2400" b="1" i="0" u="none" strike="noStrike" cap="none">
                <a:solidFill>
                  <a:srgbClr val="FF0000"/>
                </a:solidFill>
                <a:latin typeface="Quattrocento Sans"/>
                <a:ea typeface="Quattrocento Sans"/>
                <a:cs typeface="Quattrocento Sans"/>
                <a:sym typeface="Quattrocento Sans"/>
              </a:rPr>
              <a:t>コンプライアンス情報とともに流通するサプライチェーン</a:t>
            </a:r>
            <a:r>
              <a:rPr lang="en-US" sz="2400" b="1" i="0" u="none" strike="noStrike" cap="none">
                <a:solidFill>
                  <a:srgbClr val="20252B"/>
                </a:solidFill>
                <a:latin typeface="Quattrocento Sans"/>
                <a:ea typeface="Quattrocento Sans"/>
                <a:cs typeface="Quattrocento Sans"/>
                <a:sym typeface="Quattrocento Sans"/>
              </a:rPr>
              <a:t>の実現</a:t>
            </a:r>
            <a:endParaRPr sz="1400" b="0" i="0" u="none" strike="noStrike" cap="none">
              <a:solidFill>
                <a:srgbClr val="000000"/>
              </a:solidFill>
              <a:latin typeface="Arial"/>
              <a:ea typeface="Arial"/>
              <a:cs typeface="Arial"/>
              <a:sym typeface="Arial"/>
            </a:endParaRPr>
          </a:p>
          <a:p>
            <a:pPr marL="478355" marR="0" lvl="0" indent="-325955" algn="l" rtl="0">
              <a:lnSpc>
                <a:spcPct val="100000"/>
              </a:lnSpc>
              <a:spcBef>
                <a:spcPts val="720"/>
              </a:spcBef>
              <a:spcAft>
                <a:spcPts val="0"/>
              </a:spcAft>
              <a:buClr>
                <a:srgbClr val="7F7F7F"/>
              </a:buClr>
              <a:buSzPts val="2400"/>
              <a:buFont typeface="Noto Sans Symbols"/>
              <a:buNone/>
            </a:pPr>
            <a:endParaRPr sz="2400" b="1" i="0" u="none" strike="noStrike" cap="none">
              <a:solidFill>
                <a:srgbClr val="20252B"/>
              </a:solidFill>
              <a:latin typeface="Quattrocento Sans"/>
              <a:ea typeface="Quattrocento Sans"/>
              <a:cs typeface="Quattrocento Sans"/>
              <a:sym typeface="Quattrocento Sans"/>
            </a:endParaRPr>
          </a:p>
        </p:txBody>
      </p:sp>
      <p:sp>
        <p:nvSpPr>
          <p:cNvPr id="169" name="Google Shape;169;g373d37e5442_0_87"/>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73d37e5442_0_97"/>
          <p:cNvSpPr txBox="1">
            <a:spLocks noGrp="1"/>
          </p:cNvSpPr>
          <p:nvPr>
            <p:ph type="title"/>
          </p:nvPr>
        </p:nvSpPr>
        <p:spPr>
          <a:xfrm>
            <a:off x="890270" y="531580"/>
            <a:ext cx="108573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OpenChainプロジェクトの3つの柱</a:t>
            </a:r>
            <a:endParaRPr/>
          </a:p>
        </p:txBody>
      </p:sp>
      <p:sp>
        <p:nvSpPr>
          <p:cNvPr id="175" name="Google Shape;175;g373d37e5442_0_97"/>
          <p:cNvSpPr txBox="1">
            <a:spLocks noGrp="1"/>
          </p:cNvSpPr>
          <p:nvPr>
            <p:ph type="body" idx="1"/>
          </p:nvPr>
        </p:nvSpPr>
        <p:spPr>
          <a:xfrm>
            <a:off x="890270" y="1272238"/>
            <a:ext cx="7619100" cy="1530300"/>
          </a:xfrm>
          <a:prstGeom prst="rect">
            <a:avLst/>
          </a:prstGeom>
          <a:noFill/>
          <a:ln>
            <a:noFill/>
          </a:ln>
        </p:spPr>
        <p:txBody>
          <a:bodyPr spcFirstLastPara="1" wrap="square" lIns="0" tIns="0" rIns="0" bIns="0" anchor="t" anchorCtr="0">
            <a:noAutofit/>
          </a:bodyPr>
          <a:lstStyle/>
          <a:p>
            <a:pPr marL="514350" lvl="0" indent="-514350" algn="l" rtl="0">
              <a:lnSpc>
                <a:spcPct val="100000"/>
              </a:lnSpc>
              <a:spcBef>
                <a:spcPts val="0"/>
              </a:spcBef>
              <a:spcAft>
                <a:spcPts val="0"/>
              </a:spcAft>
              <a:buSzPts val="2400"/>
              <a:buFont typeface="Quattrocento Sans"/>
              <a:buAutoNum type="arabicPeriod"/>
            </a:pPr>
            <a:r>
              <a:rPr lang="en-US" sz="2400" b="1" u="sng">
                <a:latin typeface="Quattrocento Sans"/>
                <a:ea typeface="Quattrocento Sans"/>
                <a:cs typeface="Quattrocento Sans"/>
                <a:sym typeface="Quattrocento Sans"/>
              </a:rPr>
              <a:t>仕様 (Specification)</a:t>
            </a:r>
            <a:endParaRPr/>
          </a:p>
          <a:p>
            <a:pPr marL="869941" lvl="1" indent="-514350" algn="l" rtl="0">
              <a:lnSpc>
                <a:spcPct val="100000"/>
              </a:lnSpc>
              <a:spcBef>
                <a:spcPts val="640"/>
              </a:spcBef>
              <a:spcAft>
                <a:spcPts val="0"/>
              </a:spcAft>
              <a:buSzPts val="2000"/>
              <a:buChar char="■"/>
            </a:pPr>
            <a:r>
              <a:rPr lang="en-US" sz="2000" b="1">
                <a:latin typeface="Quattrocento Sans"/>
                <a:ea typeface="Quattrocento Sans"/>
                <a:cs typeface="Quattrocento Sans"/>
                <a:sym typeface="Quattrocento Sans"/>
              </a:rPr>
              <a:t>企業が組織内に確立すべきコンプライアンスプログラム（仕組み・体制等）の要件を定義</a:t>
            </a:r>
            <a:endParaRPr sz="2000" b="1">
              <a:latin typeface="Quattrocento Sans"/>
              <a:ea typeface="Quattrocento Sans"/>
              <a:cs typeface="Quattrocento Sans"/>
              <a:sym typeface="Quattrocento Sans"/>
            </a:endParaRPr>
          </a:p>
          <a:p>
            <a:pPr marL="869941" lvl="1" indent="-514350" algn="l" rtl="0">
              <a:lnSpc>
                <a:spcPct val="100000"/>
              </a:lnSpc>
              <a:spcBef>
                <a:spcPts val="600"/>
              </a:spcBef>
              <a:spcAft>
                <a:spcPts val="0"/>
              </a:spcAft>
              <a:buSzPts val="2000"/>
              <a:buChar char="■"/>
            </a:pPr>
            <a:r>
              <a:rPr lang="en-US" sz="2000" b="1">
                <a:latin typeface="Quattrocento Sans"/>
                <a:ea typeface="Quattrocento Sans"/>
                <a:cs typeface="Quattrocento Sans"/>
                <a:sym typeface="Quattrocento Sans"/>
              </a:rPr>
              <a:t>ISO/IEC 5230:2020 として国際標準化 (2020年12月</a:t>
            </a:r>
            <a:r>
              <a:rPr lang="en-US" sz="2000">
                <a:latin typeface="Quattrocento Sans"/>
                <a:ea typeface="Quattrocento Sans"/>
                <a:cs typeface="Quattrocento Sans"/>
                <a:sym typeface="Quattrocento Sans"/>
              </a:rPr>
              <a:t>)</a:t>
            </a:r>
            <a:endParaRPr sz="2266">
              <a:latin typeface="Quattrocento Sans"/>
              <a:ea typeface="Quattrocento Sans"/>
              <a:cs typeface="Quattrocento Sans"/>
              <a:sym typeface="Quattrocento Sans"/>
            </a:endParaRPr>
          </a:p>
        </p:txBody>
      </p:sp>
      <p:sp>
        <p:nvSpPr>
          <p:cNvPr id="176" name="Google Shape;176;g373d37e5442_0_97"/>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177" name="Google Shape;177;g373d37e5442_0_97"/>
          <p:cNvSpPr/>
          <p:nvPr/>
        </p:nvSpPr>
        <p:spPr>
          <a:xfrm>
            <a:off x="1109905" y="2802492"/>
            <a:ext cx="5750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https://www.openchainproject.org/license-compliance</a:t>
            </a:r>
            <a:endParaRPr sz="1400" b="0" i="0" u="none" strike="noStrike" cap="none">
              <a:solidFill>
                <a:schemeClr val="dk1"/>
              </a:solidFill>
              <a:latin typeface="Quattrocento Sans"/>
              <a:ea typeface="Quattrocento Sans"/>
              <a:cs typeface="Quattrocento Sans"/>
              <a:sym typeface="Quattrocento Sans"/>
            </a:endParaRPr>
          </a:p>
        </p:txBody>
      </p:sp>
      <p:sp>
        <p:nvSpPr>
          <p:cNvPr id="178" name="Google Shape;178;g373d37e5442_0_97"/>
          <p:cNvSpPr txBox="1"/>
          <p:nvPr/>
        </p:nvSpPr>
        <p:spPr>
          <a:xfrm>
            <a:off x="890267" y="4952844"/>
            <a:ext cx="7619100" cy="917700"/>
          </a:xfrm>
          <a:prstGeom prst="rect">
            <a:avLst/>
          </a:prstGeom>
          <a:noFill/>
          <a:ln>
            <a:noFill/>
          </a:ln>
        </p:spPr>
        <p:txBody>
          <a:bodyPr spcFirstLastPara="1" wrap="square" lIns="0" tIns="0" rIns="0" bIns="0" anchor="t" anchorCtr="0">
            <a:noAutofit/>
          </a:bodyPr>
          <a:lstStyle/>
          <a:p>
            <a:pPr marL="514350" marR="0" lvl="0" indent="-514350" algn="l" rtl="0">
              <a:lnSpc>
                <a:spcPct val="100000"/>
              </a:lnSpc>
              <a:spcBef>
                <a:spcPts val="0"/>
              </a:spcBef>
              <a:spcAft>
                <a:spcPts val="0"/>
              </a:spcAft>
              <a:buClr>
                <a:srgbClr val="7F7F7F"/>
              </a:buClr>
              <a:buSzPts val="2266"/>
              <a:buFont typeface="Quattrocento Sans"/>
              <a:buAutoNum type="arabicPeriod" startAt="3"/>
            </a:pPr>
            <a:r>
              <a:rPr lang="en-US" sz="2266" b="1" i="0" u="sng" strike="noStrike" cap="none">
                <a:solidFill>
                  <a:srgbClr val="20252B"/>
                </a:solidFill>
                <a:latin typeface="Quattrocento Sans"/>
                <a:ea typeface="Quattrocento Sans"/>
                <a:cs typeface="Quattrocento Sans"/>
                <a:sym typeface="Quattrocento Sans"/>
              </a:rPr>
              <a:t>カリキュラム (Curriculum)</a:t>
            </a:r>
            <a:endParaRPr sz="1400" b="0" i="0" u="none" strike="noStrike" cap="none">
              <a:solidFill>
                <a:srgbClr val="000000"/>
              </a:solidFill>
              <a:latin typeface="Arial"/>
              <a:ea typeface="Arial"/>
              <a:cs typeface="Arial"/>
              <a:sym typeface="Arial"/>
            </a:endParaRPr>
          </a:p>
          <a:p>
            <a:pPr marL="869941" marR="0" lvl="1" indent="-514350" algn="l" rtl="0">
              <a:lnSpc>
                <a:spcPct val="100000"/>
              </a:lnSpc>
              <a:spcBef>
                <a:spcPts val="627"/>
              </a:spcBef>
              <a:spcAft>
                <a:spcPts val="0"/>
              </a:spcAft>
              <a:buClr>
                <a:srgbClr val="87867E"/>
              </a:buClr>
              <a:buSzPts val="2000"/>
              <a:buFont typeface="Noto Sans Symbols"/>
              <a:buChar char="■"/>
            </a:pPr>
            <a:r>
              <a:rPr lang="en-US" sz="2000" b="1" i="0" u="none" strike="noStrike" cap="none">
                <a:solidFill>
                  <a:srgbClr val="20252B"/>
                </a:solidFill>
                <a:latin typeface="Quattrocento Sans"/>
                <a:ea typeface="Quattrocento Sans"/>
                <a:cs typeface="Quattrocento Sans"/>
                <a:sym typeface="Quattrocento Sans"/>
              </a:rPr>
              <a:t>仕様への適合のために各組織で利用可能な教育資料集</a:t>
            </a:r>
            <a:endParaRPr sz="2266" b="1" i="0" u="none" strike="noStrike" cap="none">
              <a:solidFill>
                <a:srgbClr val="20252B"/>
              </a:solidFill>
              <a:latin typeface="Quattrocento Sans"/>
              <a:ea typeface="Quattrocento Sans"/>
              <a:cs typeface="Quattrocento Sans"/>
              <a:sym typeface="Quattrocento Sans"/>
            </a:endParaRPr>
          </a:p>
        </p:txBody>
      </p:sp>
      <p:sp>
        <p:nvSpPr>
          <p:cNvPr id="179" name="Google Shape;179;g373d37e5442_0_97"/>
          <p:cNvSpPr txBox="1"/>
          <p:nvPr/>
        </p:nvSpPr>
        <p:spPr>
          <a:xfrm>
            <a:off x="898250" y="3411988"/>
            <a:ext cx="7251300" cy="1202400"/>
          </a:xfrm>
          <a:prstGeom prst="rect">
            <a:avLst/>
          </a:prstGeom>
          <a:noFill/>
          <a:ln>
            <a:noFill/>
          </a:ln>
        </p:spPr>
        <p:txBody>
          <a:bodyPr spcFirstLastPara="1" wrap="square" lIns="0" tIns="0" rIns="0" bIns="0" anchor="t" anchorCtr="0">
            <a:noAutofit/>
          </a:bodyPr>
          <a:lstStyle/>
          <a:p>
            <a:pPr marL="514350" marR="0" lvl="0" indent="-514350" algn="l" rtl="0">
              <a:lnSpc>
                <a:spcPct val="100000"/>
              </a:lnSpc>
              <a:spcBef>
                <a:spcPts val="0"/>
              </a:spcBef>
              <a:spcAft>
                <a:spcPts val="0"/>
              </a:spcAft>
              <a:buClr>
                <a:srgbClr val="7F7F7F"/>
              </a:buClr>
              <a:buSzPts val="2266"/>
              <a:buFont typeface="Quattrocento Sans"/>
              <a:buAutoNum type="arabicPeriod" startAt="2"/>
            </a:pPr>
            <a:r>
              <a:rPr lang="en-US" sz="2266" b="1" i="0" u="sng" strike="noStrike" cap="none">
                <a:solidFill>
                  <a:srgbClr val="20252B"/>
                </a:solidFill>
                <a:latin typeface="Quattrocento Sans"/>
                <a:ea typeface="Quattrocento Sans"/>
                <a:cs typeface="Quattrocento Sans"/>
                <a:sym typeface="Quattrocento Sans"/>
              </a:rPr>
              <a:t>適合 (Conformant)</a:t>
            </a:r>
            <a:endParaRPr sz="1400" b="0" i="0" u="none" strike="noStrike" cap="none">
              <a:solidFill>
                <a:srgbClr val="000000"/>
              </a:solidFill>
              <a:latin typeface="Arial"/>
              <a:ea typeface="Arial"/>
              <a:cs typeface="Arial"/>
              <a:sym typeface="Arial"/>
            </a:endParaRPr>
          </a:p>
          <a:p>
            <a:pPr marL="869941" marR="0" lvl="1" indent="-514350" algn="l" rtl="0">
              <a:lnSpc>
                <a:spcPct val="100000"/>
              </a:lnSpc>
              <a:spcBef>
                <a:spcPts val="627"/>
              </a:spcBef>
              <a:spcAft>
                <a:spcPts val="0"/>
              </a:spcAft>
              <a:buClr>
                <a:srgbClr val="87867E"/>
              </a:buClr>
              <a:buSzPts val="2000"/>
              <a:buFont typeface="Noto Sans Symbols"/>
              <a:buChar char="■"/>
            </a:pPr>
            <a:r>
              <a:rPr lang="en-US" sz="2000" b="1" i="0" u="none" strike="noStrike" cap="none">
                <a:solidFill>
                  <a:srgbClr val="20252B"/>
                </a:solidFill>
                <a:latin typeface="Quattrocento Sans"/>
                <a:ea typeface="Quattrocento Sans"/>
                <a:cs typeface="Quattrocento Sans"/>
                <a:sym typeface="Quattrocento Sans"/>
              </a:rPr>
              <a:t>自己認証の場合、仕様に関するWebアンケートに</a:t>
            </a:r>
            <a:br>
              <a:rPr lang="en-US" sz="2000" b="1" i="0" u="none" strike="noStrike" cap="none">
                <a:solidFill>
                  <a:srgbClr val="20252B"/>
                </a:solidFill>
                <a:latin typeface="Quattrocento Sans"/>
                <a:ea typeface="Quattrocento Sans"/>
                <a:cs typeface="Quattrocento Sans"/>
                <a:sym typeface="Quattrocento Sans"/>
              </a:rPr>
            </a:br>
            <a:r>
              <a:rPr lang="en-US" sz="2000" b="1" i="0" u="none" strike="noStrike" cap="none">
                <a:solidFill>
                  <a:srgbClr val="20252B"/>
                </a:solidFill>
                <a:latin typeface="Quattrocento Sans"/>
                <a:ea typeface="Quattrocento Sans"/>
                <a:cs typeface="Quattrocento Sans"/>
                <a:sym typeface="Quattrocento Sans"/>
              </a:rPr>
              <a:t>回答して適合を宣言できる。第三者認証も利用可。</a:t>
            </a:r>
            <a:endParaRPr sz="1400" b="0" i="0" u="none" strike="noStrike" cap="none">
              <a:solidFill>
                <a:srgbClr val="000000"/>
              </a:solidFill>
              <a:latin typeface="Arial"/>
              <a:ea typeface="Arial"/>
              <a:cs typeface="Arial"/>
              <a:sym typeface="Arial"/>
            </a:endParaRPr>
          </a:p>
        </p:txBody>
      </p:sp>
      <p:sp>
        <p:nvSpPr>
          <p:cNvPr id="180" name="Google Shape;180;g373d37e5442_0_97"/>
          <p:cNvSpPr/>
          <p:nvPr/>
        </p:nvSpPr>
        <p:spPr>
          <a:xfrm>
            <a:off x="1109905" y="4429093"/>
            <a:ext cx="38409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https://www.openchainproject.org/get-started</a:t>
            </a:r>
            <a:endParaRPr sz="1400" b="0" i="0" u="none" strike="noStrike" cap="none">
              <a:solidFill>
                <a:schemeClr val="dk1"/>
              </a:solidFill>
              <a:latin typeface="Quattrocento Sans"/>
              <a:ea typeface="Quattrocento Sans"/>
              <a:cs typeface="Quattrocento Sans"/>
              <a:sym typeface="Quattrocento Sans"/>
            </a:endParaRPr>
          </a:p>
        </p:txBody>
      </p:sp>
      <p:sp>
        <p:nvSpPr>
          <p:cNvPr id="181" name="Google Shape;181;g373d37e5442_0_97"/>
          <p:cNvSpPr/>
          <p:nvPr/>
        </p:nvSpPr>
        <p:spPr>
          <a:xfrm>
            <a:off x="1109905" y="5716688"/>
            <a:ext cx="3704100"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https://www.openchainproject.org/resources</a:t>
            </a:r>
            <a:endParaRPr sz="1400" b="0" i="0" u="none" strike="noStrike" cap="none">
              <a:solidFill>
                <a:schemeClr val="dk1"/>
              </a:solidFill>
              <a:latin typeface="Quattrocento Sans"/>
              <a:ea typeface="Quattrocento Sans"/>
              <a:cs typeface="Quattrocento Sans"/>
              <a:sym typeface="Quattrocento Sans"/>
            </a:endParaRPr>
          </a:p>
        </p:txBody>
      </p:sp>
      <p:sp>
        <p:nvSpPr>
          <p:cNvPr id="182" name="Google Shape;182;g373d37e5442_0_97"/>
          <p:cNvSpPr/>
          <p:nvPr/>
        </p:nvSpPr>
        <p:spPr>
          <a:xfrm>
            <a:off x="8944230" y="5557135"/>
            <a:ext cx="2508300" cy="52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484848"/>
                </a:solidFill>
                <a:latin typeface="Quattrocento Sans"/>
                <a:ea typeface="Quattrocento Sans"/>
                <a:cs typeface="Quattrocento Sans"/>
                <a:sym typeface="Quattrocento Sans"/>
              </a:rPr>
              <a:t>日本語をはじめ、英語以外の言語での参考訳をコミュニティが提供</a:t>
            </a:r>
            <a:endParaRPr sz="1400" b="0" i="0" u="none" strike="noStrike" cap="none">
              <a:solidFill>
                <a:srgbClr val="000000"/>
              </a:solidFill>
              <a:latin typeface="Arial"/>
              <a:ea typeface="Arial"/>
              <a:cs typeface="Arial"/>
              <a:sym typeface="Arial"/>
            </a:endParaRPr>
          </a:p>
        </p:txBody>
      </p:sp>
      <p:sp>
        <p:nvSpPr>
          <p:cNvPr id="183" name="Google Shape;183;g373d37e5442_0_97"/>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
        <p:nvSpPr>
          <p:cNvPr id="184" name="Google Shape;184;g373d37e5442_0_97"/>
          <p:cNvSpPr/>
          <p:nvPr/>
        </p:nvSpPr>
        <p:spPr>
          <a:xfrm>
            <a:off x="9102967" y="4015819"/>
            <a:ext cx="2190900" cy="8295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85" name="Google Shape;185;g373d37e5442_0_97"/>
          <p:cNvSpPr/>
          <p:nvPr/>
        </p:nvSpPr>
        <p:spPr>
          <a:xfrm>
            <a:off x="8081006" y="6087736"/>
            <a:ext cx="38508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https://www.openchainproject.org/license-compliance</a:t>
            </a:r>
            <a:endParaRPr sz="1200" b="0" i="0" u="none" strike="noStrike" cap="none">
              <a:solidFill>
                <a:schemeClr val="dk1"/>
              </a:solidFill>
              <a:latin typeface="Quattrocento Sans"/>
              <a:ea typeface="Quattrocento Sans"/>
              <a:cs typeface="Quattrocento Sans"/>
              <a:sym typeface="Quattrocento Sans"/>
            </a:endParaRPr>
          </a:p>
        </p:txBody>
      </p:sp>
      <p:pic>
        <p:nvPicPr>
          <p:cNvPr id="186" name="Google Shape;186;g373d37e5442_0_97"/>
          <p:cNvPicPr preferRelativeResize="0"/>
          <p:nvPr/>
        </p:nvPicPr>
        <p:blipFill rotWithShape="1">
          <a:blip r:embed="rId6">
            <a:alphaModFix/>
          </a:blip>
          <a:srcRect/>
          <a:stretch/>
        </p:blipFill>
        <p:spPr>
          <a:xfrm>
            <a:off x="7897000" y="2105950"/>
            <a:ext cx="4218800" cy="3380451"/>
          </a:xfrm>
          <a:prstGeom prst="rect">
            <a:avLst/>
          </a:prstGeom>
          <a:noFill/>
          <a:ln w="9525" cap="flat" cmpd="sng">
            <a:solidFill>
              <a:schemeClr val="accent5"/>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4D2DC2-2465-7AC7-47FD-BD7B68CFF35F}"/>
              </a:ext>
            </a:extLst>
          </p:cNvPr>
          <p:cNvSpPr>
            <a:spLocks noGrp="1"/>
          </p:cNvSpPr>
          <p:nvPr>
            <p:ph type="title"/>
          </p:nvPr>
        </p:nvSpPr>
        <p:spPr/>
        <p:txBody>
          <a:bodyPr/>
          <a:lstStyle/>
          <a:p>
            <a:r>
              <a:rPr kumimoji="1" lang="en-US" altLang="ja-JP" dirty="0"/>
              <a:t>Timeline</a:t>
            </a:r>
            <a:endParaRPr kumimoji="1" lang="ja-JP" altLang="en-US" dirty="0"/>
          </a:p>
        </p:txBody>
      </p:sp>
      <p:sp>
        <p:nvSpPr>
          <p:cNvPr id="3" name="テキスト プレースホルダー 2">
            <a:extLst>
              <a:ext uri="{FF2B5EF4-FFF2-40B4-BE49-F238E27FC236}">
                <a16:creationId xmlns:a16="http://schemas.microsoft.com/office/drawing/2014/main" id="{09A3E27C-9429-1375-02BB-6C3DB0C832E9}"/>
              </a:ext>
            </a:extLst>
          </p:cNvPr>
          <p:cNvSpPr>
            <a:spLocks noGrp="1"/>
          </p:cNvSpPr>
          <p:nvPr>
            <p:ph type="body" idx="1"/>
          </p:nvPr>
        </p:nvSpPr>
        <p:spPr>
          <a:xfrm>
            <a:off x="423081" y="1422401"/>
            <a:ext cx="11382231" cy="4871236"/>
          </a:xfrm>
        </p:spPr>
        <p:txBody>
          <a:bodyPr>
            <a:normAutofit fontScale="55000" lnSpcReduction="20000"/>
          </a:bodyPr>
          <a:lstStyle/>
          <a:p>
            <a:pPr lvl="0" fontAlgn="base"/>
            <a:r>
              <a:rPr lang="ja-JP" altLang="ja-JP" b="1" dirty="0"/>
              <a:t>October 2015: </a:t>
            </a:r>
            <a:r>
              <a:rPr lang="ja-JP" altLang="ja-JP" dirty="0"/>
              <a:t>The Linux Foundation </a:t>
            </a:r>
            <a:r>
              <a:rPr lang="ja-JP" altLang="ja-JP" dirty="0">
                <a:hlinkClick r:id="rId3"/>
              </a:rPr>
              <a:t>announced an OpenChain Workgroup</a:t>
            </a:r>
            <a:r>
              <a:rPr lang="ja-JP" altLang="ja-JP" dirty="0"/>
              <a:t> and </a:t>
            </a:r>
            <a:r>
              <a:rPr lang="ja-JP" altLang="ja-JP" dirty="0">
                <a:hlinkClick r:id="rId4"/>
              </a:rPr>
              <a:t>a public wiki was launched</a:t>
            </a:r>
            <a:r>
              <a:rPr lang="ja-JP" altLang="ja-JP" dirty="0"/>
              <a:t>.</a:t>
            </a:r>
          </a:p>
          <a:p>
            <a:pPr lvl="0" fontAlgn="base"/>
            <a:r>
              <a:rPr lang="ja-JP" altLang="ja-JP" b="1" dirty="0"/>
              <a:t>October 2016: </a:t>
            </a:r>
            <a:r>
              <a:rPr lang="ja-JP" altLang="ja-JP" dirty="0">
                <a:hlinkClick r:id="rId5"/>
              </a:rPr>
              <a:t>The OpenChain Project was formally launched at Open Source Summit Europe</a:t>
            </a:r>
            <a:r>
              <a:rPr lang="ja-JP" altLang="ja-JP" dirty="0"/>
              <a:t>. The founding Platinum Members were Adobe, ARM, Cisco, Harman, Hewlett Packard Enterprise, Qualcomm, Siemens and Wind River.</a:t>
            </a:r>
          </a:p>
          <a:p>
            <a:pPr lvl="0" fontAlgn="base"/>
            <a:r>
              <a:rPr lang="ja-JP" altLang="ja-JP" b="1" dirty="0"/>
              <a:t>October 2016: </a:t>
            </a:r>
            <a:r>
              <a:rPr lang="ja-JP" altLang="ja-JP" dirty="0">
                <a:hlinkClick r:id="rId6"/>
              </a:rPr>
              <a:t>OpenChain Specification 1.0 was released</a:t>
            </a:r>
            <a:r>
              <a:rPr lang="ja-JP" altLang="ja-JP" dirty="0"/>
              <a:t> (this evolved into ISO/IEC 5230:2020).</a:t>
            </a:r>
          </a:p>
          <a:p>
            <a:pPr lvl="0" fontAlgn="base"/>
            <a:r>
              <a:rPr lang="ja-JP" altLang="ja-JP" b="1" dirty="0"/>
              <a:t>March 2019: </a:t>
            </a:r>
            <a:r>
              <a:rPr lang="ja-JP" altLang="ja-JP" dirty="0">
                <a:hlinkClick r:id="rId7"/>
              </a:rPr>
              <a:t>OpenChain Specification 2.0 was released</a:t>
            </a:r>
            <a:r>
              <a:rPr lang="ja-JP" altLang="ja-JP" dirty="0"/>
              <a:t> (this evolved into ISO/IEC 5230:2020).</a:t>
            </a:r>
          </a:p>
          <a:p>
            <a:pPr lvl="0" fontAlgn="base"/>
            <a:r>
              <a:rPr lang="ja-JP" altLang="ja-JP" b="1" dirty="0"/>
              <a:t>March 2020: </a:t>
            </a:r>
            <a:r>
              <a:rPr lang="ja-JP" altLang="ja-JP" dirty="0">
                <a:hlinkClick r:id="rId8"/>
              </a:rPr>
              <a:t>OpenChain Specification 2.1 (draft) was released</a:t>
            </a:r>
            <a:r>
              <a:rPr lang="ja-JP" altLang="ja-JP" dirty="0"/>
              <a:t> (this was an editorial change to OpenChain Specification 2.0 to align with ISO formatting). It entered the JTC-1 PAS Transposition Process via the </a:t>
            </a:r>
            <a:r>
              <a:rPr lang="ja-JP" altLang="ja-JP" dirty="0">
                <a:hlinkClick r:id="rId9"/>
              </a:rPr>
              <a:t>Joint Development Foundation</a:t>
            </a:r>
            <a:r>
              <a:rPr lang="ja-JP" altLang="ja-JP" dirty="0"/>
              <a:t> to become an ISO/IEC standard.</a:t>
            </a:r>
          </a:p>
          <a:p>
            <a:pPr lvl="0" fontAlgn="base"/>
            <a:r>
              <a:rPr lang="ja-JP" altLang="ja-JP" b="1" dirty="0"/>
              <a:t>December 2020: </a:t>
            </a:r>
            <a:r>
              <a:rPr lang="ja-JP" altLang="ja-JP" dirty="0">
                <a:hlinkClick r:id="rId10"/>
              </a:rPr>
              <a:t>OpenChain Specification 2.1 was released</a:t>
            </a:r>
            <a:r>
              <a:rPr lang="ja-JP" altLang="ja-JP" dirty="0"/>
              <a:t> (functionally identical to OpenChain ISO/IEC 5230:2020).</a:t>
            </a:r>
          </a:p>
          <a:p>
            <a:pPr lvl="0" fontAlgn="base"/>
            <a:r>
              <a:rPr lang="ja-JP" altLang="ja-JP" b="1" dirty="0"/>
              <a:t>December 2020: </a:t>
            </a:r>
            <a:r>
              <a:rPr lang="ja-JP" altLang="ja-JP" dirty="0">
                <a:hlinkClick r:id="rId11"/>
              </a:rPr>
              <a:t>OpenChain ISO/IEC 5230:2020 was released</a:t>
            </a:r>
            <a:r>
              <a:rPr lang="ja-JP" altLang="ja-JP" dirty="0"/>
              <a:t>.</a:t>
            </a:r>
          </a:p>
          <a:p>
            <a:pPr lvl="0" fontAlgn="base"/>
            <a:r>
              <a:rPr lang="ja-JP" altLang="ja-JP" b="1" dirty="0"/>
              <a:t>August 2021: </a:t>
            </a:r>
            <a:r>
              <a:rPr lang="ja-JP" altLang="ja-JP" dirty="0">
                <a:hlinkClick r:id="rId12"/>
              </a:rPr>
              <a:t>OpenChain Security Assurance Reference Guide 1.0 was released</a:t>
            </a:r>
            <a:r>
              <a:rPr lang="ja-JP" altLang="ja-JP" dirty="0"/>
              <a:t> (this evolved into ISO/IEC 18974:2023).</a:t>
            </a:r>
          </a:p>
          <a:p>
            <a:pPr lvl="0" fontAlgn="base"/>
            <a:r>
              <a:rPr lang="ja-JP" altLang="ja-JP" b="1" dirty="0"/>
              <a:t>March 2022: </a:t>
            </a:r>
            <a:r>
              <a:rPr lang="ja-JP" altLang="ja-JP" dirty="0">
                <a:hlinkClick r:id="rId13"/>
              </a:rPr>
              <a:t>OpenChain Security Assurance Reference Guide 2.0 was released</a:t>
            </a:r>
            <a:r>
              <a:rPr lang="ja-JP" altLang="ja-JP" dirty="0"/>
              <a:t> (this evolved into ISO/IEC 18974:2023).</a:t>
            </a:r>
          </a:p>
          <a:p>
            <a:pPr lvl="0" fontAlgn="base"/>
            <a:r>
              <a:rPr lang="ja-JP" altLang="ja-JP" b="1" dirty="0"/>
              <a:t>September 2022: </a:t>
            </a:r>
            <a:r>
              <a:rPr lang="ja-JP" altLang="ja-JP" dirty="0">
                <a:hlinkClick r:id="rId14"/>
              </a:rPr>
              <a:t>OpenChain Security Assurance Specification 1.0 was released</a:t>
            </a:r>
            <a:r>
              <a:rPr lang="ja-JP" altLang="ja-JP" dirty="0"/>
              <a:t> (this evolved into ISO/IEC 18974:2023).</a:t>
            </a:r>
          </a:p>
          <a:p>
            <a:pPr lvl="0" fontAlgn="base"/>
            <a:r>
              <a:rPr lang="ja-JP" altLang="ja-JP" b="1" dirty="0"/>
              <a:t>October 2022: </a:t>
            </a:r>
            <a:r>
              <a:rPr lang="ja-JP" altLang="ja-JP" dirty="0">
                <a:hlinkClick r:id="rId15"/>
              </a:rPr>
              <a:t>OpenChain Security Assurance Specification 1.1 was released</a:t>
            </a:r>
            <a:r>
              <a:rPr lang="ja-JP" altLang="ja-JP" dirty="0"/>
              <a:t> (this evolved into ISO/IEC 18974:2023).</a:t>
            </a:r>
          </a:p>
          <a:p>
            <a:pPr lvl="0" fontAlgn="base"/>
            <a:r>
              <a:rPr lang="ja-JP" altLang="ja-JP" b="1" dirty="0"/>
              <a:t>March 2023: </a:t>
            </a:r>
            <a:r>
              <a:rPr lang="ja-JP" altLang="ja-JP" dirty="0">
                <a:hlinkClick r:id="rId16"/>
              </a:rPr>
              <a:t>ISO/IEC DIS 18974 was released</a:t>
            </a:r>
            <a:r>
              <a:rPr lang="ja-JP" altLang="ja-JP" dirty="0"/>
              <a:t>, the ISO/IEC submission draft of OpenChain Security Assurance Specification 1.1.</a:t>
            </a:r>
          </a:p>
          <a:p>
            <a:pPr lvl="0" fontAlgn="base"/>
            <a:r>
              <a:rPr lang="ja-JP" altLang="ja-JP" b="1" dirty="0"/>
              <a:t>December 2023: </a:t>
            </a:r>
            <a:r>
              <a:rPr lang="ja-JP" altLang="ja-JP" dirty="0">
                <a:hlinkClick r:id="rId17"/>
              </a:rPr>
              <a:t>OpenChain Security Assurance Specification 2.0 was released</a:t>
            </a:r>
            <a:r>
              <a:rPr lang="ja-JP" altLang="ja-JP" dirty="0"/>
              <a:t> (functionally identical to OpenChain ISO/IEC 18974:2023).</a:t>
            </a:r>
          </a:p>
          <a:p>
            <a:pPr lvl="0" fontAlgn="base"/>
            <a:r>
              <a:rPr lang="ja-JP" altLang="ja-JP" b="1" dirty="0"/>
              <a:t>December 2023: </a:t>
            </a:r>
            <a:r>
              <a:rPr lang="ja-JP" altLang="ja-JP" dirty="0">
                <a:hlinkClick r:id="rId18"/>
              </a:rPr>
              <a:t>OpenChain ISO/IEC 18974:2023 was released</a:t>
            </a:r>
            <a:r>
              <a:rPr lang="ja-JP" altLang="ja-JP" dirty="0"/>
              <a:t>.</a:t>
            </a:r>
          </a:p>
        </p:txBody>
      </p:sp>
      <p:sp>
        <p:nvSpPr>
          <p:cNvPr id="4" name="スライド番号プレースホルダー 3">
            <a:extLst>
              <a:ext uri="{FF2B5EF4-FFF2-40B4-BE49-F238E27FC236}">
                <a16:creationId xmlns:a16="http://schemas.microsoft.com/office/drawing/2014/main" id="{F176C231-E040-AE8C-1428-E096A118AD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312245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73d37e5442_0_113"/>
          <p:cNvSpPr/>
          <p:nvPr/>
        </p:nvSpPr>
        <p:spPr>
          <a:xfrm>
            <a:off x="1038336" y="1882215"/>
            <a:ext cx="4733700" cy="4444200"/>
          </a:xfrm>
          <a:prstGeom prst="rect">
            <a:avLst/>
          </a:prstGeom>
          <a:noFill/>
          <a:ln w="76200" cap="flat" cmpd="sng">
            <a:solidFill>
              <a:srgbClr val="FFCC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193" name="Google Shape;193;g373d37e5442_0_113"/>
          <p:cNvSpPr/>
          <p:nvPr/>
        </p:nvSpPr>
        <p:spPr>
          <a:xfrm>
            <a:off x="6746876" y="1882215"/>
            <a:ext cx="4733700" cy="4444200"/>
          </a:xfrm>
          <a:prstGeom prst="rect">
            <a:avLst/>
          </a:prstGeom>
          <a:noFill/>
          <a:ln w="76200" cap="flat" cmpd="sng">
            <a:solidFill>
              <a:srgbClr val="FFCC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194" name="Google Shape;194;g373d37e5442_0_113"/>
          <p:cNvSpPr txBox="1">
            <a:spLocks noGrp="1"/>
          </p:cNvSpPr>
          <p:nvPr>
            <p:ph type="title"/>
          </p:nvPr>
        </p:nvSpPr>
        <p:spPr>
          <a:xfrm>
            <a:off x="890270" y="573330"/>
            <a:ext cx="108573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適合のための認証</a:t>
            </a:r>
            <a:endParaRPr b="1">
              <a:latin typeface="Quattrocento Sans"/>
              <a:ea typeface="Quattrocento Sans"/>
              <a:cs typeface="Quattrocento Sans"/>
              <a:sym typeface="Quattrocento Sans"/>
            </a:endParaRPr>
          </a:p>
        </p:txBody>
      </p:sp>
      <p:sp>
        <p:nvSpPr>
          <p:cNvPr id="195" name="Google Shape;195;g373d37e5442_0_113"/>
          <p:cNvSpPr txBox="1">
            <a:spLocks noGrp="1"/>
          </p:cNvSpPr>
          <p:nvPr>
            <p:ph type="body" idx="1"/>
          </p:nvPr>
        </p:nvSpPr>
        <p:spPr>
          <a:xfrm>
            <a:off x="890270" y="1358299"/>
            <a:ext cx="7136100" cy="5673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いずれの認証手段であっても、適合の扱いは同じ</a:t>
            </a:r>
            <a:endParaRPr sz="2400" b="1">
              <a:latin typeface="Quattrocento Sans"/>
              <a:ea typeface="Quattrocento Sans"/>
              <a:cs typeface="Quattrocento Sans"/>
              <a:sym typeface="Quattrocento Sans"/>
            </a:endParaRPr>
          </a:p>
        </p:txBody>
      </p:sp>
      <p:sp>
        <p:nvSpPr>
          <p:cNvPr id="196" name="Google Shape;196;g373d37e5442_0_113"/>
          <p:cNvSpPr/>
          <p:nvPr/>
        </p:nvSpPr>
        <p:spPr>
          <a:xfrm>
            <a:off x="1038336" y="1916551"/>
            <a:ext cx="4733700" cy="567300"/>
          </a:xfrm>
          <a:prstGeom prst="rect">
            <a:avLst/>
          </a:prstGeom>
          <a:solidFill>
            <a:srgbClr val="FFCC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484848"/>
                </a:solidFill>
                <a:latin typeface="Quattrocento Sans"/>
                <a:ea typeface="Quattrocento Sans"/>
                <a:cs typeface="Quattrocento Sans"/>
                <a:sym typeface="Quattrocento Sans"/>
              </a:rPr>
              <a:t>自己認証</a:t>
            </a:r>
            <a:endParaRPr sz="2800" b="1" i="0" u="none" strike="noStrike" cap="none">
              <a:solidFill>
                <a:srgbClr val="484848"/>
              </a:solidFill>
              <a:latin typeface="Quattrocento Sans"/>
              <a:ea typeface="Quattrocento Sans"/>
              <a:cs typeface="Quattrocento Sans"/>
              <a:sym typeface="Quattrocento Sans"/>
            </a:endParaRPr>
          </a:p>
        </p:txBody>
      </p:sp>
      <p:sp>
        <p:nvSpPr>
          <p:cNvPr id="197" name="Google Shape;197;g373d37e5442_0_113"/>
          <p:cNvSpPr/>
          <p:nvPr/>
        </p:nvSpPr>
        <p:spPr>
          <a:xfrm>
            <a:off x="6746877" y="1882215"/>
            <a:ext cx="4720200" cy="596100"/>
          </a:xfrm>
          <a:prstGeom prst="rect">
            <a:avLst/>
          </a:prstGeom>
          <a:solidFill>
            <a:srgbClr val="FFCC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484848"/>
                </a:solidFill>
                <a:latin typeface="Quattrocento Sans"/>
                <a:ea typeface="Quattrocento Sans"/>
                <a:cs typeface="Quattrocento Sans"/>
                <a:sym typeface="Quattrocento Sans"/>
              </a:rPr>
              <a:t>第三者認証</a:t>
            </a:r>
            <a:endParaRPr sz="1800" b="0" i="0" u="none" strike="noStrike" cap="none">
              <a:solidFill>
                <a:srgbClr val="484848"/>
              </a:solidFill>
              <a:latin typeface="Quattrocento Sans"/>
              <a:ea typeface="Quattrocento Sans"/>
              <a:cs typeface="Quattrocento Sans"/>
              <a:sym typeface="Quattrocento Sans"/>
            </a:endParaRPr>
          </a:p>
        </p:txBody>
      </p:sp>
      <p:sp>
        <p:nvSpPr>
          <p:cNvPr id="198" name="Google Shape;198;g373d37e5442_0_113"/>
          <p:cNvSpPr txBox="1"/>
          <p:nvPr/>
        </p:nvSpPr>
        <p:spPr>
          <a:xfrm>
            <a:off x="1121295" y="2503939"/>
            <a:ext cx="4559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Quattrocento Sans"/>
                <a:ea typeface="Quattrocento Sans"/>
                <a:cs typeface="Quattrocento Sans"/>
                <a:sym typeface="Quattrocento Sans"/>
              </a:rPr>
              <a:t>OpenChainプロジェクトWebサイトで</a:t>
            </a:r>
            <a:endParaRPr sz="1800" b="0"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Quattrocento Sans"/>
                <a:ea typeface="Quattrocento Sans"/>
                <a:cs typeface="Quattrocento Sans"/>
                <a:sym typeface="Quattrocento Sans"/>
              </a:rPr>
              <a:t>質問に回答し、結果をSubmit</a:t>
            </a:r>
            <a:endParaRPr sz="1800" b="0" i="0" u="none" strike="noStrike" cap="none">
              <a:solidFill>
                <a:schemeClr val="dk1"/>
              </a:solidFill>
              <a:latin typeface="Quattrocento Sans"/>
              <a:ea typeface="Quattrocento Sans"/>
              <a:cs typeface="Quattrocento Sans"/>
              <a:sym typeface="Quattrocento Sans"/>
            </a:endParaRPr>
          </a:p>
        </p:txBody>
      </p:sp>
      <p:sp>
        <p:nvSpPr>
          <p:cNvPr id="199" name="Google Shape;199;g373d37e5442_0_113"/>
          <p:cNvSpPr txBox="1"/>
          <p:nvPr/>
        </p:nvSpPr>
        <p:spPr>
          <a:xfrm>
            <a:off x="7493680" y="2449535"/>
            <a:ext cx="3226500" cy="415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00"/>
              <a:buFont typeface="Arial"/>
              <a:buNone/>
            </a:pPr>
            <a:endParaRPr sz="300" b="0" i="0" u="none" strike="noStrike" cap="none">
              <a:solidFill>
                <a:schemeClr val="dk1"/>
              </a:solidFill>
              <a:latin typeface="Quattrocento Sans"/>
              <a:ea typeface="Quattrocento Sans"/>
              <a:cs typeface="Quattrocento Sans"/>
              <a:sym typeface="Quattrocento Sans"/>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Quattrocento Sans"/>
                <a:ea typeface="Quattrocento Sans"/>
                <a:cs typeface="Quattrocento Sans"/>
                <a:sym typeface="Quattrocento Sans"/>
              </a:rPr>
              <a:t>Partner機関による認証</a:t>
            </a:r>
            <a:endParaRPr sz="1800" b="0" i="0" u="none" strike="noStrike" cap="none">
              <a:solidFill>
                <a:schemeClr val="dk1"/>
              </a:solidFill>
              <a:latin typeface="Quattrocento Sans"/>
              <a:ea typeface="Quattrocento Sans"/>
              <a:cs typeface="Quattrocento Sans"/>
              <a:sym typeface="Quattrocento Sans"/>
            </a:endParaRPr>
          </a:p>
        </p:txBody>
      </p:sp>
      <p:sp>
        <p:nvSpPr>
          <p:cNvPr id="200" name="Google Shape;200;g373d37e5442_0_113"/>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201" name="Google Shape;201;g373d37e5442_0_113"/>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
        <p:nvSpPr>
          <p:cNvPr id="202" name="Google Shape;202;g373d37e5442_0_113"/>
          <p:cNvSpPr txBox="1"/>
          <p:nvPr/>
        </p:nvSpPr>
        <p:spPr>
          <a:xfrm>
            <a:off x="8591759" y="5990006"/>
            <a:ext cx="28890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sng" strike="noStrike" cap="none"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https://www.openchainproject.org/partners</a:t>
            </a:r>
            <a:endParaRPr sz="1100" b="0" i="0" u="none" strike="noStrike" cap="none" dirty="0">
              <a:solidFill>
                <a:schemeClr val="dk1"/>
              </a:solidFill>
              <a:latin typeface="Quattrocento Sans"/>
              <a:ea typeface="Quattrocento Sans"/>
              <a:cs typeface="Quattrocento Sans"/>
              <a:sym typeface="Quattrocento Sans"/>
            </a:endParaRPr>
          </a:p>
        </p:txBody>
      </p:sp>
      <p:pic>
        <p:nvPicPr>
          <p:cNvPr id="203" name="Google Shape;203;g373d37e5442_0_113"/>
          <p:cNvPicPr preferRelativeResize="0"/>
          <p:nvPr/>
        </p:nvPicPr>
        <p:blipFill rotWithShape="1">
          <a:blip r:embed="rId4">
            <a:alphaModFix/>
          </a:blip>
          <a:srcRect/>
          <a:stretch/>
        </p:blipFill>
        <p:spPr>
          <a:xfrm>
            <a:off x="2314581" y="3194959"/>
            <a:ext cx="2135702" cy="2795046"/>
          </a:xfrm>
          <a:prstGeom prst="rect">
            <a:avLst/>
          </a:prstGeom>
          <a:noFill/>
          <a:ln>
            <a:noFill/>
          </a:ln>
        </p:spPr>
      </p:pic>
      <p:sp>
        <p:nvSpPr>
          <p:cNvPr id="204" name="Google Shape;204;g373d37e5442_0_113"/>
          <p:cNvSpPr/>
          <p:nvPr/>
        </p:nvSpPr>
        <p:spPr>
          <a:xfrm>
            <a:off x="1272654" y="6022272"/>
            <a:ext cx="42195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sng" strike="noStrike" cap="none">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https://www.openchainproject.org/checklist-iso-5230-2020</a:t>
            </a:r>
            <a:endParaRPr sz="1200" b="0" i="0" u="none" strike="noStrike" cap="none">
              <a:solidFill>
                <a:schemeClr val="dk1"/>
              </a:solidFill>
              <a:latin typeface="Quattrocento Sans"/>
              <a:ea typeface="Quattrocento Sans"/>
              <a:cs typeface="Quattrocento Sans"/>
              <a:sym typeface="Quattrocento Sans"/>
            </a:endParaRPr>
          </a:p>
        </p:txBody>
      </p:sp>
      <p:pic>
        <p:nvPicPr>
          <p:cNvPr id="211" name="Google Shape;211;g373d37e5442_0_113"/>
          <p:cNvPicPr preferRelativeResize="0"/>
          <p:nvPr/>
        </p:nvPicPr>
        <p:blipFill rotWithShape="1">
          <a:blip r:embed="rId6">
            <a:alphaModFix/>
          </a:blip>
          <a:srcRect/>
          <a:stretch/>
        </p:blipFill>
        <p:spPr>
          <a:xfrm>
            <a:off x="7538277" y="3246024"/>
            <a:ext cx="3177049" cy="470825"/>
          </a:xfrm>
          <a:prstGeom prst="rect">
            <a:avLst/>
          </a:prstGeom>
          <a:noFill/>
          <a:ln>
            <a:noFill/>
          </a:ln>
        </p:spPr>
      </p:pic>
      <p:pic>
        <p:nvPicPr>
          <p:cNvPr id="212" name="Google Shape;212;g373d37e5442_0_113"/>
          <p:cNvPicPr preferRelativeResize="0"/>
          <p:nvPr/>
        </p:nvPicPr>
        <p:blipFill rotWithShape="1">
          <a:blip r:embed="rId7">
            <a:alphaModFix/>
          </a:blip>
          <a:srcRect/>
          <a:stretch/>
        </p:blipFill>
        <p:spPr>
          <a:xfrm>
            <a:off x="1513435" y="3155975"/>
            <a:ext cx="3784013" cy="2795051"/>
          </a:xfrm>
          <a:prstGeom prst="rect">
            <a:avLst/>
          </a:prstGeom>
          <a:noFill/>
          <a:ln w="9525" cap="flat" cmpd="sng">
            <a:solidFill>
              <a:schemeClr val="accent5"/>
            </a:solidFill>
            <a:prstDash val="solid"/>
            <a:round/>
            <a:headEnd type="none" w="sm" len="sm"/>
            <a:tailEnd type="none" w="sm" len="sm"/>
          </a:ln>
        </p:spPr>
      </p:pic>
      <p:pic>
        <p:nvPicPr>
          <p:cNvPr id="3" name="図 2">
            <a:extLst>
              <a:ext uri="{FF2B5EF4-FFF2-40B4-BE49-F238E27FC236}">
                <a16:creationId xmlns:a16="http://schemas.microsoft.com/office/drawing/2014/main" id="{793A01EC-4917-6E94-BA0E-1283BF588969}"/>
              </a:ext>
            </a:extLst>
          </p:cNvPr>
          <p:cNvPicPr>
            <a:picLocks noChangeAspect="1"/>
          </p:cNvPicPr>
          <p:nvPr/>
        </p:nvPicPr>
        <p:blipFill>
          <a:blip r:embed="rId8"/>
          <a:stretch>
            <a:fillRect/>
          </a:stretch>
        </p:blipFill>
        <p:spPr>
          <a:xfrm>
            <a:off x="6946710" y="3798125"/>
            <a:ext cx="4380905" cy="18617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g373d37e5442_0_138"/>
          <p:cNvPicPr preferRelativeResize="0"/>
          <p:nvPr/>
        </p:nvPicPr>
        <p:blipFill rotWithShape="1">
          <a:blip r:embed="rId3">
            <a:alphaModFix/>
          </a:blip>
          <a:srcRect/>
          <a:stretch/>
        </p:blipFill>
        <p:spPr>
          <a:xfrm>
            <a:off x="6335215" y="2085794"/>
            <a:ext cx="5333007" cy="3834000"/>
          </a:xfrm>
          <a:prstGeom prst="rect">
            <a:avLst/>
          </a:prstGeom>
          <a:noFill/>
          <a:ln w="28575" cap="flat" cmpd="sng">
            <a:solidFill>
              <a:srgbClr val="0070C0"/>
            </a:solidFill>
            <a:prstDash val="solid"/>
            <a:round/>
            <a:headEnd type="none" w="sm" len="sm"/>
            <a:tailEnd type="none" w="sm" len="sm"/>
          </a:ln>
        </p:spPr>
      </p:pic>
      <p:sp>
        <p:nvSpPr>
          <p:cNvPr id="218" name="Google Shape;218;g373d37e5442_0_138"/>
          <p:cNvSpPr txBox="1">
            <a:spLocks noGrp="1"/>
          </p:cNvSpPr>
          <p:nvPr>
            <p:ph type="title"/>
          </p:nvPr>
        </p:nvSpPr>
        <p:spPr>
          <a:xfrm>
            <a:off x="890270" y="531580"/>
            <a:ext cx="108573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OpenChain Spec. 2.1 &gt;&gt; ISO/IEC 5230:2020</a:t>
            </a:r>
            <a:endParaRPr b="1">
              <a:latin typeface="Quattrocento Sans"/>
              <a:ea typeface="Quattrocento Sans"/>
              <a:cs typeface="Quattrocento Sans"/>
              <a:sym typeface="Quattrocento Sans"/>
            </a:endParaRPr>
          </a:p>
        </p:txBody>
      </p:sp>
      <p:sp>
        <p:nvSpPr>
          <p:cNvPr id="219" name="Google Shape;219;g373d37e5442_0_138"/>
          <p:cNvSpPr txBox="1">
            <a:spLocks noGrp="1"/>
          </p:cNvSpPr>
          <p:nvPr>
            <p:ph type="body" idx="1"/>
          </p:nvPr>
        </p:nvSpPr>
        <p:spPr>
          <a:xfrm>
            <a:off x="890270" y="1358299"/>
            <a:ext cx="7136100" cy="5673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国際標準化後、初の適合組織は「国内企業」から</a:t>
            </a:r>
            <a:endParaRPr sz="2400" b="1">
              <a:latin typeface="Quattrocento Sans"/>
              <a:ea typeface="Quattrocento Sans"/>
              <a:cs typeface="Quattrocento Sans"/>
              <a:sym typeface="Quattrocento Sans"/>
            </a:endParaRPr>
          </a:p>
        </p:txBody>
      </p:sp>
      <p:sp>
        <p:nvSpPr>
          <p:cNvPr id="220" name="Google Shape;220;g373d37e5442_0_138"/>
          <p:cNvSpPr/>
          <p:nvPr/>
        </p:nvSpPr>
        <p:spPr>
          <a:xfrm>
            <a:off x="1592002" y="5556634"/>
            <a:ext cx="29748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sng" strike="noStrike" cap="none">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https://www.iso.org/standard/81039.html</a:t>
            </a:r>
            <a:endParaRPr sz="1200" b="0" i="0" u="none" strike="noStrike" cap="none">
              <a:solidFill>
                <a:schemeClr val="dk1"/>
              </a:solidFill>
              <a:latin typeface="Quattrocento Sans"/>
              <a:ea typeface="Quattrocento Sans"/>
              <a:cs typeface="Quattrocento Sans"/>
              <a:sym typeface="Quattrocento Sans"/>
            </a:endParaRPr>
          </a:p>
        </p:txBody>
      </p:sp>
      <p:sp>
        <p:nvSpPr>
          <p:cNvPr id="221" name="Google Shape;221;g373d37e5442_0_138"/>
          <p:cNvSpPr/>
          <p:nvPr/>
        </p:nvSpPr>
        <p:spPr>
          <a:xfrm>
            <a:off x="6335215" y="5968584"/>
            <a:ext cx="5099700" cy="27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sng" strike="noStrike" cap="none">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https://www.openchainproject.org/featured/2020/12/15/toyota-iso-5230</a:t>
            </a:r>
            <a:endParaRPr sz="1200" b="0" i="0" u="none" strike="noStrike" cap="none">
              <a:solidFill>
                <a:schemeClr val="dk1"/>
              </a:solidFill>
              <a:latin typeface="Quattrocento Sans"/>
              <a:ea typeface="Quattrocento Sans"/>
              <a:cs typeface="Quattrocento Sans"/>
              <a:sym typeface="Quattrocento Sans"/>
            </a:endParaRPr>
          </a:p>
        </p:txBody>
      </p:sp>
      <p:sp>
        <p:nvSpPr>
          <p:cNvPr id="222" name="Google Shape;222;g373d37e5442_0_138"/>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223" name="Google Shape;223;g373d37e5442_0_138"/>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pic>
        <p:nvPicPr>
          <p:cNvPr id="224" name="Google Shape;224;g373d37e5442_0_138"/>
          <p:cNvPicPr preferRelativeResize="0"/>
          <p:nvPr/>
        </p:nvPicPr>
        <p:blipFill rotWithShape="1">
          <a:blip r:embed="rId6">
            <a:alphaModFix/>
          </a:blip>
          <a:srcRect/>
          <a:stretch/>
        </p:blipFill>
        <p:spPr>
          <a:xfrm>
            <a:off x="197075" y="2072124"/>
            <a:ext cx="5764774" cy="33380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373d37e5442_0_149"/>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OpenChain Spec. 2.1 &gt;&gt; ISO/IEC 5230:2020</a:t>
            </a:r>
            <a:endParaRPr b="1">
              <a:latin typeface="Quattrocento Sans"/>
              <a:ea typeface="Quattrocento Sans"/>
              <a:cs typeface="Quattrocento Sans"/>
              <a:sym typeface="Quattrocento Sans"/>
            </a:endParaRPr>
          </a:p>
        </p:txBody>
      </p:sp>
      <p:sp>
        <p:nvSpPr>
          <p:cNvPr id="231" name="Google Shape;231;g373d37e5442_0_149"/>
          <p:cNvSpPr txBox="1">
            <a:spLocks noGrp="1"/>
          </p:cNvSpPr>
          <p:nvPr>
            <p:ph type="body" idx="1"/>
          </p:nvPr>
        </p:nvSpPr>
        <p:spPr>
          <a:xfrm>
            <a:off x="890272" y="1357200"/>
            <a:ext cx="10320000" cy="3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国際標準化以降、企業活動が活発化</a:t>
            </a:r>
            <a:endParaRPr sz="2400" b="1">
              <a:latin typeface="Quattrocento Sans"/>
              <a:ea typeface="Quattrocento Sans"/>
              <a:cs typeface="Quattrocento Sans"/>
              <a:sym typeface="Quattrocento Sans"/>
            </a:endParaRPr>
          </a:p>
        </p:txBody>
      </p:sp>
      <p:sp>
        <p:nvSpPr>
          <p:cNvPr id="232" name="Google Shape;232;g373d37e5442_0_149"/>
          <p:cNvSpPr txBox="1"/>
          <p:nvPr/>
        </p:nvSpPr>
        <p:spPr>
          <a:xfrm>
            <a:off x="7242623" y="6263307"/>
            <a:ext cx="3494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https://www.openchainproject.org/news</a:t>
            </a:r>
            <a:endParaRPr sz="1400" b="0" i="0" u="none" strike="noStrike" cap="none" dirty="0">
              <a:solidFill>
                <a:schemeClr val="dk1"/>
              </a:solidFill>
              <a:latin typeface="Quattrocento Sans"/>
              <a:ea typeface="Quattrocento Sans"/>
              <a:cs typeface="Quattrocento Sans"/>
              <a:sym typeface="Quattrocento Sans"/>
            </a:endParaRPr>
          </a:p>
        </p:txBody>
      </p:sp>
      <p:sp>
        <p:nvSpPr>
          <p:cNvPr id="233" name="Google Shape;233;g373d37e5442_0_149"/>
          <p:cNvSpPr/>
          <p:nvPr/>
        </p:nvSpPr>
        <p:spPr>
          <a:xfrm>
            <a:off x="175846" y="1947634"/>
            <a:ext cx="11840400" cy="560400"/>
          </a:xfrm>
          <a:prstGeom prst="rect">
            <a:avLst/>
          </a:prstGeom>
          <a:solidFill>
            <a:srgbClr val="ED7D31"/>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Quattrocento Sans"/>
              <a:buNone/>
            </a:pPr>
            <a:r>
              <a:rPr lang="en-US" sz="1800" b="1" i="0" u="none" strike="noStrike" cap="none">
                <a:solidFill>
                  <a:srgbClr val="FFFFFF"/>
                </a:solidFill>
                <a:latin typeface="Quattrocento Sans"/>
                <a:ea typeface="Quattrocento Sans"/>
                <a:cs typeface="Quattrocento Sans"/>
                <a:sym typeface="Quattrocento Sans"/>
              </a:rPr>
              <a:t>適合を宣言する組織</a:t>
            </a:r>
            <a:endParaRPr sz="1800" b="1" i="0" u="none" strike="noStrike" cap="none">
              <a:solidFill>
                <a:srgbClr val="FFFFFF"/>
              </a:solidFill>
              <a:latin typeface="Quattrocento Sans"/>
              <a:ea typeface="Quattrocento Sans"/>
              <a:cs typeface="Quattrocento Sans"/>
              <a:sym typeface="Quattrocento Sans"/>
            </a:endParaRPr>
          </a:p>
        </p:txBody>
      </p:sp>
      <p:sp>
        <p:nvSpPr>
          <p:cNvPr id="234" name="Google Shape;234;g373d37e5442_0_149"/>
          <p:cNvSpPr/>
          <p:nvPr/>
        </p:nvSpPr>
        <p:spPr>
          <a:xfrm>
            <a:off x="175846" y="2508145"/>
            <a:ext cx="11840400" cy="3767700"/>
          </a:xfrm>
          <a:prstGeom prst="rect">
            <a:avLst/>
          </a:prstGeom>
          <a:solidFill>
            <a:srgbClr val="FFFFFF"/>
          </a:solidFill>
          <a:ln w="12700" cap="flat" cmpd="sng">
            <a:solidFill>
              <a:srgbClr val="ED7D3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Quattrocento Sans"/>
              <a:buNone/>
            </a:pPr>
            <a:endParaRPr sz="1800" b="0" i="0" u="none" strike="noStrike" cap="none">
              <a:solidFill>
                <a:srgbClr val="000000"/>
              </a:solidFill>
              <a:latin typeface="Arial"/>
              <a:ea typeface="Arial"/>
              <a:cs typeface="Arial"/>
              <a:sym typeface="Arial"/>
            </a:endParaRPr>
          </a:p>
        </p:txBody>
      </p:sp>
      <p:graphicFrame>
        <p:nvGraphicFramePr>
          <p:cNvPr id="235" name="Google Shape;235;g373d37e5442_0_149"/>
          <p:cNvGraphicFramePr/>
          <p:nvPr/>
        </p:nvGraphicFramePr>
        <p:xfrm>
          <a:off x="234052" y="2483202"/>
          <a:ext cx="2340000" cy="3718700"/>
        </p:xfrm>
        <a:graphic>
          <a:graphicData uri="http://schemas.openxmlformats.org/drawingml/2006/table">
            <a:tbl>
              <a:tblPr firstRow="1" bandRow="1">
                <a:noFill/>
                <a:tableStyleId>{D3E39EA5-418F-4871-997F-E158D709882C}</a:tableStyleId>
              </a:tblPr>
              <a:tblGrid>
                <a:gridCol w="845200">
                  <a:extLst>
                    <a:ext uri="{9D8B030D-6E8A-4147-A177-3AD203B41FA5}">
                      <a16:colId xmlns:a16="http://schemas.microsoft.com/office/drawing/2014/main" val="20000"/>
                    </a:ext>
                  </a:extLst>
                </a:gridCol>
                <a:gridCol w="1494800">
                  <a:extLst>
                    <a:ext uri="{9D8B030D-6E8A-4147-A177-3AD203B41FA5}">
                      <a16:colId xmlns:a16="http://schemas.microsoft.com/office/drawing/2014/main" val="20001"/>
                    </a:ext>
                  </a:extLst>
                </a:gridCol>
              </a:tblGrid>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2020/12/01</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トヨタ自動車</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0"/>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2020/12/15</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NCSOFT</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1"/>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2020/12/17</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dirty="0"/>
                        <a:t>Cisco</a:t>
                      </a:r>
                      <a:endParaRPr sz="1000" b="0" u="none" strike="noStrike" cap="none" dirty="0">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2"/>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2021/01/13</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NTTデータ</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3"/>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2021/02/01</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Microsoft</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4"/>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2021/02/08</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日立製作所</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5"/>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2021/03/02</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LG</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6"/>
                  </a:ext>
                </a:extLst>
              </a:tr>
              <a:tr h="49940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2021/04/06</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Nanjing Fujitsu Nanda Software Technology Co., Ltd.</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7"/>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2021/04/22</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Keitaro</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8"/>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2021/07/07</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Samsung Electronics</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9"/>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2021/07/13</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Bosch</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10"/>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2021/08/09</a:t>
                      </a:r>
                      <a:endParaRPr sz="1000" b="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Sony Semiconductor</a:t>
                      </a:r>
                      <a:endParaRPr sz="1000" b="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11"/>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2021/08/19</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QCT</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12"/>
                  </a:ext>
                </a:extLst>
              </a:tr>
              <a:tr h="2219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2021/08/22</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dirty="0" err="1"/>
                        <a:t>Coontec</a:t>
                      </a:r>
                      <a:endParaRPr sz="1000" u="none" strike="noStrike" cap="none" dirty="0">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13"/>
                  </a:ext>
                </a:extLst>
              </a:tr>
            </a:tbl>
          </a:graphicData>
        </a:graphic>
      </p:graphicFrame>
      <p:graphicFrame>
        <p:nvGraphicFramePr>
          <p:cNvPr id="236" name="Google Shape;236;g373d37e5442_0_149"/>
          <p:cNvGraphicFramePr/>
          <p:nvPr/>
        </p:nvGraphicFramePr>
        <p:xfrm>
          <a:off x="2556644" y="2483202"/>
          <a:ext cx="2340000" cy="3779650"/>
        </p:xfrm>
        <a:graphic>
          <a:graphicData uri="http://schemas.openxmlformats.org/drawingml/2006/table">
            <a:tbl>
              <a:tblPr firstRow="1" bandRow="1">
                <a:noFill/>
                <a:tableStyleId>{D3E39EA5-418F-4871-997F-E158D709882C}</a:tableStyleId>
              </a:tblPr>
              <a:tblGrid>
                <a:gridCol w="859850">
                  <a:extLst>
                    <a:ext uri="{9D8B030D-6E8A-4147-A177-3AD203B41FA5}">
                      <a16:colId xmlns:a16="http://schemas.microsoft.com/office/drawing/2014/main" val="20000"/>
                    </a:ext>
                  </a:extLst>
                </a:gridCol>
                <a:gridCol w="1480150">
                  <a:extLst>
                    <a:ext uri="{9D8B030D-6E8A-4147-A177-3AD203B41FA5}">
                      <a16:colId xmlns:a16="http://schemas.microsoft.com/office/drawing/2014/main" val="20001"/>
                    </a:ext>
                  </a:extLst>
                </a:gridCol>
              </a:tblGrid>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2021/09/07</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Woven Planet</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0"/>
                  </a:ext>
                </a:extLst>
              </a:tr>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2021/09/08</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Synology</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1"/>
                  </a:ext>
                </a:extLst>
              </a:tr>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2021/09/08</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SK Telecom</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2"/>
                  </a:ext>
                </a:extLst>
              </a:tr>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2021/10/19</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NEC</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3"/>
                  </a:ext>
                </a:extLst>
              </a:tr>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2021/12/15</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ETRI</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4"/>
                  </a:ext>
                </a:extLst>
              </a:tr>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2022/01/24</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Kakaobank</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5"/>
                  </a:ext>
                </a:extLst>
              </a:tr>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2022/01/24</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Kakao</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6"/>
                  </a:ext>
                </a:extLst>
              </a:tr>
              <a:tr h="37872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2022/02/14</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000"/>
                        <a:buFont typeface="Arial"/>
                        <a:buNone/>
                      </a:pPr>
                      <a:r>
                        <a:rPr lang="en-US" sz="1000" u="none" strike="noStrike" cap="none"/>
                        <a:t>GBase 8a from General Data Technology Co., Ltd. (GBASE)</a:t>
                      </a:r>
                      <a:endParaRPr sz="1400" u="none" strike="noStrike" cap="none"/>
                    </a:p>
                  </a:txBody>
                  <a:tcPr marL="91450" marR="91450" marT="45725" marB="45725" anchor="ctr"/>
                </a:tc>
                <a:extLst>
                  <a:ext uri="{0D108BD9-81ED-4DB2-BD59-A6C34878D82A}">
                    <a16:rowId xmlns:a16="http://schemas.microsoft.com/office/drawing/2014/main" val="10007"/>
                  </a:ext>
                </a:extLst>
              </a:tr>
              <a:tr h="141050">
                <a:tc>
                  <a:txBody>
                    <a:bodyPr/>
                    <a:lstStyle/>
                    <a:p>
                      <a:pPr marL="0" marR="0" lvl="0" indent="0" algn="l" rtl="0">
                        <a:lnSpc>
                          <a:spcPct val="100000"/>
                        </a:lnSpc>
                        <a:spcBef>
                          <a:spcPts val="0"/>
                        </a:spcBef>
                        <a:spcAft>
                          <a:spcPts val="0"/>
                        </a:spcAft>
                        <a:buClr>
                          <a:schemeClr val="dk1"/>
                        </a:buClr>
                        <a:buSzPts val="1000"/>
                        <a:buFont typeface="Quattrocento Sans"/>
                        <a:buNone/>
                      </a:pPr>
                      <a:r>
                        <a:rPr lang="en-US" sz="1000" u="none" strike="noStrike" cap="none"/>
                        <a:t>2022/02/14</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000"/>
                        <a:buFont typeface="Quattrocento Sans"/>
                        <a:buNone/>
                      </a:pPr>
                      <a:r>
                        <a:rPr lang="en-US" sz="1000" u="none" strike="noStrike" cap="none"/>
                        <a:t>KingbaseES V8 from CETC Kingbase</a:t>
                      </a:r>
                      <a:endParaRPr sz="1000" u="none" strike="noStrike" cap="none"/>
                    </a:p>
                  </a:txBody>
                  <a:tcPr marL="91450" marR="91450" marT="45725" marB="45725" anchor="ctr"/>
                </a:tc>
                <a:extLst>
                  <a:ext uri="{0D108BD9-81ED-4DB2-BD59-A6C34878D82A}">
                    <a16:rowId xmlns:a16="http://schemas.microsoft.com/office/drawing/2014/main" val="10008"/>
                  </a:ext>
                </a:extLst>
              </a:tr>
              <a:tr h="349450">
                <a:tc>
                  <a:txBody>
                    <a:bodyPr/>
                    <a:lstStyle/>
                    <a:p>
                      <a:pPr marL="0" marR="0" lvl="0" indent="0" algn="l" rtl="0">
                        <a:lnSpc>
                          <a:spcPct val="100000"/>
                        </a:lnSpc>
                        <a:spcBef>
                          <a:spcPts val="0"/>
                        </a:spcBef>
                        <a:spcAft>
                          <a:spcPts val="0"/>
                        </a:spcAft>
                        <a:buClr>
                          <a:schemeClr val="dk1"/>
                        </a:buClr>
                        <a:buSzPts val="1000"/>
                        <a:buFont typeface="Quattrocento Sans"/>
                        <a:buNone/>
                      </a:pPr>
                      <a:r>
                        <a:rPr lang="en-US" sz="1000" u="none" strike="noStrike" cap="none"/>
                        <a:t>2022/02/14</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000"/>
                        <a:buFont typeface="Quattrocento Sans"/>
                        <a:buNone/>
                      </a:pPr>
                      <a:r>
                        <a:rPr lang="en-US" sz="1000" u="none" strike="noStrike" cap="none"/>
                        <a:t>Tidb enterprise v4.0 from PingCap</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09"/>
                  </a:ext>
                </a:extLst>
              </a:tr>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2022/03/17</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BlackBerry</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10"/>
                  </a:ext>
                </a:extLst>
              </a:tr>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2022/03/28</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Revenera</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11"/>
                  </a:ext>
                </a:extLst>
              </a:tr>
              <a:tr h="21505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2022/03/28</a:t>
                      </a:r>
                      <a:endParaRPr sz="1000" u="none" strike="noStrike" cap="none">
                        <a:latin typeface="Quattrocento Sans"/>
                        <a:ea typeface="Quattrocento Sans"/>
                        <a:cs typeface="Quattrocento Sans"/>
                        <a:sym typeface="Quattrocento Sans"/>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t>SAP</a:t>
                      </a:r>
                      <a:endParaRPr sz="1000" u="none" strike="noStrike" cap="none">
                        <a:latin typeface="Quattrocento Sans"/>
                        <a:ea typeface="Quattrocento Sans"/>
                        <a:cs typeface="Quattrocento Sans"/>
                        <a:sym typeface="Quattrocento Sans"/>
                      </a:endParaRPr>
                    </a:p>
                  </a:txBody>
                  <a:tcPr marL="91450" marR="91450" marT="45725" marB="45725" anchor="ctr"/>
                </a:tc>
                <a:extLst>
                  <a:ext uri="{0D108BD9-81ED-4DB2-BD59-A6C34878D82A}">
                    <a16:rowId xmlns:a16="http://schemas.microsoft.com/office/drawing/2014/main" val="10012"/>
                  </a:ext>
                </a:extLst>
              </a:tr>
            </a:tbl>
          </a:graphicData>
        </a:graphic>
      </p:graphicFrame>
      <p:graphicFrame>
        <p:nvGraphicFramePr>
          <p:cNvPr id="237" name="Google Shape;237;g373d37e5442_0_149"/>
          <p:cNvGraphicFramePr/>
          <p:nvPr/>
        </p:nvGraphicFramePr>
        <p:xfrm>
          <a:off x="4879235" y="2483202"/>
          <a:ext cx="2340000" cy="3627250"/>
        </p:xfrm>
        <a:graphic>
          <a:graphicData uri="http://schemas.openxmlformats.org/drawingml/2006/table">
            <a:tbl>
              <a:tblPr firstRow="1" bandRow="1">
                <a:noFill/>
                <a:tableStyleId>{D3E39EA5-418F-4871-997F-E158D709882C}</a:tableStyleId>
              </a:tblPr>
              <a:tblGrid>
                <a:gridCol w="859950">
                  <a:extLst>
                    <a:ext uri="{9D8B030D-6E8A-4147-A177-3AD203B41FA5}">
                      <a16:colId xmlns:a16="http://schemas.microsoft.com/office/drawing/2014/main" val="20000"/>
                    </a:ext>
                  </a:extLst>
                </a:gridCol>
                <a:gridCol w="1480050">
                  <a:extLst>
                    <a:ext uri="{9D8B030D-6E8A-4147-A177-3AD203B41FA5}">
                      <a16:colId xmlns:a16="http://schemas.microsoft.com/office/drawing/2014/main" val="20001"/>
                    </a:ext>
                  </a:extLst>
                </a:gridCol>
              </a:tblGrid>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2022/04/06</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TOSHIBA</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2022/05/24</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ZTE</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175575">
                <a:tc>
                  <a:txBody>
                    <a:bodyPr/>
                    <a:lstStyle/>
                    <a:p>
                      <a:pPr marL="0" marR="0" lvl="0" indent="0" algn="l" rtl="0">
                        <a:lnSpc>
                          <a:spcPct val="100000"/>
                        </a:lnSpc>
                        <a:spcBef>
                          <a:spcPts val="0"/>
                        </a:spcBef>
                        <a:spcAft>
                          <a:spcPts val="0"/>
                        </a:spcAft>
                        <a:buClr>
                          <a:schemeClr val="dk1"/>
                        </a:buClr>
                        <a:buSzPts val="1000"/>
                        <a:buFont typeface="Quattrocento Sans"/>
                        <a:buNone/>
                      </a:pPr>
                      <a:r>
                        <a:rPr lang="en-US" sz="1000" u="none" strike="noStrike" cap="none">
                          <a:latin typeface="Arial"/>
                          <a:ea typeface="Arial"/>
                          <a:cs typeface="Arial"/>
                          <a:sym typeface="Arial"/>
                        </a:rPr>
                        <a:t>2022/07/13</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000"/>
                        <a:buFont typeface="Quattrocento Sans"/>
                        <a:buNone/>
                      </a:pPr>
                      <a:r>
                        <a:rPr lang="en-US" sz="1000" u="none" strike="noStrike" cap="none">
                          <a:latin typeface="Arial"/>
                          <a:ea typeface="Arial"/>
                          <a:cs typeface="Arial"/>
                          <a:sym typeface="Arial"/>
                        </a:rPr>
                        <a:t>Samsung SDS</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2022/08/01</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KKCompany</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285300">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2022/08/16</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chemeClr val="dk1"/>
                        </a:buClr>
                        <a:buSzPts val="1000"/>
                        <a:buFont typeface="Quattrocento Sans"/>
                        <a:buNone/>
                      </a:pPr>
                      <a:r>
                        <a:rPr lang="en-US" sz="1000" u="none" strike="noStrike" cap="none">
                          <a:latin typeface="Arial"/>
                          <a:ea typeface="Arial"/>
                          <a:cs typeface="Arial"/>
                          <a:sym typeface="Arial"/>
                        </a:rPr>
                        <a:t>Hyundai Motor Company</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2022/08/16</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Kia</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2022/08/16</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Hyundai Mobis</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6"/>
                  </a:ext>
                </a:extLst>
              </a:tr>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2022/08/16</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Hyundai Autoever </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7"/>
                  </a:ext>
                </a:extLst>
              </a:tr>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2022/11/04</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NAVER</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8"/>
                  </a:ext>
                </a:extLst>
              </a:tr>
              <a:tr h="175575">
                <a:tc>
                  <a:txBody>
                    <a:bodyPr/>
                    <a:lstStyle/>
                    <a:p>
                      <a:pPr marL="0" marR="0" lvl="0" indent="0" algn="l" rtl="0">
                        <a:lnSpc>
                          <a:spcPct val="100000"/>
                        </a:lnSpc>
                        <a:spcBef>
                          <a:spcPts val="0"/>
                        </a:spcBef>
                        <a:spcAft>
                          <a:spcPts val="0"/>
                        </a:spcAft>
                        <a:buClr>
                          <a:schemeClr val="dk1"/>
                        </a:buClr>
                        <a:buSzPts val="1000"/>
                        <a:buFont typeface="Quattrocento Sans"/>
                        <a:buNone/>
                      </a:pPr>
                      <a:r>
                        <a:rPr lang="en-US" sz="1000" u="none" strike="noStrike" cap="none">
                          <a:latin typeface="Arial"/>
                          <a:ea typeface="Arial"/>
                          <a:cs typeface="Arial"/>
                          <a:sym typeface="Arial"/>
                        </a:rPr>
                        <a:t>2022/11/11</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Fujitsu</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9"/>
                  </a:ext>
                </a:extLst>
              </a:tr>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2022/12/06</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Google</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0"/>
                  </a:ext>
                </a:extLst>
              </a:tr>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2023/03/31</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Socionext</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1"/>
                  </a:ext>
                </a:extLst>
              </a:tr>
              <a:tr h="1755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2023/Apr</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China Mobile、Alibaba、Cloudera、SAIC X-ONE、ByteDance</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2"/>
                  </a:ext>
                </a:extLst>
              </a:tr>
            </a:tbl>
          </a:graphicData>
        </a:graphic>
      </p:graphicFrame>
      <p:sp>
        <p:nvSpPr>
          <p:cNvPr id="238" name="Google Shape;238;g373d37e5442_0_149"/>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graphicFrame>
        <p:nvGraphicFramePr>
          <p:cNvPr id="239" name="Google Shape;239;g373d37e5442_0_149"/>
          <p:cNvGraphicFramePr/>
          <p:nvPr/>
        </p:nvGraphicFramePr>
        <p:xfrm>
          <a:off x="7201827" y="2483202"/>
          <a:ext cx="2340000" cy="3871100"/>
        </p:xfrm>
        <a:graphic>
          <a:graphicData uri="http://schemas.openxmlformats.org/drawingml/2006/table">
            <a:tbl>
              <a:tblPr firstRow="1" bandRow="1">
                <a:noFill/>
                <a:tableStyleId>{D3E39EA5-418F-4871-997F-E158D709882C}</a:tableStyleId>
              </a:tblPr>
              <a:tblGrid>
                <a:gridCol w="874400">
                  <a:extLst>
                    <a:ext uri="{9D8B030D-6E8A-4147-A177-3AD203B41FA5}">
                      <a16:colId xmlns:a16="http://schemas.microsoft.com/office/drawing/2014/main" val="20000"/>
                    </a:ext>
                  </a:extLst>
                </a:gridCol>
                <a:gridCol w="1465600">
                  <a:extLst>
                    <a:ext uri="{9D8B030D-6E8A-4147-A177-3AD203B41FA5}">
                      <a16:colId xmlns:a16="http://schemas.microsoft.com/office/drawing/2014/main" val="20001"/>
                    </a:ext>
                  </a:extLst>
                </a:gridCol>
              </a:tblGrid>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2023/06/27</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xFusion (100社目)</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2023/07/05</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LINE</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2023/07/27</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Collabora</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2023/10/04</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Bobble AI</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2023/11/02</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Vectorverse</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2023/11/07</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Korea Telecom</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2023/11/12</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LSware</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6"/>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2023/12/06</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Honda</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7"/>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2024/01/12</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Software Security Technology</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8"/>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2024/01/14</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Shanghai Computer Software Technology Development Center</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9"/>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2024/01/30</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CEHLabs</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0"/>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2024/02/29</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Circle</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1"/>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2024/04/03</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emlix</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2"/>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2024/04/15</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dirty="0">
                          <a:latin typeface="Arial"/>
                          <a:ea typeface="Arial"/>
                          <a:cs typeface="Arial"/>
                          <a:sym typeface="Arial"/>
                        </a:rPr>
                        <a:t>Volvo Cars</a:t>
                      </a:r>
                      <a:endParaRPr sz="1400" u="none" strike="noStrike" cap="none" dirty="0">
                        <a:latin typeface="Arial"/>
                        <a:ea typeface="Arial"/>
                        <a:cs typeface="Arial"/>
                        <a:sym typeface="Arial"/>
                      </a:endParaRPr>
                    </a:p>
                  </a:txBody>
                  <a:tcPr marL="91450" marR="91450" marT="45725" marB="45725" anchor="ctr"/>
                </a:tc>
                <a:extLst>
                  <a:ext uri="{0D108BD9-81ED-4DB2-BD59-A6C34878D82A}">
                    <a16:rowId xmlns:a16="http://schemas.microsoft.com/office/drawing/2014/main" val="10013"/>
                  </a:ext>
                </a:extLst>
              </a:tr>
            </a:tbl>
          </a:graphicData>
        </a:graphic>
      </p:graphicFrame>
      <p:sp>
        <p:nvSpPr>
          <p:cNvPr id="240" name="Google Shape;240;g373d37e5442_0_149"/>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graphicFrame>
        <p:nvGraphicFramePr>
          <p:cNvPr id="241" name="Google Shape;241;g373d37e5442_0_149"/>
          <p:cNvGraphicFramePr/>
          <p:nvPr/>
        </p:nvGraphicFramePr>
        <p:xfrm>
          <a:off x="9524418" y="2483202"/>
          <a:ext cx="2340000" cy="3322450"/>
        </p:xfrm>
        <a:graphic>
          <a:graphicData uri="http://schemas.openxmlformats.org/drawingml/2006/table">
            <a:tbl>
              <a:tblPr firstRow="1" bandRow="1">
                <a:noFill/>
                <a:tableStyleId>{D3E39EA5-418F-4871-997F-E158D709882C}</a:tableStyleId>
              </a:tblPr>
              <a:tblGrid>
                <a:gridCol w="874400">
                  <a:extLst>
                    <a:ext uri="{9D8B030D-6E8A-4147-A177-3AD203B41FA5}">
                      <a16:colId xmlns:a16="http://schemas.microsoft.com/office/drawing/2014/main" val="20000"/>
                    </a:ext>
                  </a:extLst>
                </a:gridCol>
                <a:gridCol w="1465600">
                  <a:extLst>
                    <a:ext uri="{9D8B030D-6E8A-4147-A177-3AD203B41FA5}">
                      <a16:colId xmlns:a16="http://schemas.microsoft.com/office/drawing/2014/main" val="20001"/>
                    </a:ext>
                  </a:extLst>
                </a:gridCol>
              </a:tblGrid>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2024/05/13</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Socionext (re-certification)</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2024/07/09</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IAV GmbH</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2024/07/24</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dSPACE GmbH</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2024/09/15</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Nokia </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2024/09/17</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OpenHarmony</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2024/10/16</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Osaka NDS</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2024/11/7</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HARMAN International</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6"/>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2024/12/4</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HLB Surlatina Chile</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7"/>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2024/12/20</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ETRI (re-certification)</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8"/>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2024/12/20</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AVL List GmbH</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9"/>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2025/1/20</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KFTC</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0"/>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2025/2/1</a:t>
                      </a: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a:latin typeface="Arial"/>
                          <a:ea typeface="Arial"/>
                          <a:cs typeface="Arial"/>
                          <a:sym typeface="Arial"/>
                        </a:rPr>
                        <a:t>Erlang/OTP Project</a:t>
                      </a: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1"/>
                  </a:ext>
                </a:extLst>
              </a:tr>
              <a:tr h="203375">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a:t>適合を宣言する組織の例</a:t>
            </a:r>
            <a:endParaRPr/>
          </a:p>
        </p:txBody>
      </p:sp>
      <p:sp>
        <p:nvSpPr>
          <p:cNvPr id="247" name="Google Shape;247;p1"/>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248" name="Google Shape;248;p1"/>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
        <p:nvSpPr>
          <p:cNvPr id="249" name="Google Shape;249;p1"/>
          <p:cNvSpPr txBox="1"/>
          <p:nvPr/>
        </p:nvSpPr>
        <p:spPr>
          <a:xfrm>
            <a:off x="784730" y="1067984"/>
            <a:ext cx="5592320" cy="52629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(2025年2月以降)</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2025/2/1	The Erlang/OTP Project</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2025/2/20	S-core</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2025/2/25	</a:t>
            </a:r>
            <a:r>
              <a:rPr lang="en-US" sz="1400" b="0" i="0" u="none" strike="noStrike" cap="none" dirty="0" err="1">
                <a:solidFill>
                  <a:schemeClr val="tx1"/>
                </a:solidFill>
                <a:latin typeface="Arial"/>
                <a:ea typeface="Arial"/>
                <a:cs typeface="Arial"/>
                <a:sym typeface="Arial"/>
              </a:rPr>
              <a:t>Collabora</a:t>
            </a:r>
            <a:r>
              <a:rPr lang="en-US" sz="1400" b="0" i="0" u="none" strike="noStrike" cap="none" dirty="0">
                <a:solidFill>
                  <a:schemeClr val="tx1"/>
                </a:solidFill>
                <a:latin typeface="Arial"/>
                <a:ea typeface="Arial"/>
                <a:cs typeface="Arial"/>
                <a:sym typeface="Arial"/>
              </a:rPr>
              <a:t> [renewal]</a:t>
            </a:r>
            <a:endParaRPr sz="1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2025/2/26	The Elixir Project</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2025/2/26	CSI Piemonte</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2025/3/25	QNAP Systems, Inc.</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2025/4/7	ZF Group</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2025/5/16	</a:t>
            </a:r>
            <a:r>
              <a:rPr lang="en-US" sz="1400" b="0" i="0" u="none" strike="noStrike" cap="none" dirty="0" err="1">
                <a:solidFill>
                  <a:schemeClr val="tx1"/>
                </a:solidFill>
                <a:latin typeface="Arial"/>
                <a:ea typeface="Arial"/>
                <a:cs typeface="Arial"/>
                <a:sym typeface="Arial"/>
              </a:rPr>
              <a:t>AbacatePay</a:t>
            </a:r>
            <a:r>
              <a:rPr lang="en-US" sz="1400" b="0" i="0" u="none" strike="noStrike" cap="none" dirty="0">
                <a:solidFill>
                  <a:schemeClr val="tx1"/>
                </a:solidFill>
                <a:latin typeface="Arial"/>
                <a:ea typeface="Arial"/>
                <a:cs typeface="Arial"/>
                <a:sym typeface="Arial"/>
              </a:rPr>
              <a:t> </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2025/5/16	</a:t>
            </a:r>
            <a:r>
              <a:rPr lang="en-US" sz="1400" b="0" i="0" u="none" strike="noStrike" cap="none" dirty="0" err="1">
                <a:solidFill>
                  <a:schemeClr val="tx1"/>
                </a:solidFill>
                <a:latin typeface="Arial"/>
                <a:ea typeface="Arial"/>
                <a:cs typeface="Arial"/>
                <a:sym typeface="Arial"/>
              </a:rPr>
              <a:t>OpenAnolis</a:t>
            </a:r>
            <a:r>
              <a:rPr lang="en-US" sz="1400" b="0" i="0" u="none" strike="noStrike" cap="none" dirty="0">
                <a:solidFill>
                  <a:schemeClr val="tx1"/>
                </a:solidFill>
                <a:latin typeface="Arial"/>
                <a:ea typeface="Arial"/>
                <a:cs typeface="Arial"/>
                <a:sym typeface="Arial"/>
              </a:rPr>
              <a:t> </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2025/5/16	</a:t>
            </a:r>
            <a:r>
              <a:rPr lang="en-US" sz="1400" b="0" i="0" u="none" strike="noStrike" cap="none" dirty="0" err="1">
                <a:solidFill>
                  <a:schemeClr val="tx1"/>
                </a:solidFill>
                <a:latin typeface="Arial"/>
                <a:ea typeface="Arial"/>
                <a:cs typeface="Arial"/>
                <a:sym typeface="Arial"/>
              </a:rPr>
              <a:t>Socionext</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2025/5/20	</a:t>
            </a:r>
            <a:r>
              <a:rPr lang="en-US" sz="1400" b="0" i="0" u="none" strike="noStrike" cap="none" dirty="0" err="1">
                <a:solidFill>
                  <a:schemeClr val="tx1"/>
                </a:solidFill>
                <a:latin typeface="Arial"/>
                <a:ea typeface="Arial"/>
                <a:cs typeface="Arial"/>
                <a:sym typeface="Arial"/>
              </a:rPr>
              <a:t>Famisanar</a:t>
            </a:r>
            <a:r>
              <a:rPr lang="en-US" sz="1400" b="0" i="0" u="none" strike="noStrike" cap="none" dirty="0">
                <a:solidFill>
                  <a:schemeClr val="tx1"/>
                </a:solidFill>
                <a:latin typeface="Arial"/>
                <a:ea typeface="Arial"/>
                <a:cs typeface="Arial"/>
                <a:sym typeface="Arial"/>
              </a:rPr>
              <a:t> EPS</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2025/6/10	</a:t>
            </a:r>
            <a:r>
              <a:rPr lang="en-US" sz="1400" b="0" i="0" u="none" strike="noStrike" cap="none" dirty="0">
                <a:solidFill>
                  <a:schemeClr val="tx1"/>
                </a:solidFill>
                <a:latin typeface="Roboto"/>
                <a:ea typeface="Roboto"/>
                <a:cs typeface="Roboto"/>
                <a:sym typeface="Roboto"/>
              </a:rPr>
              <a:t>Mercedes-Benz (Research and Development India)</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Roboto"/>
                <a:ea typeface="Roboto"/>
                <a:cs typeface="Roboto"/>
                <a:sym typeface="Roboto"/>
              </a:rPr>
              <a:t>2025/7/4	</a:t>
            </a:r>
            <a:r>
              <a:rPr lang="en-US" sz="1400" b="0" i="0" u="none" strike="noStrike" cap="none" dirty="0">
                <a:solidFill>
                  <a:schemeClr val="tx1"/>
                </a:solidFill>
                <a:latin typeface="Arial"/>
                <a:ea typeface="Arial"/>
                <a:cs typeface="Arial"/>
                <a:sym typeface="Arial"/>
              </a:rPr>
              <a:t>ECARX </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2025/7/14	Element </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2025/7/14	Woven by Toyota[renewal]</a:t>
            </a:r>
            <a:endParaRPr sz="1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2025/7/30	CJ CGV</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2025/9/30	Seven Services</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2025/10/24	</a:t>
            </a:r>
            <a:r>
              <a:rPr lang="en-US" sz="1400" b="0" i="0" u="none" strike="noStrike" cap="none" dirty="0" err="1">
                <a:solidFill>
                  <a:schemeClr val="tx1"/>
                </a:solidFill>
                <a:latin typeface="Arial"/>
                <a:ea typeface="Arial"/>
                <a:cs typeface="Arial"/>
                <a:sym typeface="Arial"/>
              </a:rPr>
              <a:t>Elektrobit</a:t>
            </a:r>
            <a:r>
              <a:rPr lang="en-US" sz="1400" b="0" i="0" u="none" strike="noStrike" cap="none" dirty="0">
                <a:solidFill>
                  <a:schemeClr val="tx1"/>
                </a:solidFill>
                <a:latin typeface="Arial"/>
                <a:ea typeface="Arial"/>
                <a:cs typeface="Arial"/>
                <a:sym typeface="Arial"/>
              </a:rPr>
              <a:t> </a:t>
            </a:r>
            <a:endParaRPr sz="1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2025/10/31	</a:t>
            </a:r>
            <a:r>
              <a:rPr lang="en-US" sz="1400" b="0" i="0" u="none" strike="noStrike" cap="none" dirty="0" err="1">
                <a:solidFill>
                  <a:schemeClr val="tx1"/>
                </a:solidFill>
                <a:latin typeface="Arial"/>
                <a:ea typeface="Arial"/>
                <a:cs typeface="Arial"/>
                <a:sym typeface="Arial"/>
              </a:rPr>
              <a:t>Hancom</a:t>
            </a:r>
            <a:r>
              <a:rPr lang="en-US" sz="1400" b="0" i="0" u="none" strike="noStrike" cap="none" dirty="0">
                <a:solidFill>
                  <a:schemeClr val="tx1"/>
                </a:solidFill>
                <a:latin typeface="Arial"/>
                <a:ea typeface="Arial"/>
                <a:cs typeface="Arial"/>
                <a:sym typeface="Arial"/>
              </a:rPr>
              <a:t> </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2025/11/7	NXP Semiconductor</a:t>
            </a:r>
            <a:endParaRPr dirty="0">
              <a:solidFill>
                <a:schemeClr val="tx1"/>
              </a:solidFil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2025/11/10	</a:t>
            </a:r>
            <a:r>
              <a:rPr lang="en-US" sz="1400" b="0" i="0" u="none" strike="noStrike" cap="none" dirty="0" err="1">
                <a:solidFill>
                  <a:schemeClr val="tx1"/>
                </a:solidFill>
                <a:latin typeface="Arial"/>
                <a:ea typeface="Arial"/>
                <a:cs typeface="Arial"/>
                <a:sym typeface="Arial"/>
              </a:rPr>
              <a:t>Telechips</a:t>
            </a:r>
            <a:endParaRPr sz="1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2025/11/10	CJ Logistics</a:t>
            </a:r>
          </a:p>
          <a:p>
            <a:r>
              <a:rPr lang="en-US" altLang="ja-JP" dirty="0">
                <a:solidFill>
                  <a:schemeClr val="tx1"/>
                </a:solidFill>
              </a:rPr>
              <a:t>2025/12/22	Panasonic Automotive Systems</a:t>
            </a:r>
          </a:p>
        </p:txBody>
      </p:sp>
      <p:sp>
        <p:nvSpPr>
          <p:cNvPr id="3" name="Google Shape;249;p1">
            <a:extLst>
              <a:ext uri="{FF2B5EF4-FFF2-40B4-BE49-F238E27FC236}">
                <a16:creationId xmlns:a16="http://schemas.microsoft.com/office/drawing/2014/main" id="{AA68E7FA-1784-80C7-01D8-54E6E13DE636}"/>
              </a:ext>
            </a:extLst>
          </p:cNvPr>
          <p:cNvSpPr txBox="1"/>
          <p:nvPr/>
        </p:nvSpPr>
        <p:spPr>
          <a:xfrm>
            <a:off x="6569450" y="1139160"/>
            <a:ext cx="5592320" cy="2031285"/>
          </a:xfrm>
          <a:prstGeom prst="rect">
            <a:avLst/>
          </a:prstGeom>
          <a:noFill/>
          <a:ln>
            <a:noFill/>
          </a:ln>
        </p:spPr>
        <p:txBody>
          <a:bodyPr spcFirstLastPara="1" wrap="square" lIns="91425" tIns="45700" rIns="91425" bIns="45700" anchor="t" anchorCtr="0">
            <a:spAutoFit/>
          </a:bodyPr>
          <a:lstStyle/>
          <a:p>
            <a:pPr lvl="0"/>
            <a:r>
              <a:rPr lang="en-US" altLang="ja-JP" dirty="0">
                <a:solidFill>
                  <a:schemeClr val="tx1"/>
                </a:solidFill>
              </a:rPr>
              <a:t>2026/1/27	Hitachi Energy </a:t>
            </a:r>
            <a:endParaRPr lang="en-US" sz="1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chemeClr val="tx1"/>
                </a:solidFill>
                <a:latin typeface="Arial"/>
                <a:ea typeface="Arial"/>
                <a:cs typeface="Arial"/>
                <a:sym typeface="Arial"/>
              </a:rPr>
              <a:t>202</a:t>
            </a:r>
            <a:r>
              <a:rPr lang="en-US" altLang="ja-JP" sz="1400" b="0" i="0" u="none" strike="noStrike" cap="none" dirty="0">
                <a:solidFill>
                  <a:schemeClr val="tx1"/>
                </a:solidFill>
                <a:latin typeface="Arial"/>
                <a:ea typeface="Arial"/>
                <a:cs typeface="Arial"/>
                <a:sym typeface="Arial"/>
              </a:rPr>
              <a:t>6</a:t>
            </a:r>
            <a:r>
              <a:rPr lang="en-US" sz="1400" b="0" i="0" u="none" strike="noStrike" cap="none" dirty="0">
                <a:solidFill>
                  <a:schemeClr val="tx1"/>
                </a:solidFill>
                <a:latin typeface="Arial"/>
                <a:ea typeface="Arial"/>
                <a:cs typeface="Arial"/>
                <a:sym typeface="Arial"/>
              </a:rPr>
              <a:t>/</a:t>
            </a:r>
            <a:r>
              <a:rPr lang="en-US" altLang="ja-JP" sz="1400" b="0" i="0" u="none" strike="noStrike" cap="none" dirty="0">
                <a:solidFill>
                  <a:schemeClr val="tx1"/>
                </a:solidFill>
                <a:latin typeface="Arial"/>
                <a:ea typeface="Arial"/>
                <a:cs typeface="Arial"/>
                <a:sym typeface="Arial"/>
              </a:rPr>
              <a:t>3</a:t>
            </a:r>
            <a:r>
              <a:rPr lang="en-US" sz="1400" b="0" i="0" u="none" strike="noStrike" cap="none" dirty="0">
                <a:solidFill>
                  <a:schemeClr val="tx1"/>
                </a:solidFill>
                <a:latin typeface="Arial"/>
                <a:ea typeface="Arial"/>
                <a:cs typeface="Arial"/>
                <a:sym typeface="Arial"/>
              </a:rPr>
              <a:t>/1</a:t>
            </a:r>
            <a:r>
              <a:rPr lang="en-US" altLang="ja-JP" sz="1400" b="0" i="0" u="none" strike="noStrike" cap="none" dirty="0">
                <a:solidFill>
                  <a:schemeClr val="tx1"/>
                </a:solidFill>
                <a:latin typeface="Arial"/>
                <a:ea typeface="Arial"/>
                <a:cs typeface="Arial"/>
                <a:sym typeface="Arial"/>
              </a:rPr>
              <a:t>0	Olive Young</a:t>
            </a:r>
          </a:p>
          <a:p>
            <a:pPr lvl="0"/>
            <a:r>
              <a:rPr lang="en-US" altLang="ja-JP" dirty="0">
                <a:solidFill>
                  <a:schemeClr val="tx1"/>
                </a:solidFill>
              </a:rPr>
              <a:t>2026/6/19	</a:t>
            </a:r>
            <a:r>
              <a:rPr lang="ja-JP" altLang="ja-JP" dirty="0"/>
              <a:t>42dot</a:t>
            </a:r>
            <a:endParaRPr lang="en-US" altLang="ja-JP" dirty="0"/>
          </a:p>
          <a:p>
            <a:pPr lvl="0"/>
            <a:r>
              <a:rPr lang="en-US" altLang="ja-JP" sz="1400" b="0" i="0" u="none" strike="noStrike" cap="none" dirty="0">
                <a:solidFill>
                  <a:schemeClr val="tx1"/>
                </a:solidFill>
                <a:latin typeface="Arial"/>
                <a:ea typeface="Arial"/>
                <a:cs typeface="Arial"/>
                <a:sym typeface="Arial"/>
              </a:rPr>
              <a:t>2026/8/25	</a:t>
            </a:r>
            <a:r>
              <a:rPr lang="en-US" altLang="ja-JP" sz="1400" b="0" i="0" u="none" strike="noStrike" cap="none" dirty="0" err="1">
                <a:solidFill>
                  <a:schemeClr val="tx1"/>
                </a:solidFill>
                <a:latin typeface="Arial"/>
                <a:ea typeface="Arial"/>
                <a:cs typeface="Arial"/>
                <a:sym typeface="Arial"/>
              </a:rPr>
              <a:t>TomorrowX</a:t>
            </a:r>
            <a:r>
              <a:rPr lang="en-US" altLang="ja-JP" sz="1400" b="0" i="0" u="none" strike="noStrike" cap="none" dirty="0">
                <a:solidFill>
                  <a:schemeClr val="tx1"/>
                </a:solidFill>
                <a:latin typeface="Arial"/>
                <a:ea typeface="Arial"/>
                <a:cs typeface="Arial"/>
                <a:sym typeface="Arial"/>
              </a:rPr>
              <a:t> </a:t>
            </a:r>
          </a:p>
          <a:p>
            <a:pPr lvl="0"/>
            <a:r>
              <a:rPr lang="en-US" altLang="ja-JP" dirty="0">
                <a:solidFill>
                  <a:schemeClr val="tx1"/>
                </a:solidFill>
              </a:rPr>
              <a:t>2026/9/9	ALVPHA Tech GmbH</a:t>
            </a:r>
          </a:p>
          <a:p>
            <a:pPr lvl="0"/>
            <a:r>
              <a:rPr lang="en-US" altLang="ja-JP" sz="1400" b="0" i="0" u="none" strike="noStrike" cap="none" dirty="0">
                <a:solidFill>
                  <a:schemeClr val="tx1"/>
                </a:solidFill>
                <a:latin typeface="Arial"/>
                <a:ea typeface="Arial"/>
                <a:cs typeface="Arial"/>
                <a:sym typeface="Arial"/>
              </a:rPr>
              <a:t>2026/9/10	</a:t>
            </a:r>
            <a:r>
              <a:rPr lang="ja-JP" altLang="ja-JP" dirty="0"/>
              <a:t>Asyntec SpA</a:t>
            </a:r>
            <a:endParaRPr lang="en-US" altLang="ja-JP" dirty="0"/>
          </a:p>
          <a:p>
            <a:pPr lvl="0"/>
            <a:r>
              <a:rPr lang="en-US" altLang="ja-JP" sz="1400" b="0" i="0" u="none" strike="noStrike" cap="none" dirty="0">
                <a:solidFill>
                  <a:schemeClr val="tx1"/>
                </a:solidFill>
                <a:latin typeface="Arial"/>
                <a:ea typeface="Arial"/>
                <a:cs typeface="Arial"/>
                <a:sym typeface="Arial"/>
              </a:rPr>
              <a:t>2026/9/16	</a:t>
            </a:r>
            <a:r>
              <a:rPr lang="ja-JP" altLang="ja-JP" dirty="0"/>
              <a:t>Vaultr </a:t>
            </a:r>
            <a:endParaRPr lang="en-US" altLang="ja-JP" dirty="0"/>
          </a:p>
          <a:p>
            <a:pPr lvl="0"/>
            <a:r>
              <a:rPr lang="en-US" altLang="ja-JP" sz="1400" b="0" i="0" u="none" strike="noStrike" cap="none" dirty="0">
                <a:solidFill>
                  <a:schemeClr val="tx1"/>
                </a:solidFill>
                <a:latin typeface="Arial"/>
                <a:ea typeface="Arial"/>
                <a:cs typeface="Arial"/>
                <a:sym typeface="Arial"/>
              </a:rPr>
              <a:t>2026/10/5	</a:t>
            </a:r>
            <a:r>
              <a:rPr lang="ja-JP" altLang="ja-JP" dirty="0"/>
              <a:t>KushBitx </a:t>
            </a:r>
            <a:endParaRPr lang="en-US" altLang="ja-JP" dirty="0"/>
          </a:p>
          <a:p>
            <a:pPr lvl="0"/>
            <a:r>
              <a:rPr lang="en-US" altLang="ja-JP" sz="1400" b="0" i="0" u="none" strike="noStrike" cap="none" dirty="0">
                <a:solidFill>
                  <a:schemeClr val="tx1"/>
                </a:solidFill>
                <a:latin typeface="Arial"/>
                <a:ea typeface="Arial"/>
                <a:cs typeface="Arial"/>
                <a:sym typeface="Arial"/>
              </a:rPr>
              <a:t>2026/10/21 </a:t>
            </a:r>
            <a:r>
              <a:rPr lang="ja-JP" altLang="ja-JP" dirty="0"/>
              <a:t>Kibersigurnost EOOD</a:t>
            </a:r>
            <a:r>
              <a:rPr lang="en-US" sz="1400" b="0" i="0" u="none" strike="noStrike" cap="none" dirty="0">
                <a:solidFill>
                  <a:schemeClr val="tx1"/>
                </a:solidFill>
                <a:latin typeface="Arial"/>
                <a:ea typeface="Arial"/>
                <a:cs typeface="Arial"/>
                <a:sym typeface="Arial"/>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254"/>
        <p:cNvGrpSpPr/>
        <p:nvPr/>
      </p:nvGrpSpPr>
      <p:grpSpPr>
        <a:xfrm>
          <a:off x="0" y="0"/>
          <a:ext cx="0" cy="0"/>
          <a:chOff x="0" y="0"/>
          <a:chExt cx="0" cy="0"/>
        </a:xfrm>
      </p:grpSpPr>
      <p:sp>
        <p:nvSpPr>
          <p:cNvPr id="255" name="Google Shape;255;g373d37e5442_0_165"/>
          <p:cNvSpPr/>
          <p:nvPr/>
        </p:nvSpPr>
        <p:spPr>
          <a:xfrm>
            <a:off x="5000741" y="2497454"/>
            <a:ext cx="6920700" cy="3787500"/>
          </a:xfrm>
          <a:prstGeom prst="rect">
            <a:avLst/>
          </a:prstGeom>
          <a:solidFill>
            <a:srgbClr val="FFFFFF"/>
          </a:solidFill>
          <a:ln w="12700" cap="flat" cmpd="sng">
            <a:solidFill>
              <a:srgbClr val="5B9BD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Quattrocento Sans"/>
              <a:buNone/>
            </a:pPr>
            <a:endParaRPr sz="1800" b="0" i="0" u="none" strike="noStrike" cap="none">
              <a:solidFill>
                <a:srgbClr val="000000"/>
              </a:solidFill>
              <a:latin typeface="Arial"/>
              <a:ea typeface="Arial"/>
              <a:cs typeface="Arial"/>
              <a:sym typeface="Arial"/>
            </a:endParaRPr>
          </a:p>
        </p:txBody>
      </p:sp>
      <p:sp>
        <p:nvSpPr>
          <p:cNvPr id="256" name="Google Shape;256;g373d37e5442_0_165"/>
          <p:cNvSpPr/>
          <p:nvPr/>
        </p:nvSpPr>
        <p:spPr>
          <a:xfrm>
            <a:off x="890270" y="2517193"/>
            <a:ext cx="3809700" cy="3767700"/>
          </a:xfrm>
          <a:prstGeom prst="rect">
            <a:avLst/>
          </a:prstGeom>
          <a:solidFill>
            <a:srgbClr val="FFFFFF"/>
          </a:solidFill>
          <a:ln w="12700" cap="flat" cmpd="sng">
            <a:solidFill>
              <a:srgbClr val="70AD4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Quattrocento Sans"/>
              <a:buNone/>
            </a:pPr>
            <a:endParaRPr sz="1800" b="0" i="0" u="none" strike="noStrike" cap="none">
              <a:solidFill>
                <a:srgbClr val="000000"/>
              </a:solidFill>
              <a:latin typeface="Arial"/>
              <a:ea typeface="Arial"/>
              <a:cs typeface="Arial"/>
              <a:sym typeface="Arial"/>
            </a:endParaRPr>
          </a:p>
        </p:txBody>
      </p:sp>
      <p:sp>
        <p:nvSpPr>
          <p:cNvPr id="257" name="Google Shape;257;g373d37e5442_0_165"/>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OpenChain Spec. 2.1 &gt;&gt; ISO/IEC 5230:2020</a:t>
            </a:r>
            <a:endParaRPr b="1">
              <a:latin typeface="Quattrocento Sans"/>
              <a:ea typeface="Quattrocento Sans"/>
              <a:cs typeface="Quattrocento Sans"/>
              <a:sym typeface="Quattrocento Sans"/>
            </a:endParaRPr>
          </a:p>
        </p:txBody>
      </p:sp>
      <p:sp>
        <p:nvSpPr>
          <p:cNvPr id="258" name="Google Shape;258;g373d37e5442_0_165"/>
          <p:cNvSpPr txBox="1">
            <a:spLocks noGrp="1"/>
          </p:cNvSpPr>
          <p:nvPr>
            <p:ph type="body" idx="1"/>
          </p:nvPr>
        </p:nvSpPr>
        <p:spPr>
          <a:xfrm>
            <a:off x="889200" y="1357200"/>
            <a:ext cx="10320000" cy="3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国際標準化以降、企業活動が活発化</a:t>
            </a:r>
            <a:endParaRPr sz="2400" b="1">
              <a:latin typeface="Quattrocento Sans"/>
              <a:ea typeface="Quattrocento Sans"/>
              <a:cs typeface="Quattrocento Sans"/>
              <a:sym typeface="Quattrocento Sans"/>
            </a:endParaRPr>
          </a:p>
        </p:txBody>
      </p:sp>
      <p:sp>
        <p:nvSpPr>
          <p:cNvPr id="259" name="Google Shape;259;g373d37e5442_0_165"/>
          <p:cNvSpPr txBox="1"/>
          <p:nvPr/>
        </p:nvSpPr>
        <p:spPr>
          <a:xfrm>
            <a:off x="7242623" y="6263307"/>
            <a:ext cx="3494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https://www.openchainproject.org/news</a:t>
            </a:r>
            <a:endParaRPr sz="1400" b="0" i="0" u="none" strike="noStrike" cap="none">
              <a:solidFill>
                <a:schemeClr val="dk1"/>
              </a:solidFill>
              <a:latin typeface="Quattrocento Sans"/>
              <a:ea typeface="Quattrocento Sans"/>
              <a:cs typeface="Quattrocento Sans"/>
              <a:sym typeface="Quattrocento Sans"/>
            </a:endParaRPr>
          </a:p>
        </p:txBody>
      </p:sp>
      <p:graphicFrame>
        <p:nvGraphicFramePr>
          <p:cNvPr id="260" name="Google Shape;260;g373d37e5442_0_165"/>
          <p:cNvGraphicFramePr/>
          <p:nvPr/>
        </p:nvGraphicFramePr>
        <p:xfrm>
          <a:off x="1190949" y="2647801"/>
          <a:ext cx="3208450" cy="2468970"/>
        </p:xfrm>
        <a:graphic>
          <a:graphicData uri="http://schemas.openxmlformats.org/drawingml/2006/table">
            <a:tbl>
              <a:tblPr firstRow="1" bandRow="1">
                <a:noFill/>
                <a:tableStyleId>{D3E39EA5-418F-4871-997F-E158D709882C}</a:tableStyleId>
              </a:tblPr>
              <a:tblGrid>
                <a:gridCol w="961575">
                  <a:extLst>
                    <a:ext uri="{9D8B030D-6E8A-4147-A177-3AD203B41FA5}">
                      <a16:colId xmlns:a16="http://schemas.microsoft.com/office/drawing/2014/main" val="20000"/>
                    </a:ext>
                  </a:extLst>
                </a:gridCol>
                <a:gridCol w="2246875">
                  <a:extLst>
                    <a:ext uri="{9D8B030D-6E8A-4147-A177-3AD203B41FA5}">
                      <a16:colId xmlns:a16="http://schemas.microsoft.com/office/drawing/2014/main" val="20001"/>
                    </a:ext>
                  </a:extLst>
                </a:gridCol>
              </a:tblGrid>
              <a:tr h="2380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2020/12/17</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Ericsson</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2380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2021/08/17</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HUAWEI</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2380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2022/02/09</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NEC</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2380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2022/02/16</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HONOR</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2380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2022/03/08</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BLOCK</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2380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2023/05/09</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CARIAD</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r h="2380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2024/12/13</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Honda</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6"/>
                  </a:ext>
                </a:extLst>
              </a:tr>
              <a:tr h="2380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2025/4/7</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Amazon</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7"/>
                  </a:ext>
                </a:extLst>
              </a:tr>
              <a:tr h="238050">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8"/>
                  </a:ext>
                </a:extLst>
              </a:tr>
            </a:tbl>
          </a:graphicData>
        </a:graphic>
      </p:graphicFrame>
      <p:graphicFrame>
        <p:nvGraphicFramePr>
          <p:cNvPr id="261" name="Google Shape;261;g373d37e5442_0_165"/>
          <p:cNvGraphicFramePr/>
          <p:nvPr/>
        </p:nvGraphicFramePr>
        <p:xfrm>
          <a:off x="5131863" y="2470651"/>
          <a:ext cx="3208450" cy="3840620"/>
        </p:xfrm>
        <a:graphic>
          <a:graphicData uri="http://schemas.openxmlformats.org/drawingml/2006/table">
            <a:tbl>
              <a:tblPr firstRow="1" bandRow="1">
                <a:noFill/>
                <a:tableStyleId>{D3E39EA5-418F-4871-997F-E158D709882C}</a:tableStyleId>
              </a:tblPr>
              <a:tblGrid>
                <a:gridCol w="961575">
                  <a:extLst>
                    <a:ext uri="{9D8B030D-6E8A-4147-A177-3AD203B41FA5}">
                      <a16:colId xmlns:a16="http://schemas.microsoft.com/office/drawing/2014/main" val="20000"/>
                    </a:ext>
                  </a:extLst>
                </a:gridCol>
                <a:gridCol w="2246875">
                  <a:extLst>
                    <a:ext uri="{9D8B030D-6E8A-4147-A177-3AD203B41FA5}">
                      <a16:colId xmlns:a16="http://schemas.microsoft.com/office/drawing/2014/main" val="20001"/>
                    </a:ext>
                  </a:extLst>
                </a:gridCol>
              </a:tblGrid>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2020/12/15</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OSADL</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2020/12/17</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日立ソリューションズ</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2020/12/17</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FOSSAare</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2021/01/12</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WhiteSource</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2021/01/13</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SeQuenX</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2021/01/19</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Synergon</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2021/10/20</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SCANOSS</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6"/>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2021/10/28</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CAICT</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7"/>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2021/12/15</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FOSSA</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8"/>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2022/01/12</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Onward Security</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9"/>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2022/01/17</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Fieldfisher</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0"/>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2022/01/29</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Marks and Clerk France</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1"/>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2022/03/28</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TIMETOACT</a:t>
                      </a:r>
                      <a:endParaRPr sz="14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2"/>
                  </a:ext>
                </a:extLst>
              </a:tr>
              <a:tr h="2272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2022/05/30</a:t>
                      </a:r>
                      <a:endParaRPr sz="14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SECTREND</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3"/>
                  </a:ext>
                </a:extLst>
              </a:tr>
            </a:tbl>
          </a:graphicData>
        </a:graphic>
      </p:graphicFrame>
      <p:graphicFrame>
        <p:nvGraphicFramePr>
          <p:cNvPr id="262" name="Google Shape;262;g373d37e5442_0_165"/>
          <p:cNvGraphicFramePr/>
          <p:nvPr/>
        </p:nvGraphicFramePr>
        <p:xfrm>
          <a:off x="8516413" y="2470651"/>
          <a:ext cx="3208450" cy="3950845"/>
        </p:xfrm>
        <a:graphic>
          <a:graphicData uri="http://schemas.openxmlformats.org/drawingml/2006/table">
            <a:tbl>
              <a:tblPr firstRow="1" bandRow="1">
                <a:noFill/>
                <a:tableStyleId>{D3E39EA5-418F-4871-997F-E158D709882C}</a:tableStyleId>
              </a:tblPr>
              <a:tblGrid>
                <a:gridCol w="961575">
                  <a:extLst>
                    <a:ext uri="{9D8B030D-6E8A-4147-A177-3AD203B41FA5}">
                      <a16:colId xmlns:a16="http://schemas.microsoft.com/office/drawing/2014/main" val="20000"/>
                    </a:ext>
                  </a:extLst>
                </a:gridCol>
                <a:gridCol w="2246875">
                  <a:extLst>
                    <a:ext uri="{9D8B030D-6E8A-4147-A177-3AD203B41FA5}">
                      <a16:colId xmlns:a16="http://schemas.microsoft.com/office/drawing/2014/main" val="20001"/>
                    </a:ext>
                  </a:extLst>
                </a:gridCol>
              </a:tblGrid>
              <a:tr h="2336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2022/10/14</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Witzel Erb Backu &amp; Partner</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0"/>
                  </a:ext>
                </a:extLst>
              </a:tr>
              <a:tr h="2336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2023/02/07</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OSPOCO, Taylor English</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1"/>
                  </a:ext>
                </a:extLst>
              </a:tr>
              <a:tr h="2336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2023/03/15</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CESI</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2"/>
                  </a:ext>
                </a:extLst>
              </a:tr>
              <a:tr h="2336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2023/05/30</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NORDEMANN</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3"/>
                  </a:ext>
                </a:extLst>
              </a:tr>
              <a:tr h="2336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2023/06/22</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Deloitte</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4"/>
                  </a:ext>
                </a:extLst>
              </a:tr>
              <a:tr h="3894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2023/8/7</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National Financial Technology Certification Center</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5"/>
                  </a:ext>
                </a:extLst>
              </a:tr>
              <a:tr h="2336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2023/8/21</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OpenTEKr</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6"/>
                  </a:ext>
                </a:extLst>
              </a:tr>
              <a:tr h="3894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2023/9/4</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Suzhou PrismAurora Information Technology</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7"/>
                  </a:ext>
                </a:extLst>
              </a:tr>
              <a:tr h="2336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2023/9/12</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LR29</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8"/>
                  </a:ext>
                </a:extLst>
              </a:tr>
              <a:tr h="5451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2023/12/13</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China Industrial Control Systems Cyber Emergency Response Team</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09"/>
                  </a:ext>
                </a:extLst>
              </a:tr>
              <a:tr h="4760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2025/1/21</a:t>
                      </a:r>
                      <a:endParaRPr sz="1200" u="none" strike="noStrike" cap="none">
                        <a:latin typeface="Arial"/>
                        <a:ea typeface="Arial"/>
                        <a:cs typeface="Arial"/>
                        <a:sym typeface="Arial"/>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Arial"/>
                          <a:ea typeface="Arial"/>
                          <a:cs typeface="Arial"/>
                          <a:sym typeface="Arial"/>
                        </a:rPr>
                        <a:t>Software Security Technology</a:t>
                      </a:r>
                      <a:endParaRPr sz="1200" u="none" strike="noStrike" cap="none">
                        <a:latin typeface="Arial"/>
                        <a:ea typeface="Arial"/>
                        <a:cs typeface="Arial"/>
                        <a:sym typeface="Arial"/>
                      </a:endParaRPr>
                    </a:p>
                  </a:txBody>
                  <a:tcPr marL="91450" marR="91450" marT="45725" marB="45725" anchor="ctr"/>
                </a:tc>
                <a:extLst>
                  <a:ext uri="{0D108BD9-81ED-4DB2-BD59-A6C34878D82A}">
                    <a16:rowId xmlns:a16="http://schemas.microsoft.com/office/drawing/2014/main" val="10010"/>
                  </a:ext>
                </a:extLst>
              </a:tr>
            </a:tbl>
          </a:graphicData>
        </a:graphic>
      </p:graphicFrame>
      <p:sp>
        <p:nvSpPr>
          <p:cNvPr id="263" name="Google Shape;263;g373d37e5442_0_165"/>
          <p:cNvSpPr/>
          <p:nvPr/>
        </p:nvSpPr>
        <p:spPr>
          <a:xfrm>
            <a:off x="890270" y="1947633"/>
            <a:ext cx="3809700" cy="558900"/>
          </a:xfrm>
          <a:prstGeom prst="rect">
            <a:avLst/>
          </a:prstGeom>
          <a:solidFill>
            <a:srgbClr val="70AD47"/>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Quattrocento Sans"/>
              <a:buNone/>
            </a:pPr>
            <a:r>
              <a:rPr lang="en-US" sz="1800" b="1" i="0" u="none" strike="noStrike" cap="none">
                <a:solidFill>
                  <a:srgbClr val="FFFFFF"/>
                </a:solidFill>
                <a:latin typeface="Quattrocento Sans"/>
                <a:ea typeface="Quattrocento Sans"/>
                <a:cs typeface="Quattrocento Sans"/>
                <a:sym typeface="Quattrocento Sans"/>
              </a:rPr>
              <a:t>OpenChainプラチナメンバー参加</a:t>
            </a:r>
            <a:endParaRPr sz="1400" b="0" i="0" u="none" strike="noStrike" cap="none">
              <a:solidFill>
                <a:srgbClr val="000000"/>
              </a:solidFill>
              <a:latin typeface="Arial"/>
              <a:ea typeface="Arial"/>
              <a:cs typeface="Arial"/>
              <a:sym typeface="Arial"/>
            </a:endParaRPr>
          </a:p>
        </p:txBody>
      </p:sp>
      <p:sp>
        <p:nvSpPr>
          <p:cNvPr id="264" name="Google Shape;264;g373d37e5442_0_165"/>
          <p:cNvSpPr/>
          <p:nvPr/>
        </p:nvSpPr>
        <p:spPr>
          <a:xfrm>
            <a:off x="5000741" y="1947633"/>
            <a:ext cx="6920700" cy="569100"/>
          </a:xfrm>
          <a:prstGeom prst="rect">
            <a:avLst/>
          </a:prstGeom>
          <a:solidFill>
            <a:srgbClr val="4472C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Quattrocento Sans"/>
              <a:buNone/>
            </a:pPr>
            <a:r>
              <a:rPr lang="en-US" sz="1800" b="1" i="0" u="none" strike="noStrike" cap="none">
                <a:solidFill>
                  <a:srgbClr val="FFFFFF"/>
                </a:solidFill>
                <a:latin typeface="Quattrocento Sans"/>
                <a:ea typeface="Quattrocento Sans"/>
                <a:cs typeface="Quattrocento Sans"/>
                <a:sym typeface="Quattrocento Sans"/>
              </a:rPr>
              <a:t>OpenChainパートナー</a:t>
            </a:r>
            <a:endParaRPr sz="1400" b="0" i="0" u="none" strike="noStrike" cap="none">
              <a:solidFill>
                <a:srgbClr val="000000"/>
              </a:solidFill>
              <a:latin typeface="Arial"/>
              <a:ea typeface="Arial"/>
              <a:cs typeface="Arial"/>
              <a:sym typeface="Arial"/>
            </a:endParaRPr>
          </a:p>
        </p:txBody>
      </p:sp>
      <p:sp>
        <p:nvSpPr>
          <p:cNvPr id="265" name="Google Shape;265;g373d37e5442_0_165"/>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266" name="Google Shape;266;g373d37e5442_0_165"/>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73d37e5442_0_181"/>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OpenChain Spec. 2.1 &gt;&gt; ISO/IEC 5230:2020</a:t>
            </a:r>
            <a:endParaRPr b="1">
              <a:latin typeface="Quattrocento Sans"/>
              <a:ea typeface="Quattrocento Sans"/>
              <a:cs typeface="Quattrocento Sans"/>
              <a:sym typeface="Quattrocento Sans"/>
            </a:endParaRPr>
          </a:p>
        </p:txBody>
      </p:sp>
      <p:sp>
        <p:nvSpPr>
          <p:cNvPr id="273" name="Google Shape;273;g373d37e5442_0_181"/>
          <p:cNvSpPr txBox="1">
            <a:spLocks noGrp="1"/>
          </p:cNvSpPr>
          <p:nvPr>
            <p:ph type="body" idx="1"/>
          </p:nvPr>
        </p:nvSpPr>
        <p:spPr>
          <a:xfrm>
            <a:off x="889200" y="1357200"/>
            <a:ext cx="10320000" cy="3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適合を宣言する組織の例</a:t>
            </a:r>
            <a:endParaRPr sz="2400" b="1">
              <a:latin typeface="Quattrocento Sans"/>
              <a:ea typeface="Quattrocento Sans"/>
              <a:cs typeface="Quattrocento Sans"/>
              <a:sym typeface="Quattrocento Sans"/>
            </a:endParaRPr>
          </a:p>
        </p:txBody>
      </p:sp>
      <p:sp>
        <p:nvSpPr>
          <p:cNvPr id="274" name="Google Shape;274;g373d37e5442_0_181"/>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275" name="Google Shape;275;g373d37e5442_0_181"/>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
        <p:nvSpPr>
          <p:cNvPr id="276" name="Google Shape;276;g373d37e5442_0_181"/>
          <p:cNvSpPr txBox="1"/>
          <p:nvPr/>
        </p:nvSpPr>
        <p:spPr>
          <a:xfrm>
            <a:off x="6772975" y="6478824"/>
            <a:ext cx="4840800" cy="320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90000"/>
              </a:lnSpc>
              <a:spcBef>
                <a:spcPts val="0"/>
              </a:spcBef>
              <a:spcAft>
                <a:spcPts val="0"/>
              </a:spcAft>
              <a:buClr>
                <a:schemeClr val="dk1"/>
              </a:buClr>
              <a:buSzPct val="100000"/>
              <a:buFont typeface="Quattrocento Sans"/>
              <a:buNone/>
            </a:pPr>
            <a:r>
              <a:rPr lang="en-US" sz="1400" b="0" i="0" u="none" strike="noStrike" cap="none" dirty="0">
                <a:solidFill>
                  <a:schemeClr val="dk1"/>
                </a:solidFill>
                <a:latin typeface="Quattrocento Sans"/>
                <a:ea typeface="Quattrocento Sans"/>
                <a:cs typeface="Quattrocento Sans"/>
                <a:sym typeface="Quattrocento Sans"/>
              </a:rPr>
              <a:t> </a:t>
            </a:r>
            <a:r>
              <a:rPr lang="en-US" sz="1400" b="0" i="0" u="sng" strike="noStrike" cap="none" dirty="0">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https://www.openchainproject.org/community-of-conformance</a:t>
            </a:r>
            <a:endParaRPr sz="1400" b="0" i="0" u="none" strike="noStrike" cap="none" dirty="0">
              <a:solidFill>
                <a:schemeClr val="dk1"/>
              </a:solidFill>
              <a:latin typeface="Quattrocento Sans"/>
              <a:ea typeface="Quattrocento Sans"/>
              <a:cs typeface="Quattrocento Sans"/>
              <a:sym typeface="Quattrocento Sans"/>
            </a:endParaRPr>
          </a:p>
        </p:txBody>
      </p:sp>
      <p:pic>
        <p:nvPicPr>
          <p:cNvPr id="5" name="図 4">
            <a:extLst>
              <a:ext uri="{FF2B5EF4-FFF2-40B4-BE49-F238E27FC236}">
                <a16:creationId xmlns:a16="http://schemas.microsoft.com/office/drawing/2014/main" id="{EE3948DA-A840-0C8C-E178-670BD2E184DF}"/>
              </a:ext>
            </a:extLst>
          </p:cNvPr>
          <p:cNvPicPr>
            <a:picLocks noChangeAspect="1"/>
          </p:cNvPicPr>
          <p:nvPr/>
        </p:nvPicPr>
        <p:blipFill>
          <a:blip r:embed="rId4"/>
          <a:stretch>
            <a:fillRect/>
          </a:stretch>
        </p:blipFill>
        <p:spPr>
          <a:xfrm>
            <a:off x="151706" y="1761360"/>
            <a:ext cx="3744300" cy="4296641"/>
          </a:xfrm>
          <a:prstGeom prst="rect">
            <a:avLst/>
          </a:prstGeom>
        </p:spPr>
      </p:pic>
      <p:pic>
        <p:nvPicPr>
          <p:cNvPr id="7" name="図 6">
            <a:extLst>
              <a:ext uri="{FF2B5EF4-FFF2-40B4-BE49-F238E27FC236}">
                <a16:creationId xmlns:a16="http://schemas.microsoft.com/office/drawing/2014/main" id="{9B857ED5-6C79-371A-E85C-A2154002FE53}"/>
              </a:ext>
            </a:extLst>
          </p:cNvPr>
          <p:cNvPicPr>
            <a:picLocks noChangeAspect="1"/>
          </p:cNvPicPr>
          <p:nvPr/>
        </p:nvPicPr>
        <p:blipFill>
          <a:blip r:embed="rId5"/>
          <a:stretch>
            <a:fillRect/>
          </a:stretch>
        </p:blipFill>
        <p:spPr>
          <a:xfrm>
            <a:off x="4012418" y="1761360"/>
            <a:ext cx="3955620" cy="4435090"/>
          </a:xfrm>
          <a:prstGeom prst="rect">
            <a:avLst/>
          </a:prstGeom>
        </p:spPr>
      </p:pic>
      <p:pic>
        <p:nvPicPr>
          <p:cNvPr id="9" name="図 8">
            <a:extLst>
              <a:ext uri="{FF2B5EF4-FFF2-40B4-BE49-F238E27FC236}">
                <a16:creationId xmlns:a16="http://schemas.microsoft.com/office/drawing/2014/main" id="{C82BF0D5-124D-B20A-0119-7626D0478069}"/>
              </a:ext>
            </a:extLst>
          </p:cNvPr>
          <p:cNvPicPr>
            <a:picLocks noChangeAspect="1"/>
          </p:cNvPicPr>
          <p:nvPr/>
        </p:nvPicPr>
        <p:blipFill>
          <a:blip r:embed="rId6"/>
          <a:stretch>
            <a:fillRect/>
          </a:stretch>
        </p:blipFill>
        <p:spPr>
          <a:xfrm>
            <a:off x="8012226" y="1132253"/>
            <a:ext cx="4069287" cy="4794384"/>
          </a:xfrm>
          <a:prstGeom prst="rect">
            <a:avLst/>
          </a:prstGeom>
        </p:spPr>
      </p:pic>
      <p:pic>
        <p:nvPicPr>
          <p:cNvPr id="13" name="図 12">
            <a:extLst>
              <a:ext uri="{FF2B5EF4-FFF2-40B4-BE49-F238E27FC236}">
                <a16:creationId xmlns:a16="http://schemas.microsoft.com/office/drawing/2014/main" id="{CC07E3F4-B346-2B54-1EE1-2D71C9FEAFB1}"/>
              </a:ext>
            </a:extLst>
          </p:cNvPr>
          <p:cNvPicPr>
            <a:picLocks noChangeAspect="1"/>
          </p:cNvPicPr>
          <p:nvPr/>
        </p:nvPicPr>
        <p:blipFill>
          <a:blip r:embed="rId7"/>
          <a:stretch>
            <a:fillRect/>
          </a:stretch>
        </p:blipFill>
        <p:spPr>
          <a:xfrm>
            <a:off x="8390901" y="5850079"/>
            <a:ext cx="3222874" cy="52770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84"/>
        <p:cNvGrpSpPr/>
        <p:nvPr/>
      </p:nvGrpSpPr>
      <p:grpSpPr>
        <a:xfrm>
          <a:off x="0" y="0"/>
          <a:ext cx="0" cy="0"/>
          <a:chOff x="0" y="0"/>
          <a:chExt cx="0" cy="0"/>
        </a:xfrm>
      </p:grpSpPr>
      <p:sp>
        <p:nvSpPr>
          <p:cNvPr id="285" name="Google Shape;285;g373d37e5442_0_194"/>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a:t>適合を宣言する組織の例</a:t>
            </a:r>
            <a:endParaRPr/>
          </a:p>
        </p:txBody>
      </p:sp>
      <p:sp>
        <p:nvSpPr>
          <p:cNvPr id="286" name="Google Shape;286;g373d37e5442_0_194"/>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287" name="Google Shape;287;g373d37e5442_0_194"/>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pic>
        <p:nvPicPr>
          <p:cNvPr id="288" name="Google Shape;288;g373d37e5442_0_194" descr="カレンダー&#10;&#10;自動的に生成された説明"/>
          <p:cNvPicPr preferRelativeResize="0"/>
          <p:nvPr/>
        </p:nvPicPr>
        <p:blipFill rotWithShape="1">
          <a:blip r:embed="rId3">
            <a:alphaModFix/>
          </a:blip>
          <a:srcRect/>
          <a:stretch/>
        </p:blipFill>
        <p:spPr>
          <a:xfrm>
            <a:off x="1331339" y="1273743"/>
            <a:ext cx="9167654" cy="503725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g373d37e5442_0_243"/>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sz="3600"/>
              <a:t>ISO/IEC 18974 </a:t>
            </a:r>
            <a:br>
              <a:rPr lang="en-US" sz="3600"/>
            </a:br>
            <a:r>
              <a:rPr lang="en-US" sz="3600"/>
              <a:t>OpenChain Security Assurance Specification</a:t>
            </a:r>
            <a:endParaRPr sz="3600"/>
          </a:p>
        </p:txBody>
      </p:sp>
      <p:sp>
        <p:nvSpPr>
          <p:cNvPr id="323" name="Google Shape;323;g373d37e5442_0_243"/>
          <p:cNvSpPr txBox="1">
            <a:spLocks noGrp="1"/>
          </p:cNvSpPr>
          <p:nvPr>
            <p:ph type="body" idx="1"/>
          </p:nvPr>
        </p:nvSpPr>
        <p:spPr>
          <a:xfrm>
            <a:off x="890272" y="1422400"/>
            <a:ext cx="10320000" cy="1299600"/>
          </a:xfrm>
          <a:prstGeom prst="rect">
            <a:avLst/>
          </a:prstGeom>
          <a:noFill/>
          <a:ln>
            <a:noFill/>
          </a:ln>
        </p:spPr>
        <p:txBody>
          <a:bodyPr spcFirstLastPara="1" wrap="square" lIns="0" tIns="0" rIns="0" bIns="0" anchor="t" anchorCtr="0">
            <a:normAutofit fontScale="77500" lnSpcReduction="20000"/>
          </a:bodyPr>
          <a:lstStyle/>
          <a:p>
            <a:pPr marL="478355" lvl="0" indent="-437450" algn="l" rtl="0">
              <a:lnSpc>
                <a:spcPct val="130000"/>
              </a:lnSpc>
              <a:spcBef>
                <a:spcPts val="0"/>
              </a:spcBef>
              <a:spcAft>
                <a:spcPts val="0"/>
              </a:spcAft>
              <a:buSzPct val="96661"/>
              <a:buChar char="■"/>
            </a:pPr>
            <a:r>
              <a:rPr lang="en-US"/>
              <a:t>企業が組織内に確立すべきセキュリティアシュアランスプログラム（仕組み・体制等）の要件を定義</a:t>
            </a:r>
            <a:endParaRPr/>
          </a:p>
          <a:p>
            <a:pPr marL="478355" lvl="0" indent="-437450" algn="l" rtl="0">
              <a:lnSpc>
                <a:spcPct val="130000"/>
              </a:lnSpc>
              <a:spcBef>
                <a:spcPts val="674"/>
              </a:spcBef>
              <a:spcAft>
                <a:spcPts val="0"/>
              </a:spcAft>
              <a:buSzPct val="96661"/>
              <a:buChar char="■"/>
            </a:pPr>
            <a:r>
              <a:rPr lang="en-US"/>
              <a:t>OpenChain Spec と同様に自己認証、第三者認証により適合を宣言可能</a:t>
            </a:r>
            <a:endParaRPr/>
          </a:p>
          <a:p>
            <a:pPr marL="478355" lvl="0" indent="-334020" algn="l" rtl="0">
              <a:lnSpc>
                <a:spcPct val="130000"/>
              </a:lnSpc>
              <a:spcBef>
                <a:spcPts val="679"/>
              </a:spcBef>
              <a:spcAft>
                <a:spcPts val="0"/>
              </a:spcAft>
              <a:buSzPct val="100000"/>
              <a:buNone/>
            </a:pPr>
            <a:endParaRPr/>
          </a:p>
        </p:txBody>
      </p:sp>
      <p:sp>
        <p:nvSpPr>
          <p:cNvPr id="324" name="Google Shape;324;g373d37e5442_0_243"/>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325" name="Google Shape;325;g373d37e5442_0_243"/>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
        <p:nvSpPr>
          <p:cNvPr id="326" name="Google Shape;326;g373d37e5442_0_243"/>
          <p:cNvSpPr txBox="1"/>
          <p:nvPr/>
        </p:nvSpPr>
        <p:spPr>
          <a:xfrm>
            <a:off x="1120546" y="5907933"/>
            <a:ext cx="3687900" cy="394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https://www.iso.org/standard/86450.html</a:t>
            </a:r>
            <a:endParaRPr sz="1400" b="0" i="0" u="none" strike="noStrike" cap="none">
              <a:solidFill>
                <a:schemeClr val="dk1"/>
              </a:solidFill>
              <a:latin typeface="Quattrocento Sans"/>
              <a:ea typeface="Quattrocento Sans"/>
              <a:cs typeface="Quattrocento Sans"/>
              <a:sym typeface="Quattrocento Sans"/>
            </a:endParaRPr>
          </a:p>
        </p:txBody>
      </p:sp>
      <p:pic>
        <p:nvPicPr>
          <p:cNvPr id="328" name="Google Shape;328;g373d37e5442_0_243"/>
          <p:cNvPicPr preferRelativeResize="0"/>
          <p:nvPr/>
        </p:nvPicPr>
        <p:blipFill rotWithShape="1">
          <a:blip r:embed="rId4">
            <a:alphaModFix/>
          </a:blip>
          <a:srcRect/>
          <a:stretch/>
        </p:blipFill>
        <p:spPr>
          <a:xfrm>
            <a:off x="269450" y="2862124"/>
            <a:ext cx="5248300" cy="2948724"/>
          </a:xfrm>
          <a:prstGeom prst="rect">
            <a:avLst/>
          </a:prstGeom>
          <a:noFill/>
          <a:ln>
            <a:noFill/>
          </a:ln>
        </p:spPr>
      </p:pic>
      <p:pic>
        <p:nvPicPr>
          <p:cNvPr id="3" name="図 2">
            <a:extLst>
              <a:ext uri="{FF2B5EF4-FFF2-40B4-BE49-F238E27FC236}">
                <a16:creationId xmlns:a16="http://schemas.microsoft.com/office/drawing/2014/main" id="{294962F2-8108-C302-D4B7-B7F0B2A67F4B}"/>
              </a:ext>
            </a:extLst>
          </p:cNvPr>
          <p:cNvPicPr>
            <a:picLocks noChangeAspect="1"/>
          </p:cNvPicPr>
          <p:nvPr/>
        </p:nvPicPr>
        <p:blipFill>
          <a:blip r:embed="rId5"/>
          <a:stretch>
            <a:fillRect/>
          </a:stretch>
        </p:blipFill>
        <p:spPr>
          <a:xfrm>
            <a:off x="6528374" y="2766707"/>
            <a:ext cx="4543080" cy="3755613"/>
          </a:xfrm>
          <a:prstGeom prst="rect">
            <a:avLst/>
          </a:prstGeom>
        </p:spPr>
      </p:pic>
      <p:sp>
        <p:nvSpPr>
          <p:cNvPr id="327" name="Google Shape;327;g373d37e5442_0_243"/>
          <p:cNvSpPr txBox="1"/>
          <p:nvPr/>
        </p:nvSpPr>
        <p:spPr>
          <a:xfrm>
            <a:off x="6534442" y="6399903"/>
            <a:ext cx="5341200" cy="394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0" u="sng" strike="noStrike" cap="none" dirty="0">
                <a:solidFill>
                  <a:schemeClr val="dk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https://www.openchainproject.org/community-of-conformance</a:t>
            </a:r>
            <a:endParaRPr sz="1400" b="0" i="0" u="none" strike="noStrike" cap="none" dirty="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306"/>
        <p:cNvGrpSpPr/>
        <p:nvPr/>
      </p:nvGrpSpPr>
      <p:grpSpPr>
        <a:xfrm>
          <a:off x="0" y="0"/>
          <a:ext cx="0" cy="0"/>
          <a:chOff x="0" y="0"/>
          <a:chExt cx="0" cy="0"/>
        </a:xfrm>
      </p:grpSpPr>
      <p:sp>
        <p:nvSpPr>
          <p:cNvPr id="307" name="Google Shape;307;g373d37e5442_0_228"/>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サポート体制</a:t>
            </a:r>
            <a:endParaRPr/>
          </a:p>
        </p:txBody>
      </p:sp>
      <p:sp>
        <p:nvSpPr>
          <p:cNvPr id="308" name="Google Shape;308;g373d37e5442_0_228"/>
          <p:cNvSpPr txBox="1">
            <a:spLocks noGrp="1"/>
          </p:cNvSpPr>
          <p:nvPr>
            <p:ph type="body" idx="1"/>
          </p:nvPr>
        </p:nvSpPr>
        <p:spPr>
          <a:xfrm>
            <a:off x="5113000" y="657113"/>
            <a:ext cx="6447900" cy="3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Partner Programによるサポート体制が拡充中</a:t>
            </a:r>
            <a:endParaRPr/>
          </a:p>
          <a:p>
            <a:pPr marL="0" lvl="0" indent="0" algn="l" rtl="0">
              <a:lnSpc>
                <a:spcPct val="100000"/>
              </a:lnSpc>
              <a:spcBef>
                <a:spcPts val="720"/>
              </a:spcBef>
              <a:spcAft>
                <a:spcPts val="0"/>
              </a:spcAft>
              <a:buSzPts val="2400"/>
              <a:buNone/>
            </a:pPr>
            <a:endParaRPr sz="2400" b="1">
              <a:latin typeface="Quattrocento Sans"/>
              <a:ea typeface="Quattrocento Sans"/>
              <a:cs typeface="Quattrocento Sans"/>
              <a:sym typeface="Quattrocento Sans"/>
            </a:endParaRPr>
          </a:p>
        </p:txBody>
      </p:sp>
      <p:sp>
        <p:nvSpPr>
          <p:cNvPr id="309" name="Google Shape;309;g373d37e5442_0_228"/>
          <p:cNvSpPr txBox="1"/>
          <p:nvPr/>
        </p:nvSpPr>
        <p:spPr>
          <a:xfrm>
            <a:off x="7245888" y="6295776"/>
            <a:ext cx="3687900" cy="394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https://www.openchainproject.org/partners</a:t>
            </a:r>
            <a:endParaRPr sz="1400" b="0" i="0" u="none" strike="noStrike" cap="none">
              <a:solidFill>
                <a:schemeClr val="dk1"/>
              </a:solidFill>
              <a:latin typeface="Quattrocento Sans"/>
              <a:ea typeface="Quattrocento Sans"/>
              <a:cs typeface="Quattrocento Sans"/>
              <a:sym typeface="Quattrocento Sans"/>
            </a:endParaRPr>
          </a:p>
        </p:txBody>
      </p:sp>
      <p:sp>
        <p:nvSpPr>
          <p:cNvPr id="310" name="Google Shape;310;g373d37e5442_0_228"/>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pic>
        <p:nvPicPr>
          <p:cNvPr id="311" name="Google Shape;311;g373d37e5442_0_228"/>
          <p:cNvPicPr preferRelativeResize="0"/>
          <p:nvPr/>
        </p:nvPicPr>
        <p:blipFill rotWithShape="1">
          <a:blip r:embed="rId4">
            <a:alphaModFix/>
          </a:blip>
          <a:srcRect/>
          <a:stretch/>
        </p:blipFill>
        <p:spPr>
          <a:xfrm>
            <a:off x="890275" y="1203725"/>
            <a:ext cx="3024515" cy="1235856"/>
          </a:xfrm>
          <a:prstGeom prst="rect">
            <a:avLst/>
          </a:prstGeom>
          <a:noFill/>
          <a:ln>
            <a:noFill/>
          </a:ln>
        </p:spPr>
      </p:pic>
      <p:pic>
        <p:nvPicPr>
          <p:cNvPr id="312" name="Google Shape;312;g373d37e5442_0_228"/>
          <p:cNvPicPr preferRelativeResize="0"/>
          <p:nvPr/>
        </p:nvPicPr>
        <p:blipFill rotWithShape="1">
          <a:blip r:embed="rId5">
            <a:alphaModFix/>
          </a:blip>
          <a:srcRect/>
          <a:stretch/>
        </p:blipFill>
        <p:spPr>
          <a:xfrm>
            <a:off x="4553181" y="1219128"/>
            <a:ext cx="2144844" cy="1297279"/>
          </a:xfrm>
          <a:prstGeom prst="rect">
            <a:avLst/>
          </a:prstGeom>
          <a:noFill/>
          <a:ln>
            <a:noFill/>
          </a:ln>
        </p:spPr>
      </p:pic>
      <p:sp>
        <p:nvSpPr>
          <p:cNvPr id="313" name="Google Shape;313;g373d37e5442_0_228"/>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pic>
        <p:nvPicPr>
          <p:cNvPr id="314" name="Google Shape;314;g373d37e5442_0_228"/>
          <p:cNvPicPr preferRelativeResize="0"/>
          <p:nvPr/>
        </p:nvPicPr>
        <p:blipFill rotWithShape="1">
          <a:blip r:embed="rId6">
            <a:alphaModFix/>
          </a:blip>
          <a:srcRect/>
          <a:stretch/>
        </p:blipFill>
        <p:spPr>
          <a:xfrm>
            <a:off x="1158900" y="2605622"/>
            <a:ext cx="4769269" cy="2540683"/>
          </a:xfrm>
          <a:prstGeom prst="rect">
            <a:avLst/>
          </a:prstGeom>
          <a:noFill/>
          <a:ln>
            <a:noFill/>
          </a:ln>
        </p:spPr>
      </p:pic>
      <p:pic>
        <p:nvPicPr>
          <p:cNvPr id="315" name="Google Shape;315;g373d37e5442_0_228"/>
          <p:cNvPicPr preferRelativeResize="0"/>
          <p:nvPr/>
        </p:nvPicPr>
        <p:blipFill rotWithShape="1">
          <a:blip r:embed="rId7">
            <a:alphaModFix/>
          </a:blip>
          <a:srcRect/>
          <a:stretch/>
        </p:blipFill>
        <p:spPr>
          <a:xfrm>
            <a:off x="7096455" y="1652899"/>
            <a:ext cx="4769272" cy="2489583"/>
          </a:xfrm>
          <a:prstGeom prst="rect">
            <a:avLst/>
          </a:prstGeom>
          <a:noFill/>
          <a:ln>
            <a:noFill/>
          </a:ln>
        </p:spPr>
      </p:pic>
      <p:pic>
        <p:nvPicPr>
          <p:cNvPr id="316" name="Google Shape;316;g373d37e5442_0_228"/>
          <p:cNvPicPr preferRelativeResize="0"/>
          <p:nvPr/>
        </p:nvPicPr>
        <p:blipFill rotWithShape="1">
          <a:blip r:embed="rId8">
            <a:alphaModFix/>
          </a:blip>
          <a:srcRect/>
          <a:stretch/>
        </p:blipFill>
        <p:spPr>
          <a:xfrm>
            <a:off x="1164475" y="4724014"/>
            <a:ext cx="4758092" cy="1654347"/>
          </a:xfrm>
          <a:prstGeom prst="rect">
            <a:avLst/>
          </a:prstGeom>
          <a:noFill/>
          <a:ln>
            <a:noFill/>
          </a:ln>
        </p:spPr>
      </p:pic>
      <p:pic>
        <p:nvPicPr>
          <p:cNvPr id="317" name="Google Shape;317;g373d37e5442_0_228"/>
          <p:cNvPicPr preferRelativeResize="0"/>
          <p:nvPr/>
        </p:nvPicPr>
        <p:blipFill rotWithShape="1">
          <a:blip r:embed="rId9">
            <a:alphaModFix/>
          </a:blip>
          <a:srcRect/>
          <a:stretch/>
        </p:blipFill>
        <p:spPr>
          <a:xfrm>
            <a:off x="7096451" y="4230421"/>
            <a:ext cx="4769269" cy="206535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334"/>
        <p:cNvGrpSpPr/>
        <p:nvPr/>
      </p:nvGrpSpPr>
      <p:grpSpPr>
        <a:xfrm>
          <a:off x="0" y="0"/>
          <a:ext cx="0" cy="0"/>
          <a:chOff x="0" y="0"/>
          <a:chExt cx="0" cy="0"/>
        </a:xfrm>
      </p:grpSpPr>
      <p:sp>
        <p:nvSpPr>
          <p:cNvPr id="335" name="Google Shape;335;g373d37e5442_0_254"/>
          <p:cNvSpPr/>
          <p:nvPr/>
        </p:nvSpPr>
        <p:spPr>
          <a:xfrm>
            <a:off x="5401371" y="4639124"/>
            <a:ext cx="3949200" cy="1543500"/>
          </a:xfrm>
          <a:prstGeom prst="rect">
            <a:avLst/>
          </a:prstGeom>
          <a:noFill/>
          <a:ln w="381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336" name="Google Shape;336;g373d37e5442_0_254"/>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最近の主な活動</a:t>
            </a:r>
            <a:endParaRPr/>
          </a:p>
        </p:txBody>
      </p:sp>
      <p:sp>
        <p:nvSpPr>
          <p:cNvPr id="337" name="Google Shape;337;g373d37e5442_0_254"/>
          <p:cNvSpPr txBox="1">
            <a:spLocks noGrp="1"/>
          </p:cNvSpPr>
          <p:nvPr>
            <p:ph type="body" idx="1"/>
          </p:nvPr>
        </p:nvSpPr>
        <p:spPr>
          <a:xfrm>
            <a:off x="889200" y="1357200"/>
            <a:ext cx="10320000" cy="394200"/>
          </a:xfrm>
          <a:prstGeom prst="rect">
            <a:avLst/>
          </a:prstGeom>
          <a:noFill/>
          <a:ln>
            <a:noFill/>
          </a:ln>
        </p:spPr>
        <p:txBody>
          <a:bodyPr spcFirstLastPara="1" wrap="square" lIns="0" tIns="0" rIns="0" bIns="0" anchor="t" anchorCtr="0">
            <a:noAutofit/>
          </a:bodyPr>
          <a:lstStyle/>
          <a:p>
            <a:pPr marL="478355" lvl="0" indent="-478355" algn="l" rtl="0">
              <a:lnSpc>
                <a:spcPct val="100000"/>
              </a:lnSpc>
              <a:spcBef>
                <a:spcPts val="0"/>
              </a:spcBef>
              <a:spcAft>
                <a:spcPts val="0"/>
              </a:spcAft>
              <a:buClr>
                <a:srgbClr val="7F7F7F"/>
              </a:buClr>
              <a:buSzPts val="2400"/>
              <a:buChar char="■"/>
            </a:pPr>
            <a:r>
              <a:rPr lang="en-US" sz="2400" b="1">
                <a:latin typeface="Quattrocento Sans"/>
                <a:ea typeface="Quattrocento Sans"/>
                <a:cs typeface="Quattrocento Sans"/>
                <a:sym typeface="Quattrocento Sans"/>
              </a:rPr>
              <a:t>各国語対応：マテリアルの翻訳や、共通したサーベイの実施</a:t>
            </a:r>
            <a:endParaRPr sz="2400" b="1">
              <a:latin typeface="Quattrocento Sans"/>
              <a:ea typeface="Quattrocento Sans"/>
              <a:cs typeface="Quattrocento Sans"/>
              <a:sym typeface="Quattrocento Sans"/>
            </a:endParaRPr>
          </a:p>
          <a:p>
            <a:pPr marL="478355" lvl="0" indent="-478355" algn="l" rtl="0">
              <a:lnSpc>
                <a:spcPct val="100000"/>
              </a:lnSpc>
              <a:spcBef>
                <a:spcPts val="720"/>
              </a:spcBef>
              <a:spcAft>
                <a:spcPts val="0"/>
              </a:spcAft>
              <a:buClr>
                <a:srgbClr val="7F7F7F"/>
              </a:buClr>
              <a:buSzPts val="2400"/>
              <a:buChar char="■"/>
            </a:pPr>
            <a:r>
              <a:rPr lang="en-US" sz="2400" b="1">
                <a:latin typeface="Quattrocento Sans"/>
                <a:ea typeface="Quattrocento Sans"/>
                <a:cs typeface="Quattrocento Sans"/>
                <a:sym typeface="Quattrocento Sans"/>
              </a:rPr>
              <a:t>セキュリティアシュアランスへの展開 (2022年9月22日 1.0 リリース)</a:t>
            </a:r>
            <a:endParaRPr/>
          </a:p>
        </p:txBody>
      </p:sp>
      <p:sp>
        <p:nvSpPr>
          <p:cNvPr id="338" name="Google Shape;338;g373d37e5442_0_254"/>
          <p:cNvSpPr txBox="1"/>
          <p:nvPr/>
        </p:nvSpPr>
        <p:spPr>
          <a:xfrm>
            <a:off x="8331201" y="6104422"/>
            <a:ext cx="3777600" cy="394200"/>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ct val="108108"/>
              <a:buFont typeface="Quattrocento Sans"/>
              <a:buNone/>
            </a:pPr>
            <a:r>
              <a:rPr lang="en-US" sz="16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https://www.openchainproject.org/news</a:t>
            </a:r>
            <a:endParaRPr sz="3600" b="0" i="0" u="none" strike="noStrike" cap="none">
              <a:solidFill>
                <a:schemeClr val="dk1"/>
              </a:solidFill>
              <a:latin typeface="Quattrocento Sans"/>
              <a:ea typeface="Quattrocento Sans"/>
              <a:cs typeface="Quattrocento Sans"/>
              <a:sym typeface="Quattrocento Sans"/>
            </a:endParaRPr>
          </a:p>
        </p:txBody>
      </p:sp>
      <p:pic>
        <p:nvPicPr>
          <p:cNvPr id="339" name="Google Shape;339;g373d37e5442_0_254"/>
          <p:cNvPicPr preferRelativeResize="0"/>
          <p:nvPr/>
        </p:nvPicPr>
        <p:blipFill rotWithShape="1">
          <a:blip r:embed="rId4">
            <a:alphaModFix/>
          </a:blip>
          <a:srcRect/>
          <a:stretch/>
        </p:blipFill>
        <p:spPr>
          <a:xfrm>
            <a:off x="1095950" y="4887181"/>
            <a:ext cx="3535680" cy="1257300"/>
          </a:xfrm>
          <a:prstGeom prst="rect">
            <a:avLst/>
          </a:prstGeom>
          <a:noFill/>
          <a:ln>
            <a:noFill/>
          </a:ln>
        </p:spPr>
      </p:pic>
      <p:pic>
        <p:nvPicPr>
          <p:cNvPr id="340" name="Google Shape;340;g373d37e5442_0_254"/>
          <p:cNvPicPr preferRelativeResize="0"/>
          <p:nvPr/>
        </p:nvPicPr>
        <p:blipFill rotWithShape="1">
          <a:blip r:embed="rId5">
            <a:alphaModFix/>
          </a:blip>
          <a:srcRect/>
          <a:stretch/>
        </p:blipFill>
        <p:spPr>
          <a:xfrm>
            <a:off x="5588376" y="4736612"/>
            <a:ext cx="3581400" cy="1409700"/>
          </a:xfrm>
          <a:prstGeom prst="rect">
            <a:avLst/>
          </a:prstGeom>
          <a:noFill/>
          <a:ln>
            <a:noFill/>
          </a:ln>
        </p:spPr>
      </p:pic>
      <p:pic>
        <p:nvPicPr>
          <p:cNvPr id="341" name="Google Shape;341;g373d37e5442_0_254"/>
          <p:cNvPicPr preferRelativeResize="0"/>
          <p:nvPr/>
        </p:nvPicPr>
        <p:blipFill rotWithShape="1">
          <a:blip r:embed="rId6">
            <a:alphaModFix/>
          </a:blip>
          <a:srcRect/>
          <a:stretch/>
        </p:blipFill>
        <p:spPr>
          <a:xfrm>
            <a:off x="1095950" y="2390566"/>
            <a:ext cx="3455670" cy="2038350"/>
          </a:xfrm>
          <a:prstGeom prst="rect">
            <a:avLst/>
          </a:prstGeom>
          <a:noFill/>
          <a:ln>
            <a:noFill/>
          </a:ln>
        </p:spPr>
      </p:pic>
      <p:pic>
        <p:nvPicPr>
          <p:cNvPr id="342" name="Google Shape;342;g373d37e5442_0_254"/>
          <p:cNvPicPr preferRelativeResize="0"/>
          <p:nvPr/>
        </p:nvPicPr>
        <p:blipFill rotWithShape="1">
          <a:blip r:embed="rId7">
            <a:alphaModFix/>
          </a:blip>
          <a:srcRect/>
          <a:stretch/>
        </p:blipFill>
        <p:spPr>
          <a:xfrm>
            <a:off x="5524876" y="2369765"/>
            <a:ext cx="3714750" cy="2106930"/>
          </a:xfrm>
          <a:prstGeom prst="rect">
            <a:avLst/>
          </a:prstGeom>
          <a:noFill/>
          <a:ln>
            <a:noFill/>
          </a:ln>
        </p:spPr>
      </p:pic>
      <p:sp>
        <p:nvSpPr>
          <p:cNvPr id="343" name="Google Shape;343;g373d37e5442_0_254"/>
          <p:cNvSpPr/>
          <p:nvPr/>
        </p:nvSpPr>
        <p:spPr>
          <a:xfrm>
            <a:off x="5401371" y="2306265"/>
            <a:ext cx="3949200" cy="2191200"/>
          </a:xfrm>
          <a:prstGeom prst="rect">
            <a:avLst/>
          </a:prstGeom>
          <a:noFill/>
          <a:ln w="762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344" name="Google Shape;344;g373d37e5442_0_254"/>
          <p:cNvSpPr/>
          <p:nvPr/>
        </p:nvSpPr>
        <p:spPr>
          <a:xfrm>
            <a:off x="889200" y="2306265"/>
            <a:ext cx="3949200" cy="2191200"/>
          </a:xfrm>
          <a:prstGeom prst="rect">
            <a:avLst/>
          </a:prstGeom>
          <a:noFill/>
          <a:ln w="762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345" name="Google Shape;345;g373d37e5442_0_254"/>
          <p:cNvSpPr/>
          <p:nvPr/>
        </p:nvSpPr>
        <p:spPr>
          <a:xfrm>
            <a:off x="889200" y="4639124"/>
            <a:ext cx="3949200" cy="1543500"/>
          </a:xfrm>
          <a:prstGeom prst="rect">
            <a:avLst/>
          </a:prstGeom>
          <a:noFill/>
          <a:ln w="76200"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346" name="Google Shape;346;g373d37e5442_0_254"/>
          <p:cNvSpPr txBox="1"/>
          <p:nvPr/>
        </p:nvSpPr>
        <p:spPr>
          <a:xfrm>
            <a:off x="9799242" y="5466004"/>
            <a:ext cx="21465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Quattrocento Sans"/>
                <a:ea typeface="Quattrocento Sans"/>
                <a:cs typeface="Quattrocento Sans"/>
                <a:sym typeface="Quattrocento Sans"/>
              </a:rPr>
              <a:t>※太枠はJapan-WG も</a:t>
            </a:r>
            <a:br>
              <a:rPr lang="en-US" sz="1400" b="0" i="0" u="none" strike="noStrike" cap="none">
                <a:solidFill>
                  <a:schemeClr val="dk1"/>
                </a:solidFill>
                <a:latin typeface="Quattrocento Sans"/>
                <a:ea typeface="Quattrocento Sans"/>
                <a:cs typeface="Quattrocento Sans"/>
                <a:sym typeface="Quattrocento Sans"/>
              </a:rPr>
            </a:br>
            <a:r>
              <a:rPr lang="en-US" sz="1400" b="0" i="0" u="none" strike="noStrike" cap="none">
                <a:solidFill>
                  <a:schemeClr val="dk1"/>
                </a:solidFill>
                <a:latin typeface="Quattrocento Sans"/>
                <a:ea typeface="Quattrocento Sans"/>
                <a:cs typeface="Quattrocento Sans"/>
                <a:sym typeface="Quattrocento Sans"/>
              </a:rPr>
              <a:t>コントリビューション</a:t>
            </a:r>
            <a:endParaRPr sz="1400" b="0" i="0" u="none" strike="noStrike" cap="none">
              <a:solidFill>
                <a:schemeClr val="dk1"/>
              </a:solidFill>
              <a:latin typeface="Quattrocento Sans"/>
              <a:ea typeface="Quattrocento Sans"/>
              <a:cs typeface="Quattrocento Sans"/>
              <a:sym typeface="Quattrocento Sans"/>
            </a:endParaRPr>
          </a:p>
        </p:txBody>
      </p:sp>
      <p:sp>
        <p:nvSpPr>
          <p:cNvPr id="347" name="Google Shape;347;g373d37e5442_0_254"/>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348" name="Google Shape;348;g373d37e5442_0_254"/>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73d37e5442_0_216"/>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プロジェクトのメンバー資格</a:t>
            </a:r>
            <a:endParaRPr b="1">
              <a:latin typeface="Quattrocento Sans"/>
              <a:ea typeface="Quattrocento Sans"/>
              <a:cs typeface="Quattrocento Sans"/>
              <a:sym typeface="Quattrocento Sans"/>
            </a:endParaRPr>
          </a:p>
        </p:txBody>
      </p:sp>
      <p:sp>
        <p:nvSpPr>
          <p:cNvPr id="295" name="Google Shape;295;g373d37e5442_0_216"/>
          <p:cNvSpPr txBox="1">
            <a:spLocks noGrp="1"/>
          </p:cNvSpPr>
          <p:nvPr>
            <p:ph type="body" idx="1"/>
          </p:nvPr>
        </p:nvSpPr>
        <p:spPr>
          <a:xfrm>
            <a:off x="889200" y="1357200"/>
            <a:ext cx="4937325" cy="2860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800"/>
              <a:buNone/>
            </a:pPr>
            <a:r>
              <a:rPr lang="en-US" sz="2800" b="1" u="sng" dirty="0" err="1">
                <a:latin typeface="Quattrocento Sans"/>
                <a:ea typeface="Quattrocento Sans"/>
                <a:cs typeface="Quattrocento Sans"/>
                <a:sym typeface="Quattrocento Sans"/>
              </a:rPr>
              <a:t>プラチナ</a:t>
            </a:r>
            <a:r>
              <a:rPr lang="en-US" sz="2800" b="1" u="sng" dirty="0">
                <a:latin typeface="Quattrocento Sans"/>
                <a:ea typeface="Quattrocento Sans"/>
                <a:cs typeface="Quattrocento Sans"/>
                <a:sym typeface="Quattrocento Sans"/>
              </a:rPr>
              <a:t> </a:t>
            </a:r>
            <a:r>
              <a:rPr lang="en-US" sz="2800" b="1" u="sng" dirty="0" err="1">
                <a:latin typeface="Quattrocento Sans"/>
                <a:ea typeface="Quattrocento Sans"/>
                <a:cs typeface="Quattrocento Sans"/>
                <a:sym typeface="Quattrocento Sans"/>
              </a:rPr>
              <a:t>メンバ</a:t>
            </a:r>
            <a:r>
              <a:rPr lang="en-US" sz="2800" b="1" u="sng" dirty="0">
                <a:latin typeface="Quattrocento Sans"/>
                <a:ea typeface="Quattrocento Sans"/>
                <a:cs typeface="Quattrocento Sans"/>
                <a:sym typeface="Quattrocento Sans"/>
              </a:rPr>
              <a:t>ー</a:t>
            </a:r>
            <a:endParaRPr sz="2800" b="1" u="sng" dirty="0">
              <a:latin typeface="Quattrocento Sans"/>
              <a:ea typeface="Quattrocento Sans"/>
              <a:cs typeface="Quattrocento Sans"/>
              <a:sym typeface="Quattrocento Sans"/>
            </a:endParaRPr>
          </a:p>
          <a:p>
            <a:pPr marL="478355" lvl="0" indent="-478355" algn="l" rtl="0">
              <a:lnSpc>
                <a:spcPct val="100000"/>
              </a:lnSpc>
              <a:spcBef>
                <a:spcPts val="760"/>
              </a:spcBef>
              <a:spcAft>
                <a:spcPts val="0"/>
              </a:spcAft>
              <a:buClr>
                <a:srgbClr val="7F7F7F"/>
              </a:buClr>
              <a:buSzPts val="2400"/>
              <a:buChar char="■"/>
            </a:pPr>
            <a:r>
              <a:rPr lang="en-US" sz="2400" b="1" dirty="0">
                <a:latin typeface="Quattrocento Sans"/>
                <a:ea typeface="Quattrocento Sans"/>
                <a:cs typeface="Quattrocento Sans"/>
                <a:sym typeface="Quattrocento Sans"/>
              </a:rPr>
              <a:t>Linux </a:t>
            </a:r>
            <a:r>
              <a:rPr lang="en-US" sz="2400" b="1" dirty="0" err="1">
                <a:latin typeface="Quattrocento Sans"/>
                <a:ea typeface="Quattrocento Sans"/>
                <a:cs typeface="Quattrocento Sans"/>
                <a:sym typeface="Quattrocento Sans"/>
              </a:rPr>
              <a:t>Foundationの企業会員が参加できる</a:t>
            </a:r>
            <a:endParaRPr sz="2400" b="1" dirty="0">
              <a:latin typeface="Quattrocento Sans"/>
              <a:ea typeface="Quattrocento Sans"/>
              <a:cs typeface="Quattrocento Sans"/>
              <a:sym typeface="Quattrocento Sans"/>
            </a:endParaRPr>
          </a:p>
          <a:p>
            <a:pPr marL="478355" lvl="0" indent="-478355" algn="l" rtl="0">
              <a:lnSpc>
                <a:spcPct val="100000"/>
              </a:lnSpc>
              <a:spcBef>
                <a:spcPts val="720"/>
              </a:spcBef>
              <a:spcAft>
                <a:spcPts val="0"/>
              </a:spcAft>
              <a:buClr>
                <a:srgbClr val="7F7F7F"/>
              </a:buClr>
              <a:buSzPts val="2400"/>
              <a:buChar char="■"/>
            </a:pPr>
            <a:r>
              <a:rPr lang="en-US" sz="2400" b="1" dirty="0">
                <a:latin typeface="Quattrocento Sans"/>
                <a:ea typeface="Quattrocento Sans"/>
                <a:cs typeface="Quattrocento Sans"/>
                <a:sym typeface="Quattrocento Sans"/>
              </a:rPr>
              <a:t>現在2</a:t>
            </a:r>
            <a:r>
              <a:rPr lang="en-US" sz="2400" b="1" dirty="0"/>
              <a:t>5</a:t>
            </a:r>
            <a:r>
              <a:rPr lang="en-US" sz="2400" b="1" dirty="0">
                <a:latin typeface="Quattrocento Sans"/>
                <a:ea typeface="Quattrocento Sans"/>
                <a:cs typeface="Quattrocento Sans"/>
                <a:sym typeface="Quattrocento Sans"/>
              </a:rPr>
              <a:t>社</a:t>
            </a:r>
            <a:endParaRPr sz="2400" b="1" dirty="0">
              <a:latin typeface="Quattrocento Sans"/>
              <a:ea typeface="Quattrocento Sans"/>
              <a:cs typeface="Quattrocento Sans"/>
              <a:sym typeface="Quattrocento Sans"/>
            </a:endParaRPr>
          </a:p>
        </p:txBody>
      </p:sp>
      <p:sp>
        <p:nvSpPr>
          <p:cNvPr id="296" name="Google Shape;296;g373d37e5442_0_216"/>
          <p:cNvSpPr txBox="1"/>
          <p:nvPr/>
        </p:nvSpPr>
        <p:spPr>
          <a:xfrm>
            <a:off x="890269" y="4112538"/>
            <a:ext cx="4937325" cy="1393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F7F7F"/>
              </a:buClr>
              <a:buSzPts val="2800"/>
              <a:buFont typeface="Noto Sans Symbols"/>
              <a:buNone/>
            </a:pPr>
            <a:r>
              <a:rPr lang="en-US" sz="2800" b="1" i="0" u="sng" strike="noStrike" cap="none">
                <a:solidFill>
                  <a:srgbClr val="20252B"/>
                </a:solidFill>
                <a:latin typeface="Quattrocento Sans"/>
                <a:ea typeface="Quattrocento Sans"/>
                <a:cs typeface="Quattrocento Sans"/>
                <a:sym typeface="Quattrocento Sans"/>
              </a:rPr>
              <a:t>コミュニティー メンバー</a:t>
            </a:r>
            <a:endParaRPr sz="2800" b="1" i="0" u="sng" strike="noStrike" cap="none">
              <a:solidFill>
                <a:srgbClr val="20252B"/>
              </a:solidFill>
              <a:latin typeface="Quattrocento Sans"/>
              <a:ea typeface="Quattrocento Sans"/>
              <a:cs typeface="Quattrocento Sans"/>
              <a:sym typeface="Quattrocento Sans"/>
            </a:endParaRPr>
          </a:p>
          <a:p>
            <a:pPr marL="478355" marR="0" lvl="0" indent="-478355" algn="l" rtl="0">
              <a:lnSpc>
                <a:spcPct val="100000"/>
              </a:lnSpc>
              <a:spcBef>
                <a:spcPts val="760"/>
              </a:spcBef>
              <a:spcAft>
                <a:spcPts val="0"/>
              </a:spcAft>
              <a:buClr>
                <a:srgbClr val="7F7F7F"/>
              </a:buClr>
              <a:buSzPts val="2400"/>
              <a:buFont typeface="Noto Sans Symbols"/>
              <a:buChar char="■"/>
            </a:pPr>
            <a:r>
              <a:rPr lang="en-US" sz="2400" b="1" i="0" u="none" strike="noStrike" cap="none">
                <a:solidFill>
                  <a:srgbClr val="20252B"/>
                </a:solidFill>
                <a:latin typeface="Quattrocento Sans"/>
                <a:ea typeface="Quattrocento Sans"/>
                <a:cs typeface="Quattrocento Sans"/>
                <a:sym typeface="Quattrocento Sans"/>
              </a:rPr>
              <a:t>ML、電話会議、ワークショップ等誰でも参加できる</a:t>
            </a:r>
            <a:endParaRPr sz="1400" b="0" i="0" u="none" strike="noStrike" cap="none">
              <a:solidFill>
                <a:srgbClr val="000000"/>
              </a:solidFill>
              <a:latin typeface="Arial"/>
              <a:ea typeface="Arial"/>
              <a:cs typeface="Arial"/>
              <a:sym typeface="Arial"/>
            </a:endParaRPr>
          </a:p>
        </p:txBody>
      </p:sp>
      <p:sp>
        <p:nvSpPr>
          <p:cNvPr id="297" name="Google Shape;297;g373d37e5442_0_216"/>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298" name="Google Shape;298;g373d37e5442_0_216"/>
          <p:cNvSpPr/>
          <p:nvPr/>
        </p:nvSpPr>
        <p:spPr>
          <a:xfrm>
            <a:off x="6830323" y="861209"/>
            <a:ext cx="4282200" cy="37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484848"/>
                </a:solidFill>
                <a:latin typeface="Quattrocento Sans"/>
                <a:ea typeface="Quattrocento Sans"/>
                <a:cs typeface="Quattrocento Sans"/>
                <a:sym typeface="Quattrocento Sans"/>
              </a:rPr>
              <a:t>Platinum Members</a:t>
            </a:r>
            <a:endParaRPr sz="300" b="1" i="0" u="none" strike="noStrike" cap="none" dirty="0">
              <a:solidFill>
                <a:srgbClr val="484848"/>
              </a:solidFill>
              <a:latin typeface="Quattrocento Sans"/>
              <a:ea typeface="Quattrocento Sans"/>
              <a:cs typeface="Quattrocento Sans"/>
              <a:sym typeface="Quattrocento Sans"/>
            </a:endParaRPr>
          </a:p>
        </p:txBody>
      </p:sp>
      <p:sp>
        <p:nvSpPr>
          <p:cNvPr id="299" name="Google Shape;299;g373d37e5442_0_216"/>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pic>
        <p:nvPicPr>
          <p:cNvPr id="3" name="図 2">
            <a:extLst>
              <a:ext uri="{FF2B5EF4-FFF2-40B4-BE49-F238E27FC236}">
                <a16:creationId xmlns:a16="http://schemas.microsoft.com/office/drawing/2014/main" id="{2D73C979-0FD6-ABCD-0E26-22C7A49194F2}"/>
              </a:ext>
            </a:extLst>
          </p:cNvPr>
          <p:cNvPicPr>
            <a:picLocks noChangeAspect="1"/>
          </p:cNvPicPr>
          <p:nvPr/>
        </p:nvPicPr>
        <p:blipFill>
          <a:blip r:embed="rId3"/>
          <a:stretch>
            <a:fillRect/>
          </a:stretch>
        </p:blipFill>
        <p:spPr>
          <a:xfrm>
            <a:off x="6018939" y="1234409"/>
            <a:ext cx="6173061" cy="548716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373d37e5442_0_272"/>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endParaRPr b="1">
              <a:latin typeface="Quattrocento Sans"/>
              <a:ea typeface="Quattrocento Sans"/>
              <a:cs typeface="Quattrocento Sans"/>
              <a:sym typeface="Quattrocento Sans"/>
            </a:endParaRPr>
          </a:p>
        </p:txBody>
      </p:sp>
      <p:sp>
        <p:nvSpPr>
          <p:cNvPr id="354" name="Google Shape;354;g373d37e5442_0_272"/>
          <p:cNvSpPr txBox="1">
            <a:spLocks noGrp="1"/>
          </p:cNvSpPr>
          <p:nvPr>
            <p:ph type="body" idx="1"/>
          </p:nvPr>
        </p:nvSpPr>
        <p:spPr>
          <a:xfrm>
            <a:off x="890271" y="1951719"/>
            <a:ext cx="10320000" cy="3068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4000"/>
              <a:buNone/>
            </a:pPr>
            <a:r>
              <a:rPr lang="en-US" sz="4000" b="1">
                <a:solidFill>
                  <a:srgbClr val="00849D"/>
                </a:solidFill>
                <a:latin typeface="Quattrocento Sans"/>
                <a:ea typeface="Quattrocento Sans"/>
                <a:cs typeface="Quattrocento Sans"/>
                <a:sym typeface="Quattrocento Sans"/>
              </a:rPr>
              <a:t>OpenChain Japan WGの紹介</a:t>
            </a:r>
            <a:endParaRPr/>
          </a:p>
          <a:p>
            <a:pPr marL="0" lvl="0" indent="0" algn="l" rtl="0">
              <a:lnSpc>
                <a:spcPct val="100000"/>
              </a:lnSpc>
              <a:spcBef>
                <a:spcPts val="1200"/>
              </a:spcBef>
              <a:spcAft>
                <a:spcPts val="0"/>
              </a:spcAft>
              <a:buSzPts val="4000"/>
              <a:buNone/>
            </a:pPr>
            <a:endParaRPr sz="4000" b="1">
              <a:solidFill>
                <a:srgbClr val="00849D"/>
              </a:solidFill>
              <a:latin typeface="Arial"/>
              <a:ea typeface="Arial"/>
              <a:cs typeface="Arial"/>
              <a:sym typeface="Arial"/>
            </a:endParaRPr>
          </a:p>
        </p:txBody>
      </p:sp>
      <p:sp>
        <p:nvSpPr>
          <p:cNvPr id="355" name="Google Shape;355;g373d37e5442_0_272"/>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356" name="Google Shape;356;g373d37e5442_0_272"/>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g373d37e5442_0_279"/>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OpenChain Japan Work Group 設立前夜</a:t>
            </a:r>
            <a:endParaRPr/>
          </a:p>
        </p:txBody>
      </p:sp>
      <p:sp>
        <p:nvSpPr>
          <p:cNvPr id="363" name="Google Shape;363;g373d37e5442_0_279"/>
          <p:cNvSpPr txBox="1">
            <a:spLocks noGrp="1"/>
          </p:cNvSpPr>
          <p:nvPr>
            <p:ph type="body" idx="1"/>
          </p:nvPr>
        </p:nvSpPr>
        <p:spPr>
          <a:xfrm>
            <a:off x="889200" y="1357200"/>
            <a:ext cx="10320000" cy="394200"/>
          </a:xfrm>
          <a:prstGeom prst="rect">
            <a:avLst/>
          </a:prstGeom>
          <a:noFill/>
          <a:ln>
            <a:noFill/>
          </a:ln>
        </p:spPr>
        <p:txBody>
          <a:bodyPr spcFirstLastPara="1" wrap="square" lIns="0" tIns="0" rIns="0" bIns="0" anchor="t" anchorCtr="0">
            <a:noAutofit/>
          </a:bodyPr>
          <a:lstStyle/>
          <a:p>
            <a:pPr marL="478355" lvl="0" indent="-478355" algn="l" rtl="0">
              <a:lnSpc>
                <a:spcPct val="100000"/>
              </a:lnSpc>
              <a:spcBef>
                <a:spcPts val="0"/>
              </a:spcBef>
              <a:spcAft>
                <a:spcPts val="0"/>
              </a:spcAft>
              <a:buClr>
                <a:srgbClr val="7F7F7F"/>
              </a:buClr>
              <a:buSzPts val="2400"/>
              <a:buChar char="■"/>
            </a:pPr>
            <a:r>
              <a:rPr lang="en-US" sz="2400" b="1">
                <a:latin typeface="Quattrocento Sans"/>
                <a:ea typeface="Quattrocento Sans"/>
                <a:cs typeface="Quattrocento Sans"/>
                <a:sym typeface="Quattrocento Sans"/>
              </a:rPr>
              <a:t>2017年8月以降、トヨタ、日立、ソニーの日本企業がOpenChainに加盟</a:t>
            </a:r>
            <a:endParaRPr/>
          </a:p>
          <a:p>
            <a:pPr marL="478355" lvl="0" indent="-478355" algn="l" rtl="0">
              <a:lnSpc>
                <a:spcPct val="100000"/>
              </a:lnSpc>
              <a:spcBef>
                <a:spcPts val="720"/>
              </a:spcBef>
              <a:spcAft>
                <a:spcPts val="0"/>
              </a:spcAft>
              <a:buClr>
                <a:srgbClr val="7F7F7F"/>
              </a:buClr>
              <a:buSzPts val="2400"/>
              <a:buChar char="■"/>
            </a:pPr>
            <a:r>
              <a:rPr lang="en-US" sz="2400" b="1">
                <a:latin typeface="Quattrocento Sans"/>
                <a:ea typeface="Quattrocento Sans"/>
                <a:cs typeface="Quattrocento Sans"/>
                <a:sym typeface="Quattrocento Sans"/>
              </a:rPr>
              <a:t>OpenChainの枠組みを使って面白いことしたいよね</a:t>
            </a:r>
            <a:endParaRPr/>
          </a:p>
          <a:p>
            <a:pPr marL="833945" lvl="1" indent="-476237" algn="l" rtl="0">
              <a:lnSpc>
                <a:spcPct val="100000"/>
              </a:lnSpc>
              <a:spcBef>
                <a:spcPts val="667"/>
              </a:spcBef>
              <a:spcAft>
                <a:spcPts val="0"/>
              </a:spcAft>
              <a:buSzPts val="2134"/>
              <a:buChar char="■"/>
            </a:pPr>
            <a:r>
              <a:rPr lang="en-US" sz="2134" b="1">
                <a:latin typeface="Quattrocento Sans"/>
                <a:ea typeface="Quattrocento Sans"/>
                <a:cs typeface="Quattrocento Sans"/>
                <a:sym typeface="Quattrocento Sans"/>
              </a:rPr>
              <a:t>日本でコンプライアンスの意識を高めよう！</a:t>
            </a:r>
            <a:endParaRPr/>
          </a:p>
          <a:p>
            <a:pPr marL="833945" lvl="1" indent="-476237" algn="l" rtl="0">
              <a:lnSpc>
                <a:spcPct val="100000"/>
              </a:lnSpc>
              <a:spcBef>
                <a:spcPts val="640"/>
              </a:spcBef>
              <a:spcAft>
                <a:spcPts val="0"/>
              </a:spcAft>
              <a:buSzPts val="2134"/>
              <a:buChar char="■"/>
            </a:pPr>
            <a:r>
              <a:rPr lang="en-US" sz="2134" b="1">
                <a:latin typeface="Quattrocento Sans"/>
                <a:ea typeface="Quattrocento Sans"/>
                <a:cs typeface="Quattrocento Sans"/>
                <a:sym typeface="Quattrocento Sans"/>
              </a:rPr>
              <a:t>日本からアジアに向かってコンプライアンスの意識を高めよう！</a:t>
            </a:r>
            <a:endParaRPr/>
          </a:p>
          <a:p>
            <a:pPr marL="833945" lvl="1" indent="-476237" algn="l" rtl="0">
              <a:lnSpc>
                <a:spcPct val="100000"/>
              </a:lnSpc>
              <a:spcBef>
                <a:spcPts val="640"/>
              </a:spcBef>
              <a:spcAft>
                <a:spcPts val="0"/>
              </a:spcAft>
              <a:buSzPts val="2134"/>
              <a:buChar char="■"/>
            </a:pPr>
            <a:r>
              <a:rPr lang="en-US" sz="2134" b="1">
                <a:latin typeface="Quattrocento Sans"/>
                <a:ea typeface="Quattrocento Sans"/>
                <a:cs typeface="Quattrocento Sans"/>
                <a:sym typeface="Quattrocento Sans"/>
              </a:rPr>
              <a:t>コンプライアンスに対する課題に関して情報交換しよう！</a:t>
            </a:r>
            <a:endParaRPr/>
          </a:p>
          <a:p>
            <a:pPr marL="833945" lvl="1" indent="-476237" algn="l" rtl="0">
              <a:lnSpc>
                <a:spcPct val="100000"/>
              </a:lnSpc>
              <a:spcBef>
                <a:spcPts val="640"/>
              </a:spcBef>
              <a:spcAft>
                <a:spcPts val="0"/>
              </a:spcAft>
              <a:buSzPts val="2134"/>
              <a:buChar char="■"/>
            </a:pPr>
            <a:r>
              <a:rPr lang="en-US" sz="2134" b="1">
                <a:latin typeface="Quattrocento Sans"/>
                <a:ea typeface="Quattrocento Sans"/>
                <a:cs typeface="Quattrocento Sans"/>
                <a:sym typeface="Quattrocento Sans"/>
              </a:rPr>
              <a:t>日本語で議論が出来る場を設けよう！</a:t>
            </a:r>
            <a:endParaRPr/>
          </a:p>
          <a:p>
            <a:pPr marL="478355" lvl="0" indent="-478355" algn="l" rtl="0">
              <a:lnSpc>
                <a:spcPct val="100000"/>
              </a:lnSpc>
              <a:spcBef>
                <a:spcPts val="693"/>
              </a:spcBef>
              <a:spcAft>
                <a:spcPts val="0"/>
              </a:spcAft>
              <a:buClr>
                <a:srgbClr val="7F7F7F"/>
              </a:buClr>
              <a:buSzPts val="2400"/>
              <a:buChar char="■"/>
            </a:pPr>
            <a:r>
              <a:rPr lang="en-US" sz="2400" b="1">
                <a:latin typeface="Quattrocento Sans"/>
                <a:ea typeface="Quattrocento Sans"/>
                <a:cs typeface="Quattrocento Sans"/>
                <a:sym typeface="Quattrocento Sans"/>
              </a:rPr>
              <a:t>仲間作りが必要だよね！？コミュニティを作ろう！</a:t>
            </a:r>
            <a:endParaRPr/>
          </a:p>
        </p:txBody>
      </p:sp>
      <p:sp>
        <p:nvSpPr>
          <p:cNvPr id="364" name="Google Shape;364;g373d37e5442_0_279"/>
          <p:cNvSpPr/>
          <p:nvPr/>
        </p:nvSpPr>
        <p:spPr>
          <a:xfrm>
            <a:off x="1147610" y="5019675"/>
            <a:ext cx="9803100" cy="515100"/>
          </a:xfrm>
          <a:prstGeom prst="rect">
            <a:avLst/>
          </a:prstGeom>
          <a:noFill/>
          <a:ln w="44450" cap="flat" cmpd="sng">
            <a:solidFill>
              <a:srgbClr val="006B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383733"/>
                </a:solidFill>
                <a:latin typeface="Arial"/>
                <a:ea typeface="Arial"/>
                <a:cs typeface="Arial"/>
                <a:sym typeface="Arial"/>
              </a:rPr>
              <a:t>Japan WGは、日本企業同士の、日本語によるコミュニティ</a:t>
            </a:r>
            <a:endParaRPr sz="2800" b="1" i="0" u="none" strike="noStrike" cap="none">
              <a:solidFill>
                <a:srgbClr val="383733"/>
              </a:solidFill>
              <a:latin typeface="Arial"/>
              <a:ea typeface="Arial"/>
              <a:cs typeface="Arial"/>
              <a:sym typeface="Arial"/>
            </a:endParaRPr>
          </a:p>
        </p:txBody>
      </p:sp>
      <p:sp>
        <p:nvSpPr>
          <p:cNvPr id="365" name="Google Shape;365;g373d37e5442_0_279"/>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366" name="Google Shape;366;g373d37e5442_0_279"/>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g373d37e5442_0_288"/>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OpenChain Japan Work Group 設立</a:t>
            </a:r>
            <a:endParaRPr/>
          </a:p>
        </p:txBody>
      </p:sp>
      <p:sp>
        <p:nvSpPr>
          <p:cNvPr id="373" name="Google Shape;373;g373d37e5442_0_288"/>
          <p:cNvSpPr txBox="1">
            <a:spLocks noGrp="1"/>
          </p:cNvSpPr>
          <p:nvPr>
            <p:ph type="body" idx="1"/>
          </p:nvPr>
        </p:nvSpPr>
        <p:spPr>
          <a:xfrm>
            <a:off x="889200" y="1357200"/>
            <a:ext cx="10849500" cy="2244600"/>
          </a:xfrm>
          <a:prstGeom prst="rect">
            <a:avLst/>
          </a:prstGeom>
          <a:noFill/>
          <a:ln>
            <a:noFill/>
          </a:ln>
        </p:spPr>
        <p:txBody>
          <a:bodyPr spcFirstLastPara="1" wrap="square" lIns="0" tIns="0" rIns="0" bIns="0" anchor="t" anchorCtr="0">
            <a:noAutofit/>
          </a:bodyPr>
          <a:lstStyle/>
          <a:p>
            <a:pPr marL="478355" lvl="0" indent="-478355" algn="l" rtl="0">
              <a:lnSpc>
                <a:spcPct val="100000"/>
              </a:lnSpc>
              <a:spcBef>
                <a:spcPts val="0"/>
              </a:spcBef>
              <a:spcAft>
                <a:spcPts val="0"/>
              </a:spcAft>
              <a:buClr>
                <a:srgbClr val="7F7F7F"/>
              </a:buClr>
              <a:buSzPts val="2400"/>
              <a:buChar char="■"/>
            </a:pPr>
            <a:r>
              <a:rPr lang="en-US" sz="2400" b="1">
                <a:latin typeface="Quattrocento Sans"/>
                <a:ea typeface="Quattrocento Sans"/>
                <a:cs typeface="Quattrocento Sans"/>
                <a:sym typeface="Quattrocento Sans"/>
              </a:rPr>
              <a:t>ベストプラクティスの共有や、共通課題の解決を目的として、</a:t>
            </a:r>
            <a:br>
              <a:rPr lang="en-US" sz="2400" b="1">
                <a:latin typeface="Quattrocento Sans"/>
                <a:ea typeface="Quattrocento Sans"/>
                <a:cs typeface="Quattrocento Sans"/>
                <a:sym typeface="Quattrocento Sans"/>
              </a:rPr>
            </a:br>
            <a:r>
              <a:rPr lang="en-US" sz="2400" b="1">
                <a:latin typeface="Quattrocento Sans"/>
                <a:ea typeface="Quattrocento Sans"/>
                <a:cs typeface="Quattrocento Sans"/>
                <a:sym typeface="Quattrocento Sans"/>
              </a:rPr>
              <a:t>2017年12月にソニー/日立/トヨタの3社が設立</a:t>
            </a:r>
            <a:endParaRPr/>
          </a:p>
          <a:p>
            <a:pPr marL="478355" lvl="0" indent="-478355" algn="l" rtl="0">
              <a:lnSpc>
                <a:spcPct val="100000"/>
              </a:lnSpc>
              <a:spcBef>
                <a:spcPts val="720"/>
              </a:spcBef>
              <a:spcAft>
                <a:spcPts val="0"/>
              </a:spcAft>
              <a:buClr>
                <a:srgbClr val="7F7F7F"/>
              </a:buClr>
              <a:buSzPts val="2400"/>
              <a:buChar char="■"/>
            </a:pPr>
            <a:r>
              <a:rPr lang="en-US" sz="2400" b="1">
                <a:latin typeface="Quattrocento Sans"/>
                <a:ea typeface="Quattrocento Sans"/>
                <a:cs typeface="Quattrocento Sans"/>
                <a:sym typeface="Quattrocento Sans"/>
              </a:rPr>
              <a:t>国内80社/200名以上が参加し、国別WGのモデルケースに</a:t>
            </a:r>
            <a:endParaRPr sz="2400" b="1">
              <a:latin typeface="Quattrocento Sans"/>
              <a:ea typeface="Quattrocento Sans"/>
              <a:cs typeface="Quattrocento Sans"/>
              <a:sym typeface="Quattrocento Sans"/>
            </a:endParaRPr>
          </a:p>
          <a:p>
            <a:pPr marL="833945" lvl="1" indent="-476237" algn="l" rtl="0">
              <a:lnSpc>
                <a:spcPct val="100000"/>
              </a:lnSpc>
              <a:spcBef>
                <a:spcPts val="667"/>
              </a:spcBef>
              <a:spcAft>
                <a:spcPts val="0"/>
              </a:spcAft>
              <a:buSzPts val="2134"/>
              <a:buChar char="■"/>
            </a:pPr>
            <a:r>
              <a:rPr lang="en-US" sz="2134" b="1">
                <a:latin typeface="Quattrocento Sans"/>
                <a:ea typeface="Quattrocento Sans"/>
                <a:cs typeface="Quattrocento Sans"/>
                <a:sym typeface="Quattrocento Sans"/>
              </a:rPr>
              <a:t>現在コミュニケーションは主にSlackで行っており、参加人数は270名以上。</a:t>
            </a:r>
            <a:endParaRPr sz="2134" b="1">
              <a:latin typeface="Quattrocento Sans"/>
              <a:ea typeface="Quattrocento Sans"/>
              <a:cs typeface="Quattrocento Sans"/>
              <a:sym typeface="Quattrocento Sans"/>
            </a:endParaRPr>
          </a:p>
          <a:p>
            <a:pPr marL="478355" lvl="0" indent="-478355" algn="l" rtl="0">
              <a:lnSpc>
                <a:spcPct val="100000"/>
              </a:lnSpc>
              <a:spcBef>
                <a:spcPts val="693"/>
              </a:spcBef>
              <a:spcAft>
                <a:spcPts val="0"/>
              </a:spcAft>
              <a:buClr>
                <a:srgbClr val="7F7F7F"/>
              </a:buClr>
              <a:buSzPts val="2400"/>
              <a:buChar char="■"/>
            </a:pPr>
            <a:r>
              <a:rPr lang="en-US" sz="2400" b="1">
                <a:latin typeface="Quattrocento Sans"/>
                <a:ea typeface="Quattrocento Sans"/>
                <a:cs typeface="Quattrocento Sans"/>
                <a:sym typeface="Quattrocento Sans"/>
              </a:rPr>
              <a:t>「日本語で議論し、日本語／英語でアウトプット」</a:t>
            </a:r>
            <a:endParaRPr sz="2400" b="1">
              <a:latin typeface="Quattrocento Sans"/>
              <a:ea typeface="Quattrocento Sans"/>
              <a:cs typeface="Quattrocento Sans"/>
              <a:sym typeface="Quattrocento Sans"/>
            </a:endParaRPr>
          </a:p>
          <a:p>
            <a:pPr marL="478355" lvl="0" indent="-478355" algn="l" rtl="0">
              <a:lnSpc>
                <a:spcPct val="100000"/>
              </a:lnSpc>
              <a:spcBef>
                <a:spcPts val="720"/>
              </a:spcBef>
              <a:spcAft>
                <a:spcPts val="0"/>
              </a:spcAft>
              <a:buClr>
                <a:srgbClr val="7F7F7F"/>
              </a:buClr>
              <a:buSzPts val="2400"/>
              <a:buChar char="■"/>
            </a:pPr>
            <a:r>
              <a:rPr lang="en-US" sz="2400" b="1">
                <a:latin typeface="Quattrocento Sans"/>
                <a:ea typeface="Quattrocento Sans"/>
                <a:cs typeface="Quattrocento Sans"/>
                <a:sym typeface="Quattrocento Sans"/>
              </a:rPr>
              <a:t>8つのSubgroupが活動中</a:t>
            </a:r>
            <a:endParaRPr sz="2400" b="1">
              <a:latin typeface="Quattrocento Sans"/>
              <a:ea typeface="Quattrocento Sans"/>
              <a:cs typeface="Quattrocento Sans"/>
              <a:sym typeface="Quattrocento Sans"/>
            </a:endParaRPr>
          </a:p>
        </p:txBody>
      </p:sp>
      <p:sp>
        <p:nvSpPr>
          <p:cNvPr id="374" name="Google Shape;374;g373d37e5442_0_288"/>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375" name="Google Shape;375;g373d37e5442_0_288"/>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pic>
        <p:nvPicPr>
          <p:cNvPr id="376" name="Google Shape;376;g373d37e5442_0_288"/>
          <p:cNvPicPr preferRelativeResize="0"/>
          <p:nvPr/>
        </p:nvPicPr>
        <p:blipFill rotWithShape="1">
          <a:blip r:embed="rId3">
            <a:alphaModFix/>
          </a:blip>
          <a:srcRect/>
          <a:stretch/>
        </p:blipFill>
        <p:spPr>
          <a:xfrm>
            <a:off x="6203775" y="3477125"/>
            <a:ext cx="5835726" cy="3190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381"/>
        <p:cNvGrpSpPr/>
        <p:nvPr/>
      </p:nvGrpSpPr>
      <p:grpSpPr>
        <a:xfrm>
          <a:off x="0" y="0"/>
          <a:ext cx="0" cy="0"/>
          <a:chOff x="0" y="0"/>
          <a:chExt cx="0" cy="0"/>
        </a:xfrm>
      </p:grpSpPr>
      <p:sp>
        <p:nvSpPr>
          <p:cNvPr id="382" name="Google Shape;382;g373d37e5442_0_297"/>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【参考】各国でのコミュニティ活動</a:t>
            </a:r>
            <a:endParaRPr/>
          </a:p>
        </p:txBody>
      </p:sp>
      <p:sp>
        <p:nvSpPr>
          <p:cNvPr id="383" name="Google Shape;383;g373d37e5442_0_297"/>
          <p:cNvSpPr txBox="1">
            <a:spLocks noGrp="1"/>
          </p:cNvSpPr>
          <p:nvPr>
            <p:ph type="body" idx="1"/>
          </p:nvPr>
        </p:nvSpPr>
        <p:spPr>
          <a:xfrm>
            <a:off x="889200" y="1357200"/>
            <a:ext cx="10320000" cy="394200"/>
          </a:xfrm>
          <a:prstGeom prst="rect">
            <a:avLst/>
          </a:prstGeom>
          <a:noFill/>
          <a:ln>
            <a:noFill/>
          </a:ln>
        </p:spPr>
        <p:txBody>
          <a:bodyPr spcFirstLastPara="1" wrap="square" lIns="0" tIns="0" rIns="0" bIns="0" anchor="t" anchorCtr="0">
            <a:noAutofit/>
          </a:bodyPr>
          <a:lstStyle/>
          <a:p>
            <a:pPr marL="478355" lvl="0" indent="-478355" algn="l" rtl="0">
              <a:lnSpc>
                <a:spcPct val="100000"/>
              </a:lnSpc>
              <a:spcBef>
                <a:spcPts val="0"/>
              </a:spcBef>
              <a:spcAft>
                <a:spcPts val="0"/>
              </a:spcAft>
              <a:buClr>
                <a:srgbClr val="7F7F7F"/>
              </a:buClr>
              <a:buSzPts val="2400"/>
              <a:buChar char="■"/>
            </a:pPr>
            <a:r>
              <a:rPr lang="en-US" sz="2400" b="1">
                <a:latin typeface="Quattrocento Sans"/>
                <a:ea typeface="Quattrocento Sans"/>
                <a:cs typeface="Quattrocento Sans"/>
                <a:sym typeface="Quattrocento Sans"/>
              </a:rPr>
              <a:t>2019年以降、日本以外でも Regional Work Group が発足</a:t>
            </a:r>
            <a:endParaRPr sz="2400" b="1">
              <a:latin typeface="Quattrocento Sans"/>
              <a:ea typeface="Quattrocento Sans"/>
              <a:cs typeface="Quattrocento Sans"/>
              <a:sym typeface="Quattrocento Sans"/>
            </a:endParaRPr>
          </a:p>
          <a:p>
            <a:pPr marL="478355" lvl="0" indent="-478355" algn="l" rtl="0">
              <a:lnSpc>
                <a:spcPct val="100000"/>
              </a:lnSpc>
              <a:spcBef>
                <a:spcPts val="720"/>
              </a:spcBef>
              <a:spcAft>
                <a:spcPts val="0"/>
              </a:spcAft>
              <a:buClr>
                <a:srgbClr val="7F7F7F"/>
              </a:buClr>
              <a:buSzPts val="2400"/>
              <a:buChar char="■"/>
            </a:pPr>
            <a:r>
              <a:rPr lang="en-US" sz="2400" b="1">
                <a:latin typeface="Quattrocento Sans"/>
                <a:ea typeface="Quattrocento Sans"/>
                <a:cs typeface="Quattrocento Sans"/>
                <a:sym typeface="Quattrocento Sans"/>
              </a:rPr>
              <a:t>相互交流でグローバルに仲間づくりを展開</a:t>
            </a:r>
            <a:endParaRPr sz="2400" b="1">
              <a:latin typeface="Quattrocento Sans"/>
              <a:ea typeface="Quattrocento Sans"/>
              <a:cs typeface="Quattrocento Sans"/>
              <a:sym typeface="Quattrocento Sans"/>
            </a:endParaRPr>
          </a:p>
        </p:txBody>
      </p:sp>
      <p:sp>
        <p:nvSpPr>
          <p:cNvPr id="384" name="Google Shape;384;g373d37e5442_0_297"/>
          <p:cNvSpPr/>
          <p:nvPr/>
        </p:nvSpPr>
        <p:spPr>
          <a:xfrm>
            <a:off x="1651000" y="2601260"/>
            <a:ext cx="6096000" cy="2677800"/>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Quattrocento Sans"/>
                <a:ea typeface="Quattrocento Sans"/>
                <a:cs typeface="Quattrocento Sans"/>
                <a:sym typeface="Quattrocento Sans"/>
              </a:rPr>
              <a:t>Taiwan WG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Quattrocento Sans"/>
                <a:ea typeface="Quattrocento Sans"/>
                <a:cs typeface="Quattrocento Sans"/>
                <a:sym typeface="Quattrocento Sans"/>
              </a:rPr>
              <a:t>UK WG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Quattrocento Sans"/>
                <a:ea typeface="Quattrocento Sans"/>
                <a:cs typeface="Quattrocento Sans"/>
                <a:sym typeface="Quattrocento Sans"/>
              </a:rPr>
              <a:t>Germany WG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Quattrocento Sans"/>
                <a:ea typeface="Quattrocento Sans"/>
                <a:cs typeface="Quattrocento Sans"/>
                <a:sym typeface="Quattrocento Sans"/>
              </a:rPr>
              <a:t>Korea WG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Quattrocento Sans"/>
                <a:ea typeface="Quattrocento Sans"/>
                <a:cs typeface="Quattrocento Sans"/>
                <a:sym typeface="Quattrocento Sans"/>
              </a:rPr>
              <a:t>Japan WG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Quattrocento Sans"/>
                <a:ea typeface="Quattrocento Sans"/>
                <a:cs typeface="Quattrocento Sans"/>
                <a:sym typeface="Quattrocento Sans"/>
              </a:rPr>
              <a:t>China WG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Quattrocento Sans"/>
                <a:ea typeface="Quattrocento Sans"/>
                <a:cs typeface="Quattrocento Sans"/>
                <a:sym typeface="Quattrocento Sans"/>
              </a:rPr>
              <a:t>India WG</a:t>
            </a:r>
            <a:endParaRPr sz="1400" b="0" i="0" u="none" strike="noStrike" cap="none">
              <a:solidFill>
                <a:srgbClr val="000000"/>
              </a:solidFill>
              <a:latin typeface="Arial"/>
              <a:ea typeface="Arial"/>
              <a:cs typeface="Arial"/>
              <a:sym typeface="Arial"/>
            </a:endParaRPr>
          </a:p>
        </p:txBody>
      </p:sp>
      <p:sp>
        <p:nvSpPr>
          <p:cNvPr id="385" name="Google Shape;385;g373d37e5442_0_297"/>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386" name="Google Shape;386;g373d37e5442_0_297"/>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g373d37e5442_0_306"/>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Quattrocento Sans"/>
                <a:ea typeface="Quattrocento Sans"/>
                <a:cs typeface="Quattrocento Sans"/>
                <a:sym typeface="Quattrocento Sans"/>
              </a:rPr>
              <a:t>サブグループ(SG)</a:t>
            </a:r>
            <a:endParaRPr b="1">
              <a:latin typeface="Quattrocento Sans"/>
              <a:ea typeface="Quattrocento Sans"/>
              <a:cs typeface="Quattrocento Sans"/>
              <a:sym typeface="Quattrocento Sans"/>
            </a:endParaRPr>
          </a:p>
        </p:txBody>
      </p:sp>
      <p:sp>
        <p:nvSpPr>
          <p:cNvPr id="393" name="Google Shape;393;g373d37e5442_0_306"/>
          <p:cNvSpPr txBox="1">
            <a:spLocks noGrp="1"/>
          </p:cNvSpPr>
          <p:nvPr>
            <p:ph type="body" idx="1"/>
          </p:nvPr>
        </p:nvSpPr>
        <p:spPr>
          <a:xfrm>
            <a:off x="889200" y="1187860"/>
            <a:ext cx="10849500" cy="51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オープンに課題を共有し、解決を図る</a:t>
            </a:r>
            <a:endParaRPr sz="2400" b="1">
              <a:latin typeface="Quattrocento Sans"/>
              <a:ea typeface="Quattrocento Sans"/>
              <a:cs typeface="Quattrocento Sans"/>
              <a:sym typeface="Quattrocento Sans"/>
            </a:endParaRPr>
          </a:p>
        </p:txBody>
      </p:sp>
      <p:graphicFrame>
        <p:nvGraphicFramePr>
          <p:cNvPr id="394" name="Google Shape;394;g373d37e5442_0_306"/>
          <p:cNvGraphicFramePr/>
          <p:nvPr/>
        </p:nvGraphicFramePr>
        <p:xfrm>
          <a:off x="889200" y="1627317"/>
          <a:ext cx="7836775" cy="4765665"/>
        </p:xfrm>
        <a:graphic>
          <a:graphicData uri="http://schemas.openxmlformats.org/drawingml/2006/table">
            <a:tbl>
              <a:tblPr firstRow="1" bandRow="1">
                <a:noFill/>
                <a:tableStyleId>{D3E39EA5-418F-4871-997F-E158D709882C}</a:tableStyleId>
              </a:tblPr>
              <a:tblGrid>
                <a:gridCol w="2298125">
                  <a:extLst>
                    <a:ext uri="{9D8B030D-6E8A-4147-A177-3AD203B41FA5}">
                      <a16:colId xmlns:a16="http://schemas.microsoft.com/office/drawing/2014/main" val="20000"/>
                    </a:ext>
                  </a:extLst>
                </a:gridCol>
                <a:gridCol w="5538650">
                  <a:extLst>
                    <a:ext uri="{9D8B030D-6E8A-4147-A177-3AD203B41FA5}">
                      <a16:colId xmlns:a16="http://schemas.microsoft.com/office/drawing/2014/main" val="20001"/>
                    </a:ext>
                  </a:extLst>
                </a:gridCol>
              </a:tblGrid>
              <a:tr h="37125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chemeClr val="lt1"/>
                          </a:solidFill>
                        </a:rPr>
                        <a:t>サブグループ</a:t>
                      </a:r>
                      <a:endParaRPr sz="1400" u="none" strike="noStrike" cap="none"/>
                    </a:p>
                  </a:txBody>
                  <a:tcPr marL="91450" marR="91450" marT="45725" marB="45725" anchor="ctr">
                    <a:lnB w="9525" cap="flat" cmpd="sng">
                      <a:solidFill>
                        <a:srgbClr val="000000">
                          <a:alpha val="0"/>
                        </a:srgbClr>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solidFill>
                            <a:schemeClr val="lt1"/>
                          </a:solidFill>
                        </a:rPr>
                        <a:t>主な取り組み</a:t>
                      </a:r>
                      <a:endParaRPr sz="1400" u="none" strike="noStrike" cap="none"/>
                    </a:p>
                  </a:txBody>
                  <a:tcPr marL="91450" marR="91450" marT="45725" marB="45725" anchor="ctr">
                    <a:lnB w="9525" cap="flat" cmpd="sng">
                      <a:solidFill>
                        <a:srgbClr val="000000">
                          <a:alpha val="0"/>
                        </a:srgbClr>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385250">
                <a:tc>
                  <a:txBody>
                    <a:bodyPr/>
                    <a:lstStyle/>
                    <a:p>
                      <a:pPr marL="0" marR="0" lvl="0" indent="0" algn="l" rtl="0">
                        <a:lnSpc>
                          <a:spcPct val="100000"/>
                        </a:lnSpc>
                        <a:spcBef>
                          <a:spcPts val="0"/>
                        </a:spcBef>
                        <a:spcAft>
                          <a:spcPts val="0"/>
                        </a:spcAft>
                        <a:buClr>
                          <a:srgbClr val="000000"/>
                        </a:buClr>
                        <a:buSzPts val="1050"/>
                        <a:buFont typeface="Arial"/>
                        <a:buNone/>
                      </a:pPr>
                      <a:r>
                        <a:rPr lang="en-US" sz="1050" b="1" u="none" strike="noStrike" cap="none"/>
                        <a:t>Planning</a:t>
                      </a:r>
                      <a:endParaRPr sz="1050" b="1" u="none" strike="noStrike" cap="none">
                        <a:latin typeface="Quattrocento Sans"/>
                        <a:ea typeface="Quattrocento Sans"/>
                        <a:cs typeface="Quattrocento Sans"/>
                        <a:sym typeface="Quattrocento Sans"/>
                      </a:endParaRPr>
                    </a:p>
                  </a:txBody>
                  <a:tcPr marL="91450" marR="91450" marT="45725" marB="45725" anchor="ctr">
                    <a:lnT w="9525" cap="flat" cmpd="sng">
                      <a:solidFill>
                        <a:srgbClr val="000000">
                          <a:alpha val="0"/>
                        </a:srgbClr>
                      </a:solidFill>
                      <a:prstDash val="solid"/>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Japan WG全体の活動プランの議論と、全体会合の準備を検討</a:t>
                      </a:r>
                      <a:endParaRPr sz="1000" b="0" u="none" strike="noStrike" cap="none">
                        <a:latin typeface="Quattrocento Sans"/>
                        <a:ea typeface="Quattrocento Sans"/>
                        <a:cs typeface="Quattrocento Sans"/>
                        <a:sym typeface="Quattrocento Sans"/>
                      </a:endParaRPr>
                    </a:p>
                  </a:txBody>
                  <a:tcPr marL="91450" marR="91450" marT="45725" marB="45725" anchor="ctr">
                    <a:lnT w="9525" cap="flat" cmpd="sng">
                      <a:solidFill>
                        <a:srgbClr val="000000">
                          <a:alpha val="0"/>
                        </a:srgbClr>
                      </a:solidFill>
                      <a:prstDash val="solid"/>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1"/>
                  </a:ext>
                </a:extLst>
              </a:tr>
              <a:tr h="385250">
                <a:tc>
                  <a:txBody>
                    <a:bodyPr/>
                    <a:lstStyle/>
                    <a:p>
                      <a:pPr marL="0" marR="0" lvl="0" indent="0" algn="l" rtl="0">
                        <a:lnSpc>
                          <a:spcPct val="100000"/>
                        </a:lnSpc>
                        <a:spcBef>
                          <a:spcPts val="0"/>
                        </a:spcBef>
                        <a:spcAft>
                          <a:spcPts val="0"/>
                        </a:spcAft>
                        <a:buClr>
                          <a:srgbClr val="000000"/>
                        </a:buClr>
                        <a:buSzPts val="1050"/>
                        <a:buFont typeface="Arial"/>
                        <a:buNone/>
                      </a:pPr>
                      <a:r>
                        <a:rPr lang="en-US" sz="1050" b="1" u="none" strike="noStrike" cap="none"/>
                        <a:t>FAQ</a:t>
                      </a:r>
                      <a:endParaRPr sz="105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著作権やOSSライセンスについて主に初心者向けに、OSSライセンスに関するFAQを作成し公開</a:t>
                      </a:r>
                      <a:endParaRPr sz="1000" b="0"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2"/>
                  </a:ext>
                </a:extLst>
              </a:tr>
              <a:tr h="485500">
                <a:tc>
                  <a:txBody>
                    <a:bodyPr/>
                    <a:lstStyle/>
                    <a:p>
                      <a:pPr marL="0" marR="0" lvl="0" indent="0" algn="l" rtl="0">
                        <a:lnSpc>
                          <a:spcPct val="100000"/>
                        </a:lnSpc>
                        <a:spcBef>
                          <a:spcPts val="0"/>
                        </a:spcBef>
                        <a:spcAft>
                          <a:spcPts val="0"/>
                        </a:spcAft>
                        <a:buClr>
                          <a:srgbClr val="000000"/>
                        </a:buClr>
                        <a:buSzPts val="1050"/>
                        <a:buFont typeface="Arial"/>
                        <a:buNone/>
                      </a:pPr>
                      <a:r>
                        <a:rPr lang="en-US" sz="1050" b="1" u="none" strike="noStrike" cap="none"/>
                        <a:t>サプライチェーンリーフレット</a:t>
                      </a:r>
                      <a:endParaRPr sz="1050" b="1" u="none" strike="noStrike" cap="none"/>
                    </a:p>
                    <a:p>
                      <a:pPr marL="0" marR="0" lvl="0" indent="0" algn="l" rtl="0">
                        <a:lnSpc>
                          <a:spcPct val="100000"/>
                        </a:lnSpc>
                        <a:spcBef>
                          <a:spcPts val="0"/>
                        </a:spcBef>
                        <a:spcAft>
                          <a:spcPts val="0"/>
                        </a:spcAft>
                        <a:buClr>
                          <a:srgbClr val="000000"/>
                        </a:buClr>
                        <a:buSzPts val="1050"/>
                        <a:buFont typeface="Arial"/>
                        <a:buNone/>
                      </a:pPr>
                      <a:r>
                        <a:rPr lang="en-US" sz="1050" b="1" u="none" strike="noStrike" cap="none"/>
                        <a:t> (Leaflet)</a:t>
                      </a:r>
                      <a:endParaRPr sz="105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「オープンソースソフトウェアライセンス遵守に関する一般公衆ガイド」を作成、公開した</a:t>
                      </a:r>
                      <a:endParaRPr sz="1000" b="0"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3"/>
                  </a:ext>
                </a:extLst>
              </a:tr>
              <a:tr h="485500">
                <a:tc>
                  <a:txBody>
                    <a:bodyPr/>
                    <a:lstStyle/>
                    <a:p>
                      <a:pPr marL="0" marR="0" lvl="0" indent="0" algn="l" rtl="0">
                        <a:lnSpc>
                          <a:spcPct val="100000"/>
                        </a:lnSpc>
                        <a:spcBef>
                          <a:spcPts val="0"/>
                        </a:spcBef>
                        <a:spcAft>
                          <a:spcPts val="0"/>
                        </a:spcAft>
                        <a:buClr>
                          <a:srgbClr val="000000"/>
                        </a:buClr>
                        <a:buSzPts val="1050"/>
                        <a:buFont typeface="Arial"/>
                        <a:buNone/>
                      </a:pPr>
                      <a:r>
                        <a:rPr lang="en-US" sz="1050" b="1" u="none" strike="noStrike" cap="none"/>
                        <a:t>教育資料 </a:t>
                      </a:r>
                      <a:endParaRPr sz="1050" b="1" u="none" strike="noStrike" cap="none"/>
                    </a:p>
                    <a:p>
                      <a:pPr marL="0" marR="0" lvl="0" indent="0" algn="l" rtl="0">
                        <a:lnSpc>
                          <a:spcPct val="100000"/>
                        </a:lnSpc>
                        <a:spcBef>
                          <a:spcPts val="0"/>
                        </a:spcBef>
                        <a:spcAft>
                          <a:spcPts val="0"/>
                        </a:spcAft>
                        <a:buClr>
                          <a:srgbClr val="000000"/>
                        </a:buClr>
                        <a:buSzPts val="1050"/>
                        <a:buFont typeface="Arial"/>
                        <a:buNone/>
                      </a:pPr>
                      <a:r>
                        <a:rPr lang="en-US" sz="1050" b="1" u="none" strike="noStrike" cap="none"/>
                        <a:t>(Education)</a:t>
                      </a:r>
                      <a:endParaRPr sz="105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ソフトウェア開発者向け教育資料(コンプライアンスプログラム・バージョン)を作成した。</a:t>
                      </a:r>
                      <a:endParaRPr sz="1000" b="0" u="none" strike="noStrike" cap="none"/>
                    </a:p>
                    <a:p>
                      <a:pPr marL="0" marR="0" lvl="0" indent="0" algn="l" rtl="0">
                        <a:lnSpc>
                          <a:spcPct val="100000"/>
                        </a:lnSpc>
                        <a:spcBef>
                          <a:spcPts val="0"/>
                        </a:spcBef>
                        <a:spcAft>
                          <a:spcPts val="0"/>
                        </a:spcAft>
                        <a:buClr>
                          <a:srgbClr val="000000"/>
                        </a:buClr>
                        <a:buSzPts val="1000"/>
                        <a:buFont typeface="Arial"/>
                        <a:buNone/>
                      </a:pPr>
                      <a:r>
                        <a:rPr lang="en-US" sz="1000" b="0" u="none" strike="noStrike" cap="none"/>
                        <a:t>今後、ソフトウェア開発ベンダー(ODM:Original Design Manufacturing)向けの教育資料を作成予定</a:t>
                      </a:r>
                      <a:endParaRPr sz="1000" b="0"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4"/>
                  </a:ext>
                </a:extLst>
              </a:tr>
              <a:tr h="599725">
                <a:tc>
                  <a:txBody>
                    <a:bodyPr/>
                    <a:lstStyle/>
                    <a:p>
                      <a:pPr marL="0" marR="0" lvl="0" indent="0" algn="l" rtl="0">
                        <a:lnSpc>
                          <a:spcPct val="100000"/>
                        </a:lnSpc>
                        <a:spcBef>
                          <a:spcPts val="0"/>
                        </a:spcBef>
                        <a:spcAft>
                          <a:spcPts val="0"/>
                        </a:spcAft>
                        <a:buClr>
                          <a:srgbClr val="000000"/>
                        </a:buClr>
                        <a:buSzPts val="1050"/>
                        <a:buFont typeface="Arial"/>
                        <a:buNone/>
                      </a:pPr>
                      <a:r>
                        <a:rPr lang="en-US" sz="1050" b="1" u="none" strike="noStrike" cap="none"/>
                        <a:t>SBOM</a:t>
                      </a:r>
                      <a:endParaRPr sz="1400" u="none" strike="noStrike" cap="none"/>
                    </a:p>
                    <a:p>
                      <a:pPr marL="0" marR="0" lvl="0" indent="0" algn="l" rtl="0">
                        <a:lnSpc>
                          <a:spcPct val="100000"/>
                        </a:lnSpc>
                        <a:spcBef>
                          <a:spcPts val="0"/>
                        </a:spcBef>
                        <a:spcAft>
                          <a:spcPts val="0"/>
                        </a:spcAft>
                        <a:buClr>
                          <a:srgbClr val="000000"/>
                        </a:buClr>
                        <a:buSzPts val="1050"/>
                        <a:buFont typeface="Arial"/>
                        <a:buNone/>
                      </a:pPr>
                      <a:r>
                        <a:rPr lang="en-US" sz="1050" b="1" u="none" strike="noStrike" cap="none"/>
                        <a:t>(ライセンス情報sg から名称変更)</a:t>
                      </a:r>
                      <a:endParaRPr sz="1400" u="none" strike="noStrike" cap="none"/>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組織間のライセンス情報授受に関してのガイドラインやSPDX Lite 仕様の策定に貢献。現在は、SBOMなど、組織間のライセンス情報・ソフトウェアパッケージ情報の授受に関するガイドラインやSPDXへの仕様提案などを、動向を調査とあわせて実施</a:t>
                      </a:r>
                      <a:endParaRPr sz="1000" b="0"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5"/>
                  </a:ext>
                </a:extLst>
              </a:tr>
              <a:tr h="485500">
                <a:tc>
                  <a:txBody>
                    <a:bodyPr/>
                    <a:lstStyle/>
                    <a:p>
                      <a:pPr marL="0" marR="0" lvl="0" indent="0" algn="l" rtl="0">
                        <a:lnSpc>
                          <a:spcPct val="100000"/>
                        </a:lnSpc>
                        <a:spcBef>
                          <a:spcPts val="0"/>
                        </a:spcBef>
                        <a:spcAft>
                          <a:spcPts val="0"/>
                        </a:spcAft>
                        <a:buClr>
                          <a:srgbClr val="000000"/>
                        </a:buClr>
                        <a:buSzPts val="1050"/>
                        <a:buFont typeface="Arial"/>
                        <a:buNone/>
                      </a:pPr>
                      <a:r>
                        <a:rPr lang="en-US" sz="1050" b="1" u="none" strike="noStrike" cap="none"/>
                        <a:t>プロモーション </a:t>
                      </a:r>
                      <a:endParaRPr sz="1050" b="1" u="none" strike="noStrike" cap="none"/>
                    </a:p>
                    <a:p>
                      <a:pPr marL="0" marR="0" lvl="0" indent="0" algn="l" rtl="0">
                        <a:lnSpc>
                          <a:spcPct val="100000"/>
                        </a:lnSpc>
                        <a:spcBef>
                          <a:spcPts val="0"/>
                        </a:spcBef>
                        <a:spcAft>
                          <a:spcPts val="0"/>
                        </a:spcAft>
                        <a:buClr>
                          <a:srgbClr val="000000"/>
                        </a:buClr>
                        <a:buSzPts val="1050"/>
                        <a:buFont typeface="Arial"/>
                        <a:buNone/>
                      </a:pPr>
                      <a:r>
                        <a:rPr lang="en-US" sz="1050" b="1" u="none" strike="noStrike" cap="none"/>
                        <a:t>(Promotion)</a:t>
                      </a:r>
                      <a:endParaRPr sz="105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OSSコンプライアンスやOSSそのものの重要性の認知を拡大するための資料の作成やメディア・政府・産業界・学術界などと連携した啓発活動など</a:t>
                      </a:r>
                      <a:endParaRPr sz="1000" b="0"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6"/>
                  </a:ext>
                </a:extLst>
              </a:tr>
              <a:tr h="799675">
                <a:tc>
                  <a:txBody>
                    <a:bodyPr/>
                    <a:lstStyle/>
                    <a:p>
                      <a:pPr marL="0" marR="0" lvl="0" indent="0" algn="l" rtl="0">
                        <a:lnSpc>
                          <a:spcPct val="100000"/>
                        </a:lnSpc>
                        <a:spcBef>
                          <a:spcPts val="0"/>
                        </a:spcBef>
                        <a:spcAft>
                          <a:spcPts val="0"/>
                        </a:spcAft>
                        <a:buClr>
                          <a:srgbClr val="000000"/>
                        </a:buClr>
                        <a:buSzPts val="1050"/>
                        <a:buFont typeface="Arial"/>
                        <a:buNone/>
                      </a:pPr>
                      <a:r>
                        <a:rPr lang="en-US" sz="1050" b="1" u="none" strike="noStrike" cap="none"/>
                        <a:t>Automation</a:t>
                      </a:r>
                      <a:endParaRPr sz="1400" u="none" strike="noStrike" cap="none"/>
                    </a:p>
                    <a:p>
                      <a:pPr marL="0" marR="0" lvl="0" indent="0" algn="l" rtl="0">
                        <a:lnSpc>
                          <a:spcPct val="100000"/>
                        </a:lnSpc>
                        <a:spcBef>
                          <a:spcPts val="0"/>
                        </a:spcBef>
                        <a:spcAft>
                          <a:spcPts val="0"/>
                        </a:spcAft>
                        <a:buClr>
                          <a:srgbClr val="000000"/>
                        </a:buClr>
                        <a:buSzPts val="1050"/>
                        <a:buFont typeface="Arial"/>
                        <a:buNone/>
                      </a:pPr>
                      <a:r>
                        <a:rPr lang="en-US" sz="1050" b="1" u="none" strike="noStrike" cap="none"/>
                        <a:t>(Tooling sg から名称変更)</a:t>
                      </a:r>
                      <a:endParaRPr sz="105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US" sz="1000" b="0" u="none" strike="noStrike" cap="none"/>
                        <a:t>管理運用のためのOSSを利用して、 Open Source Compliance において以下の項目の実現を目指す</a:t>
                      </a:r>
                      <a:endParaRPr sz="1000" b="0" u="none" strike="noStrike" cap="none"/>
                    </a:p>
                    <a:p>
                      <a:pPr marL="171450" marR="0" lvl="0" indent="-171450" algn="l" rtl="0">
                        <a:lnSpc>
                          <a:spcPct val="100000"/>
                        </a:lnSpc>
                        <a:spcBef>
                          <a:spcPts val="0"/>
                        </a:spcBef>
                        <a:spcAft>
                          <a:spcPts val="0"/>
                        </a:spcAft>
                        <a:buClr>
                          <a:schemeClr val="dk1"/>
                        </a:buClr>
                        <a:buSzPts val="1000"/>
                        <a:buFont typeface="Arial"/>
                        <a:buChar char="•"/>
                      </a:pPr>
                      <a:r>
                        <a:rPr lang="en-US" sz="1000" b="0" u="none" strike="noStrike" cap="none"/>
                        <a:t>組織に応じたワークフローの構築</a:t>
                      </a:r>
                      <a:endParaRPr sz="1000" b="0" u="none" strike="noStrike" cap="none"/>
                    </a:p>
                    <a:p>
                      <a:pPr marL="171450" marR="0" lvl="0" indent="-171450" algn="l" rtl="0">
                        <a:lnSpc>
                          <a:spcPct val="100000"/>
                        </a:lnSpc>
                        <a:spcBef>
                          <a:spcPts val="0"/>
                        </a:spcBef>
                        <a:spcAft>
                          <a:spcPts val="0"/>
                        </a:spcAft>
                        <a:buClr>
                          <a:schemeClr val="dk1"/>
                        </a:buClr>
                        <a:buSzPts val="1000"/>
                        <a:buFont typeface="Arial"/>
                        <a:buChar char="•"/>
                      </a:pPr>
                      <a:r>
                        <a:rPr lang="en-US" sz="1000" b="0" u="none" strike="noStrike" cap="none"/>
                        <a:t>省力化 (オートメーション)</a:t>
                      </a:r>
                      <a:endParaRPr sz="1400" u="none" strike="noStrike" cap="none"/>
                    </a:p>
                    <a:p>
                      <a:pPr marL="171450" marR="0" lvl="0" indent="-171450" algn="l" rtl="0">
                        <a:lnSpc>
                          <a:spcPct val="100000"/>
                        </a:lnSpc>
                        <a:spcBef>
                          <a:spcPts val="0"/>
                        </a:spcBef>
                        <a:spcAft>
                          <a:spcPts val="0"/>
                        </a:spcAft>
                        <a:buClr>
                          <a:schemeClr val="dk1"/>
                        </a:buClr>
                        <a:buSzPts val="1000"/>
                        <a:buFont typeface="Arial"/>
                        <a:buChar char="•"/>
                      </a:pPr>
                      <a:r>
                        <a:rPr lang="en-US" sz="1000" b="0" u="none" strike="noStrike" cap="none"/>
                        <a:t>質の向上</a:t>
                      </a:r>
                      <a:endParaRPr sz="1000" b="0"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7"/>
                  </a:ext>
                </a:extLst>
              </a:tr>
              <a:tr h="442375">
                <a:tc>
                  <a:txBody>
                    <a:bodyPr/>
                    <a:lstStyle/>
                    <a:p>
                      <a:pPr marL="0" marR="0" lvl="0" indent="0" algn="l" rtl="0">
                        <a:lnSpc>
                          <a:spcPct val="100000"/>
                        </a:lnSpc>
                        <a:spcBef>
                          <a:spcPts val="0"/>
                        </a:spcBef>
                        <a:spcAft>
                          <a:spcPts val="0"/>
                        </a:spcAft>
                        <a:buClr>
                          <a:srgbClr val="000000"/>
                        </a:buClr>
                        <a:buSzPts val="1050"/>
                        <a:buFont typeface="Arial"/>
                        <a:buNone/>
                      </a:pPr>
                      <a:r>
                        <a:rPr lang="en-US" sz="1050" b="1" u="none" strike="noStrike" cap="none">
                          <a:latin typeface="Quattrocento Sans"/>
                          <a:ea typeface="Quattrocento Sans"/>
                          <a:cs typeface="Quattrocento Sans"/>
                          <a:sym typeface="Quattrocento Sans"/>
                        </a:rPr>
                        <a:t>OSPO</a:t>
                      </a:r>
                      <a:endParaRPr sz="105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000"/>
                        <a:buFont typeface="Arial"/>
                        <a:buNone/>
                      </a:pPr>
                      <a:r>
                        <a:rPr lang="en-US" sz="1000" b="0" u="none" strike="noStrike" cap="none">
                          <a:latin typeface="Quattrocento Sans"/>
                          <a:ea typeface="Quattrocento Sans"/>
                          <a:cs typeface="Quattrocento Sans"/>
                          <a:sym typeface="Quattrocento Sans"/>
                        </a:rPr>
                        <a:t>OSS推進に必要となる役割の明確化と実践方法の提案を検討/TODO GroupとJapan OSPO Local Meetupとして共催</a:t>
                      </a:r>
                      <a:endParaRPr sz="14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800" u="none" strike="noStrike" cap="none">
                          <a:solidFill>
                            <a:schemeClr val="dk1"/>
                          </a:solidFill>
                          <a:latin typeface="Quattrocento Sans"/>
                          <a:ea typeface="Quattrocento Sans"/>
                          <a:cs typeface="Quattrocento Sans"/>
                          <a:sym typeface="Quattrocento Sans"/>
                        </a:rPr>
                        <a:t>OSS Strategy &amp; Hosting議論</a:t>
                      </a:r>
                      <a:endParaRPr sz="800" u="none" strike="noStrike" cap="none">
                        <a:solidFill>
                          <a:schemeClr val="dk1"/>
                        </a:solidFill>
                        <a:latin typeface="Quattrocento Sans"/>
                        <a:ea typeface="Quattrocento Sans"/>
                        <a:cs typeface="Quattrocento Sans"/>
                        <a:sym typeface="Quattrocento Sans"/>
                      </a:endParaRPr>
                    </a:p>
                    <a:p>
                      <a:pPr marL="171450" marR="0" lvl="0" indent="-171450" algn="l" rtl="0">
                        <a:lnSpc>
                          <a:spcPct val="100000"/>
                        </a:lnSpc>
                        <a:spcBef>
                          <a:spcPts val="0"/>
                        </a:spcBef>
                        <a:spcAft>
                          <a:spcPts val="0"/>
                        </a:spcAft>
                        <a:buClr>
                          <a:schemeClr val="dk1"/>
                        </a:buClr>
                        <a:buSzPts val="800"/>
                        <a:buFont typeface="Arial"/>
                        <a:buChar char="•"/>
                      </a:pPr>
                      <a:r>
                        <a:rPr lang="en-US" sz="800" b="0" u="none" strike="noStrike" cap="none">
                          <a:solidFill>
                            <a:schemeClr val="dk1"/>
                          </a:solidFill>
                          <a:latin typeface="Quattrocento Sans"/>
                          <a:ea typeface="Quattrocento Sans"/>
                          <a:cs typeface="Quattrocento Sans"/>
                          <a:sym typeface="Quattrocento Sans"/>
                        </a:rPr>
                        <a:t>OSPO FAQ検討</a:t>
                      </a:r>
                      <a:endParaRPr sz="1000" b="0"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tcPr>
                </a:tc>
                <a:extLst>
                  <a:ext uri="{0D108BD9-81ED-4DB2-BD59-A6C34878D82A}">
                    <a16:rowId xmlns:a16="http://schemas.microsoft.com/office/drawing/2014/main" val="10008"/>
                  </a:ext>
                </a:extLst>
              </a:tr>
            </a:tbl>
          </a:graphicData>
        </a:graphic>
      </p:graphicFrame>
      <p:sp>
        <p:nvSpPr>
          <p:cNvPr id="395" name="Google Shape;395;g373d37e5442_0_306"/>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396" name="Google Shape;396;g373d37e5442_0_306"/>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
        <p:nvSpPr>
          <p:cNvPr id="397" name="Google Shape;397;g373d37e5442_0_306"/>
          <p:cNvSpPr txBox="1"/>
          <p:nvPr/>
        </p:nvSpPr>
        <p:spPr>
          <a:xfrm>
            <a:off x="5068389" y="792458"/>
            <a:ext cx="5268600" cy="51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F7F7F"/>
              </a:buClr>
              <a:buSzPts val="1600"/>
              <a:buFont typeface="Noto Sans Symbols"/>
              <a:buNone/>
            </a:pPr>
            <a:r>
              <a:rPr lang="en-US" sz="1600" b="1" i="0" u="none" strike="noStrike" cap="none">
                <a:solidFill>
                  <a:srgbClr val="20252B"/>
                </a:solidFill>
                <a:latin typeface="Quattrocento Sans"/>
                <a:ea typeface="Quattrocento Sans"/>
                <a:cs typeface="Quattrocento Sans"/>
                <a:sym typeface="Quattrocento Sans"/>
              </a:rPr>
              <a:t>(Chatham House Rule を適用する場合アリ)</a:t>
            </a:r>
            <a:endParaRPr sz="1800" b="1" i="0" u="none" strike="noStrike" cap="none">
              <a:solidFill>
                <a:srgbClr val="20252B"/>
              </a:solidFill>
              <a:latin typeface="Quattrocento Sans"/>
              <a:ea typeface="Quattrocento Sans"/>
              <a:cs typeface="Quattrocento Sans"/>
              <a:sym typeface="Quattrocento Sans"/>
            </a:endParaRPr>
          </a:p>
        </p:txBody>
      </p:sp>
      <p:grpSp>
        <p:nvGrpSpPr>
          <p:cNvPr id="398" name="Google Shape;398;g373d37e5442_0_306"/>
          <p:cNvGrpSpPr/>
          <p:nvPr/>
        </p:nvGrpSpPr>
        <p:grpSpPr>
          <a:xfrm>
            <a:off x="9109974" y="991586"/>
            <a:ext cx="2889783" cy="5451031"/>
            <a:chOff x="9109974" y="991586"/>
            <a:chExt cx="2889783" cy="5451031"/>
          </a:xfrm>
        </p:grpSpPr>
        <p:pic>
          <p:nvPicPr>
            <p:cNvPr id="399" name="Google Shape;399;g373d37e5442_0_306"/>
            <p:cNvPicPr preferRelativeResize="0"/>
            <p:nvPr/>
          </p:nvPicPr>
          <p:blipFill rotWithShape="1">
            <a:blip r:embed="rId3">
              <a:alphaModFix/>
            </a:blip>
            <a:srcRect/>
            <a:stretch/>
          </p:blipFill>
          <p:spPr>
            <a:xfrm>
              <a:off x="9293537" y="4985154"/>
              <a:ext cx="1128424" cy="1121625"/>
            </a:xfrm>
            <a:prstGeom prst="rect">
              <a:avLst/>
            </a:prstGeom>
            <a:noFill/>
            <a:ln>
              <a:noFill/>
            </a:ln>
          </p:spPr>
        </p:pic>
        <p:grpSp>
          <p:nvGrpSpPr>
            <p:cNvPr id="400" name="Google Shape;400;g373d37e5442_0_306"/>
            <p:cNvGrpSpPr/>
            <p:nvPr/>
          </p:nvGrpSpPr>
          <p:grpSpPr>
            <a:xfrm>
              <a:off x="9109974" y="991586"/>
              <a:ext cx="2889783" cy="5451031"/>
              <a:chOff x="9109974" y="991586"/>
              <a:chExt cx="2889783" cy="5451031"/>
            </a:xfrm>
          </p:grpSpPr>
          <p:grpSp>
            <p:nvGrpSpPr>
              <p:cNvPr id="401" name="Google Shape;401;g373d37e5442_0_306"/>
              <p:cNvGrpSpPr/>
              <p:nvPr/>
            </p:nvGrpSpPr>
            <p:grpSpPr>
              <a:xfrm>
                <a:off x="9288792" y="991586"/>
                <a:ext cx="2532183" cy="1377162"/>
                <a:chOff x="9288792" y="878372"/>
                <a:chExt cx="2532183" cy="1377162"/>
              </a:xfrm>
            </p:grpSpPr>
            <p:grpSp>
              <p:nvGrpSpPr>
                <p:cNvPr id="402" name="Google Shape;402;g373d37e5442_0_306"/>
                <p:cNvGrpSpPr/>
                <p:nvPr/>
              </p:nvGrpSpPr>
              <p:grpSpPr>
                <a:xfrm>
                  <a:off x="9288792" y="878372"/>
                  <a:ext cx="1121100" cy="1377162"/>
                  <a:chOff x="9171081" y="878372"/>
                  <a:chExt cx="1121100" cy="1377162"/>
                </a:xfrm>
              </p:grpSpPr>
              <p:pic>
                <p:nvPicPr>
                  <p:cNvPr id="403" name="Google Shape;403;g373d37e5442_0_306"/>
                  <p:cNvPicPr preferRelativeResize="0"/>
                  <p:nvPr/>
                </p:nvPicPr>
                <p:blipFill rotWithShape="1">
                  <a:blip r:embed="rId4">
                    <a:alphaModFix/>
                  </a:blip>
                  <a:srcRect/>
                  <a:stretch/>
                </p:blipFill>
                <p:spPr>
                  <a:xfrm>
                    <a:off x="9171081" y="878372"/>
                    <a:ext cx="1121100" cy="1121100"/>
                  </a:xfrm>
                  <a:prstGeom prst="flowChartConnector">
                    <a:avLst/>
                  </a:prstGeom>
                  <a:noFill/>
                  <a:ln>
                    <a:noFill/>
                  </a:ln>
                </p:spPr>
              </p:pic>
              <p:sp>
                <p:nvSpPr>
                  <p:cNvPr id="404" name="Google Shape;404;g373d37e5442_0_306"/>
                  <p:cNvSpPr txBox="1"/>
                  <p:nvPr/>
                </p:nvSpPr>
                <p:spPr>
                  <a:xfrm>
                    <a:off x="9171081" y="2009234"/>
                    <a:ext cx="11211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Quattrocento Sans"/>
                        <a:ea typeface="Quattrocento Sans"/>
                        <a:cs typeface="Quattrocento Sans"/>
                        <a:sym typeface="Quattrocento Sans"/>
                      </a:rPr>
                      <a:t>Planning：渡邊</a:t>
                    </a:r>
                    <a:endParaRPr sz="1400" b="0" i="0" u="none" strike="noStrike" cap="none">
                      <a:solidFill>
                        <a:srgbClr val="000000"/>
                      </a:solidFill>
                      <a:latin typeface="Arial"/>
                      <a:ea typeface="Arial"/>
                      <a:cs typeface="Arial"/>
                      <a:sym typeface="Arial"/>
                    </a:endParaRPr>
                  </a:p>
                </p:txBody>
              </p:sp>
            </p:grpSp>
            <p:grpSp>
              <p:nvGrpSpPr>
                <p:cNvPr id="405" name="Google Shape;405;g373d37e5442_0_306"/>
                <p:cNvGrpSpPr/>
                <p:nvPr/>
              </p:nvGrpSpPr>
              <p:grpSpPr>
                <a:xfrm>
                  <a:off x="10699875" y="878372"/>
                  <a:ext cx="1121100" cy="1371718"/>
                  <a:chOff x="10649753" y="897027"/>
                  <a:chExt cx="1121100" cy="1371718"/>
                </a:xfrm>
              </p:grpSpPr>
              <p:pic>
                <p:nvPicPr>
                  <p:cNvPr id="406" name="Google Shape;406;g373d37e5442_0_306" descr="shimaさんのプロフィール写真"/>
                  <p:cNvPicPr preferRelativeResize="0"/>
                  <p:nvPr/>
                </p:nvPicPr>
                <p:blipFill rotWithShape="1">
                  <a:blip r:embed="rId5">
                    <a:alphaModFix/>
                  </a:blip>
                  <a:srcRect/>
                  <a:stretch/>
                </p:blipFill>
                <p:spPr>
                  <a:xfrm>
                    <a:off x="10649753" y="897027"/>
                    <a:ext cx="1121100" cy="1121100"/>
                  </a:xfrm>
                  <a:prstGeom prst="flowChartConnector">
                    <a:avLst/>
                  </a:prstGeom>
                  <a:noFill/>
                  <a:ln>
                    <a:noFill/>
                  </a:ln>
                </p:spPr>
              </p:pic>
              <p:sp>
                <p:nvSpPr>
                  <p:cNvPr id="407" name="Google Shape;407;g373d37e5442_0_306"/>
                  <p:cNvSpPr txBox="1"/>
                  <p:nvPr/>
                </p:nvSpPr>
                <p:spPr>
                  <a:xfrm>
                    <a:off x="10649753" y="2022445"/>
                    <a:ext cx="11211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Quattrocento Sans"/>
                        <a:ea typeface="Quattrocento Sans"/>
                        <a:cs typeface="Quattrocento Sans"/>
                        <a:sym typeface="Quattrocento Sans"/>
                      </a:rPr>
                      <a:t>FAQ：島</a:t>
                    </a:r>
                    <a:endParaRPr sz="1400" b="0" i="0" u="none" strike="noStrike" cap="none">
                      <a:solidFill>
                        <a:srgbClr val="000000"/>
                      </a:solidFill>
                      <a:latin typeface="Arial"/>
                      <a:ea typeface="Arial"/>
                      <a:cs typeface="Arial"/>
                      <a:sym typeface="Arial"/>
                    </a:endParaRPr>
                  </a:p>
                </p:txBody>
              </p:sp>
            </p:grpSp>
          </p:grpSp>
          <p:grpSp>
            <p:nvGrpSpPr>
              <p:cNvPr id="408" name="Google Shape;408;g373d37e5442_0_306"/>
              <p:cNvGrpSpPr/>
              <p:nvPr/>
            </p:nvGrpSpPr>
            <p:grpSpPr>
              <a:xfrm>
                <a:off x="9249273" y="2321081"/>
                <a:ext cx="2669008" cy="1374532"/>
                <a:chOff x="9249273" y="2241980"/>
                <a:chExt cx="2669008" cy="1374532"/>
              </a:xfrm>
            </p:grpSpPr>
            <p:grpSp>
              <p:nvGrpSpPr>
                <p:cNvPr id="409" name="Google Shape;409;g373d37e5442_0_306"/>
                <p:cNvGrpSpPr/>
                <p:nvPr/>
              </p:nvGrpSpPr>
              <p:grpSpPr>
                <a:xfrm>
                  <a:off x="9249273" y="2241980"/>
                  <a:ext cx="1200000" cy="1367579"/>
                  <a:chOff x="9131561" y="2198435"/>
                  <a:chExt cx="1200000" cy="1367579"/>
                </a:xfrm>
              </p:grpSpPr>
              <p:pic>
                <p:nvPicPr>
                  <p:cNvPr id="410" name="Google Shape;410;g373d37e5442_0_306"/>
                  <p:cNvPicPr preferRelativeResize="0"/>
                  <p:nvPr/>
                </p:nvPicPr>
                <p:blipFill rotWithShape="1">
                  <a:blip r:embed="rId6">
                    <a:alphaModFix/>
                  </a:blip>
                  <a:srcRect/>
                  <a:stretch/>
                </p:blipFill>
                <p:spPr>
                  <a:xfrm>
                    <a:off x="9171080" y="2198435"/>
                    <a:ext cx="1121036" cy="1121036"/>
                  </a:xfrm>
                  <a:prstGeom prst="rect">
                    <a:avLst/>
                  </a:prstGeom>
                  <a:noFill/>
                  <a:ln>
                    <a:noFill/>
                  </a:ln>
                </p:spPr>
              </p:pic>
              <p:sp>
                <p:nvSpPr>
                  <p:cNvPr id="411" name="Google Shape;411;g373d37e5442_0_306"/>
                  <p:cNvSpPr txBox="1"/>
                  <p:nvPr/>
                </p:nvSpPr>
                <p:spPr>
                  <a:xfrm>
                    <a:off x="9131561" y="3319714"/>
                    <a:ext cx="12000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Quattrocento Sans"/>
                        <a:ea typeface="Quattrocento Sans"/>
                        <a:cs typeface="Quattrocento Sans"/>
                        <a:sym typeface="Quattrocento Sans"/>
                      </a:rPr>
                      <a:t>Education：小泉</a:t>
                    </a:r>
                    <a:endParaRPr sz="1400" b="0" i="0" u="none" strike="noStrike" cap="none">
                      <a:solidFill>
                        <a:srgbClr val="000000"/>
                      </a:solidFill>
                      <a:latin typeface="Arial"/>
                      <a:ea typeface="Arial"/>
                      <a:cs typeface="Arial"/>
                      <a:sym typeface="Arial"/>
                    </a:endParaRPr>
                  </a:p>
                </p:txBody>
              </p:sp>
            </p:grpSp>
            <p:grpSp>
              <p:nvGrpSpPr>
                <p:cNvPr id="412" name="Google Shape;412;g373d37e5442_0_306"/>
                <p:cNvGrpSpPr/>
                <p:nvPr/>
              </p:nvGrpSpPr>
              <p:grpSpPr>
                <a:xfrm>
                  <a:off x="10602481" y="2241980"/>
                  <a:ext cx="1315800" cy="1374532"/>
                  <a:chOff x="10552359" y="2199948"/>
                  <a:chExt cx="1315800" cy="1374532"/>
                </a:xfrm>
              </p:grpSpPr>
              <p:pic>
                <p:nvPicPr>
                  <p:cNvPr id="413" name="Google Shape;413;g373d37e5442_0_306" descr="トヨタ自動車 遠藤様"/>
                  <p:cNvPicPr preferRelativeResize="0"/>
                  <p:nvPr/>
                </p:nvPicPr>
                <p:blipFill rotWithShape="1">
                  <a:blip r:embed="rId7">
                    <a:alphaModFix/>
                  </a:blip>
                  <a:srcRect l="17286" r="17286"/>
                  <a:stretch/>
                </p:blipFill>
                <p:spPr>
                  <a:xfrm>
                    <a:off x="10649753" y="2199948"/>
                    <a:ext cx="1121100" cy="1121100"/>
                  </a:xfrm>
                  <a:prstGeom prst="flowChartConnector">
                    <a:avLst/>
                  </a:prstGeom>
                  <a:noFill/>
                  <a:ln>
                    <a:noFill/>
                  </a:ln>
                </p:spPr>
              </p:pic>
              <p:sp>
                <p:nvSpPr>
                  <p:cNvPr id="414" name="Google Shape;414;g373d37e5442_0_306"/>
                  <p:cNvSpPr txBox="1"/>
                  <p:nvPr/>
                </p:nvSpPr>
                <p:spPr>
                  <a:xfrm>
                    <a:off x="10552359" y="3328180"/>
                    <a:ext cx="13158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Quattrocento Sans"/>
                        <a:ea typeface="Quattrocento Sans"/>
                        <a:cs typeface="Quattrocento Sans"/>
                        <a:sym typeface="Quattrocento Sans"/>
                      </a:rPr>
                      <a:t>Promotion：遠藤</a:t>
                    </a:r>
                    <a:endParaRPr sz="1400" b="0" i="0" u="none" strike="noStrike" cap="none">
                      <a:solidFill>
                        <a:srgbClr val="000000"/>
                      </a:solidFill>
                      <a:latin typeface="Arial"/>
                      <a:ea typeface="Arial"/>
                      <a:cs typeface="Arial"/>
                      <a:sym typeface="Arial"/>
                    </a:endParaRPr>
                  </a:p>
                </p:txBody>
              </p:sp>
            </p:grpSp>
          </p:grpSp>
          <p:grpSp>
            <p:nvGrpSpPr>
              <p:cNvPr id="415" name="Google Shape;415;g373d37e5442_0_306"/>
              <p:cNvGrpSpPr/>
              <p:nvPr/>
            </p:nvGrpSpPr>
            <p:grpSpPr>
              <a:xfrm>
                <a:off x="9109974" y="3647946"/>
                <a:ext cx="2889783" cy="1380036"/>
                <a:chOff x="9109974" y="3564179"/>
                <a:chExt cx="2889783" cy="1380036"/>
              </a:xfrm>
            </p:grpSpPr>
            <p:grpSp>
              <p:nvGrpSpPr>
                <p:cNvPr id="416" name="Google Shape;416;g373d37e5442_0_306"/>
                <p:cNvGrpSpPr/>
                <p:nvPr/>
              </p:nvGrpSpPr>
              <p:grpSpPr>
                <a:xfrm>
                  <a:off x="9109974" y="3564179"/>
                  <a:ext cx="1478700" cy="1365296"/>
                  <a:chOff x="9094207" y="3564179"/>
                  <a:chExt cx="1478700" cy="1365296"/>
                </a:xfrm>
              </p:grpSpPr>
              <p:pic>
                <p:nvPicPr>
                  <p:cNvPr id="417" name="Google Shape;417;g373d37e5442_0_306"/>
                  <p:cNvPicPr preferRelativeResize="0"/>
                  <p:nvPr/>
                </p:nvPicPr>
                <p:blipFill rotWithShape="1">
                  <a:blip r:embed="rId8">
                    <a:alphaModFix/>
                  </a:blip>
                  <a:srcRect/>
                  <a:stretch/>
                </p:blipFill>
                <p:spPr>
                  <a:xfrm>
                    <a:off x="9273025" y="3564179"/>
                    <a:ext cx="1121100" cy="1121100"/>
                  </a:xfrm>
                  <a:prstGeom prst="flowChartConnector">
                    <a:avLst/>
                  </a:prstGeom>
                  <a:noFill/>
                  <a:ln>
                    <a:noFill/>
                  </a:ln>
                </p:spPr>
              </p:pic>
              <p:sp>
                <p:nvSpPr>
                  <p:cNvPr id="418" name="Google Shape;418;g373d37e5442_0_306"/>
                  <p:cNvSpPr txBox="1"/>
                  <p:nvPr/>
                </p:nvSpPr>
                <p:spPr>
                  <a:xfrm>
                    <a:off x="9094207" y="4683175"/>
                    <a:ext cx="14787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Quattrocento Sans"/>
                        <a:ea typeface="Quattrocento Sans"/>
                        <a:cs typeface="Quattrocento Sans"/>
                        <a:sym typeface="Quattrocento Sans"/>
                      </a:rPr>
                      <a:t>Automation：小保田</a:t>
                    </a:r>
                    <a:endParaRPr sz="1400" b="0" i="0" u="none" strike="noStrike" cap="none">
                      <a:solidFill>
                        <a:srgbClr val="000000"/>
                      </a:solidFill>
                      <a:latin typeface="Arial"/>
                      <a:ea typeface="Arial"/>
                      <a:cs typeface="Arial"/>
                      <a:sym typeface="Arial"/>
                    </a:endParaRPr>
                  </a:p>
                </p:txBody>
              </p:sp>
            </p:grpSp>
            <p:grpSp>
              <p:nvGrpSpPr>
                <p:cNvPr id="419" name="Google Shape;419;g373d37e5442_0_306"/>
                <p:cNvGrpSpPr/>
                <p:nvPr/>
              </p:nvGrpSpPr>
              <p:grpSpPr>
                <a:xfrm>
                  <a:off x="10521057" y="3564179"/>
                  <a:ext cx="1478700" cy="1380036"/>
                  <a:chOff x="10489755" y="3564179"/>
                  <a:chExt cx="1478700" cy="1380036"/>
                </a:xfrm>
              </p:grpSpPr>
              <p:pic>
                <p:nvPicPr>
                  <p:cNvPr id="420" name="Google Shape;420;g373d37e5442_0_306"/>
                  <p:cNvPicPr preferRelativeResize="0"/>
                  <p:nvPr/>
                </p:nvPicPr>
                <p:blipFill rotWithShape="1">
                  <a:blip r:embed="rId9">
                    <a:alphaModFix/>
                  </a:blip>
                  <a:srcRect/>
                  <a:stretch/>
                </p:blipFill>
                <p:spPr>
                  <a:xfrm>
                    <a:off x="10668573" y="3564179"/>
                    <a:ext cx="1121100" cy="1121100"/>
                  </a:xfrm>
                  <a:prstGeom prst="ellipse">
                    <a:avLst/>
                  </a:prstGeom>
                  <a:noFill/>
                  <a:ln>
                    <a:noFill/>
                  </a:ln>
                </p:spPr>
              </p:pic>
              <p:sp>
                <p:nvSpPr>
                  <p:cNvPr id="421" name="Google Shape;421;g373d37e5442_0_306"/>
                  <p:cNvSpPr txBox="1"/>
                  <p:nvPr/>
                </p:nvSpPr>
                <p:spPr>
                  <a:xfrm>
                    <a:off x="10489755" y="4697915"/>
                    <a:ext cx="14787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Quattrocento Sans"/>
                        <a:ea typeface="Quattrocento Sans"/>
                        <a:cs typeface="Quattrocento Sans"/>
                        <a:sym typeface="Quattrocento Sans"/>
                      </a:rPr>
                      <a:t>Automation：忍頂寺</a:t>
                    </a:r>
                    <a:endParaRPr sz="1400" b="0" i="0" u="none" strike="noStrike" cap="none">
                      <a:solidFill>
                        <a:srgbClr val="000000"/>
                      </a:solidFill>
                      <a:latin typeface="Arial"/>
                      <a:ea typeface="Arial"/>
                      <a:cs typeface="Arial"/>
                      <a:sym typeface="Arial"/>
                    </a:endParaRPr>
                  </a:p>
                </p:txBody>
              </p:sp>
            </p:grpSp>
          </p:grpSp>
          <p:grpSp>
            <p:nvGrpSpPr>
              <p:cNvPr id="422" name="Google Shape;422;g373d37e5442_0_306"/>
              <p:cNvGrpSpPr/>
              <p:nvPr/>
            </p:nvGrpSpPr>
            <p:grpSpPr>
              <a:xfrm>
                <a:off x="9109974" y="4980314"/>
                <a:ext cx="2889783" cy="1462303"/>
                <a:chOff x="9109974" y="4867100"/>
                <a:chExt cx="2889783" cy="1462303"/>
              </a:xfrm>
            </p:grpSpPr>
            <p:sp>
              <p:nvSpPr>
                <p:cNvPr id="423" name="Google Shape;423;g373d37e5442_0_306"/>
                <p:cNvSpPr txBox="1"/>
                <p:nvPr/>
              </p:nvSpPr>
              <p:spPr>
                <a:xfrm>
                  <a:off x="9109974" y="5992552"/>
                  <a:ext cx="14787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Quattrocento Sans"/>
                      <a:ea typeface="Quattrocento Sans"/>
                      <a:cs typeface="Quattrocento Sans"/>
                      <a:sym typeface="Quattrocento Sans"/>
                    </a:rPr>
                    <a:t>OSPO：鈴木</a:t>
                  </a:r>
                  <a:endParaRPr sz="1400" b="0" i="0" u="none" strike="noStrike" cap="none">
                    <a:solidFill>
                      <a:srgbClr val="000000"/>
                    </a:solidFill>
                    <a:latin typeface="Arial"/>
                    <a:ea typeface="Arial"/>
                    <a:cs typeface="Arial"/>
                    <a:sym typeface="Arial"/>
                  </a:endParaRPr>
                </a:p>
              </p:txBody>
            </p:sp>
            <p:grpSp>
              <p:nvGrpSpPr>
                <p:cNvPr id="424" name="Google Shape;424;g373d37e5442_0_306"/>
                <p:cNvGrpSpPr/>
                <p:nvPr/>
              </p:nvGrpSpPr>
              <p:grpSpPr>
                <a:xfrm>
                  <a:off x="10521057" y="4867100"/>
                  <a:ext cx="1478700" cy="1462303"/>
                  <a:chOff x="10552359" y="4867100"/>
                  <a:chExt cx="1478700" cy="1462303"/>
                </a:xfrm>
              </p:grpSpPr>
              <p:pic>
                <p:nvPicPr>
                  <p:cNvPr id="425" name="Google Shape;425;g373d37e5442_0_306" descr="準備中"/>
                  <p:cNvPicPr preferRelativeResize="0"/>
                  <p:nvPr/>
                </p:nvPicPr>
                <p:blipFill rotWithShape="1">
                  <a:blip r:embed="rId10">
                    <a:alphaModFix/>
                  </a:blip>
                  <a:srcRect l="-6654" t="-1989" r="-3514" b="19453"/>
                  <a:stretch/>
                </p:blipFill>
                <p:spPr>
                  <a:xfrm>
                    <a:off x="10683661" y="4867100"/>
                    <a:ext cx="1216200" cy="1216200"/>
                  </a:xfrm>
                  <a:prstGeom prst="flowChartConnector">
                    <a:avLst/>
                  </a:prstGeom>
                  <a:noFill/>
                  <a:ln>
                    <a:noFill/>
                  </a:ln>
                </p:spPr>
              </p:pic>
              <p:sp>
                <p:nvSpPr>
                  <p:cNvPr id="426" name="Google Shape;426;g373d37e5442_0_306"/>
                  <p:cNvSpPr txBox="1"/>
                  <p:nvPr/>
                </p:nvSpPr>
                <p:spPr>
                  <a:xfrm>
                    <a:off x="10552359" y="6083103"/>
                    <a:ext cx="14787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dk1"/>
                        </a:solidFill>
                        <a:latin typeface="Quattrocento Sans"/>
                        <a:ea typeface="Quattrocento Sans"/>
                        <a:cs typeface="Quattrocento Sans"/>
                        <a:sym typeface="Quattrocento Sans"/>
                      </a:rPr>
                      <a:t>OSPO：大和田</a:t>
                    </a:r>
                    <a:endParaRPr sz="1400" b="0" i="0" u="none" strike="noStrike" cap="none">
                      <a:solidFill>
                        <a:srgbClr val="000000"/>
                      </a:solidFill>
                      <a:latin typeface="Arial"/>
                      <a:ea typeface="Arial"/>
                      <a:cs typeface="Arial"/>
                      <a:sym typeface="Arial"/>
                    </a:endParaRPr>
                  </a:p>
                </p:txBody>
              </p:sp>
            </p:grpSp>
          </p:grpSp>
        </p:gr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431"/>
        <p:cNvGrpSpPr/>
        <p:nvPr/>
      </p:nvGrpSpPr>
      <p:grpSpPr>
        <a:xfrm>
          <a:off x="0" y="0"/>
          <a:ext cx="0" cy="0"/>
          <a:chOff x="0" y="0"/>
          <a:chExt cx="0" cy="0"/>
        </a:xfrm>
      </p:grpSpPr>
      <p:sp>
        <p:nvSpPr>
          <p:cNvPr id="432" name="Google Shape;432;g373d37e5442_0_345"/>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Arial"/>
                <a:ea typeface="Arial"/>
                <a:cs typeface="Arial"/>
                <a:sym typeface="Arial"/>
              </a:rPr>
              <a:t>主な成果</a:t>
            </a:r>
            <a:endParaRPr b="1">
              <a:latin typeface="Arial"/>
              <a:ea typeface="Arial"/>
              <a:cs typeface="Arial"/>
              <a:sym typeface="Arial"/>
            </a:endParaRPr>
          </a:p>
        </p:txBody>
      </p:sp>
      <p:sp>
        <p:nvSpPr>
          <p:cNvPr id="433" name="Google Shape;433;g373d37e5442_0_345"/>
          <p:cNvSpPr txBox="1">
            <a:spLocks noGrp="1"/>
          </p:cNvSpPr>
          <p:nvPr>
            <p:ph type="body" idx="1"/>
          </p:nvPr>
        </p:nvSpPr>
        <p:spPr>
          <a:xfrm>
            <a:off x="890272" y="1422401"/>
            <a:ext cx="10320000" cy="4871100"/>
          </a:xfrm>
          <a:prstGeom prst="rect">
            <a:avLst/>
          </a:prstGeom>
          <a:noFill/>
          <a:ln>
            <a:noFill/>
          </a:ln>
        </p:spPr>
        <p:txBody>
          <a:bodyPr spcFirstLastPara="1" wrap="square" lIns="0" tIns="0" rIns="0" bIns="0" anchor="t" anchorCtr="0">
            <a:noAutofit/>
          </a:bodyPr>
          <a:lstStyle/>
          <a:p>
            <a:pPr marL="478355" lvl="0" indent="-478355" algn="l" rtl="0">
              <a:lnSpc>
                <a:spcPct val="100000"/>
              </a:lnSpc>
              <a:spcBef>
                <a:spcPts val="0"/>
              </a:spcBef>
              <a:spcAft>
                <a:spcPts val="0"/>
              </a:spcAft>
              <a:buClr>
                <a:srgbClr val="7F7F7F"/>
              </a:buClr>
              <a:buSzPts val="1400"/>
              <a:buChar char="■"/>
            </a:pPr>
            <a:r>
              <a:rPr lang="en-US" sz="1400"/>
              <a:t>OpenChain仕様</a:t>
            </a:r>
            <a:endParaRPr sz="1400"/>
          </a:p>
          <a:p>
            <a:pPr marL="833945" lvl="1" indent="-476238" algn="l" rtl="0">
              <a:lnSpc>
                <a:spcPct val="100000"/>
              </a:lnSpc>
              <a:spcBef>
                <a:spcPts val="380"/>
              </a:spcBef>
              <a:spcAft>
                <a:spcPts val="0"/>
              </a:spcAft>
              <a:buSzPts val="1200"/>
              <a:buChar char="■"/>
            </a:pPr>
            <a:r>
              <a:rPr lang="en-US" sz="1200"/>
              <a:t>ビジネス視点でのフィードバック</a:t>
            </a:r>
            <a:endParaRPr sz="1200"/>
          </a:p>
          <a:p>
            <a:pPr marL="833945" lvl="1" indent="-476238" algn="l" rtl="0">
              <a:lnSpc>
                <a:spcPct val="100000"/>
              </a:lnSpc>
              <a:spcBef>
                <a:spcPts val="360"/>
              </a:spcBef>
              <a:spcAft>
                <a:spcPts val="0"/>
              </a:spcAft>
              <a:buSzPts val="1200"/>
              <a:buChar char="■"/>
            </a:pPr>
            <a:r>
              <a:rPr lang="en-US" sz="1200"/>
              <a:t>日本語翻訳</a:t>
            </a:r>
            <a:endParaRPr sz="1200"/>
          </a:p>
          <a:p>
            <a:pPr marL="478355" lvl="0" indent="-478355" algn="l" rtl="0">
              <a:lnSpc>
                <a:spcPct val="100000"/>
              </a:lnSpc>
              <a:spcBef>
                <a:spcPts val="400"/>
              </a:spcBef>
              <a:spcAft>
                <a:spcPts val="0"/>
              </a:spcAft>
              <a:buClr>
                <a:srgbClr val="7F7F7F"/>
              </a:buClr>
              <a:buSzPts val="1400"/>
              <a:buChar char="■"/>
            </a:pPr>
            <a:r>
              <a:rPr lang="en-US" sz="1400"/>
              <a:t>FAQ </a:t>
            </a:r>
            <a:endParaRPr sz="1400"/>
          </a:p>
          <a:p>
            <a:pPr marL="833945" lvl="1" indent="-476238" algn="l" rtl="0">
              <a:lnSpc>
                <a:spcPct val="100000"/>
              </a:lnSpc>
              <a:spcBef>
                <a:spcPts val="380"/>
              </a:spcBef>
              <a:spcAft>
                <a:spcPts val="0"/>
              </a:spcAft>
              <a:buSzPts val="1200"/>
              <a:buChar char="■"/>
            </a:pPr>
            <a:r>
              <a:rPr lang="en-US" sz="1200"/>
              <a:t>一般社団法人OSSライセンス研究所と共同</a:t>
            </a:r>
            <a:endParaRPr sz="1200"/>
          </a:p>
          <a:p>
            <a:pPr marL="833945" lvl="1" indent="-476238" algn="l" rtl="0">
              <a:lnSpc>
                <a:spcPct val="100000"/>
              </a:lnSpc>
              <a:spcBef>
                <a:spcPts val="360"/>
              </a:spcBef>
              <a:spcAft>
                <a:spcPts val="0"/>
              </a:spcAft>
              <a:buSzPts val="1200"/>
              <a:buChar char="■"/>
            </a:pPr>
            <a:r>
              <a:rPr lang="en-US" sz="1200"/>
              <a:t>日本語版・英語版を作成。ドイツ語版へ翻訳される。</a:t>
            </a:r>
            <a:endParaRPr sz="1200"/>
          </a:p>
          <a:p>
            <a:pPr marL="478355" lvl="0" indent="-478355" algn="l" rtl="0">
              <a:lnSpc>
                <a:spcPct val="100000"/>
              </a:lnSpc>
              <a:spcBef>
                <a:spcPts val="400"/>
              </a:spcBef>
              <a:spcAft>
                <a:spcPts val="0"/>
              </a:spcAft>
              <a:buClr>
                <a:srgbClr val="7F7F7F"/>
              </a:buClr>
              <a:buSzPts val="1400"/>
              <a:buChar char="■"/>
            </a:pPr>
            <a:r>
              <a:rPr lang="en-US" sz="1400"/>
              <a:t>Supplier Leaflet</a:t>
            </a:r>
            <a:endParaRPr sz="1400"/>
          </a:p>
          <a:p>
            <a:pPr marL="833945" lvl="1" indent="-476238" algn="l" rtl="0">
              <a:lnSpc>
                <a:spcPct val="100000"/>
              </a:lnSpc>
              <a:spcBef>
                <a:spcPts val="380"/>
              </a:spcBef>
              <a:spcAft>
                <a:spcPts val="0"/>
              </a:spcAft>
              <a:buSzPts val="1200"/>
              <a:buChar char="■"/>
            </a:pPr>
            <a:r>
              <a:rPr lang="en-US" sz="1200"/>
              <a:t>日本語版、英語版を作成</a:t>
            </a:r>
            <a:endParaRPr sz="1200"/>
          </a:p>
          <a:p>
            <a:pPr marL="833945" lvl="1" indent="-476238" algn="l" rtl="0">
              <a:lnSpc>
                <a:spcPct val="100000"/>
              </a:lnSpc>
              <a:spcBef>
                <a:spcPts val="360"/>
              </a:spcBef>
              <a:spcAft>
                <a:spcPts val="0"/>
              </a:spcAft>
              <a:buSzPts val="1200"/>
              <a:buChar char="■"/>
            </a:pPr>
            <a:r>
              <a:rPr lang="en-US" sz="1200"/>
              <a:t>中国語版（簡体字、繁体字）、韓国語版、ベトナム語版へ翻訳される</a:t>
            </a:r>
            <a:endParaRPr sz="1200"/>
          </a:p>
          <a:p>
            <a:pPr marL="478355" lvl="0" indent="-478355" algn="l" rtl="0">
              <a:lnSpc>
                <a:spcPct val="100000"/>
              </a:lnSpc>
              <a:spcBef>
                <a:spcPts val="400"/>
              </a:spcBef>
              <a:spcAft>
                <a:spcPts val="0"/>
              </a:spcAft>
              <a:buClr>
                <a:srgbClr val="7F7F7F"/>
              </a:buClr>
              <a:buSzPts val="1400"/>
              <a:buChar char="■"/>
            </a:pPr>
            <a:r>
              <a:rPr lang="en-US" sz="1400"/>
              <a:t>SPDX Lite</a:t>
            </a:r>
            <a:endParaRPr/>
          </a:p>
          <a:p>
            <a:pPr marL="833945" lvl="1" indent="-476238" algn="l" rtl="0">
              <a:lnSpc>
                <a:spcPct val="100000"/>
              </a:lnSpc>
              <a:spcBef>
                <a:spcPts val="420"/>
              </a:spcBef>
              <a:spcAft>
                <a:spcPts val="0"/>
              </a:spcAft>
              <a:buSzPts val="1400"/>
              <a:buChar char="■"/>
            </a:pPr>
            <a:r>
              <a:rPr lang="en-US" sz="1400"/>
              <a:t>SPDX V2.2, 2.3, 3.0に採用</a:t>
            </a:r>
            <a:endParaRPr sz="1400"/>
          </a:p>
          <a:p>
            <a:pPr marL="833945" lvl="1" indent="-476238" algn="l" rtl="0">
              <a:lnSpc>
                <a:spcPct val="100000"/>
              </a:lnSpc>
              <a:spcBef>
                <a:spcPts val="420"/>
              </a:spcBef>
              <a:spcAft>
                <a:spcPts val="0"/>
              </a:spcAft>
              <a:buSzPts val="1400"/>
              <a:buChar char="■"/>
            </a:pPr>
            <a:r>
              <a:rPr lang="en-US" sz="1400"/>
              <a:t>SPDXへ提案</a:t>
            </a:r>
            <a:endParaRPr sz="1400"/>
          </a:p>
          <a:p>
            <a:pPr marL="478355" lvl="0" indent="-478355" algn="l" rtl="0">
              <a:lnSpc>
                <a:spcPct val="100000"/>
              </a:lnSpc>
              <a:spcBef>
                <a:spcPts val="420"/>
              </a:spcBef>
              <a:spcAft>
                <a:spcPts val="0"/>
              </a:spcAft>
              <a:buClr>
                <a:srgbClr val="7F7F7F"/>
              </a:buClr>
              <a:buSzPts val="1400"/>
              <a:buChar char="■"/>
            </a:pPr>
            <a:r>
              <a:rPr lang="en-US" sz="1400"/>
              <a:t>教育資料</a:t>
            </a:r>
            <a:endParaRPr sz="1400"/>
          </a:p>
          <a:p>
            <a:pPr marL="833945" lvl="1" indent="-476238" algn="l" rtl="0">
              <a:lnSpc>
                <a:spcPct val="100000"/>
              </a:lnSpc>
              <a:spcBef>
                <a:spcPts val="380"/>
              </a:spcBef>
              <a:spcAft>
                <a:spcPts val="0"/>
              </a:spcAft>
              <a:buSzPts val="1200"/>
              <a:buChar char="■"/>
            </a:pPr>
            <a:r>
              <a:rPr lang="en-US" sz="1200"/>
              <a:t>サプライチェーンリスクマネージメント版</a:t>
            </a:r>
            <a:endParaRPr sz="1200"/>
          </a:p>
          <a:p>
            <a:pPr marL="833945" lvl="1" indent="-476238" algn="l" rtl="0">
              <a:lnSpc>
                <a:spcPct val="100000"/>
              </a:lnSpc>
              <a:spcBef>
                <a:spcPts val="360"/>
              </a:spcBef>
              <a:spcAft>
                <a:spcPts val="0"/>
              </a:spcAft>
              <a:buSzPts val="1200"/>
              <a:buChar char="■"/>
            </a:pPr>
            <a:r>
              <a:rPr lang="en-US" sz="1200"/>
              <a:t>開発者向け版を作成中</a:t>
            </a:r>
            <a:endParaRPr sz="1200"/>
          </a:p>
          <a:p>
            <a:pPr marL="478355" lvl="0" indent="-478355" algn="l" rtl="0">
              <a:lnSpc>
                <a:spcPct val="100000"/>
              </a:lnSpc>
              <a:spcBef>
                <a:spcPts val="400"/>
              </a:spcBef>
              <a:spcAft>
                <a:spcPts val="0"/>
              </a:spcAft>
              <a:buClr>
                <a:srgbClr val="7F7F7F"/>
              </a:buClr>
              <a:buSzPts val="1400"/>
              <a:buChar char="■"/>
            </a:pPr>
            <a:r>
              <a:rPr lang="en-US" sz="1400"/>
              <a:t>OSPO Local Meetup開催</a:t>
            </a:r>
            <a:endParaRPr sz="1400"/>
          </a:p>
          <a:p>
            <a:pPr marL="833945" lvl="1" indent="-476238" algn="l" rtl="0">
              <a:lnSpc>
                <a:spcPct val="100000"/>
              </a:lnSpc>
              <a:spcBef>
                <a:spcPts val="420"/>
              </a:spcBef>
              <a:spcAft>
                <a:spcPts val="0"/>
              </a:spcAft>
              <a:buSzPts val="1400"/>
              <a:buChar char="■"/>
            </a:pPr>
            <a:r>
              <a:rPr lang="en-US" sz="1400"/>
              <a:t>ToDo Groupと共同開催</a:t>
            </a:r>
            <a:endParaRPr sz="1400"/>
          </a:p>
          <a:p>
            <a:pPr marL="0" lvl="0" indent="0" algn="l" rtl="0">
              <a:lnSpc>
                <a:spcPct val="100000"/>
              </a:lnSpc>
              <a:spcBef>
                <a:spcPts val="420"/>
              </a:spcBef>
              <a:spcAft>
                <a:spcPts val="0"/>
              </a:spcAft>
              <a:buSzPts val="1400"/>
              <a:buNone/>
            </a:pPr>
            <a:r>
              <a:rPr lang="en-US" sz="1400"/>
              <a:t> </a:t>
            </a:r>
            <a:endParaRPr/>
          </a:p>
          <a:p>
            <a:pPr marL="478355" lvl="0" indent="-389455" algn="l" rtl="0">
              <a:lnSpc>
                <a:spcPct val="100000"/>
              </a:lnSpc>
              <a:spcBef>
                <a:spcPts val="420"/>
              </a:spcBef>
              <a:spcAft>
                <a:spcPts val="0"/>
              </a:spcAft>
              <a:buClr>
                <a:srgbClr val="7F7F7F"/>
              </a:buClr>
              <a:buSzPts val="1400"/>
              <a:buNone/>
            </a:pPr>
            <a:endParaRPr sz="1400"/>
          </a:p>
        </p:txBody>
      </p:sp>
      <p:sp>
        <p:nvSpPr>
          <p:cNvPr id="434" name="Google Shape;434;g373d37e5442_0_345"/>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435" name="Google Shape;435;g373d37e5442_0_345"/>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pic>
        <p:nvPicPr>
          <p:cNvPr id="436" name="Google Shape;436;g373d37e5442_0_345" descr="テキスト, スクリーンショット が含まれている画像&#10;&#10;自動的に生成された説明"/>
          <p:cNvPicPr preferRelativeResize="0"/>
          <p:nvPr/>
        </p:nvPicPr>
        <p:blipFill rotWithShape="1">
          <a:blip r:embed="rId3">
            <a:alphaModFix/>
          </a:blip>
          <a:srcRect/>
          <a:stretch/>
        </p:blipFill>
        <p:spPr>
          <a:xfrm>
            <a:off x="9799500" y="460461"/>
            <a:ext cx="2279192" cy="3223277"/>
          </a:xfrm>
          <a:prstGeom prst="rect">
            <a:avLst/>
          </a:prstGeom>
          <a:noFill/>
          <a:ln w="9525" cap="flat" cmpd="sng">
            <a:solidFill>
              <a:schemeClr val="dk1"/>
            </a:solidFill>
            <a:prstDash val="solid"/>
            <a:round/>
            <a:headEnd type="none" w="sm" len="sm"/>
            <a:tailEnd type="none" w="sm" len="sm"/>
          </a:ln>
        </p:spPr>
      </p:pic>
      <p:pic>
        <p:nvPicPr>
          <p:cNvPr id="437" name="Google Shape;437;g373d37e5442_0_345" descr="グラフィカル ユーザー インターフェイス, テキスト, アプリケーション&#10;&#10;自動的に生成された説明"/>
          <p:cNvPicPr preferRelativeResize="0"/>
          <p:nvPr/>
        </p:nvPicPr>
        <p:blipFill rotWithShape="1">
          <a:blip r:embed="rId4">
            <a:alphaModFix/>
          </a:blip>
          <a:srcRect/>
          <a:stretch/>
        </p:blipFill>
        <p:spPr>
          <a:xfrm>
            <a:off x="4984416" y="3753366"/>
            <a:ext cx="4016301" cy="2852982"/>
          </a:xfrm>
          <a:prstGeom prst="rect">
            <a:avLst/>
          </a:prstGeom>
          <a:noFill/>
          <a:ln w="9525" cap="flat" cmpd="sng">
            <a:solidFill>
              <a:schemeClr val="dk2"/>
            </a:solidFill>
            <a:prstDash val="solid"/>
            <a:round/>
            <a:headEnd type="none" w="sm" len="sm"/>
            <a:tailEnd type="none" w="sm" len="sm"/>
          </a:ln>
        </p:spPr>
      </p:pic>
      <p:pic>
        <p:nvPicPr>
          <p:cNvPr id="438" name="Google Shape;438;g373d37e5442_0_345" descr="ポーズをとる男性グループ&#10;&#10;中程度の精度で自動的に生成された説明"/>
          <p:cNvPicPr preferRelativeResize="0"/>
          <p:nvPr/>
        </p:nvPicPr>
        <p:blipFill rotWithShape="1">
          <a:blip r:embed="rId5">
            <a:alphaModFix/>
          </a:blip>
          <a:srcRect/>
          <a:stretch/>
        </p:blipFill>
        <p:spPr>
          <a:xfrm>
            <a:off x="8411703" y="4084581"/>
            <a:ext cx="3780297" cy="1930036"/>
          </a:xfrm>
          <a:prstGeom prst="rect">
            <a:avLst/>
          </a:prstGeom>
          <a:noFill/>
          <a:ln w="9525" cap="flat" cmpd="sng">
            <a:solidFill>
              <a:schemeClr val="dk2"/>
            </a:solidFill>
            <a:prstDash val="solid"/>
            <a:round/>
            <a:headEnd type="none" w="sm" len="sm"/>
            <a:tailEnd type="none" w="sm" len="sm"/>
          </a:ln>
        </p:spPr>
      </p:pic>
      <p:pic>
        <p:nvPicPr>
          <p:cNvPr id="439" name="Google Shape;439;g373d37e5442_0_345" descr="グラフィカル ユーザー インターフェイス, テキスト, アプリケーション&#10;&#10;自動的に生成された説明"/>
          <p:cNvPicPr preferRelativeResize="0"/>
          <p:nvPr/>
        </p:nvPicPr>
        <p:blipFill rotWithShape="1">
          <a:blip r:embed="rId6">
            <a:alphaModFix/>
          </a:blip>
          <a:srcRect/>
          <a:stretch/>
        </p:blipFill>
        <p:spPr>
          <a:xfrm>
            <a:off x="5496483" y="1763965"/>
            <a:ext cx="4277805" cy="1604775"/>
          </a:xfrm>
          <a:prstGeom prst="rect">
            <a:avLst/>
          </a:prstGeom>
          <a:noFill/>
          <a:ln w="9525" cap="flat" cmpd="sng">
            <a:solidFill>
              <a:schemeClr val="dk2"/>
            </a:solidFill>
            <a:prstDash val="solid"/>
            <a:round/>
            <a:headEnd type="none" w="sm" len="sm"/>
            <a:tailEnd type="none" w="sm" len="sm"/>
          </a:ln>
        </p:spPr>
      </p:pic>
      <p:pic>
        <p:nvPicPr>
          <p:cNvPr id="440" name="Google Shape;440;g373d37e5442_0_345" descr="グラフィカル ユーザー インターフェイス, テキスト, アプリケーション&#10;&#10;自動的に生成された説明"/>
          <p:cNvPicPr preferRelativeResize="0"/>
          <p:nvPr/>
        </p:nvPicPr>
        <p:blipFill rotWithShape="1">
          <a:blip r:embed="rId7">
            <a:alphaModFix/>
          </a:blip>
          <a:srcRect/>
          <a:stretch/>
        </p:blipFill>
        <p:spPr>
          <a:xfrm>
            <a:off x="5496482" y="88280"/>
            <a:ext cx="4277804" cy="1675685"/>
          </a:xfrm>
          <a:prstGeom prst="rect">
            <a:avLst/>
          </a:prstGeom>
          <a:noFill/>
          <a:ln w="9525" cap="flat" cmpd="sng">
            <a:solidFill>
              <a:schemeClr val="dk2"/>
            </a:solidFill>
            <a:prstDash val="solid"/>
            <a:round/>
            <a:headEnd type="none" w="sm" len="sm"/>
            <a:tailEnd type="none" w="sm" len="sm"/>
          </a:ln>
        </p:spPr>
      </p:pic>
      <p:sp>
        <p:nvSpPr>
          <p:cNvPr id="441" name="Google Shape;441;g373d37e5442_0_345"/>
          <p:cNvSpPr/>
          <p:nvPr/>
        </p:nvSpPr>
        <p:spPr>
          <a:xfrm>
            <a:off x="7635384" y="1239603"/>
            <a:ext cx="2132700" cy="245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442" name="Google Shape;442;g373d37e5442_0_345"/>
          <p:cNvSpPr/>
          <p:nvPr/>
        </p:nvSpPr>
        <p:spPr>
          <a:xfrm>
            <a:off x="7545322" y="2844484"/>
            <a:ext cx="2132700" cy="245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443" name="Google Shape;443;g373d37e5442_0_345"/>
          <p:cNvSpPr/>
          <p:nvPr/>
        </p:nvSpPr>
        <p:spPr>
          <a:xfrm>
            <a:off x="8368625" y="5512257"/>
            <a:ext cx="3026100" cy="4197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444" name="Google Shape;444;g373d37e5442_0_345"/>
          <p:cNvSpPr/>
          <p:nvPr/>
        </p:nvSpPr>
        <p:spPr>
          <a:xfrm>
            <a:off x="5889754" y="4085886"/>
            <a:ext cx="2337300" cy="282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
        <p:nvSpPr>
          <p:cNvPr id="445" name="Google Shape;445;g373d37e5442_0_345"/>
          <p:cNvSpPr/>
          <p:nvPr/>
        </p:nvSpPr>
        <p:spPr>
          <a:xfrm>
            <a:off x="9979624" y="1618437"/>
            <a:ext cx="1842900" cy="429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g373d37e5442_0_363"/>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Arial"/>
                <a:ea typeface="Arial"/>
                <a:cs typeface="Arial"/>
                <a:sym typeface="Arial"/>
              </a:rPr>
              <a:t>全体会合 → </a:t>
            </a:r>
            <a:r>
              <a:rPr lang="en-US" b="1">
                <a:solidFill>
                  <a:srgbClr val="E65A2A"/>
                </a:solidFill>
                <a:latin typeface="Arial"/>
                <a:ea typeface="Arial"/>
                <a:cs typeface="Arial"/>
                <a:sym typeface="Arial"/>
              </a:rPr>
              <a:t>OpenChain Community Day</a:t>
            </a:r>
            <a:endParaRPr b="1">
              <a:solidFill>
                <a:srgbClr val="E65A2A"/>
              </a:solidFill>
              <a:latin typeface="Arial"/>
              <a:ea typeface="Arial"/>
              <a:cs typeface="Arial"/>
              <a:sym typeface="Arial"/>
            </a:endParaRPr>
          </a:p>
        </p:txBody>
      </p:sp>
      <p:sp>
        <p:nvSpPr>
          <p:cNvPr id="452" name="Google Shape;452;g373d37e5442_0_363"/>
          <p:cNvSpPr txBox="1">
            <a:spLocks noGrp="1"/>
          </p:cNvSpPr>
          <p:nvPr>
            <p:ph type="body" idx="1"/>
          </p:nvPr>
        </p:nvSpPr>
        <p:spPr>
          <a:xfrm>
            <a:off x="889200" y="1099294"/>
            <a:ext cx="10320000" cy="3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およそ2～3ヶ月間隔で開催し、コミュニケーションを活性化</a:t>
            </a:r>
            <a:endParaRPr/>
          </a:p>
        </p:txBody>
      </p:sp>
      <p:graphicFrame>
        <p:nvGraphicFramePr>
          <p:cNvPr id="453" name="Google Shape;453;g373d37e5442_0_363"/>
          <p:cNvGraphicFramePr/>
          <p:nvPr>
            <p:extLst>
              <p:ext uri="{D42A27DB-BD31-4B8C-83A1-F6EECF244321}">
                <p14:modId xmlns:p14="http://schemas.microsoft.com/office/powerpoint/2010/main" val="595819172"/>
              </p:ext>
            </p:extLst>
          </p:nvPr>
        </p:nvGraphicFramePr>
        <p:xfrm>
          <a:off x="480626" y="1515744"/>
          <a:ext cx="11522300" cy="4754880"/>
        </p:xfrm>
        <a:graphic>
          <a:graphicData uri="http://schemas.openxmlformats.org/drawingml/2006/table">
            <a:tbl>
              <a:tblPr bandRow="1">
                <a:noFill/>
                <a:tableStyleId>{4B471566-597B-4893-B0F6-045F1BB9BCDC}</a:tableStyleId>
              </a:tblPr>
              <a:tblGrid>
                <a:gridCol w="500575">
                  <a:extLst>
                    <a:ext uri="{9D8B030D-6E8A-4147-A177-3AD203B41FA5}">
                      <a16:colId xmlns:a16="http://schemas.microsoft.com/office/drawing/2014/main" val="20000"/>
                    </a:ext>
                  </a:extLst>
                </a:gridCol>
                <a:gridCol w="1500750">
                  <a:extLst>
                    <a:ext uri="{9D8B030D-6E8A-4147-A177-3AD203B41FA5}">
                      <a16:colId xmlns:a16="http://schemas.microsoft.com/office/drawing/2014/main" val="20001"/>
                    </a:ext>
                  </a:extLst>
                </a:gridCol>
                <a:gridCol w="2272925">
                  <a:extLst>
                    <a:ext uri="{9D8B030D-6E8A-4147-A177-3AD203B41FA5}">
                      <a16:colId xmlns:a16="http://schemas.microsoft.com/office/drawing/2014/main" val="20002"/>
                    </a:ext>
                  </a:extLst>
                </a:gridCol>
                <a:gridCol w="7248050">
                  <a:extLst>
                    <a:ext uri="{9D8B030D-6E8A-4147-A177-3AD203B41FA5}">
                      <a16:colId xmlns:a16="http://schemas.microsoft.com/office/drawing/2014/main" val="20003"/>
                    </a:ext>
                  </a:extLst>
                </a:gridCol>
              </a:tblGrid>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#01</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2017/12/27</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ソニー</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本社 クリエイティブラウンジ</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#02</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2018/02/22</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日立</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品川オフィス</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#03</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2018/04/19</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Panasonic</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Wonder Lab Osaka</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#04</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2018/06/13</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トヨタ自動車</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名古屋オフィス</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#05</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2018/08/31</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富士通</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川崎工場</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#06</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2018/10/31</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東芝</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ラゾーナ川崎東芝ビル</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5012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#07</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2018/12/05</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テュフズードジャパン</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新宿</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#08</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2019/02/28</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三菱電機</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本社（丸の内）</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#09</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2019/04/18</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デンソーテン</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兵庫</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#10</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2019/07/16</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富士通</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蒲田ソリューションスクエア</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#11</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2019/09/19</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オリンパス</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技術開発センター宇津木</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#12</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2019/12/19</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NEC</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NEC本社ビル（田町）</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#13</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2020/02/18</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ディー・エヌ・エー </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渋谷ヒカリエ　</a:t>
                      </a:r>
                      <a:r>
                        <a:rPr lang="en-US" sz="1200" u="none" strike="noStrike" cap="none">
                          <a:solidFill>
                            <a:srgbClr val="FF0000"/>
                          </a:solidFill>
                        </a:rPr>
                        <a:t>［コロナのため開催中止］</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12"/>
                  </a:ext>
                </a:extLst>
              </a:tr>
              <a:tr h="174475">
                <a:tc gridSpan="2">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#14 ~ #25 </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hMerge="1">
                  <a:txBody>
                    <a:bodyPr/>
                    <a:lstStyle/>
                    <a:p>
                      <a:endParaRPr lang="ja-JP"/>
                    </a:p>
                  </a:txBody>
                  <a:tcPr/>
                </a:tc>
                <a:tc gridSpan="2">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2020: 04/23, 06/18, 10/15, 12/16　　2021: 03/17, 05/26, 07/29, 10/20　　2022: 01/21, 04/20, 07/29 ,10/31</a:t>
                      </a:r>
                      <a:endParaRPr sz="1200" u="none" strike="noStrike" cap="none"/>
                    </a:p>
                    <a:p>
                      <a:pPr marL="0" marR="0" lvl="0" indent="0" algn="l" rtl="0">
                        <a:lnSpc>
                          <a:spcPct val="100000"/>
                        </a:lnSpc>
                        <a:spcBef>
                          <a:spcPts val="0"/>
                        </a:spcBef>
                        <a:spcAft>
                          <a:spcPts val="0"/>
                        </a:spcAft>
                        <a:buClr>
                          <a:schemeClr val="dk1"/>
                        </a:buClr>
                        <a:buSzPts val="1400"/>
                        <a:buFont typeface="Quattrocento Sans"/>
                        <a:buNone/>
                      </a:pPr>
                      <a:r>
                        <a:rPr lang="en-US" sz="1200" u="none" strike="noStrike" cap="none"/>
                        <a:t>Zoom hosted by ソシオネクスト　　　</a:t>
                      </a:r>
                      <a:r>
                        <a:rPr lang="en-US" sz="1200" u="none" strike="noStrike" cap="none">
                          <a:solidFill>
                            <a:srgbClr val="FF0000"/>
                          </a:solidFill>
                        </a:rPr>
                        <a:t>［オンラインのみ］</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hMerge="1">
                  <a:txBody>
                    <a:bodyPr/>
                    <a:lstStyle/>
                    <a:p>
                      <a:endParaRPr lang="ja-JP"/>
                    </a:p>
                  </a:txBody>
                  <a:tcPr/>
                </a:tc>
                <a:extLst>
                  <a:ext uri="{0D108BD9-81ED-4DB2-BD59-A6C34878D82A}">
                    <a16:rowId xmlns:a16="http://schemas.microsoft.com/office/drawing/2014/main" val="10013"/>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#26</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ot"/>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2023/02/09</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ot"/>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日立ソリューションズ</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ot"/>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日立大森ビル　　　　　　　　　　　　　</a:t>
                      </a:r>
                      <a:r>
                        <a:rPr lang="en-US" sz="1200" u="none" strike="noStrike" cap="none">
                          <a:solidFill>
                            <a:srgbClr val="FF0000"/>
                          </a:solidFill>
                        </a:rPr>
                        <a:t>［リアル・オンライン ハイブリッド］</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dot"/>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4"/>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#27</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2023/05/18</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NEC</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玉川事業場</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5"/>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#28</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2023/07/11</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富士通</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Ridgelinez（丸の内）</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6"/>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#29</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2023/10/05</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ソシオネクスト</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京都事業所</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7"/>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#30</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2024/02/28</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サイバートラスト</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t>アークヒルズ仙石山森タワー（六本木）</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8"/>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solidFill>
                            <a:schemeClr val="dk1"/>
                          </a:solidFill>
                          <a:latin typeface="Quattrocento Sans"/>
                          <a:ea typeface="Quattrocento Sans"/>
                          <a:cs typeface="Quattrocento Sans"/>
                          <a:sym typeface="Quattrocento Sans"/>
                        </a:rPr>
                        <a:t>#31</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solidFill>
                            <a:schemeClr val="dk1"/>
                          </a:solidFill>
                          <a:latin typeface="Quattrocento Sans"/>
                          <a:ea typeface="Quattrocento Sans"/>
                          <a:cs typeface="Quattrocento Sans"/>
                          <a:sym typeface="Quattrocento Sans"/>
                        </a:rPr>
                        <a:t>2024/06/27</a:t>
                      </a:r>
                      <a:endParaRPr sz="1200" u="none" strike="noStrike" cap="none">
                        <a:solidFill>
                          <a:schemeClr val="dk1"/>
                        </a:solidFill>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solidFill>
                            <a:schemeClr val="dk1"/>
                          </a:solidFill>
                          <a:latin typeface="Quattrocento Sans"/>
                          <a:ea typeface="Quattrocento Sans"/>
                          <a:cs typeface="Quattrocento Sans"/>
                          <a:sym typeface="Quattrocento Sans"/>
                        </a:rPr>
                        <a:t>キオクシア</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solidFill>
                            <a:schemeClr val="dk1"/>
                          </a:solidFill>
                          <a:latin typeface="Quattrocento Sans"/>
                          <a:ea typeface="Quattrocento Sans"/>
                          <a:cs typeface="Quattrocento Sans"/>
                          <a:sym typeface="Quattrocento Sans"/>
                        </a:rPr>
                        <a:t>田町ステーションタワー</a:t>
                      </a:r>
                      <a:endParaRPr sz="1200" u="none" strike="noStrike" cap="none">
                        <a:solidFill>
                          <a:schemeClr val="dk1"/>
                        </a:solidFill>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latin typeface="Quattrocento Sans"/>
                          <a:ea typeface="Quattrocento Sans"/>
                          <a:cs typeface="Quattrocento Sans"/>
                          <a:sym typeface="Quattrocento Sans"/>
                        </a:rPr>
                        <a:t>#32</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latin typeface="Quattrocento Sans"/>
                          <a:ea typeface="Quattrocento Sans"/>
                          <a:cs typeface="Quattrocento Sans"/>
                          <a:sym typeface="Quattrocento Sans"/>
                        </a:rPr>
                        <a:t>2024/10/17-18</a:t>
                      </a:r>
                      <a:endParaRPr sz="1200" u="none" strike="noStrike" cap="none">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latin typeface="Quattrocento Sans"/>
                          <a:ea typeface="Quattrocento Sans"/>
                          <a:cs typeface="Quattrocento Sans"/>
                          <a:sym typeface="Quattrocento Sans"/>
                        </a:rPr>
                        <a:t>ダイキン工業</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latin typeface="Quattrocento Sans"/>
                          <a:ea typeface="Quattrocento Sans"/>
                          <a:cs typeface="Quattrocento Sans"/>
                          <a:sym typeface="Quattrocento Sans"/>
                        </a:rPr>
                        <a:t>大阪梅田ツインタワーズ・サウス</a:t>
                      </a:r>
                      <a:endParaRPr sz="1200" u="none" strike="noStrike" cap="none"/>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latin typeface="Quattrocento Sans"/>
                          <a:ea typeface="Quattrocento Sans"/>
                          <a:cs typeface="Quattrocento Sans"/>
                          <a:sym typeface="Quattrocento Sans"/>
                        </a:rPr>
                        <a:t>#33</a:t>
                      </a:r>
                      <a:endParaRPr sz="1200" u="none" strike="noStrike" cap="none">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latin typeface="Quattrocento Sans"/>
                          <a:ea typeface="Quattrocento Sans"/>
                          <a:cs typeface="Quattrocento Sans"/>
                          <a:sym typeface="Quattrocento Sans"/>
                        </a:rPr>
                        <a:t>2025/3/3-4</a:t>
                      </a:r>
                      <a:endParaRPr sz="1200" u="none" strike="noStrike" cap="none">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US" sz="1200" u="none" strike="noStrike" cap="none"/>
                        <a:t>トヨタ自動車</a:t>
                      </a:r>
                      <a:endParaRPr sz="1200" u="none" strike="noStrike" cap="none">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dirty="0" err="1">
                          <a:latin typeface="Quattrocento Sans"/>
                          <a:ea typeface="Quattrocento Sans"/>
                          <a:cs typeface="Quattrocento Sans"/>
                          <a:sym typeface="Quattrocento Sans"/>
                        </a:rPr>
                        <a:t>大手町オフィス</a:t>
                      </a:r>
                      <a:endParaRPr sz="1200" u="none" strike="noStrike" cap="none" dirty="0">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latin typeface="Quattrocento Sans"/>
                          <a:ea typeface="Quattrocento Sans"/>
                          <a:cs typeface="Quattrocento Sans"/>
                          <a:sym typeface="Quattrocento Sans"/>
                        </a:rPr>
                        <a:t>#34</a:t>
                      </a:r>
                      <a:endParaRPr sz="1200" u="none" strike="noStrike" cap="none">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a:latin typeface="Quattrocento Sans"/>
                          <a:ea typeface="Quattrocento Sans"/>
                          <a:cs typeface="Quattrocento Sans"/>
                          <a:sym typeface="Quattrocento Sans"/>
                        </a:rPr>
                        <a:t>2025/7/31-8/1</a:t>
                      </a:r>
                      <a:endParaRPr sz="1200" u="none" strike="noStrike" cap="none">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US" sz="1200" u="none" strike="noStrike" cap="none">
                          <a:latin typeface="Quattrocento Sans"/>
                          <a:ea typeface="Quattrocento Sans"/>
                          <a:cs typeface="Quattrocento Sans"/>
                          <a:sym typeface="Quattrocento Sans"/>
                        </a:rPr>
                        <a:t>三菱電機</a:t>
                      </a:r>
                      <a:endParaRPr sz="1200" u="none" strike="noStrike" cap="none">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u="none" strike="noStrike" cap="none" dirty="0" err="1">
                          <a:latin typeface="Quattrocento Sans"/>
                          <a:ea typeface="Quattrocento Sans"/>
                          <a:cs typeface="Quattrocento Sans"/>
                          <a:sym typeface="Quattrocento Sans"/>
                        </a:rPr>
                        <a:t>Serendie</a:t>
                      </a:r>
                      <a:r>
                        <a:rPr lang="en-US" sz="1200" u="none" strike="noStrike" cap="none" dirty="0">
                          <a:latin typeface="Quattrocento Sans"/>
                          <a:ea typeface="Quattrocento Sans"/>
                          <a:cs typeface="Quattrocento Sans"/>
                          <a:sym typeface="Quattrocento Sans"/>
                        </a:rPr>
                        <a:t> Street</a:t>
                      </a:r>
                    </a:p>
                  </a:txBody>
                  <a:tcPr marL="36000" marR="36000"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22"/>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u="none" strike="noStrike" cap="none" dirty="0">
                          <a:latin typeface="Quattrocento Sans"/>
                          <a:ea typeface="Quattrocento Sans"/>
                          <a:cs typeface="Quattrocento Sans"/>
                          <a:sym typeface="Quattrocento Sans"/>
                        </a:rPr>
                        <a:t>#35</a:t>
                      </a:r>
                      <a:endParaRPr sz="1200" u="none" strike="noStrike" cap="none" dirty="0">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u="none" strike="noStrike" cap="none" dirty="0">
                          <a:latin typeface="Quattrocento Sans"/>
                          <a:ea typeface="Quattrocento Sans"/>
                          <a:cs typeface="Quattrocento Sans"/>
                          <a:sym typeface="Quattrocento Sans"/>
                        </a:rPr>
                        <a:t>2026/5/15</a:t>
                      </a:r>
                      <a:endParaRPr sz="1200" u="none" strike="noStrike" cap="none" dirty="0">
                        <a:latin typeface="Quattrocento Sans"/>
                        <a:ea typeface="Quattrocento Sans"/>
                        <a:cs typeface="Quattrocento Sans"/>
                        <a:sym typeface="Quattrocento Sans"/>
                      </a:endParaRPr>
                    </a:p>
                  </a:txBody>
                  <a:tcPr marL="36000" marR="36000" marT="0" marB="0">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ja-JP" altLang="en-US" sz="1200" u="none" strike="noStrike" cap="none" dirty="0">
                          <a:latin typeface="Quattrocento Sans"/>
                          <a:ea typeface="Quattrocento Sans"/>
                          <a:cs typeface="Quattrocento Sans"/>
                          <a:sym typeface="Quattrocento Sans"/>
                        </a:rPr>
                        <a:t>ソニー</a:t>
                      </a:r>
                      <a:endParaRPr sz="1200" u="none" strike="noStrike" cap="none" dirty="0">
                        <a:latin typeface="Quattrocento Sans"/>
                        <a:ea typeface="Quattrocento Sans"/>
                        <a:cs typeface="Quattrocento Sans"/>
                        <a:sym typeface="Quattrocento Sans"/>
                      </a:endParaRPr>
                    </a:p>
                  </a:txBody>
                  <a:tcPr marL="36000" marR="36000" marT="0" marB="0">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u="none" strike="noStrike" cap="none" dirty="0">
                          <a:latin typeface="Quattrocento Sans"/>
                          <a:ea typeface="Quattrocento Sans"/>
                          <a:cs typeface="Quattrocento Sans"/>
                          <a:sym typeface="Quattrocento Sans"/>
                        </a:rPr>
                        <a:t>大崎オフィス</a:t>
                      </a:r>
                      <a:endParaRPr lang="en-US" sz="1200" u="none" strike="noStrike" cap="none" dirty="0">
                        <a:latin typeface="Quattrocento Sans"/>
                        <a:ea typeface="Quattrocento Sans"/>
                        <a:cs typeface="Quattrocento Sans"/>
                        <a:sym typeface="Quattrocento Sans"/>
                      </a:endParaRPr>
                    </a:p>
                  </a:txBody>
                  <a:tcPr marL="36000" marR="36000" marT="0" marB="0">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2508408458"/>
                  </a:ext>
                </a:extLst>
              </a:tr>
              <a:tr h="174475">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u="none" strike="noStrike" cap="none" dirty="0">
                          <a:latin typeface="Quattrocento Sans"/>
                          <a:ea typeface="Quattrocento Sans"/>
                          <a:cs typeface="Quattrocento Sans"/>
                          <a:sym typeface="Quattrocento Sans"/>
                        </a:rPr>
                        <a:t>#36</a:t>
                      </a:r>
                      <a:endParaRPr sz="1200" u="none" strike="noStrike" cap="none" dirty="0">
                        <a:latin typeface="Quattrocento Sans"/>
                        <a:ea typeface="Quattrocento Sans"/>
                        <a:cs typeface="Quattrocento Sans"/>
                        <a:sym typeface="Quattrocento Sans"/>
                      </a:endParaRPr>
                    </a:p>
                  </a:txBody>
                  <a:tcPr marL="36000" marR="36000" marT="0" marB="0">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u="none" strike="noStrike" cap="none" dirty="0">
                          <a:latin typeface="Quattrocento Sans"/>
                          <a:ea typeface="Quattrocento Sans"/>
                          <a:cs typeface="Quattrocento Sans"/>
                          <a:sym typeface="Quattrocento Sans"/>
                        </a:rPr>
                        <a:t>2026/10/22-23</a:t>
                      </a:r>
                      <a:endParaRPr sz="1200" u="none" strike="noStrike" cap="none" dirty="0">
                        <a:latin typeface="Quattrocento Sans"/>
                        <a:ea typeface="Quattrocento Sans"/>
                        <a:cs typeface="Quattrocento Sans"/>
                        <a:sym typeface="Quattrocento Sans"/>
                      </a:endParaRPr>
                    </a:p>
                  </a:txBody>
                  <a:tcPr marL="36000" marR="36000" marT="0" marB="0">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ja-JP" altLang="en-US" sz="1200" u="none" strike="noStrike" cap="none">
                          <a:latin typeface="Quattrocento Sans"/>
                          <a:ea typeface="Quattrocento Sans"/>
                          <a:cs typeface="Quattrocento Sans"/>
                          <a:sym typeface="Quattrocento Sans"/>
                        </a:rPr>
                        <a:t>ルネサス</a:t>
                      </a:r>
                      <a:endParaRPr sz="1200" u="none" strike="noStrike" cap="none" dirty="0">
                        <a:latin typeface="Quattrocento Sans"/>
                        <a:ea typeface="Quattrocento Sans"/>
                        <a:cs typeface="Quattrocento Sans"/>
                        <a:sym typeface="Quattrocento Sans"/>
                      </a:endParaRPr>
                    </a:p>
                  </a:txBody>
                  <a:tcPr marL="36000" marR="36000" marT="0" marB="0">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u="none" strike="noStrike" cap="none" dirty="0">
                          <a:latin typeface="Quattrocento Sans"/>
                          <a:ea typeface="Quattrocento Sans"/>
                          <a:cs typeface="Quattrocento Sans"/>
                          <a:sym typeface="Quattrocento Sans"/>
                        </a:rPr>
                        <a:t>豊洲オフィス</a:t>
                      </a:r>
                      <a:endParaRPr lang="en-US" sz="1200" u="none" strike="noStrike" cap="none" dirty="0">
                        <a:latin typeface="Quattrocento Sans"/>
                        <a:ea typeface="Quattrocento Sans"/>
                        <a:cs typeface="Quattrocento Sans"/>
                        <a:sym typeface="Quattrocento Sans"/>
                      </a:endParaRPr>
                    </a:p>
                  </a:txBody>
                  <a:tcPr marL="36000" marR="36000" marT="0" marB="0">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835655362"/>
                  </a:ext>
                </a:extLst>
              </a:tr>
            </a:tbl>
          </a:graphicData>
        </a:graphic>
      </p:graphicFrame>
      <p:pic>
        <p:nvPicPr>
          <p:cNvPr id="454" name="Google Shape;454;g373d37e5442_0_363"/>
          <p:cNvPicPr preferRelativeResize="0"/>
          <p:nvPr/>
        </p:nvPicPr>
        <p:blipFill rotWithShape="1">
          <a:blip r:embed="rId3">
            <a:alphaModFix/>
          </a:blip>
          <a:srcRect/>
          <a:stretch/>
        </p:blipFill>
        <p:spPr>
          <a:xfrm>
            <a:off x="7125052" y="1678650"/>
            <a:ext cx="4877873" cy="2397300"/>
          </a:xfrm>
          <a:prstGeom prst="rect">
            <a:avLst/>
          </a:prstGeom>
          <a:noFill/>
          <a:ln>
            <a:noFill/>
          </a:ln>
        </p:spPr>
      </p:pic>
      <p:sp>
        <p:nvSpPr>
          <p:cNvPr id="455" name="Google Shape;455;g373d37e5442_0_363"/>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
        <p:nvSpPr>
          <p:cNvPr id="456" name="Google Shape;456;g373d37e5442_0_363"/>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457" name="Google Shape;457;g373d37e5442_0_363"/>
          <p:cNvSpPr txBox="1"/>
          <p:nvPr/>
        </p:nvSpPr>
        <p:spPr>
          <a:xfrm>
            <a:off x="7891150" y="5552125"/>
            <a:ext cx="4111800" cy="940800"/>
          </a:xfrm>
          <a:prstGeom prst="rect">
            <a:avLst/>
          </a:prstGeom>
          <a:noFill/>
          <a:ln w="9525" cap="flat" cmpd="sng">
            <a:solidFill>
              <a:srgbClr val="00849D"/>
            </a:solidFill>
            <a:prstDash val="solid"/>
            <a:round/>
            <a:headEnd type="none" w="sm" len="sm"/>
            <a:tailEnd type="none" w="sm" len="sm"/>
          </a:ln>
        </p:spPr>
        <p:txBody>
          <a:bodyPr spcFirstLastPara="1" wrap="square" lIns="91425" tIns="45700" rIns="91425" bIns="45700" anchor="t" anchorCtr="0">
            <a:normAutofit fontScale="85000" lnSpcReduction="10000"/>
          </a:bodyPr>
          <a:lstStyle/>
          <a:p>
            <a:pPr marL="180975" marR="0" lvl="0" indent="-180975" algn="l" rtl="0">
              <a:lnSpc>
                <a:spcPct val="100000"/>
              </a:lnSpc>
              <a:spcBef>
                <a:spcPts val="0"/>
              </a:spcBef>
              <a:spcAft>
                <a:spcPts val="0"/>
              </a:spcAft>
              <a:buClr>
                <a:srgbClr val="0070C0"/>
              </a:buClr>
              <a:buSzPct val="100000"/>
              <a:buFont typeface="Arial"/>
              <a:buChar char="•"/>
            </a:pPr>
            <a:r>
              <a:rPr lang="en-US" sz="1600" b="1" i="0" u="none" strike="noStrike" cap="none">
                <a:solidFill>
                  <a:srgbClr val="0070C0"/>
                </a:solidFill>
                <a:latin typeface="Quattrocento Sans"/>
                <a:ea typeface="Quattrocento Sans"/>
                <a:cs typeface="Quattrocento Sans"/>
                <a:sym typeface="Quattrocento Sans"/>
              </a:rPr>
              <a:t>コロナ禍以降、全体会合はオンラインに</a:t>
            </a:r>
            <a:endParaRPr sz="1600" b="1" i="0" u="none" strike="noStrike" cap="none">
              <a:solidFill>
                <a:srgbClr val="0070C0"/>
              </a:solidFill>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rgbClr val="0070C0"/>
              </a:buClr>
              <a:buSzPct val="100000"/>
              <a:buFont typeface="Arial"/>
              <a:buChar char="•"/>
            </a:pPr>
            <a:r>
              <a:rPr lang="en-US" sz="1600" b="1" i="0" u="none" strike="noStrike" cap="none">
                <a:solidFill>
                  <a:srgbClr val="0070C0"/>
                </a:solidFill>
                <a:latin typeface="Quattrocento Sans"/>
                <a:ea typeface="Quattrocento Sans"/>
                <a:cs typeface="Quattrocento Sans"/>
                <a:sym typeface="Quattrocento Sans"/>
              </a:rPr>
              <a:t>オンラインでもsg活動をベースに活発に活動</a:t>
            </a:r>
            <a:endParaRPr sz="1600" b="1" i="0" u="none" strike="noStrike" cap="none">
              <a:solidFill>
                <a:srgbClr val="0070C0"/>
              </a:solidFill>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rgbClr val="0070C0"/>
              </a:buClr>
              <a:buSzPct val="100000"/>
              <a:buFont typeface="Arial"/>
              <a:buChar char="•"/>
            </a:pPr>
            <a:r>
              <a:rPr lang="en-US" sz="1600" b="1" i="0" u="none" strike="noStrike" cap="none">
                <a:solidFill>
                  <a:srgbClr val="0070C0"/>
                </a:solidFill>
                <a:latin typeface="Quattrocento Sans"/>
                <a:ea typeface="Quattrocento Sans"/>
                <a:cs typeface="Quattrocento Sans"/>
                <a:sym typeface="Quattrocento Sans"/>
              </a:rPr>
              <a:t>第26回よりリアル・オンライン会合を開始</a:t>
            </a:r>
            <a:endParaRPr sz="1600" b="1" i="0" u="none" strike="noStrike" cap="none">
              <a:solidFill>
                <a:srgbClr val="0070C0"/>
              </a:solidFill>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rgbClr val="0070C0"/>
              </a:buClr>
              <a:buSzPct val="100000"/>
              <a:buFont typeface="Arial"/>
              <a:buChar char="•"/>
            </a:pPr>
            <a:r>
              <a:rPr lang="en-US" sz="1600" b="1" i="0" u="none" strike="noStrike" cap="none">
                <a:solidFill>
                  <a:srgbClr val="0070C0"/>
                </a:solidFill>
                <a:latin typeface="Quattrocento Sans"/>
                <a:ea typeface="Quattrocento Sans"/>
                <a:cs typeface="Quattrocento Sans"/>
                <a:sym typeface="Quattrocento Sans"/>
              </a:rPr>
              <a:t>リアルでの活動活性化</a:t>
            </a:r>
            <a:endParaRPr sz="1400" b="0" i="0" u="none" strike="noStrike" cap="none">
              <a:solidFill>
                <a:srgbClr val="000000"/>
              </a:solidFill>
              <a:latin typeface="Arial"/>
              <a:ea typeface="Arial"/>
              <a:cs typeface="Arial"/>
              <a:sym typeface="Arial"/>
            </a:endParaRPr>
          </a:p>
        </p:txBody>
      </p:sp>
      <p:sp>
        <p:nvSpPr>
          <p:cNvPr id="458" name="Google Shape;458;g373d37e5442_0_363"/>
          <p:cNvSpPr/>
          <p:nvPr/>
        </p:nvSpPr>
        <p:spPr>
          <a:xfrm>
            <a:off x="7569621" y="4260236"/>
            <a:ext cx="173400" cy="219900"/>
          </a:xfrm>
          <a:prstGeom prst="downArrow">
            <a:avLst>
              <a:gd name="adj1" fmla="val 50000"/>
              <a:gd name="adj2" fmla="val 50000"/>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463"/>
        <p:cNvGrpSpPr/>
        <p:nvPr/>
      </p:nvGrpSpPr>
      <p:grpSpPr>
        <a:xfrm>
          <a:off x="0" y="0"/>
          <a:ext cx="0" cy="0"/>
          <a:chOff x="0" y="0"/>
          <a:chExt cx="0" cy="0"/>
        </a:xfrm>
      </p:grpSpPr>
      <p:sp>
        <p:nvSpPr>
          <p:cNvPr id="464" name="Google Shape;464;g373d37e5442_0_375"/>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Arial"/>
                <a:ea typeface="Arial"/>
                <a:cs typeface="Arial"/>
                <a:sym typeface="Arial"/>
              </a:rPr>
              <a:t>全体会合:  OpenChain Japan Community Day</a:t>
            </a:r>
            <a:endParaRPr>
              <a:latin typeface="Arial"/>
              <a:ea typeface="Arial"/>
              <a:cs typeface="Arial"/>
              <a:sym typeface="Arial"/>
            </a:endParaRPr>
          </a:p>
        </p:txBody>
      </p:sp>
      <p:sp>
        <p:nvSpPr>
          <p:cNvPr id="465" name="Google Shape;465;g373d37e5442_0_375"/>
          <p:cNvSpPr txBox="1">
            <a:spLocks noGrp="1"/>
          </p:cNvSpPr>
          <p:nvPr>
            <p:ph type="body" idx="1"/>
          </p:nvPr>
        </p:nvSpPr>
        <p:spPr>
          <a:xfrm>
            <a:off x="889200" y="1088821"/>
            <a:ext cx="10320000" cy="394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最近のテーマ</a:t>
            </a:r>
            <a:endParaRPr sz="2400" b="1">
              <a:latin typeface="Quattrocento Sans"/>
              <a:ea typeface="Quattrocento Sans"/>
              <a:cs typeface="Quattrocento Sans"/>
              <a:sym typeface="Quattrocento Sans"/>
            </a:endParaRPr>
          </a:p>
        </p:txBody>
      </p:sp>
      <p:graphicFrame>
        <p:nvGraphicFramePr>
          <p:cNvPr id="466" name="Google Shape;466;g373d37e5442_0_375"/>
          <p:cNvGraphicFramePr/>
          <p:nvPr/>
        </p:nvGraphicFramePr>
        <p:xfrm>
          <a:off x="372978" y="1505780"/>
          <a:ext cx="11435100" cy="4870550"/>
        </p:xfrm>
        <a:graphic>
          <a:graphicData uri="http://schemas.openxmlformats.org/drawingml/2006/table">
            <a:tbl>
              <a:tblPr>
                <a:noFill/>
                <a:tableStyleId>{F78F0FE4-2017-4BBF-AFAC-3617AE86A5F0}</a:tableStyleId>
              </a:tblPr>
              <a:tblGrid>
                <a:gridCol w="671350">
                  <a:extLst>
                    <a:ext uri="{9D8B030D-6E8A-4147-A177-3AD203B41FA5}">
                      <a16:colId xmlns:a16="http://schemas.microsoft.com/office/drawing/2014/main" val="20000"/>
                    </a:ext>
                  </a:extLst>
                </a:gridCol>
                <a:gridCol w="1169250">
                  <a:extLst>
                    <a:ext uri="{9D8B030D-6E8A-4147-A177-3AD203B41FA5}">
                      <a16:colId xmlns:a16="http://schemas.microsoft.com/office/drawing/2014/main" val="20001"/>
                    </a:ext>
                  </a:extLst>
                </a:gridCol>
                <a:gridCol w="8557600">
                  <a:extLst>
                    <a:ext uri="{9D8B030D-6E8A-4147-A177-3AD203B41FA5}">
                      <a16:colId xmlns:a16="http://schemas.microsoft.com/office/drawing/2014/main" val="20002"/>
                    </a:ext>
                  </a:extLst>
                </a:gridCol>
                <a:gridCol w="1036900">
                  <a:extLst>
                    <a:ext uri="{9D8B030D-6E8A-4147-A177-3AD203B41FA5}">
                      <a16:colId xmlns:a16="http://schemas.microsoft.com/office/drawing/2014/main" val="20003"/>
                    </a:ext>
                  </a:extLst>
                </a:gridCol>
              </a:tblGrid>
              <a:tr h="273300">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t>No.</a:t>
                      </a:r>
                      <a:endParaRPr sz="16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68A2DB"/>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t>開催日</a:t>
                      </a:r>
                      <a:endParaRPr sz="1400" u="none" strike="noStrike" cap="none"/>
                    </a:p>
                  </a:txBody>
                  <a:tcPr marL="91450" marR="91450" marT="27425" marB="27425">
                    <a:lnL w="12700" cap="flat" cmpd="sng">
                      <a:solidFill>
                        <a:srgbClr val="68A2DB"/>
                      </a:solidFill>
                      <a:prstDash val="solid"/>
                      <a:round/>
                      <a:headEnd type="none" w="sm" len="sm"/>
                      <a:tailEnd type="none" w="sm" len="sm"/>
                    </a:lnL>
                    <a:lnR w="12700" cap="flat" cmpd="sng">
                      <a:solidFill>
                        <a:srgbClr val="68A2DB"/>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t>テーマ</a:t>
                      </a:r>
                      <a:endParaRPr sz="1400" u="none" strike="noStrike" cap="none"/>
                    </a:p>
                  </a:txBody>
                  <a:tcPr marL="91450" marR="91450" marT="27425" marB="27425">
                    <a:lnL w="12700" cap="flat" cmpd="sng">
                      <a:solidFill>
                        <a:srgbClr val="68A2DB"/>
                      </a:solidFill>
                      <a:prstDash val="solid"/>
                      <a:round/>
                      <a:headEnd type="none" w="sm" len="sm"/>
                      <a:tailEnd type="none" w="sm" len="sm"/>
                    </a:lnL>
                    <a:lnR w="12700" cap="flat" cmpd="sng">
                      <a:solidFill>
                        <a:srgbClr val="68A2DB"/>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t>参加者数</a:t>
                      </a:r>
                      <a:endParaRPr sz="1400" u="none" strike="noStrike" cap="none"/>
                    </a:p>
                  </a:txBody>
                  <a:tcPr marL="91450" marR="91450" marT="27425" marB="27425" anchor="ctr">
                    <a:lnL w="12700" cap="flat" cmpd="sng">
                      <a:solidFill>
                        <a:srgbClr val="68A2DB"/>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209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第24回</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2022/07/29</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Quattrocento Sans"/>
                          <a:ea typeface="Quattrocento Sans"/>
                          <a:cs typeface="Quattrocento Sans"/>
                          <a:sym typeface="Quattrocento Sans"/>
                        </a:rPr>
                        <a:t>Open Source Program Office 立ち上げの背景</a:t>
                      </a:r>
                      <a:r>
                        <a:rPr lang="en-US" sz="1050" u="none" strike="noStrike" cap="none">
                          <a:latin typeface="Quattrocento Sans"/>
                          <a:ea typeface="Quattrocento Sans"/>
                          <a:cs typeface="Quattrocento Sans"/>
                          <a:sym typeface="Quattrocento Sans"/>
                        </a:rPr>
                        <a:t>（サイバートラスト）</a:t>
                      </a:r>
                      <a:endParaRPr sz="1100" u="none" strike="noStrike" cap="none">
                        <a:latin typeface="Quattrocento Sans"/>
                        <a:ea typeface="Quattrocento Sans"/>
                        <a:cs typeface="Quattrocento Sans"/>
                        <a:sym typeface="Quattrocento Sans"/>
                      </a:endParaRPr>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a:t>53</a:t>
                      </a:r>
                      <a:endParaRPr sz="12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1"/>
                  </a:ext>
                </a:extLst>
              </a:tr>
              <a:tr h="2209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第25回</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2022/10/31</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latin typeface="Quattrocento Sans"/>
                          <a:ea typeface="Quattrocento Sans"/>
                          <a:cs typeface="Quattrocento Sans"/>
                          <a:sym typeface="Quattrocento Sans"/>
                        </a:rPr>
                        <a:t>Leaflet SubWGよりお知らせ、OSPO SGの紹介</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a:t>48</a:t>
                      </a:r>
                      <a:endParaRPr sz="12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2"/>
                  </a:ext>
                </a:extLst>
              </a:tr>
              <a:tr h="38485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第26回</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2023/02/09</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OSSの取組みの紹介、SPDX用拡張機能 on VSCode の紹介 </a:t>
                      </a:r>
                      <a:r>
                        <a:rPr lang="en-US" sz="1050" u="none" strike="noStrike" cap="none">
                          <a:latin typeface="Quattrocento Sans"/>
                          <a:ea typeface="Quattrocento Sans"/>
                          <a:cs typeface="Quattrocento Sans"/>
                          <a:sym typeface="Quattrocento Sans"/>
                        </a:rPr>
                        <a:t>(日立ソリューションズ)</a:t>
                      </a:r>
                      <a:endParaRPr sz="1100" u="none" strike="noStrike" cap="none">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「ISO/IEC 5230の適合に向けて」、「OSS教育の整備と全社展開」</a:t>
                      </a:r>
                      <a:r>
                        <a:rPr lang="en-US" sz="1050" u="none" strike="noStrike" cap="none">
                          <a:latin typeface="Quattrocento Sans"/>
                          <a:ea typeface="Quattrocento Sans"/>
                          <a:cs typeface="Quattrocento Sans"/>
                          <a:sym typeface="Quattrocento Sans"/>
                        </a:rPr>
                        <a:t>(東芝)</a:t>
                      </a:r>
                      <a:endParaRPr sz="1100" u="none" strike="noStrike" cap="none">
                        <a:latin typeface="Quattrocento Sans"/>
                        <a:ea typeface="Quattrocento Sans"/>
                        <a:cs typeface="Quattrocento Sans"/>
                        <a:sym typeface="Quattrocento Sans"/>
                      </a:endParaRPr>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endParaRPr sz="11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3"/>
                  </a:ext>
                </a:extLst>
              </a:tr>
              <a:tr h="2209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第27回</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2023/05/18</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Arial"/>
                        <a:buNone/>
                      </a:pPr>
                      <a:r>
                        <a:rPr lang="en-US" sz="1100" u="none" strike="noStrike" cap="none">
                          <a:latin typeface="Quattrocento Sans"/>
                          <a:ea typeface="Quattrocento Sans"/>
                          <a:cs typeface="Quattrocento Sans"/>
                          <a:sym typeface="Quattrocento Sans"/>
                        </a:rPr>
                        <a:t>OSS鳥瞰図紹介、FAQ SG 活動紹介、SBOM SG 活動紹介</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endParaRPr sz="11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4"/>
                  </a:ext>
                </a:extLst>
              </a:tr>
              <a:tr h="5521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第28回</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2023/07/11</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OSSコミュニティ活動とOpenSSFの</a:t>
                      </a:r>
                      <a:r>
                        <a:rPr lang="en-US" sz="1050" u="none" strike="noStrike" cap="none">
                          <a:latin typeface="Quattrocento Sans"/>
                          <a:ea typeface="Quattrocento Sans"/>
                          <a:cs typeface="Quattrocento Sans"/>
                          <a:sym typeface="Quattrocento Sans"/>
                        </a:rPr>
                        <a:t>紹介 (日立製作所　中村さん) </a:t>
                      </a:r>
                      <a:endParaRPr sz="1100" u="none" strike="noStrike" cap="none">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教育サブグループの新教育教材について</a:t>
                      </a:r>
                      <a:r>
                        <a:rPr lang="en-US" sz="1050" u="none" strike="noStrike" cap="none">
                          <a:latin typeface="Quattrocento Sans"/>
                          <a:ea typeface="Quattrocento Sans"/>
                          <a:cs typeface="Quattrocento Sans"/>
                          <a:sym typeface="Quattrocento Sans"/>
                        </a:rPr>
                        <a:t> (岩田さん)</a:t>
                      </a:r>
                      <a:endParaRPr sz="1200" u="none" strike="noStrike" cap="none"/>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富士通でのOSS LICENSEスキルの人材育成</a:t>
                      </a:r>
                      <a:r>
                        <a:rPr lang="en-US" sz="1050" u="none" strike="noStrike" cap="none">
                          <a:latin typeface="Quattrocento Sans"/>
                          <a:ea typeface="Quattrocento Sans"/>
                          <a:cs typeface="Quattrocento Sans"/>
                          <a:sym typeface="Quattrocento Sans"/>
                        </a:rPr>
                        <a:t> (富士通　大内さん)</a:t>
                      </a:r>
                      <a:endParaRPr sz="1100" u="none" strike="noStrike" cap="none">
                        <a:latin typeface="Quattrocento Sans"/>
                        <a:ea typeface="Quattrocento Sans"/>
                        <a:cs typeface="Quattrocento Sans"/>
                        <a:sym typeface="Quattrocento Sans"/>
                      </a:endParaRPr>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endParaRPr sz="11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5"/>
                  </a:ext>
                </a:extLst>
              </a:tr>
              <a:tr h="27292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第29回</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2023/10/05</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ソシオネクスト、村田製作所の取り組み紹介</a:t>
                      </a:r>
                      <a:endParaRPr sz="1100" u="none" strike="noStrike" cap="none">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ライトニングトーク「SBOM対応、どうする？どうしてる？いま、社内はどんな状態？」</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endParaRPr sz="11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6"/>
                  </a:ext>
                </a:extLst>
              </a:tr>
              <a:tr h="4713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第30回</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2024/02/28</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SPDX membershipについて</a:t>
                      </a:r>
                      <a:r>
                        <a:rPr lang="en-US" sz="1050" u="none" strike="noStrike" cap="none">
                          <a:latin typeface="Quattrocento Sans"/>
                          <a:ea typeface="Quattrocento Sans"/>
                          <a:cs typeface="Quattrocento Sans"/>
                          <a:sym typeface="Quattrocento Sans"/>
                        </a:rPr>
                        <a:t> (ソニーグループ株式会社 小保田さん)</a:t>
                      </a:r>
                      <a:endParaRPr sz="1200" u="none" strike="noStrike" cap="none"/>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OSSサプライチェーン上流 企業でのオープンソース活動 </a:t>
                      </a:r>
                      <a:r>
                        <a:rPr lang="en-US" sz="1050" u="none" strike="noStrike" cap="none">
                          <a:latin typeface="Quattrocento Sans"/>
                          <a:ea typeface="Quattrocento Sans"/>
                          <a:cs typeface="Quattrocento Sans"/>
                          <a:sym typeface="Quattrocento Sans"/>
                        </a:rPr>
                        <a:t>(サイバートラスト 鈴木さん、池田さん)</a:t>
                      </a:r>
                      <a:endParaRPr sz="1100" u="none" strike="noStrike" cap="none">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How We Navigate an Open Source Compliance and Contribution</a:t>
                      </a:r>
                      <a:r>
                        <a:rPr lang="en-US" sz="1050" u="none" strike="noStrike" cap="none">
                          <a:latin typeface="Quattrocento Sans"/>
                          <a:ea typeface="Quattrocento Sans"/>
                          <a:cs typeface="Quattrocento Sans"/>
                          <a:sym typeface="Quattrocento Sans"/>
                        </a:rPr>
                        <a:t> (ソニーセミコンダクタソリューションズ 下村さん、飯田さん)</a:t>
                      </a:r>
                      <a:endParaRPr sz="1100" u="none" strike="noStrike" cap="none">
                        <a:latin typeface="Quattrocento Sans"/>
                        <a:ea typeface="Quattrocento Sans"/>
                        <a:cs typeface="Quattrocento Sans"/>
                        <a:sym typeface="Quattrocento Sans"/>
                      </a:endParaRPr>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endParaRPr sz="11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7"/>
                  </a:ext>
                </a:extLst>
              </a:tr>
              <a:tr h="719500">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第31回</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2024/06/27</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OSS推進チームの活動紹介 (</a:t>
                      </a:r>
                      <a:r>
                        <a:rPr lang="en-US" sz="1100" b="0" u="none" strike="noStrike" cap="none">
                          <a:latin typeface="Quattrocento Sans"/>
                          <a:ea typeface="Quattrocento Sans"/>
                          <a:cs typeface="Quattrocento Sans"/>
                          <a:sym typeface="Quattrocento Sans"/>
                        </a:rPr>
                        <a:t>サイボウズ株式会社　武内さん)</a:t>
                      </a:r>
                      <a:endParaRPr sz="1100" b="0" u="none" strike="noStrike" cap="none">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OSPOの活動紹介 (トヨタ自動車　遠藤さん)</a:t>
                      </a:r>
                      <a:endParaRPr sz="1100" u="none" strike="noStrike" cap="none">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現地で体験！オープンソースイベント参加のメリット</a:t>
                      </a:r>
                      <a:endParaRPr sz="1200" u="none" strike="noStrike" cap="none"/>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ライトニングトーク「OSS コンプライアンス～組織・体制面～ Revival」</a:t>
                      </a:r>
                      <a:endParaRPr sz="12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endParaRPr sz="11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8"/>
                  </a:ext>
                </a:extLst>
              </a:tr>
              <a:tr h="5521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第32回</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2024/10/17-18</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本田技研工業株式会社におけるOpenChain認証取得 (本田技研工業株式会社 坪内さん、日下部さん)</a:t>
                      </a:r>
                      <a:endParaRPr sz="1100" u="none" strike="noStrike" cap="none">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SBOM動向 (株式会社東芝 忍頂寺さん、ソニーグループ株式会社 小保田さん)</a:t>
                      </a:r>
                      <a:endParaRPr sz="1100" u="none" strike="noStrike" cap="none">
                        <a:latin typeface="Quattrocento Sans"/>
                        <a:ea typeface="Quattrocento Sans"/>
                        <a:cs typeface="Quattrocento Sans"/>
                        <a:sym typeface="Quattrocento Sans"/>
                      </a:endParaRPr>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solidFill>
                            <a:schemeClr val="dk1"/>
                          </a:solidFill>
                          <a:latin typeface="Quattrocento Sans"/>
                          <a:ea typeface="Quattrocento Sans"/>
                          <a:cs typeface="Quattrocento Sans"/>
                          <a:sym typeface="Quattrocento Sans"/>
                        </a:rPr>
                        <a:t>有識者によるパネルディスカッション</a:t>
                      </a:r>
                      <a:endParaRPr sz="1100" u="none" strike="noStrike" cap="none">
                        <a:latin typeface="Quattrocento Sans"/>
                        <a:ea typeface="Quattrocento Sans"/>
                        <a:cs typeface="Quattrocento Sans"/>
                        <a:sym typeface="Quattrocento Sans"/>
                      </a:endParaRPr>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endParaRPr sz="11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9"/>
                  </a:ext>
                </a:extLst>
              </a:tr>
              <a:tr h="329875">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第33回</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2025/3/3-4</a:t>
                      </a:r>
                      <a:endParaRPr sz="11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トヨタ自動車のオープンソース活動の紹介 (トヨタ自動車株式会社 遠藤さん)</a:t>
                      </a:r>
                      <a:endParaRPr sz="1400" u="none" strike="noStrike" cap="none"/>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自動車業界におけるSBOM - 経産省SBOM実証事業より – (株式会社日立ソリューションズ 渡邊さん)</a:t>
                      </a:r>
                      <a:endParaRPr sz="1400" u="none" strike="noStrike" cap="none"/>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Automotive Open Source Panel (OpenChain有志メンバー)</a:t>
                      </a:r>
                      <a:endParaRPr sz="1400" u="none" strike="noStrike" cap="none"/>
                    </a:p>
                    <a:p>
                      <a:pPr marL="180975" marR="0" lvl="0" indent="-180975" algn="l" rtl="0">
                        <a:lnSpc>
                          <a:spcPct val="100000"/>
                        </a:lnSpc>
                        <a:spcBef>
                          <a:spcPts val="0"/>
                        </a:spcBef>
                        <a:spcAft>
                          <a:spcPts val="0"/>
                        </a:spcAft>
                        <a:buClr>
                          <a:schemeClr val="dk1"/>
                        </a:buClr>
                        <a:buSzPts val="1200"/>
                        <a:buFont typeface="Arial"/>
                        <a:buChar char="•"/>
                      </a:pPr>
                      <a:r>
                        <a:rPr lang="en-US" sz="1100" u="none" strike="noStrike" cap="none">
                          <a:latin typeface="Quattrocento Sans"/>
                          <a:ea typeface="Quattrocento Sans"/>
                          <a:cs typeface="Quattrocento Sans"/>
                          <a:sym typeface="Quattrocento Sans"/>
                        </a:rPr>
                        <a:t>Project ESSTRA：ソフトウェアの透明性とトレーサビリティを強化するソフトウェアスイート (ソニーグループ株式会社 生江さん)</a:t>
                      </a:r>
                      <a:endParaRPr sz="1400" u="none" strike="noStrike" cap="none"/>
                    </a:p>
                  </a:txBody>
                  <a:tcPr marL="91450" marR="91450" marT="27425" marB="274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endParaRPr sz="1100" u="none" strike="noStrike" cap="none"/>
                    </a:p>
                  </a:txBody>
                  <a:tcPr marL="91450" marR="91450" marT="27425" marB="274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10"/>
                  </a:ext>
                </a:extLst>
              </a:tr>
            </a:tbl>
          </a:graphicData>
        </a:graphic>
      </p:graphicFrame>
      <p:sp>
        <p:nvSpPr>
          <p:cNvPr id="467" name="Google Shape;467;g373d37e5442_0_375"/>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468" name="Google Shape;468;g373d37e5442_0_375"/>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g373d37e5442_0_384"/>
          <p:cNvSpPr txBox="1">
            <a:spLocks noGrp="1"/>
          </p:cNvSpPr>
          <p:nvPr>
            <p:ph type="title"/>
          </p:nvPr>
        </p:nvSpPr>
        <p:spPr>
          <a:xfrm>
            <a:off x="890271" y="531580"/>
            <a:ext cx="10320000" cy="645300"/>
          </a:xfrm>
          <a:prstGeom prst="rect">
            <a:avLst/>
          </a:prstGeom>
          <a:noFill/>
          <a:ln>
            <a:noFill/>
          </a:ln>
        </p:spPr>
        <p:txBody>
          <a:bodyPr spcFirstLastPara="1" wrap="square" lIns="0" tIns="228600" rIns="0" bIns="228600" anchor="ctr" anchorCtr="0">
            <a:noAutofit/>
          </a:bodyPr>
          <a:lstStyle/>
          <a:p>
            <a:pPr marL="0" lvl="0" indent="0" algn="l" rtl="0">
              <a:lnSpc>
                <a:spcPct val="90000"/>
              </a:lnSpc>
              <a:spcBef>
                <a:spcPts val="0"/>
              </a:spcBef>
              <a:spcAft>
                <a:spcPts val="0"/>
              </a:spcAft>
              <a:buSzPts val="1400"/>
              <a:buNone/>
            </a:pPr>
            <a:r>
              <a:rPr lang="en-US" b="1">
                <a:latin typeface="Arial"/>
                <a:ea typeface="Arial"/>
                <a:cs typeface="Arial"/>
                <a:sym typeface="Arial"/>
              </a:rPr>
              <a:t>OpenChain Japan WG Web Page, ML &amp; Slack</a:t>
            </a:r>
            <a:endParaRPr b="1">
              <a:latin typeface="Arial"/>
              <a:ea typeface="Arial"/>
              <a:cs typeface="Arial"/>
              <a:sym typeface="Arial"/>
            </a:endParaRPr>
          </a:p>
        </p:txBody>
      </p:sp>
      <p:sp>
        <p:nvSpPr>
          <p:cNvPr id="475" name="Google Shape;475;g373d37e5442_0_384"/>
          <p:cNvSpPr txBox="1">
            <a:spLocks noGrp="1"/>
          </p:cNvSpPr>
          <p:nvPr>
            <p:ph type="body" idx="1"/>
          </p:nvPr>
        </p:nvSpPr>
        <p:spPr>
          <a:xfrm>
            <a:off x="889200" y="1357200"/>
            <a:ext cx="10320000" cy="11709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b="1">
                <a:latin typeface="Quattrocento Sans"/>
                <a:ea typeface="Quattrocento Sans"/>
                <a:cs typeface="Quattrocento Sans"/>
                <a:sym typeface="Quattrocento Sans"/>
              </a:rPr>
              <a:t>Japan WG 活動をきっかけに、オープンソース に参加しませんか</a:t>
            </a:r>
            <a:endParaRPr sz="2400" b="1">
              <a:latin typeface="Quattrocento Sans"/>
              <a:ea typeface="Quattrocento Sans"/>
              <a:cs typeface="Quattrocento Sans"/>
              <a:sym typeface="Quattrocento Sans"/>
            </a:endParaRPr>
          </a:p>
          <a:p>
            <a:pPr marL="0" lvl="0" indent="0" algn="l" rtl="0">
              <a:lnSpc>
                <a:spcPct val="100000"/>
              </a:lnSpc>
              <a:spcBef>
                <a:spcPts val="600"/>
              </a:spcBef>
              <a:spcAft>
                <a:spcPts val="0"/>
              </a:spcAft>
              <a:buSzPts val="1800"/>
              <a:buNone/>
            </a:pPr>
            <a:r>
              <a:rPr lang="en-US" sz="1800">
                <a:latin typeface="Quattrocento Sans"/>
                <a:ea typeface="Quattrocento Sans"/>
                <a:cs typeface="Quattrocento Sans"/>
                <a:sym typeface="Quattrocento Sans"/>
              </a:rPr>
              <a:t>※ニューストピックや会合のアナウンス等のフォーマルな案内は主にML、</a:t>
            </a:r>
            <a:endParaRPr sz="1800">
              <a:latin typeface="Quattrocento Sans"/>
              <a:ea typeface="Quattrocento Sans"/>
              <a:cs typeface="Quattrocento Sans"/>
              <a:sym typeface="Quattrocento Sans"/>
            </a:endParaRPr>
          </a:p>
          <a:p>
            <a:pPr marL="0" lvl="0" indent="0" algn="l" rtl="0">
              <a:lnSpc>
                <a:spcPct val="100000"/>
              </a:lnSpc>
              <a:spcBef>
                <a:spcPts val="540"/>
              </a:spcBef>
              <a:spcAft>
                <a:spcPts val="0"/>
              </a:spcAft>
              <a:buSzPts val="1800"/>
              <a:buNone/>
            </a:pPr>
            <a:r>
              <a:rPr lang="en-US" sz="1800">
                <a:latin typeface="Quattrocento Sans"/>
                <a:ea typeface="Quattrocento Sans"/>
                <a:cs typeface="Quattrocento Sans"/>
                <a:sym typeface="Quattrocento Sans"/>
              </a:rPr>
              <a:t>　</a:t>
            </a:r>
            <a:r>
              <a:rPr lang="en-US" sz="1800" b="1" u="sng">
                <a:latin typeface="Quattrocento Sans"/>
                <a:ea typeface="Quattrocento Sans"/>
                <a:cs typeface="Quattrocento Sans"/>
                <a:sym typeface="Quattrocento Sans"/>
              </a:rPr>
              <a:t>日頃のカジュアルな情報共有やコミュニケーションは主にSlackで行っています</a:t>
            </a:r>
            <a:r>
              <a:rPr lang="en-US" sz="1800">
                <a:latin typeface="Quattrocento Sans"/>
                <a:ea typeface="Quattrocento Sans"/>
                <a:cs typeface="Quattrocento Sans"/>
                <a:sym typeface="Quattrocento Sans"/>
              </a:rPr>
              <a:t>。</a:t>
            </a:r>
            <a:endParaRPr/>
          </a:p>
        </p:txBody>
      </p:sp>
      <p:graphicFrame>
        <p:nvGraphicFramePr>
          <p:cNvPr id="476" name="Google Shape;476;g373d37e5442_0_384"/>
          <p:cNvGraphicFramePr/>
          <p:nvPr/>
        </p:nvGraphicFramePr>
        <p:xfrm>
          <a:off x="933010" y="2510436"/>
          <a:ext cx="9423975" cy="3787470"/>
        </p:xfrm>
        <a:graphic>
          <a:graphicData uri="http://schemas.openxmlformats.org/drawingml/2006/table">
            <a:tbl>
              <a:tblPr firstRow="1" bandRow="1">
                <a:noFill/>
                <a:tableStyleId>{D3E39EA5-418F-4871-997F-E158D709882C}</a:tableStyleId>
              </a:tblPr>
              <a:tblGrid>
                <a:gridCol w="2228200">
                  <a:extLst>
                    <a:ext uri="{9D8B030D-6E8A-4147-A177-3AD203B41FA5}">
                      <a16:colId xmlns:a16="http://schemas.microsoft.com/office/drawing/2014/main" val="20000"/>
                    </a:ext>
                  </a:extLst>
                </a:gridCol>
                <a:gridCol w="7195775">
                  <a:extLst>
                    <a:ext uri="{9D8B030D-6E8A-4147-A177-3AD203B41FA5}">
                      <a16:colId xmlns:a16="http://schemas.microsoft.com/office/drawing/2014/main" val="20001"/>
                    </a:ext>
                  </a:extLst>
                </a:gridCol>
              </a:tblGrid>
              <a:tr h="408100">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solidFill>
                            <a:schemeClr val="lt1"/>
                          </a:solidFill>
                        </a:rPr>
                        <a:t>Community</a:t>
                      </a:r>
                      <a:endParaRPr sz="2000" b="1" u="none" strike="noStrike" cap="none">
                        <a:solidFill>
                          <a:schemeClr val="lt1"/>
                        </a:solidFill>
                      </a:endParaRPr>
                    </a:p>
                  </a:txBody>
                  <a:tcPr marL="91450" marR="91450" marT="45725" marB="45725" anchor="ctr">
                    <a:lnB w="9525" cap="flat" cmpd="sng">
                      <a:solidFill>
                        <a:srgbClr val="000000">
                          <a:alpha val="0"/>
                        </a:srgbClr>
                      </a:solidFill>
                      <a:prstDash val="solid"/>
                      <a:round/>
                      <a:headEnd type="none" w="sm" len="sm"/>
                      <a:tailEnd type="none" w="sm" len="sm"/>
                    </a:lnB>
                    <a:solidFill>
                      <a:srgbClr val="5B9BD5"/>
                    </a:solidFill>
                  </a:tcPr>
                </a:tc>
                <a:tc>
                  <a:txBody>
                    <a:bodyPr/>
                    <a:lstStyle/>
                    <a:p>
                      <a:pPr marL="0" marR="0" lvl="0" indent="0" algn="l" rtl="0">
                        <a:lnSpc>
                          <a:spcPct val="100000"/>
                        </a:lnSpc>
                        <a:spcBef>
                          <a:spcPts val="0"/>
                        </a:spcBef>
                        <a:spcAft>
                          <a:spcPts val="0"/>
                        </a:spcAft>
                        <a:buClr>
                          <a:srgbClr val="000000"/>
                        </a:buClr>
                        <a:buSzPts val="2000"/>
                        <a:buFont typeface="Arial"/>
                        <a:buNone/>
                      </a:pPr>
                      <a:r>
                        <a:rPr lang="en-US" sz="2000" b="1" u="none" strike="noStrike" cap="none">
                          <a:solidFill>
                            <a:schemeClr val="lt1"/>
                          </a:solidFill>
                        </a:rPr>
                        <a:t>URL or Mailing list</a:t>
                      </a:r>
                      <a:endParaRPr sz="2000" b="1" u="none" strike="noStrike" cap="none">
                        <a:solidFill>
                          <a:schemeClr val="lt1"/>
                        </a:solidFill>
                      </a:endParaRPr>
                    </a:p>
                  </a:txBody>
                  <a:tcPr marL="91450" marR="91450" marT="45725" marB="45725" anchor="ctr">
                    <a:lnB w="9525" cap="flat" cmpd="sng">
                      <a:solidFill>
                        <a:srgbClr val="000000">
                          <a:alpha val="0"/>
                        </a:srgbClr>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3767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252525"/>
                          </a:solidFill>
                          <a:latin typeface="Quattrocento Sans"/>
                          <a:ea typeface="Quattrocento Sans"/>
                          <a:cs typeface="Quattrocento Sans"/>
                          <a:sym typeface="Quattrocento Sans"/>
                        </a:rPr>
                        <a:t>Main web site</a:t>
                      </a:r>
                      <a:endParaRPr sz="1800" b="1" u="none" strike="noStrike" cap="none">
                        <a:latin typeface="Quattrocento Sans"/>
                        <a:ea typeface="Quattrocento Sans"/>
                        <a:cs typeface="Quattrocento Sans"/>
                        <a:sym typeface="Quattrocento Sans"/>
                      </a:endParaRPr>
                    </a:p>
                  </a:txBody>
                  <a:tcPr marL="91450" marR="91450" marT="45725" marB="45725" anchor="ctr">
                    <a:lnT w="9525" cap="flat" cmpd="sng">
                      <a:solidFill>
                        <a:srgbClr val="000000">
                          <a:alpha val="0"/>
                        </a:srgbClr>
                      </a:solidFill>
                      <a:prstDash val="solid"/>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Quattrocento Sans"/>
                        <a:buNone/>
                      </a:pPr>
                      <a:r>
                        <a:rPr lang="en-US" sz="1800" b="1" u="sng" strike="noStrike" cap="none">
                          <a:solidFill>
                            <a:schemeClr val="hlink"/>
                          </a:solidFill>
                          <a:latin typeface="Quattrocento Sans"/>
                          <a:ea typeface="Quattrocento Sans"/>
                          <a:cs typeface="Quattrocento Sans"/>
                          <a:sym typeface="Quattrocento Sans"/>
                          <a:hlinkClick r:id="rId3"/>
                        </a:rPr>
                        <a:t>https://openchain-project.github.io/OpenChain-JWG/</a:t>
                      </a:r>
                      <a:endParaRPr sz="1800" b="1" u="none" strike="noStrike" cap="none">
                        <a:latin typeface="Quattrocento Sans"/>
                        <a:ea typeface="Quattrocento Sans"/>
                        <a:cs typeface="Quattrocento Sans"/>
                        <a:sym typeface="Quattrocento Sans"/>
                      </a:endParaRPr>
                    </a:p>
                  </a:txBody>
                  <a:tcPr marL="91450" marR="91450" marT="45725" marB="45725" anchor="ctr">
                    <a:lnT w="9525" cap="flat" cmpd="sng">
                      <a:solidFill>
                        <a:srgbClr val="000000">
                          <a:alpha val="0"/>
                        </a:srgbClr>
                      </a:solidFill>
                      <a:prstDash val="solid"/>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1"/>
                  </a:ext>
                </a:extLst>
              </a:tr>
              <a:tr h="3767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252525"/>
                          </a:solidFill>
                          <a:latin typeface="Quattrocento Sans"/>
                          <a:ea typeface="Quattrocento Sans"/>
                          <a:cs typeface="Quattrocento Sans"/>
                          <a:sym typeface="Quattrocento Sans"/>
                        </a:rPr>
                        <a:t>Japan WG ML</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Quattrocento Sans"/>
                        <a:buNone/>
                      </a:pPr>
                      <a:r>
                        <a:rPr lang="en-US" sz="1800" b="1" u="sng" strike="noStrike" cap="none">
                          <a:solidFill>
                            <a:schemeClr val="hlink"/>
                          </a:solidFill>
                          <a:latin typeface="Quattrocento Sans"/>
                          <a:ea typeface="Quattrocento Sans"/>
                          <a:cs typeface="Quattrocento Sans"/>
                          <a:sym typeface="Quattrocento Sans"/>
                          <a:hlinkClick r:id="rId4"/>
                        </a:rPr>
                        <a:t>japan-wg+subscribe@lists.openchainproject.org</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2"/>
                  </a:ext>
                </a:extLst>
              </a:tr>
              <a:tr h="3767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Quattrocento Sans"/>
                          <a:ea typeface="Quattrocento Sans"/>
                          <a:cs typeface="Quattrocento Sans"/>
                          <a:sym typeface="Quattrocento Sans"/>
                        </a:rPr>
                        <a:t>Planning SG ML</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Quattrocento Sans"/>
                        <a:buNone/>
                      </a:pPr>
                      <a:r>
                        <a:rPr lang="en-US" sz="1800" b="1" u="sng" strike="noStrike" cap="none">
                          <a:solidFill>
                            <a:schemeClr val="hlink"/>
                          </a:solidFill>
                          <a:latin typeface="Quattrocento Sans"/>
                          <a:ea typeface="Quattrocento Sans"/>
                          <a:cs typeface="Quattrocento Sans"/>
                          <a:sym typeface="Quattrocento Sans"/>
                          <a:hlinkClick r:id="rId5"/>
                        </a:rPr>
                        <a:t>japan-sg-planning+subscribe@lists.openchainproject.org</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3"/>
                  </a:ext>
                </a:extLst>
              </a:tr>
              <a:tr h="3767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Quattrocento Sans"/>
                          <a:ea typeface="Quattrocento Sans"/>
                          <a:cs typeface="Quattrocento Sans"/>
                          <a:sym typeface="Quattrocento Sans"/>
                        </a:rPr>
                        <a:t>FAQ SG ML</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Quattrocento Sans"/>
                        <a:buNone/>
                      </a:pPr>
                      <a:r>
                        <a:rPr lang="en-US" sz="1800" b="1" u="sng" strike="noStrike" cap="none">
                          <a:solidFill>
                            <a:schemeClr val="hlink"/>
                          </a:solidFill>
                          <a:latin typeface="Quattrocento Sans"/>
                          <a:ea typeface="Quattrocento Sans"/>
                          <a:cs typeface="Quattrocento Sans"/>
                          <a:sym typeface="Quattrocento Sans"/>
                          <a:hlinkClick r:id="rId6"/>
                        </a:rPr>
                        <a:t>japan-sg-faq+subscribe@lists.openchainproject.org</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4"/>
                  </a:ext>
                </a:extLst>
              </a:tr>
              <a:tr h="3767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Quattrocento Sans"/>
                          <a:ea typeface="Quattrocento Sans"/>
                          <a:cs typeface="Quattrocento Sans"/>
                          <a:sym typeface="Quattrocento Sans"/>
                        </a:rPr>
                        <a:t>Education SG ML</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Quattrocento Sans"/>
                        <a:buNone/>
                      </a:pPr>
                      <a:r>
                        <a:rPr lang="en-US" sz="1800" b="1" u="sng" strike="noStrike" cap="none">
                          <a:solidFill>
                            <a:schemeClr val="hlink"/>
                          </a:solidFill>
                          <a:latin typeface="Quattrocento Sans"/>
                          <a:ea typeface="Quattrocento Sans"/>
                          <a:cs typeface="Quattrocento Sans"/>
                          <a:sym typeface="Quattrocento Sans"/>
                          <a:hlinkClick r:id="rId7"/>
                        </a:rPr>
                        <a:t>japan-sg-education+subscribe@lists.openchainproject.org</a:t>
                      </a:r>
                      <a:endParaRPr sz="1800" b="1" u="none" strike="noStrike" cap="none">
                        <a:solidFill>
                          <a:srgbClr val="105D9C"/>
                        </a:solidFill>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5"/>
                  </a:ext>
                </a:extLst>
              </a:tr>
              <a:tr h="3767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Quattrocento Sans"/>
                          <a:ea typeface="Quattrocento Sans"/>
                          <a:cs typeface="Quattrocento Sans"/>
                          <a:sym typeface="Quattrocento Sans"/>
                        </a:rPr>
                        <a:t>SBOM SG ML</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267CB9"/>
                        </a:buClr>
                        <a:buSzPts val="1800"/>
                        <a:buFont typeface="Arial"/>
                        <a:buNone/>
                      </a:pPr>
                      <a:r>
                        <a:rPr lang="en-US" sz="1800" b="1" i="0" u="sng" strike="noStrike" cap="none">
                          <a:solidFill>
                            <a:srgbClr val="105D9C"/>
                          </a:solidFill>
                          <a:latin typeface="Quattrocento Sans"/>
                          <a:ea typeface="Quattrocento Sans"/>
                          <a:cs typeface="Quattrocento Sans"/>
                          <a:sym typeface="Quattrocento Sans"/>
                          <a:hlinkClick r:id="rId8">
                            <a:extLst>
                              <a:ext uri="{A12FA001-AC4F-418D-AE19-62706E023703}">
                                <ahyp:hlinkClr xmlns:ahyp="http://schemas.microsoft.com/office/drawing/2018/hyperlinkcolor" val="tx"/>
                              </a:ext>
                            </a:extLst>
                          </a:hlinkClick>
                        </a:rPr>
                        <a:t>japan-sg-sbom+subscribe@lists.openchainproject.org</a:t>
                      </a:r>
                      <a:endParaRPr sz="1800" b="1" i="0" u="none" strike="noStrike" cap="none">
                        <a:solidFill>
                          <a:srgbClr val="105D9C"/>
                        </a:solidFill>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6"/>
                  </a:ext>
                </a:extLst>
              </a:tr>
              <a:tr h="3767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Quattrocento Sans"/>
                          <a:ea typeface="Quattrocento Sans"/>
                          <a:cs typeface="Quattrocento Sans"/>
                          <a:sym typeface="Quattrocento Sans"/>
                        </a:rPr>
                        <a:t>Automation SG ML</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rgbClr val="267CB9"/>
                        </a:buClr>
                        <a:buSzPts val="1800"/>
                        <a:buFont typeface="Noto Sans"/>
                        <a:buNone/>
                      </a:pPr>
                      <a:r>
                        <a:rPr lang="en-US" sz="1800" b="1" i="0" u="sng" strike="noStrike" cap="none">
                          <a:solidFill>
                            <a:srgbClr val="105D9C"/>
                          </a:solidFill>
                          <a:latin typeface="Quattrocento Sans"/>
                          <a:ea typeface="Quattrocento Sans"/>
                          <a:cs typeface="Quattrocento Sans"/>
                          <a:sym typeface="Quattrocento Sans"/>
                          <a:hlinkClick r:id="rId9">
                            <a:extLst>
                              <a:ext uri="{A12FA001-AC4F-418D-AE19-62706E023703}">
                                <ahyp:hlinkClr xmlns:ahyp="http://schemas.microsoft.com/office/drawing/2018/hyperlinkcolor" val="tx"/>
                              </a:ext>
                            </a:extLst>
                          </a:hlinkClick>
                        </a:rPr>
                        <a:t>japan-sg-automation+subscribe@lists.openchainproject.org</a:t>
                      </a:r>
                      <a:endParaRPr sz="1800" b="1" u="none" strike="noStrike" cap="none">
                        <a:solidFill>
                          <a:srgbClr val="105D9C"/>
                        </a:solidFill>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7"/>
                  </a:ext>
                </a:extLst>
              </a:tr>
              <a:tr h="3530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Quattrocento Sans"/>
                          <a:ea typeface="Quattrocento Sans"/>
                          <a:cs typeface="Quattrocento Sans"/>
                          <a:sym typeface="Quattrocento Sans"/>
                        </a:rPr>
                        <a:t>OSPO SG ML</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Quattrocento Sans"/>
                        <a:buNone/>
                      </a:pPr>
                      <a:r>
                        <a:rPr lang="en-US" sz="1800" b="1" u="sng" strike="noStrike" cap="none">
                          <a:solidFill>
                            <a:schemeClr val="hlink"/>
                          </a:solidFill>
                          <a:latin typeface="Quattrocento Sans"/>
                          <a:ea typeface="Quattrocento Sans"/>
                          <a:cs typeface="Quattrocento Sans"/>
                          <a:sym typeface="Quattrocento Sans"/>
                          <a:hlinkClick r:id="rId10"/>
                        </a:rPr>
                        <a:t>japan-sg-ospo+subscribe@lists.openchainproject.org</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8"/>
                  </a:ext>
                </a:extLst>
              </a:tr>
              <a:tr h="3767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latin typeface="Quattrocento Sans"/>
                          <a:ea typeface="Quattrocento Sans"/>
                          <a:cs typeface="Quattrocento Sans"/>
                          <a:sym typeface="Quattrocento Sans"/>
                        </a:rPr>
                        <a:t>Slack</a:t>
                      </a:r>
                      <a:endParaRPr sz="18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attrocento Sans"/>
                        <a:buNone/>
                      </a:pPr>
                      <a:r>
                        <a:rPr lang="en-US" sz="1200" b="1" u="sng" strike="noStrike" cap="none">
                          <a:solidFill>
                            <a:schemeClr val="hlink"/>
                          </a:solidFill>
                          <a:latin typeface="Quattrocento Sans"/>
                          <a:ea typeface="Quattrocento Sans"/>
                          <a:cs typeface="Quattrocento Sans"/>
                          <a:sym typeface="Quattrocento Sans"/>
                          <a:hlinkClick r:id="rId11"/>
                        </a:rPr>
                        <a:t>https://join.slack.com/t/openchain-japanwg/shared_invite/zt-2f9lbstd0-D__Jkfs_kwnyGhD0x7tTkw</a:t>
                      </a:r>
                      <a:endParaRPr sz="1200" b="1" u="none" strike="noStrike" cap="none">
                        <a:latin typeface="Quattrocento Sans"/>
                        <a:ea typeface="Quattrocento Sans"/>
                        <a:cs typeface="Quattrocento Sans"/>
                        <a:sym typeface="Quattrocento Sans"/>
                      </a:endParaRPr>
                    </a:p>
                  </a:txBody>
                  <a:tcPr marL="91450" marR="91450" marT="45725" marB="45725" anchor="ctr">
                    <a:lnT w="12700" cap="flat" cmpd="sng">
                      <a:solidFill>
                        <a:schemeClr val="dk1"/>
                      </a:solidFill>
                      <a:prstDash val="dot"/>
                      <a:round/>
                      <a:headEnd type="none" w="sm" len="sm"/>
                      <a:tailEnd type="none" w="sm" len="sm"/>
                    </a:lnT>
                    <a:lnB w="12700" cap="flat" cmpd="sng">
                      <a:solidFill>
                        <a:schemeClr val="dk1"/>
                      </a:solidFill>
                      <a:prstDash val="dot"/>
                      <a:round/>
                      <a:headEnd type="none" w="sm" len="sm"/>
                      <a:tailEnd type="none" w="sm" len="sm"/>
                    </a:lnB>
                  </a:tcPr>
                </a:tc>
                <a:extLst>
                  <a:ext uri="{0D108BD9-81ED-4DB2-BD59-A6C34878D82A}">
                    <a16:rowId xmlns:a16="http://schemas.microsoft.com/office/drawing/2014/main" val="10009"/>
                  </a:ext>
                </a:extLst>
              </a:tr>
            </a:tbl>
          </a:graphicData>
        </a:graphic>
      </p:graphicFrame>
      <p:pic>
        <p:nvPicPr>
          <p:cNvPr id="477" name="Google Shape;477;g373d37e5442_0_384"/>
          <p:cNvPicPr preferRelativeResize="0"/>
          <p:nvPr/>
        </p:nvPicPr>
        <p:blipFill rotWithShape="1">
          <a:blip r:embed="rId12">
            <a:alphaModFix/>
          </a:blip>
          <a:srcRect/>
          <a:stretch/>
        </p:blipFill>
        <p:spPr>
          <a:xfrm>
            <a:off x="10240434" y="1060255"/>
            <a:ext cx="1868376" cy="1868376"/>
          </a:xfrm>
          <a:prstGeom prst="rect">
            <a:avLst/>
          </a:prstGeom>
          <a:noFill/>
          <a:ln>
            <a:noFill/>
          </a:ln>
        </p:spPr>
      </p:pic>
      <p:sp>
        <p:nvSpPr>
          <p:cNvPr id="478" name="Google Shape;478;g373d37e5442_0_384"/>
          <p:cNvSpPr/>
          <p:nvPr/>
        </p:nvSpPr>
        <p:spPr>
          <a:xfrm>
            <a:off x="10356983" y="3341078"/>
            <a:ext cx="237600" cy="2567400"/>
          </a:xfrm>
          <a:prstGeom prst="rightBrace">
            <a:avLst>
              <a:gd name="adj1" fmla="val 8333"/>
              <a:gd name="adj2" fmla="val 50000"/>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Quattrocento Sans"/>
              <a:buNone/>
            </a:pPr>
            <a:endParaRPr sz="1600" b="0" i="0" u="none" strike="noStrike" cap="none">
              <a:solidFill>
                <a:srgbClr val="000000"/>
              </a:solidFill>
              <a:latin typeface="Arial"/>
              <a:ea typeface="Arial"/>
              <a:cs typeface="Arial"/>
              <a:sym typeface="Arial"/>
            </a:endParaRPr>
          </a:p>
        </p:txBody>
      </p:sp>
      <p:sp>
        <p:nvSpPr>
          <p:cNvPr id="479" name="Google Shape;479;g373d37e5442_0_384"/>
          <p:cNvSpPr txBox="1"/>
          <p:nvPr/>
        </p:nvSpPr>
        <p:spPr>
          <a:xfrm>
            <a:off x="10632638" y="4365915"/>
            <a:ext cx="1149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Quattrocento Sans"/>
                <a:ea typeface="Quattrocento Sans"/>
                <a:cs typeface="Quattrocento Sans"/>
                <a:sym typeface="Quattrocento Sans"/>
              </a:rPr>
              <a:t>空メールの送信で参加</a:t>
            </a:r>
            <a:endParaRPr sz="1400" b="0" i="0" u="none" strike="noStrike" cap="none">
              <a:solidFill>
                <a:schemeClr val="dk1"/>
              </a:solidFill>
              <a:latin typeface="Quattrocento Sans"/>
              <a:ea typeface="Quattrocento Sans"/>
              <a:cs typeface="Quattrocento Sans"/>
              <a:sym typeface="Quattrocento Sans"/>
            </a:endParaRPr>
          </a:p>
        </p:txBody>
      </p:sp>
      <p:sp>
        <p:nvSpPr>
          <p:cNvPr id="480" name="Google Shape;480;g373d37e5442_0_384"/>
          <p:cNvSpPr txBox="1">
            <a:spLocks noGrp="1"/>
          </p:cNvSpPr>
          <p:nvPr>
            <p:ph type="ftr" idx="11"/>
          </p:nvPr>
        </p:nvSpPr>
        <p:spPr>
          <a:xfrm>
            <a:off x="1331339" y="6423024"/>
            <a:ext cx="2874300" cy="139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OpenChain Japan Work Group</a:t>
            </a:r>
            <a:endParaRPr/>
          </a:p>
        </p:txBody>
      </p:sp>
      <p:sp>
        <p:nvSpPr>
          <p:cNvPr id="481" name="Google Shape;481;g373d37e5442_0_384"/>
          <p:cNvSpPr txBox="1">
            <a:spLocks noGrp="1"/>
          </p:cNvSpPr>
          <p:nvPr>
            <p:ph type="sldNum" idx="12"/>
          </p:nvPr>
        </p:nvSpPr>
        <p:spPr>
          <a:xfrm>
            <a:off x="9365610" y="6581775"/>
            <a:ext cx="2743200" cy="139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373d37e5442_0_396"/>
          <p:cNvSpPr txBox="1">
            <a:spLocks noGrp="1"/>
          </p:cNvSpPr>
          <p:nvPr>
            <p:ph type="body" idx="1"/>
          </p:nvPr>
        </p:nvSpPr>
        <p:spPr>
          <a:xfrm>
            <a:off x="5008034" y="1945217"/>
            <a:ext cx="7184100" cy="1792800"/>
          </a:xfrm>
          <a:prstGeom prst="rect">
            <a:avLst/>
          </a:prstGeom>
          <a:solidFill>
            <a:srgbClr val="00B4C1"/>
          </a:solidFill>
          <a:ln>
            <a:noFill/>
          </a:ln>
        </p:spPr>
        <p:txBody>
          <a:bodyPr spcFirstLastPara="1" wrap="square" lIns="0" tIns="0" rIns="0" bIns="0" anchor="ctr" anchorCtr="0">
            <a:normAutofit/>
          </a:bodyPr>
          <a:lstStyle/>
          <a:p>
            <a:pPr marL="239994" lvl="0" indent="0" algn="l" rtl="0">
              <a:lnSpc>
                <a:spcPct val="100000"/>
              </a:lnSpc>
              <a:spcBef>
                <a:spcPts val="0"/>
              </a:spcBef>
              <a:spcAft>
                <a:spcPts val="0"/>
              </a:spcAft>
              <a:buSzPts val="3600"/>
              <a:buNone/>
            </a:pPr>
            <a:r>
              <a:rPr lang="en-US" sz="3600" b="1">
                <a:latin typeface="Arial"/>
                <a:ea typeface="Arial"/>
                <a:cs typeface="Arial"/>
                <a:sym typeface="Arial"/>
              </a:rPr>
              <a:t>　ありがとうございました</a:t>
            </a:r>
            <a:endParaRPr sz="3600" b="1">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F_Tool_7_JA_R">
  <a:themeElements>
    <a:clrScheme name="コーポレートカラー_v2">
      <a:dk1>
        <a:srgbClr val="000000"/>
      </a:dk1>
      <a:lt1>
        <a:srgbClr val="FFFFFF"/>
      </a:lt1>
      <a:dk2>
        <a:srgbClr val="000000"/>
      </a:dk2>
      <a:lt2>
        <a:srgbClr val="EEEEEE"/>
      </a:lt2>
      <a:accent1>
        <a:srgbClr val="87867E"/>
      </a:accent1>
      <a:accent2>
        <a:srgbClr val="A30B1A"/>
      </a:accent2>
      <a:accent3>
        <a:srgbClr val="B1B1AC"/>
      </a:accent3>
      <a:accent4>
        <a:srgbClr val="DAD9D6"/>
      </a:accent4>
      <a:accent5>
        <a:srgbClr val="706F67"/>
      </a:accent5>
      <a:accent6>
        <a:srgbClr val="C6C6C0"/>
      </a:accent6>
      <a:hlink>
        <a:srgbClr val="105D9C"/>
      </a:hlink>
      <a:folHlink>
        <a:srgbClr val="4B459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4863f5d6-4760-4589-be9c-42f82e075739}" enabled="0" method="" siteId="{4863f5d6-4760-4589-be9c-42f82e075739}" removed="1"/>
</clbl:labelList>
</file>

<file path=docProps/app.xml><?xml version="1.0" encoding="utf-8"?>
<Properties xmlns="http://schemas.openxmlformats.org/officeDocument/2006/extended-properties" xmlns:vt="http://schemas.openxmlformats.org/officeDocument/2006/docPropsVTypes">
  <TotalTime>1256</TotalTime>
  <Words>2414</Words>
  <Application>Microsoft Office PowerPoint</Application>
  <PresentationFormat>ワイド画面</PresentationFormat>
  <Paragraphs>718</Paragraphs>
  <Slides>31</Slides>
  <Notes>31</Notes>
  <HiddenSlides>9</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31</vt:i4>
      </vt:variant>
    </vt:vector>
  </HeadingPairs>
  <TitlesOfParts>
    <vt:vector size="37" baseType="lpstr">
      <vt:lpstr>Arial</vt:lpstr>
      <vt:lpstr>Noto Sans Symbols</vt:lpstr>
      <vt:lpstr>Noto Sans</vt:lpstr>
      <vt:lpstr>Quattrocento Sans</vt:lpstr>
      <vt:lpstr>Roboto</vt:lpstr>
      <vt:lpstr>F_Tool_7_JA_R</vt:lpstr>
      <vt:lpstr>OpenChainプロジェクト紹介</vt:lpstr>
      <vt:lpstr>目次</vt:lpstr>
      <vt:lpstr>PowerPoint プレゼンテーション</vt:lpstr>
      <vt:lpstr>OpenChainプロジェクト</vt:lpstr>
      <vt:lpstr>オープンソースライセンス■とコンプライアンス■</vt:lpstr>
      <vt:lpstr>OSSライセンスに伴うリスク</vt:lpstr>
      <vt:lpstr>サプライチェーンにおけるOSSのライセンスリスク</vt:lpstr>
      <vt:lpstr>OpenChainプロジェクトの目的</vt:lpstr>
      <vt:lpstr>OpenChainプロジェクトの3つの柱</vt:lpstr>
      <vt:lpstr>Timeline</vt:lpstr>
      <vt:lpstr>適合のための認証</vt:lpstr>
      <vt:lpstr>OpenChain Spec. 2.1 &gt;&gt; ISO/IEC 5230:2020</vt:lpstr>
      <vt:lpstr>OpenChain Spec. 2.1 &gt;&gt; ISO/IEC 5230:2020</vt:lpstr>
      <vt:lpstr>適合を宣言する組織の例</vt:lpstr>
      <vt:lpstr>OpenChain Spec. 2.1 &gt;&gt; ISO/IEC 5230:2020</vt:lpstr>
      <vt:lpstr>OpenChain Spec. 2.1 &gt;&gt; ISO/IEC 5230:2020</vt:lpstr>
      <vt:lpstr>適合を宣言する組織の例</vt:lpstr>
      <vt:lpstr>ISO/IEC 18974  OpenChain Security Assurance Specification</vt:lpstr>
      <vt:lpstr>サポート体制</vt:lpstr>
      <vt:lpstr>最近の主な活動</vt:lpstr>
      <vt:lpstr>プロジェクトのメンバー資格</vt:lpstr>
      <vt:lpstr>PowerPoint プレゼンテーション</vt:lpstr>
      <vt:lpstr>OpenChain Japan Work Group 設立前夜</vt:lpstr>
      <vt:lpstr>OpenChain Japan Work Group 設立</vt:lpstr>
      <vt:lpstr>【参考】各国でのコミュニティ活動</vt:lpstr>
      <vt:lpstr>サブグループ(SG)</vt:lpstr>
      <vt:lpstr>主な成果</vt:lpstr>
      <vt:lpstr>全体会合 → OpenChain Community Day</vt:lpstr>
      <vt:lpstr>全体会合:  OpenChain Japan Community Day</vt:lpstr>
      <vt:lpstr>OpenChain Japan WG Web Page, ML &amp; Slack</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Kato Shinsuke (加藤 慎介)</cp:lastModifiedBy>
  <cp:revision>1</cp:revision>
  <dcterms:created xsi:type="dcterms:W3CDTF">2023-09-30T03:42:42Z</dcterms:created>
  <dcterms:modified xsi:type="dcterms:W3CDTF">2026-10-22T04:46:30Z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f8e20e6-048a-4bad-a26b-318dd1cd4d47_Enabled">
    <vt:lpwstr>true</vt:lpwstr>
  </property>
  <property fmtid="{D5CDD505-2E9C-101B-9397-08002B2CF9AE}" pid="3" name="MSIP_Label_1f8e20e6-048a-4bad-a26b-318dd1cd4d47_SetDate">
    <vt:lpwstr>2024-03-07T04:17:56Z</vt:lpwstr>
  </property>
  <property fmtid="{D5CDD505-2E9C-101B-9397-08002B2CF9AE}" pid="4" name="MSIP_Label_1f8e20e6-048a-4bad-a26b-318dd1cd4d47_Method">
    <vt:lpwstr>Privileged</vt:lpwstr>
  </property>
  <property fmtid="{D5CDD505-2E9C-101B-9397-08002B2CF9AE}" pid="5" name="MSIP_Label_1f8e20e6-048a-4bad-a26b-318dd1cd4d47_Name">
    <vt:lpwstr>1f8e20e6-048a-4bad-a26b-318dd1cd4d47</vt:lpwstr>
  </property>
  <property fmtid="{D5CDD505-2E9C-101B-9397-08002B2CF9AE}" pid="6" name="MSIP_Label_1f8e20e6-048a-4bad-a26b-318dd1cd4d47_SiteId">
    <vt:lpwstr>66c65d8a-9158-4521-a2d8-664963db48e4</vt:lpwstr>
  </property>
  <property fmtid="{D5CDD505-2E9C-101B-9397-08002B2CF9AE}" pid="7" name="MSIP_Label_1f8e20e6-048a-4bad-a26b-318dd1cd4d47_ActionId">
    <vt:lpwstr>7f1bcf1d-5070-4d2d-96c5-6b70a7b8205c</vt:lpwstr>
  </property>
  <property fmtid="{D5CDD505-2E9C-101B-9397-08002B2CF9AE}" pid="8" name="MSIP_Label_1f8e20e6-048a-4bad-a26b-318dd1cd4d47_ContentBits">
    <vt:lpwstr>0</vt:lpwstr>
  </property>
</Properties>
</file>