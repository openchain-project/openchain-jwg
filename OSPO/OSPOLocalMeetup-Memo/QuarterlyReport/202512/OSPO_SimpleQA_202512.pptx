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omments/comment1.xml" ContentType="application/vnd.openxmlformats-officedocument.presentationml.comments+xml"/>
  <Override PartName="/ppt/notesSlides/notesSlide30.xml" ContentType="application/vnd.openxmlformats-officedocument.presentationml.notesSlide+xml"/>
  <Override PartName="/ppt/comments/comment2.xml" ContentType="application/vnd.openxmlformats-officedocument.presentationml.comment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comments/comment3.xml" ContentType="application/vnd.openxmlformats-officedocument.presentationml.comments+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comments/comment4.xml" ContentType="application/vnd.openxmlformats-officedocument.presentationml.comments+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comments/comment5.xml" ContentType="application/vnd.openxmlformats-officedocument.presentationml.comments+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5" r:id="rId1"/>
  </p:sldMasterIdLst>
  <p:notesMasterIdLst>
    <p:notesMasterId r:id="rId6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Lst>
  <p:sldSz cx="9144000" cy="5143500" type="screen16x9"/>
  <p:notesSz cx="6858000" cy="9144000"/>
  <p:embeddedFontLst>
    <p:embeddedFont>
      <p:font typeface="Open Sans" panose="020B0606030504020204" pitchFamily="34" charset="0"/>
      <p:regular r:id="rId69"/>
      <p:bold r:id="rId70"/>
      <p:italic r:id="rId71"/>
      <p:boldItalic r:id="rId72"/>
    </p:embeddedFont>
    <p:embeddedFont>
      <p:font typeface="Quattrocento Sans" panose="020B0502050000020003" pitchFamily="34" charset="0"/>
      <p:regular r:id="rId73"/>
      <p:bold r:id="rId74"/>
      <p:italic r:id="rId75"/>
      <p:boldItalic r:id="rId76"/>
    </p:embeddedFont>
    <p:embeddedFont>
      <p:font typeface="Tahoma" panose="020B0604030504040204" pitchFamily="34" charset="0"/>
      <p:regular r:id="rId77"/>
      <p:bold r:id="rId7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asayuki Kuwata" initials="" lastIdx="1" clrIdx="0"/>
  <p:cmAuthor id="1" name="小泉悟" initials="" lastIdx="1" clrIdx="1"/>
  <p:cmAuthor id="2" name="匿名" initials="" lastIdx="2" clrIdx="2"/>
  <p:cmAuthor id="3" name="Naomichi Shima" initials="" lastIdx="3" clrIdx="3"/>
  <p:cmAuthor id="4" name="Shu Muto" initials="" lastIdx="4"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A691572-F3AE-4C50-9FBC-A2B79843BC87}">
  <a:tblStyle styleId="{FA691572-F3AE-4C50-9FBC-A2B79843BC8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75" autoAdjust="0"/>
    <p:restoredTop sz="84995" autoAdjust="0"/>
  </p:normalViewPr>
  <p:slideViewPr>
    <p:cSldViewPr snapToGrid="0">
      <p:cViewPr>
        <p:scale>
          <a:sx n="77" d="100"/>
          <a:sy n="77" d="100"/>
        </p:scale>
        <p:origin x="288" y="-3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6.fntdata"/><Relationship Id="rId79" Type="http://schemas.openxmlformats.org/officeDocument/2006/relationships/commentAuthors" Target="commentAuthor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font" Target="fonts/font1.fntdata"/><Relationship Id="rId77" Type="http://schemas.openxmlformats.org/officeDocument/2006/relationships/font" Target="fonts/font9.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4.fntdata"/><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2.fntdata"/><Relationship Id="rId75" Type="http://schemas.openxmlformats.org/officeDocument/2006/relationships/font" Target="fonts/font7.fntdata"/><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5.fntdata"/><Relationship Id="rId78" Type="http://schemas.openxmlformats.org/officeDocument/2006/relationships/font" Target="fonts/font10.fntdata"/><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8.fntdata"/><Relationship Id="rId7" Type="http://schemas.openxmlformats.org/officeDocument/2006/relationships/slide" Target="slides/slide6.xml"/><Relationship Id="rId71" Type="http://schemas.openxmlformats.org/officeDocument/2006/relationships/font" Target="fonts/font3.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23-03-24T07:47:05.858" idx="1">
    <p:pos x="6000" y="0"/>
    <p:text>「オープンソースプログラムの作成」は英語と日本語が並ぶように順番を変えました。</p:text>
  </p:cm>
</p:cmLst>
</file>

<file path=ppt/comments/comment2.xml><?xml version="1.0" encoding="utf-8"?>
<p:cmLst xmlns:a="http://schemas.openxmlformats.org/drawingml/2006/main" xmlns:r="http://schemas.openxmlformats.org/officeDocument/2006/relationships" xmlns:p="http://schemas.openxmlformats.org/presentationml/2006/main">
  <p:cm authorId="1" dt="2023-03-24T07:04:51.618" idx="1">
    <p:pos x="272" y="578"/>
    <p:text>これも結構前の方に来る質問なのではないかと思いました。</p:text>
  </p:cm>
</p:cmLst>
</file>

<file path=ppt/comments/comment3.xml><?xml version="1.0" encoding="utf-8"?>
<p:cmLst xmlns:a="http://schemas.openxmlformats.org/drawingml/2006/main" xmlns:r="http://schemas.openxmlformats.org/officeDocument/2006/relationships" xmlns:p="http://schemas.openxmlformats.org/presentationml/2006/main">
  <p:cm authorId="3" dt="2025-02-28T06:54:30.928" idx="1">
    <p:pos x="343" y="115"/>
    <p:text>「うち（OSPO）も首つっこんでいかないと変なことになるじゃん（やれやれ）」で、OSPOが善意で社内のいろんなところに突撃していく感じ。</p:text>
  </p:cm>
  <p:cm authorId="3" dt="2025-04-25T06:58:38.198" idx="2">
    <p:pos x="6000" y="100"/>
    <p:text>通常、OSPOはOSSライセンスコンプライアンスのためのソフトウェア構成管理を担い、セキュリティ担当はセキュリティ対策のためのソフトウェア構成管理を担うでしょう。
しかしながら、それぞれが独立してルール策定や普及などを行うと二重管理になったりするなど、開発者に余計な作業を強いることになることがあるため、OSPOやセキュリティ担当、品質保証担当などが連携してSBOM管理をするのが効率が良いでしょう。</p:text>
  </p:cm>
  <p:cm authorId="2" dt="2025-05-23T06:36:10.507" idx="1">
    <p:pos x="6000" y="0"/>
    <p:text>「SBOM管理」にも複数ケースがあるのではと弊社では考え始めているのですが、皆様のケースではいかがでしょうか？？？　（弊社はSBOM管理未実施のため脳内シミュレーションです）
・納入元からのSBOM受領管理（VUP時などに確実に受領する）
・SBOM記載内容の管理（脆弱性などを納入事業者へ連絡する）
・納入先へ納入するSBOM管理（SBOM作成）
・納入先へのSBOM納入管理</p:text>
  </p:cm>
  <p:cm authorId="2" dt="2025-05-23T06:36:10.507" idx="2">
    <p:pos x="6000" y="0"/>
    <p:text>daikoku@kddi</p:text>
  </p:cm>
</p:cmLst>
</file>

<file path=ppt/comments/comment4.xml><?xml version="1.0" encoding="utf-8"?>
<p:cmLst xmlns:a="http://schemas.openxmlformats.org/drawingml/2006/main" xmlns:r="http://schemas.openxmlformats.org/officeDocument/2006/relationships" xmlns:p="http://schemas.openxmlformats.org/presentationml/2006/main">
  <p:cm authorId="4" dt="2025-07-11T06:30:22.951" idx="1">
    <p:pos x="3317" y="1985"/>
    <p:text>コメント１：品質管理部門がSBOMの内容が正しいのかチェックできるかは分からない。
コメント２：チェックする観点などをOSPOが提供するのでは？</p:text>
  </p:cm>
  <p:cm authorId="4" dt="2025-07-11T06:37:05.253" idx="2">
    <p:pos x="713" y="1555"/>
    <p:text>「購買」？</p:text>
  </p:cm>
  <p:cm authorId="4" dt="2025-07-11T06:37:51.596" idx="4">
    <p:pos x="713" y="1655"/>
    <p:text>いずれにせよ、何をする部門なのかは定義したほうが良さそう</p:text>
  </p:cm>
  <p:cm authorId="4" dt="2025-07-11T06:40:11.726" idx="3">
    <p:pos x="2468" y="1555"/>
    <p:text>HW製造企業だと、設計部門と製造部門が異なる</p:text>
  </p:cm>
</p:cmLst>
</file>

<file path=ppt/comments/comment5.xml><?xml version="1.0" encoding="utf-8"?>
<p:cmLst xmlns:a="http://schemas.openxmlformats.org/drawingml/2006/main" xmlns:r="http://schemas.openxmlformats.org/officeDocument/2006/relationships" xmlns:p="http://schemas.openxmlformats.org/presentationml/2006/main">
  <p:cm authorId="3" dt="2025-08-22T06:56:16.077" idx="3">
    <p:pos x="272" y="499"/>
    <p:text>[memo]
Open Technology Program Office
などもあり、結局 OxPO なのではないか？という話もchatで出た。</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
        <p:cNvGrpSpPr/>
        <p:nvPr/>
      </p:nvGrpSpPr>
      <p:grpSpPr>
        <a:xfrm>
          <a:off x="0" y="0"/>
          <a:ext cx="0" cy="0"/>
          <a:chOff x="0" y="0"/>
          <a:chExt cx="0" cy="0"/>
        </a:xfrm>
      </p:grpSpPr>
      <p:sp>
        <p:nvSpPr>
          <p:cNvPr id="37" name="Google Shape;37;g2236ade486f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 name="Google Shape;38;g2236ade486f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g2a015e4621c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 name="Google Shape;47;g2a015e4621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g254956648f7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 name="Google Shape;55;g254956648f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254956648f7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54956648f7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29401e88956_0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29401e88956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2a92ebe1b9b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a92ebe1b9b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2a92ebe1b9b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2a92ebe1b9b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2b3737c2805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2b3737c280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2b9b95d1ac9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2b9b95d1ac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2c577ff357d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2c577ff357d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2c577ff357d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2c577ff357d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2cfc935c5a3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2cfc935c5a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2dfcfbf3a38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2dfcfbf3a3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277a2174cf6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277a2174cf6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277a2174cf6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277a2174cf6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0ad83334a6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30ad83334a6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2476228fa94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2476228fa94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237522eb0ab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237522eb0ab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20a898e1ef4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20a898e1ef4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254956648f7_0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254956648f7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25c549a864b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25c549a864b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25c549a864b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25c549a864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254956648f7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254956648f7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237522eb0ab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237522eb0a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2236ade486f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2236ade486f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2236ade486f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g2236ade486f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2236ade486f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2236ade486f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2236ade486f_18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2236ade486f_18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218c359ebf5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218c359ebf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2236ade486f_26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 name="Google Shape;294;g2236ade486f_26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30af68e1cae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1" name="Google Shape;301;g30af68e1ca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2bee1ff5b57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2bee1ff5b5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2bee1ff5b57_0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2bee1ff5b57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g2bee1ff5b57_0_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 name="Google Shape;363;g2bee1ff5b57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g2bee1ff5b57_0_10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4" name="Google Shape;404;g2bee1ff5b57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g2bee1ff5b57_0_1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5" name="Google Shape;445;g2bee1ff5b57_0_1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2bee1ff5b57_0_2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 name="Google Shape;457;g2bee1ff5b57_0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g2bee1ff5b57_0_2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4" name="Google Shape;484;g2bee1ff5b57_0_2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2bee1ff5b57_0_2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7" name="Google Shape;517;g2bee1ff5b57_0_2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7"/>
        <p:cNvGrpSpPr/>
        <p:nvPr/>
      </p:nvGrpSpPr>
      <p:grpSpPr>
        <a:xfrm>
          <a:off x="0" y="0"/>
          <a:ext cx="0" cy="0"/>
          <a:chOff x="0" y="0"/>
          <a:chExt cx="0" cy="0"/>
        </a:xfrm>
      </p:grpSpPr>
      <p:sp>
        <p:nvSpPr>
          <p:cNvPr id="558" name="Google Shape;558;g2bee1ff5b57_0_27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9" name="Google Shape;559;g2bee1ff5b57_0_2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8"/>
        <p:cNvGrpSpPr/>
        <p:nvPr/>
      </p:nvGrpSpPr>
      <p:grpSpPr>
        <a:xfrm>
          <a:off x="0" y="0"/>
          <a:ext cx="0" cy="0"/>
          <a:chOff x="0" y="0"/>
          <a:chExt cx="0" cy="0"/>
        </a:xfrm>
      </p:grpSpPr>
      <p:sp>
        <p:nvSpPr>
          <p:cNvPr id="599" name="Google Shape;599;g2bee1ff5b57_0_29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0" name="Google Shape;600;g2bee1ff5b57_0_2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2"/>
        <p:cNvGrpSpPr/>
        <p:nvPr/>
      </p:nvGrpSpPr>
      <p:grpSpPr>
        <a:xfrm>
          <a:off x="0" y="0"/>
          <a:ext cx="0" cy="0"/>
          <a:chOff x="0" y="0"/>
          <a:chExt cx="0" cy="0"/>
        </a:xfrm>
      </p:grpSpPr>
      <p:sp>
        <p:nvSpPr>
          <p:cNvPr id="613" name="Google Shape;613;g2dac8796248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4" name="Google Shape;614;g2dac8796248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8"/>
        <p:cNvGrpSpPr/>
        <p:nvPr/>
      </p:nvGrpSpPr>
      <p:grpSpPr>
        <a:xfrm>
          <a:off x="0" y="0"/>
          <a:ext cx="0" cy="0"/>
          <a:chOff x="0" y="0"/>
          <a:chExt cx="0" cy="0"/>
        </a:xfrm>
      </p:grpSpPr>
      <p:sp>
        <p:nvSpPr>
          <p:cNvPr id="619" name="Google Shape;619;g2e8c9ccbaaa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0" name="Google Shape;620;g2e8c9ccbaa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4"/>
        <p:cNvGrpSpPr/>
        <p:nvPr/>
      </p:nvGrpSpPr>
      <p:grpSpPr>
        <a:xfrm>
          <a:off x="0" y="0"/>
          <a:ext cx="0" cy="0"/>
          <a:chOff x="0" y="0"/>
          <a:chExt cx="0" cy="0"/>
        </a:xfrm>
      </p:grpSpPr>
      <p:sp>
        <p:nvSpPr>
          <p:cNvPr id="625" name="Google Shape;625;g2e8c9ccbaaa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6" name="Google Shape;626;g2e8c9ccbaaa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0"/>
        <p:cNvGrpSpPr/>
        <p:nvPr/>
      </p:nvGrpSpPr>
      <p:grpSpPr>
        <a:xfrm>
          <a:off x="0" y="0"/>
          <a:ext cx="0" cy="0"/>
          <a:chOff x="0" y="0"/>
          <a:chExt cx="0" cy="0"/>
        </a:xfrm>
      </p:grpSpPr>
      <p:sp>
        <p:nvSpPr>
          <p:cNvPr id="631" name="Google Shape;631;g278450f32d1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2" name="Google Shape;632;g278450f32d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6"/>
        <p:cNvGrpSpPr/>
        <p:nvPr/>
      </p:nvGrpSpPr>
      <p:grpSpPr>
        <a:xfrm>
          <a:off x="0" y="0"/>
          <a:ext cx="0" cy="0"/>
          <a:chOff x="0" y="0"/>
          <a:chExt cx="0" cy="0"/>
        </a:xfrm>
      </p:grpSpPr>
      <p:sp>
        <p:nvSpPr>
          <p:cNvPr id="637" name="Google Shape;637;g2f56cd2d54f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8" name="Google Shape;638;g2f56cd2d54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30c3e7bee0c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30c3e7bee0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8"/>
        <p:cNvGrpSpPr/>
        <p:nvPr/>
      </p:nvGrpSpPr>
      <p:grpSpPr>
        <a:xfrm>
          <a:off x="0" y="0"/>
          <a:ext cx="0" cy="0"/>
          <a:chOff x="0" y="0"/>
          <a:chExt cx="0" cy="0"/>
        </a:xfrm>
      </p:grpSpPr>
      <p:sp>
        <p:nvSpPr>
          <p:cNvPr id="649" name="Google Shape;649;g31850068586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0" name="Google Shape;650;g3185006858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4"/>
        <p:cNvGrpSpPr/>
        <p:nvPr/>
      </p:nvGrpSpPr>
      <p:grpSpPr>
        <a:xfrm>
          <a:off x="0" y="0"/>
          <a:ext cx="0" cy="0"/>
          <a:chOff x="0" y="0"/>
          <a:chExt cx="0" cy="0"/>
        </a:xfrm>
      </p:grpSpPr>
      <p:sp>
        <p:nvSpPr>
          <p:cNvPr id="655" name="Google Shape;655;g31850068586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6" name="Google Shape;656;g31850068586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0"/>
        <p:cNvGrpSpPr/>
        <p:nvPr/>
      </p:nvGrpSpPr>
      <p:grpSpPr>
        <a:xfrm>
          <a:off x="0" y="0"/>
          <a:ext cx="0" cy="0"/>
          <a:chOff x="0" y="0"/>
          <a:chExt cx="0" cy="0"/>
        </a:xfrm>
      </p:grpSpPr>
      <p:sp>
        <p:nvSpPr>
          <p:cNvPr id="661" name="Google Shape;661;g328e9fc7e82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2" name="Google Shape;662;g328e9fc7e8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6"/>
        <p:cNvGrpSpPr/>
        <p:nvPr/>
      </p:nvGrpSpPr>
      <p:grpSpPr>
        <a:xfrm>
          <a:off x="0" y="0"/>
          <a:ext cx="0" cy="0"/>
          <a:chOff x="0" y="0"/>
          <a:chExt cx="0" cy="0"/>
        </a:xfrm>
      </p:grpSpPr>
      <p:sp>
        <p:nvSpPr>
          <p:cNvPr id="667" name="Google Shape;667;g328e9fc7e82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8" name="Google Shape;668;g328e9fc7e82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2"/>
        <p:cNvGrpSpPr/>
        <p:nvPr/>
      </p:nvGrpSpPr>
      <p:grpSpPr>
        <a:xfrm>
          <a:off x="0" y="0"/>
          <a:ext cx="0" cy="0"/>
          <a:chOff x="0" y="0"/>
          <a:chExt cx="0" cy="0"/>
        </a:xfrm>
      </p:grpSpPr>
      <p:sp>
        <p:nvSpPr>
          <p:cNvPr id="673" name="Google Shape;673;g328e9fc7e82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4" name="Google Shape;674;g328e9fc7e82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g33e09741be6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0" name="Google Shape;680;g33e09741be6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Google Shape;685;g35c0d7cfaa6_2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6" name="Google Shape;686;g35c0d7cfaa6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7"/>
        <p:cNvGrpSpPr/>
        <p:nvPr/>
      </p:nvGrpSpPr>
      <p:grpSpPr>
        <a:xfrm>
          <a:off x="0" y="0"/>
          <a:ext cx="0" cy="0"/>
          <a:chOff x="0" y="0"/>
          <a:chExt cx="0" cy="0"/>
        </a:xfrm>
      </p:grpSpPr>
      <p:sp>
        <p:nvSpPr>
          <p:cNvPr id="708" name="Google Shape;708;g36055ed0050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9" name="Google Shape;709;g36055ed005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3"/>
        <p:cNvGrpSpPr/>
        <p:nvPr/>
      </p:nvGrpSpPr>
      <p:grpSpPr>
        <a:xfrm>
          <a:off x="0" y="0"/>
          <a:ext cx="0" cy="0"/>
          <a:chOff x="0" y="0"/>
          <a:chExt cx="0" cy="0"/>
        </a:xfrm>
      </p:grpSpPr>
      <p:sp>
        <p:nvSpPr>
          <p:cNvPr id="714" name="Google Shape;714;g36e9b96d9c8_2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5" name="Google Shape;715;g36e9b96d9c8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9"/>
        <p:cNvGrpSpPr/>
        <p:nvPr/>
      </p:nvGrpSpPr>
      <p:grpSpPr>
        <a:xfrm>
          <a:off x="0" y="0"/>
          <a:ext cx="0" cy="0"/>
          <a:chOff x="0" y="0"/>
          <a:chExt cx="0" cy="0"/>
        </a:xfrm>
      </p:grpSpPr>
      <p:sp>
        <p:nvSpPr>
          <p:cNvPr id="720" name="Google Shape;720;g3771a78e220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1" name="Google Shape;721;g3771a78e22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5"/>
        <p:cNvGrpSpPr/>
        <p:nvPr/>
      </p:nvGrpSpPr>
      <p:grpSpPr>
        <a:xfrm>
          <a:off x="0" y="0"/>
          <a:ext cx="0" cy="0"/>
          <a:chOff x="0" y="0"/>
          <a:chExt cx="0" cy="0"/>
        </a:xfrm>
      </p:grpSpPr>
      <p:sp>
        <p:nvSpPr>
          <p:cNvPr id="726" name="Google Shape;726;g3771a78e220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7" name="Google Shape;727;g3771a78e220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1"/>
        <p:cNvGrpSpPr/>
        <p:nvPr/>
      </p:nvGrpSpPr>
      <p:grpSpPr>
        <a:xfrm>
          <a:off x="0" y="0"/>
          <a:ext cx="0" cy="0"/>
          <a:chOff x="0" y="0"/>
          <a:chExt cx="0" cy="0"/>
        </a:xfrm>
      </p:grpSpPr>
      <p:sp>
        <p:nvSpPr>
          <p:cNvPr id="732" name="Google Shape;732;g380c7955185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3" name="Google Shape;733;g380c795518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7"/>
        <p:cNvGrpSpPr/>
        <p:nvPr/>
      </p:nvGrpSpPr>
      <p:grpSpPr>
        <a:xfrm>
          <a:off x="0" y="0"/>
          <a:ext cx="0" cy="0"/>
          <a:chOff x="0" y="0"/>
          <a:chExt cx="0" cy="0"/>
        </a:xfrm>
      </p:grpSpPr>
      <p:sp>
        <p:nvSpPr>
          <p:cNvPr id="738" name="Google Shape;738;g380c7955185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9" name="Google Shape;739;g380c7955185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3"/>
        <p:cNvGrpSpPr/>
        <p:nvPr/>
      </p:nvGrpSpPr>
      <p:grpSpPr>
        <a:xfrm>
          <a:off x="0" y="0"/>
          <a:ext cx="0" cy="0"/>
          <a:chOff x="0" y="0"/>
          <a:chExt cx="0" cy="0"/>
        </a:xfrm>
      </p:grpSpPr>
      <p:sp>
        <p:nvSpPr>
          <p:cNvPr id="744" name="Google Shape;744;g380c7955185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5" name="Google Shape;745;g380c7955185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9"/>
        <p:cNvGrpSpPr/>
        <p:nvPr/>
      </p:nvGrpSpPr>
      <p:grpSpPr>
        <a:xfrm>
          <a:off x="0" y="0"/>
          <a:ext cx="0" cy="0"/>
          <a:chOff x="0" y="0"/>
          <a:chExt cx="0" cy="0"/>
        </a:xfrm>
      </p:grpSpPr>
      <p:sp>
        <p:nvSpPr>
          <p:cNvPr id="750" name="Google Shape;750;g380c7955185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1" name="Google Shape;751;g380c7955185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5"/>
        <p:cNvGrpSpPr/>
        <p:nvPr/>
      </p:nvGrpSpPr>
      <p:grpSpPr>
        <a:xfrm>
          <a:off x="0" y="0"/>
          <a:ext cx="0" cy="0"/>
          <a:chOff x="0" y="0"/>
          <a:chExt cx="0" cy="0"/>
        </a:xfrm>
      </p:grpSpPr>
      <p:sp>
        <p:nvSpPr>
          <p:cNvPr id="756" name="Google Shape;756;g380c7955185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7" name="Google Shape;757;g380c7955185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2"/>
        <p:cNvGrpSpPr/>
        <p:nvPr/>
      </p:nvGrpSpPr>
      <p:grpSpPr>
        <a:xfrm>
          <a:off x="0" y="0"/>
          <a:ext cx="0" cy="0"/>
          <a:chOff x="0" y="0"/>
          <a:chExt cx="0" cy="0"/>
        </a:xfrm>
      </p:grpSpPr>
      <p:sp>
        <p:nvSpPr>
          <p:cNvPr id="763" name="Google Shape;763;g39cb34cae1d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4" name="Google Shape;764;g39cb34cae1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8"/>
        <p:cNvGrpSpPr/>
        <p:nvPr/>
      </p:nvGrpSpPr>
      <p:grpSpPr>
        <a:xfrm>
          <a:off x="0" y="0"/>
          <a:ext cx="0" cy="0"/>
          <a:chOff x="0" y="0"/>
          <a:chExt cx="0" cy="0"/>
        </a:xfrm>
      </p:grpSpPr>
      <p:sp>
        <p:nvSpPr>
          <p:cNvPr id="769" name="Google Shape;769;g39a22bfb26a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0" name="Google Shape;770;g39a22bfb26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page">
  <p:cSld name="Titlepage">
    <p:spTree>
      <p:nvGrpSpPr>
        <p:cNvPr id="1" name="Shape 6"/>
        <p:cNvGrpSpPr/>
        <p:nvPr/>
      </p:nvGrpSpPr>
      <p:grpSpPr>
        <a:xfrm>
          <a:off x="0" y="0"/>
          <a:ext cx="0" cy="0"/>
          <a:chOff x="0" y="0"/>
          <a:chExt cx="0" cy="0"/>
        </a:xfrm>
      </p:grpSpPr>
      <p:sp>
        <p:nvSpPr>
          <p:cNvPr id="7" name="Google Shape;7;p2"/>
          <p:cNvSpPr txBox="1">
            <a:spLocks noGrp="1"/>
          </p:cNvSpPr>
          <p:nvPr>
            <p:ph type="ctrTitle"/>
          </p:nvPr>
        </p:nvSpPr>
        <p:spPr>
          <a:xfrm>
            <a:off x="524140" y="1352038"/>
            <a:ext cx="8095800" cy="1080300"/>
          </a:xfrm>
          <a:prstGeom prst="rect">
            <a:avLst/>
          </a:prstGeom>
          <a:noFill/>
          <a:ln>
            <a:noFill/>
          </a:ln>
        </p:spPr>
        <p:txBody>
          <a:bodyPr spcFirstLastPara="1" wrap="square" lIns="19625" tIns="0" rIns="19625" bIns="0" anchor="b" anchorCtr="0">
            <a:noAutofit/>
          </a:bodyPr>
          <a:lstStyle>
            <a:lvl1pPr marR="0" lvl="0" algn="l" rtl="0">
              <a:spcBef>
                <a:spcPts val="0"/>
              </a:spcBef>
              <a:spcAft>
                <a:spcPts val="0"/>
              </a:spcAft>
              <a:buSzPts val="1100"/>
              <a:buNone/>
              <a:defRPr sz="2000" b="0" i="0" u="none" strike="noStrike" cap="none">
                <a:solidFill>
                  <a:schemeClr val="dk1"/>
                </a:solidFill>
                <a:latin typeface="Quattrocento Sans"/>
                <a:ea typeface="Quattrocento Sans"/>
                <a:cs typeface="Quattrocento Sans"/>
                <a:sym typeface="Quattrocento Sans"/>
              </a:defRPr>
            </a:lvl1pPr>
            <a:lvl2pPr marR="0" lvl="1" algn="l" rtl="0">
              <a:spcBef>
                <a:spcPts val="0"/>
              </a:spcBef>
              <a:spcAft>
                <a:spcPts val="0"/>
              </a:spcAft>
              <a:buSzPts val="1100"/>
              <a:buNone/>
              <a:defRPr sz="1800" b="0" i="0" u="none" strike="noStrike" cap="none">
                <a:solidFill>
                  <a:schemeClr val="dk2"/>
                </a:solidFill>
                <a:latin typeface="Arial"/>
                <a:ea typeface="Arial"/>
                <a:cs typeface="Arial"/>
                <a:sym typeface="Arial"/>
              </a:defRPr>
            </a:lvl2pPr>
            <a:lvl3pPr marR="0" lvl="2" algn="l" rtl="0">
              <a:spcBef>
                <a:spcPts val="0"/>
              </a:spcBef>
              <a:spcAft>
                <a:spcPts val="0"/>
              </a:spcAft>
              <a:buSzPts val="1100"/>
              <a:buNone/>
              <a:defRPr sz="1800" b="0" i="0" u="none" strike="noStrike" cap="none">
                <a:solidFill>
                  <a:schemeClr val="dk2"/>
                </a:solidFill>
                <a:latin typeface="Arial"/>
                <a:ea typeface="Arial"/>
                <a:cs typeface="Arial"/>
                <a:sym typeface="Arial"/>
              </a:defRPr>
            </a:lvl3pPr>
            <a:lvl4pPr marR="0" lvl="3" algn="l" rtl="0">
              <a:spcBef>
                <a:spcPts val="0"/>
              </a:spcBef>
              <a:spcAft>
                <a:spcPts val="0"/>
              </a:spcAft>
              <a:buSzPts val="1100"/>
              <a:buNone/>
              <a:defRPr sz="1800" b="0" i="0" u="none" strike="noStrike" cap="none">
                <a:solidFill>
                  <a:schemeClr val="dk2"/>
                </a:solidFill>
                <a:latin typeface="Arial"/>
                <a:ea typeface="Arial"/>
                <a:cs typeface="Arial"/>
                <a:sym typeface="Arial"/>
              </a:defRPr>
            </a:lvl4pPr>
            <a:lvl5pPr marR="0" lvl="4" algn="l" rtl="0">
              <a:spcBef>
                <a:spcPts val="0"/>
              </a:spcBef>
              <a:spcAft>
                <a:spcPts val="0"/>
              </a:spcAft>
              <a:buSzPts val="1100"/>
              <a:buNone/>
              <a:defRPr sz="1800" b="0" i="0" u="none" strike="noStrike" cap="none">
                <a:solidFill>
                  <a:schemeClr val="dk2"/>
                </a:solidFill>
                <a:latin typeface="Arial"/>
                <a:ea typeface="Arial"/>
                <a:cs typeface="Arial"/>
                <a:sym typeface="Arial"/>
              </a:defRPr>
            </a:lvl5pPr>
            <a:lvl6pPr marR="0" lvl="5" algn="l" rtl="0">
              <a:spcBef>
                <a:spcPts val="0"/>
              </a:spcBef>
              <a:spcAft>
                <a:spcPts val="0"/>
              </a:spcAft>
              <a:buSzPts val="1100"/>
              <a:buNone/>
              <a:defRPr sz="2000" b="0" i="0" u="none" strike="noStrike" cap="none">
                <a:solidFill>
                  <a:schemeClr val="dk2"/>
                </a:solidFill>
                <a:latin typeface="Arial"/>
                <a:ea typeface="Arial"/>
                <a:cs typeface="Arial"/>
                <a:sym typeface="Arial"/>
              </a:defRPr>
            </a:lvl6pPr>
            <a:lvl7pPr marR="0" lvl="6" algn="l" rtl="0">
              <a:spcBef>
                <a:spcPts val="0"/>
              </a:spcBef>
              <a:spcAft>
                <a:spcPts val="0"/>
              </a:spcAft>
              <a:buSzPts val="1100"/>
              <a:buNone/>
              <a:defRPr sz="2000" b="0" i="0" u="none" strike="noStrike" cap="none">
                <a:solidFill>
                  <a:schemeClr val="dk2"/>
                </a:solidFill>
                <a:latin typeface="Arial"/>
                <a:ea typeface="Arial"/>
                <a:cs typeface="Arial"/>
                <a:sym typeface="Arial"/>
              </a:defRPr>
            </a:lvl7pPr>
            <a:lvl8pPr marR="0" lvl="7" algn="l" rtl="0">
              <a:spcBef>
                <a:spcPts val="0"/>
              </a:spcBef>
              <a:spcAft>
                <a:spcPts val="0"/>
              </a:spcAft>
              <a:buSzPts val="1100"/>
              <a:buNone/>
              <a:defRPr sz="2000" b="0" i="0" u="none" strike="noStrike" cap="none">
                <a:solidFill>
                  <a:schemeClr val="dk2"/>
                </a:solidFill>
                <a:latin typeface="Arial"/>
                <a:ea typeface="Arial"/>
                <a:cs typeface="Arial"/>
                <a:sym typeface="Arial"/>
              </a:defRPr>
            </a:lvl8pPr>
            <a:lvl9pPr marR="0" lvl="8" algn="l" rtl="0">
              <a:spcBef>
                <a:spcPts val="0"/>
              </a:spcBef>
              <a:spcAft>
                <a:spcPts val="0"/>
              </a:spcAft>
              <a:buSzPts val="1100"/>
              <a:buNone/>
              <a:defRPr sz="2000" b="0" i="0" u="none" strike="noStrike" cap="none">
                <a:solidFill>
                  <a:schemeClr val="dk2"/>
                </a:solidFill>
                <a:latin typeface="Arial"/>
                <a:ea typeface="Arial"/>
                <a:cs typeface="Arial"/>
                <a:sym typeface="Arial"/>
              </a:defRPr>
            </a:lvl9pPr>
          </a:lstStyle>
          <a:p>
            <a:endParaRPr/>
          </a:p>
        </p:txBody>
      </p:sp>
      <p:sp>
        <p:nvSpPr>
          <p:cNvPr id="8" name="Google Shape;8;p2"/>
          <p:cNvSpPr txBox="1">
            <a:spLocks noGrp="1"/>
          </p:cNvSpPr>
          <p:nvPr>
            <p:ph type="subTitle" idx="1"/>
          </p:nvPr>
        </p:nvSpPr>
        <p:spPr>
          <a:xfrm>
            <a:off x="524140" y="2696740"/>
            <a:ext cx="8095800" cy="810300"/>
          </a:xfrm>
          <a:prstGeom prst="rect">
            <a:avLst/>
          </a:prstGeom>
          <a:noFill/>
          <a:ln>
            <a:noFill/>
          </a:ln>
        </p:spPr>
        <p:txBody>
          <a:bodyPr spcFirstLastPara="1" wrap="square" lIns="19625" tIns="0" rIns="19625" bIns="0" anchor="t" anchorCtr="0">
            <a:noAutofit/>
          </a:bodyPr>
          <a:lstStyle>
            <a:lvl1pPr marR="0" lvl="0" algn="l" rtl="0">
              <a:spcBef>
                <a:spcPts val="300"/>
              </a:spcBef>
              <a:spcAft>
                <a:spcPts val="0"/>
              </a:spcAft>
              <a:buSzPts val="1100"/>
              <a:buNone/>
              <a:defRPr sz="1400" b="0" i="0" u="none" strike="noStrike" cap="none">
                <a:solidFill>
                  <a:schemeClr val="dk1"/>
                </a:solidFill>
                <a:latin typeface="Quattrocento Sans"/>
                <a:ea typeface="Quattrocento Sans"/>
                <a:cs typeface="Quattrocento Sans"/>
                <a:sym typeface="Quattrocento Sans"/>
              </a:defRPr>
            </a:lvl1pPr>
            <a:lvl2pPr marR="0" lvl="1" algn="l" rtl="0">
              <a:spcBef>
                <a:spcPts val="300"/>
              </a:spcBef>
              <a:spcAft>
                <a:spcPts val="0"/>
              </a:spcAft>
              <a:buClr>
                <a:schemeClr val="dk1"/>
              </a:buClr>
              <a:buSzPts val="1400"/>
              <a:buFont typeface="Quattrocento Sans"/>
              <a:buChar char="–"/>
              <a:defRPr sz="1400" b="0" i="0" u="none" strike="noStrike" cap="none">
                <a:solidFill>
                  <a:schemeClr val="dk1"/>
                </a:solidFill>
                <a:latin typeface="Quattrocento Sans"/>
                <a:ea typeface="Quattrocento Sans"/>
                <a:cs typeface="Quattrocento Sans"/>
                <a:sym typeface="Quattrocento Sans"/>
              </a:defRPr>
            </a:lvl2pPr>
            <a:lvl3pPr marR="0" lvl="2" algn="l" rtl="0">
              <a:spcBef>
                <a:spcPts val="300"/>
              </a:spcBef>
              <a:spcAft>
                <a:spcPts val="0"/>
              </a:spcAft>
              <a:buClr>
                <a:schemeClr val="dk1"/>
              </a:buClr>
              <a:buSzPts val="1400"/>
              <a:buFont typeface="Quattrocento Sans"/>
              <a:buChar char="•"/>
              <a:defRPr sz="1400" b="0" i="0" u="none" strike="noStrike" cap="none">
                <a:solidFill>
                  <a:schemeClr val="dk1"/>
                </a:solidFill>
                <a:latin typeface="Quattrocento Sans"/>
                <a:ea typeface="Quattrocento Sans"/>
                <a:cs typeface="Quattrocento Sans"/>
                <a:sym typeface="Quattrocento Sans"/>
              </a:defRPr>
            </a:lvl3pPr>
            <a:lvl4pPr marR="0" lvl="3" algn="l" rtl="0">
              <a:spcBef>
                <a:spcPts val="200"/>
              </a:spcBef>
              <a:spcAft>
                <a:spcPts val="0"/>
              </a:spcAft>
              <a:buSzPts val="1100"/>
              <a:buNone/>
              <a:defRPr sz="1100" b="0" i="0" u="none" strike="noStrike" cap="none">
                <a:solidFill>
                  <a:schemeClr val="dk1"/>
                </a:solidFill>
                <a:latin typeface="Quattrocento Sans"/>
                <a:ea typeface="Quattrocento Sans"/>
                <a:cs typeface="Quattrocento Sans"/>
                <a:sym typeface="Quattrocento Sans"/>
              </a:defRPr>
            </a:lvl4pPr>
            <a:lvl5pPr marR="0" lvl="4" algn="l" rtl="0">
              <a:spcBef>
                <a:spcPts val="200"/>
              </a:spcBef>
              <a:spcAft>
                <a:spcPts val="0"/>
              </a:spcAft>
              <a:buSzPts val="1100"/>
              <a:buNone/>
              <a:defRPr sz="1100" b="0" i="0" u="none" strike="noStrike" cap="none">
                <a:solidFill>
                  <a:schemeClr val="dk1"/>
                </a:solidFill>
                <a:latin typeface="Quattrocento Sans"/>
                <a:ea typeface="Quattrocento Sans"/>
                <a:cs typeface="Quattrocento Sans"/>
                <a:sym typeface="Quattrocento Sans"/>
              </a:defRPr>
            </a:lvl5pPr>
            <a:lvl6pPr marR="0" lvl="5" algn="l" rtl="0">
              <a:spcBef>
                <a:spcPts val="200"/>
              </a:spcBef>
              <a:spcAft>
                <a:spcPts val="0"/>
              </a:spcAft>
              <a:buClr>
                <a:schemeClr val="dk1"/>
              </a:buClr>
              <a:buSzPts val="1100"/>
              <a:buFont typeface="Quattrocento Sans"/>
              <a:buChar char="»"/>
              <a:defRPr sz="1100" b="0" i="0" u="none" strike="noStrike" cap="none">
                <a:solidFill>
                  <a:schemeClr val="dk1"/>
                </a:solidFill>
                <a:latin typeface="Quattrocento Sans"/>
                <a:ea typeface="Quattrocento Sans"/>
                <a:cs typeface="Quattrocento Sans"/>
                <a:sym typeface="Quattrocento Sans"/>
              </a:defRPr>
            </a:lvl6pPr>
            <a:lvl7pPr marR="0" lvl="6" algn="l" rtl="0">
              <a:spcBef>
                <a:spcPts val="200"/>
              </a:spcBef>
              <a:spcAft>
                <a:spcPts val="0"/>
              </a:spcAft>
              <a:buClr>
                <a:schemeClr val="dk1"/>
              </a:buClr>
              <a:buSzPts val="1100"/>
              <a:buFont typeface="Quattrocento Sans"/>
              <a:buChar char="»"/>
              <a:defRPr sz="1100" b="0" i="0" u="none" strike="noStrike" cap="none">
                <a:solidFill>
                  <a:schemeClr val="dk1"/>
                </a:solidFill>
                <a:latin typeface="Quattrocento Sans"/>
                <a:ea typeface="Quattrocento Sans"/>
                <a:cs typeface="Quattrocento Sans"/>
                <a:sym typeface="Quattrocento Sans"/>
              </a:defRPr>
            </a:lvl7pPr>
            <a:lvl8pPr marR="0" lvl="7" algn="l" rtl="0">
              <a:spcBef>
                <a:spcPts val="200"/>
              </a:spcBef>
              <a:spcAft>
                <a:spcPts val="0"/>
              </a:spcAft>
              <a:buClr>
                <a:schemeClr val="dk1"/>
              </a:buClr>
              <a:buSzPts val="1100"/>
              <a:buFont typeface="Quattrocento Sans"/>
              <a:buChar char="»"/>
              <a:defRPr sz="1100" b="0" i="0" u="none" strike="noStrike" cap="none">
                <a:solidFill>
                  <a:schemeClr val="dk1"/>
                </a:solidFill>
                <a:latin typeface="Quattrocento Sans"/>
                <a:ea typeface="Quattrocento Sans"/>
                <a:cs typeface="Quattrocento Sans"/>
                <a:sym typeface="Quattrocento Sans"/>
              </a:defRPr>
            </a:lvl8pPr>
            <a:lvl9pPr marR="0" lvl="8" algn="l" rtl="0">
              <a:spcBef>
                <a:spcPts val="200"/>
              </a:spcBef>
              <a:spcAft>
                <a:spcPts val="0"/>
              </a:spcAft>
              <a:buClr>
                <a:schemeClr val="dk1"/>
              </a:buClr>
              <a:buSzPts val="1100"/>
              <a:buFont typeface="Quattrocento Sans"/>
              <a:buChar char="»"/>
              <a:defRPr sz="1100" b="0" i="0" u="none" strike="noStrike" cap="none">
                <a:solidFill>
                  <a:schemeClr val="dk1"/>
                </a:solidFill>
                <a:latin typeface="Quattrocento Sans"/>
                <a:ea typeface="Quattrocento Sans"/>
                <a:cs typeface="Quattrocento Sans"/>
                <a:sym typeface="Quattrocento Sans"/>
              </a:defRPr>
            </a:lvl9pPr>
          </a:lstStyle>
          <a:p>
            <a:endParaRPr/>
          </a:p>
        </p:txBody>
      </p:sp>
      <p:cxnSp>
        <p:nvCxnSpPr>
          <p:cNvPr id="9" name="Google Shape;9;p2"/>
          <p:cNvCxnSpPr/>
          <p:nvPr/>
        </p:nvCxnSpPr>
        <p:spPr>
          <a:xfrm>
            <a:off x="269860" y="2572346"/>
            <a:ext cx="8635500" cy="0"/>
          </a:xfrm>
          <a:prstGeom prst="straightConnector1">
            <a:avLst/>
          </a:prstGeom>
          <a:noFill/>
          <a:ln w="9525" cap="flat" cmpd="sng">
            <a:solidFill>
              <a:srgbClr val="333333"/>
            </a:solidFill>
            <a:prstDash val="solid"/>
            <a:round/>
            <a:headEnd type="none" w="sm" len="sm"/>
            <a:tailEnd type="none" w="sm" len="sm"/>
          </a:ln>
        </p:spPr>
      </p:cxnSp>
      <p:sp>
        <p:nvSpPr>
          <p:cNvPr id="10" name="Google Shape;10;p2"/>
          <p:cNvSpPr txBox="1"/>
          <p:nvPr/>
        </p:nvSpPr>
        <p:spPr>
          <a:xfrm>
            <a:off x="161918" y="4806000"/>
            <a:ext cx="4857600" cy="270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fld id="{00000000-1234-1234-1234-123412341234}" type="slidenum">
              <a:rPr lang="ja" sz="1200" b="1" i="0" u="none" strike="noStrike" cap="none">
                <a:solidFill>
                  <a:srgbClr val="7F7F7F"/>
                </a:solidFill>
                <a:latin typeface="Quattrocento Sans"/>
                <a:ea typeface="Quattrocento Sans"/>
                <a:cs typeface="Quattrocento Sans"/>
                <a:sym typeface="Quattrocento Sans"/>
              </a:rPr>
              <a:t>‹#›</a:t>
            </a:fld>
            <a:r>
              <a:rPr lang="ja" sz="1200" b="1" i="0" u="none" strike="noStrike" cap="none">
                <a:solidFill>
                  <a:srgbClr val="7F7F7F"/>
                </a:solidFill>
                <a:latin typeface="Quattrocento Sans"/>
                <a:ea typeface="Quattrocento Sans"/>
                <a:cs typeface="Quattrocento Sans"/>
                <a:sym typeface="Quattrocento Sans"/>
              </a:rPr>
              <a:t>  </a:t>
            </a:r>
            <a:r>
              <a:rPr lang="ja" sz="1200" b="0" i="0" u="none" strike="noStrike" cap="none">
                <a:solidFill>
                  <a:srgbClr val="7FD13B"/>
                </a:solidFill>
                <a:latin typeface="Open Sans"/>
                <a:ea typeface="Open Sans"/>
                <a:cs typeface="Open Sans"/>
                <a:sym typeface="Open Sans"/>
              </a:rPr>
              <a:t>▇</a:t>
            </a:r>
            <a:r>
              <a:rPr lang="ja" sz="1200" b="0" i="0" u="none" strike="noStrike" cap="none">
                <a:solidFill>
                  <a:srgbClr val="EA157A"/>
                </a:solidFill>
                <a:latin typeface="Open Sans"/>
                <a:ea typeface="Open Sans"/>
                <a:cs typeface="Open Sans"/>
                <a:sym typeface="Open Sans"/>
              </a:rPr>
              <a:t>▇</a:t>
            </a:r>
            <a:r>
              <a:rPr lang="ja" sz="1200" b="0" i="0" u="none" strike="noStrike" cap="none">
                <a:solidFill>
                  <a:srgbClr val="007DEA"/>
                </a:solidFill>
                <a:latin typeface="Open Sans"/>
                <a:ea typeface="Open Sans"/>
                <a:cs typeface="Open Sans"/>
                <a:sym typeface="Open Sans"/>
              </a:rPr>
              <a:t>▇</a:t>
            </a:r>
            <a:r>
              <a:rPr lang="ja" sz="1200" b="0" i="0" u="none" strike="noStrike" cap="none">
                <a:solidFill>
                  <a:srgbClr val="7FD13B"/>
                </a:solidFill>
                <a:latin typeface="Open Sans"/>
                <a:ea typeface="Open Sans"/>
                <a:cs typeface="Open Sans"/>
                <a:sym typeface="Open Sans"/>
              </a:rPr>
              <a:t> </a:t>
            </a:r>
            <a:r>
              <a:rPr lang="ja" sz="1200" b="0" i="0" u="none" strike="noStrike" cap="none">
                <a:solidFill>
                  <a:schemeClr val="dk1"/>
                </a:solidFill>
                <a:latin typeface="Open Sans"/>
                <a:ea typeface="Open Sans"/>
                <a:cs typeface="Open Sans"/>
                <a:sym typeface="Open Sans"/>
              </a:rPr>
              <a:t>The OpenChain project Japan work group / CC BY 4.0</a:t>
            </a:r>
            <a:endParaRPr sz="1200" b="0" i="0" u="none" strike="noStrike" cap="none">
              <a:solidFill>
                <a:srgbClr val="A5A5A5"/>
              </a:solidFill>
              <a:latin typeface="Open Sans"/>
              <a:ea typeface="Open Sans"/>
              <a:cs typeface="Open Sans"/>
              <a:sym typeface="Open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7_MiddlePage_1_white">
  <p:cSld name="7_MiddlePage_1_white">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432000" y="34524"/>
            <a:ext cx="8280000" cy="594300"/>
          </a:xfrm>
          <a:prstGeom prst="rect">
            <a:avLst/>
          </a:prstGeom>
          <a:noFill/>
          <a:ln>
            <a:noFill/>
          </a:ln>
        </p:spPr>
        <p:txBody>
          <a:bodyPr spcFirstLastPara="1" wrap="square" lIns="0" tIns="0" rIns="0" bIns="0" anchor="b" anchorCtr="0">
            <a:noAutofit/>
          </a:bodyPr>
          <a:lstStyle>
            <a:lvl1pPr marR="0" lvl="0" algn="l" rtl="0">
              <a:spcBef>
                <a:spcPts val="0"/>
              </a:spcBef>
              <a:spcAft>
                <a:spcPts val="0"/>
              </a:spcAft>
              <a:buSzPts val="1100"/>
              <a:buNone/>
              <a:defRPr sz="1800" b="0" i="0" u="none" strike="noStrike" cap="none">
                <a:solidFill>
                  <a:schemeClr val="dk1"/>
                </a:solidFill>
                <a:latin typeface="Tahoma"/>
                <a:ea typeface="Tahoma"/>
                <a:cs typeface="Tahoma"/>
                <a:sym typeface="Tahoma"/>
              </a:defRPr>
            </a:lvl1pPr>
            <a:lvl2pPr marR="0" lvl="1" algn="l" rtl="0">
              <a:spcBef>
                <a:spcPts val="0"/>
              </a:spcBef>
              <a:spcAft>
                <a:spcPts val="0"/>
              </a:spcAft>
              <a:buSzPts val="1100"/>
              <a:buNone/>
              <a:defRPr sz="1800" b="0" i="0" u="none" strike="noStrike" cap="none">
                <a:solidFill>
                  <a:schemeClr val="dk2"/>
                </a:solidFill>
                <a:latin typeface="Arial"/>
                <a:ea typeface="Arial"/>
                <a:cs typeface="Arial"/>
                <a:sym typeface="Arial"/>
              </a:defRPr>
            </a:lvl2pPr>
            <a:lvl3pPr marR="0" lvl="2" algn="l" rtl="0">
              <a:spcBef>
                <a:spcPts val="0"/>
              </a:spcBef>
              <a:spcAft>
                <a:spcPts val="0"/>
              </a:spcAft>
              <a:buSzPts val="1100"/>
              <a:buNone/>
              <a:defRPr sz="1800" b="0" i="0" u="none" strike="noStrike" cap="none">
                <a:solidFill>
                  <a:schemeClr val="dk2"/>
                </a:solidFill>
                <a:latin typeface="Arial"/>
                <a:ea typeface="Arial"/>
                <a:cs typeface="Arial"/>
                <a:sym typeface="Arial"/>
              </a:defRPr>
            </a:lvl3pPr>
            <a:lvl4pPr marR="0" lvl="3" algn="l" rtl="0">
              <a:spcBef>
                <a:spcPts val="0"/>
              </a:spcBef>
              <a:spcAft>
                <a:spcPts val="0"/>
              </a:spcAft>
              <a:buSzPts val="1100"/>
              <a:buNone/>
              <a:defRPr sz="1800" b="0" i="0" u="none" strike="noStrike" cap="none">
                <a:solidFill>
                  <a:schemeClr val="dk2"/>
                </a:solidFill>
                <a:latin typeface="Arial"/>
                <a:ea typeface="Arial"/>
                <a:cs typeface="Arial"/>
                <a:sym typeface="Arial"/>
              </a:defRPr>
            </a:lvl4pPr>
            <a:lvl5pPr marR="0" lvl="4" algn="l" rtl="0">
              <a:spcBef>
                <a:spcPts val="0"/>
              </a:spcBef>
              <a:spcAft>
                <a:spcPts val="0"/>
              </a:spcAft>
              <a:buSzPts val="1100"/>
              <a:buNone/>
              <a:defRPr sz="1800" b="0" i="0" u="none" strike="noStrike" cap="none">
                <a:solidFill>
                  <a:schemeClr val="dk2"/>
                </a:solidFill>
                <a:latin typeface="Arial"/>
                <a:ea typeface="Arial"/>
                <a:cs typeface="Arial"/>
                <a:sym typeface="Arial"/>
              </a:defRPr>
            </a:lvl5pPr>
            <a:lvl6pPr marR="0" lvl="5" algn="l" rtl="0">
              <a:spcBef>
                <a:spcPts val="0"/>
              </a:spcBef>
              <a:spcAft>
                <a:spcPts val="0"/>
              </a:spcAft>
              <a:buSzPts val="1100"/>
              <a:buNone/>
              <a:defRPr sz="2000" b="0" i="0" u="none" strike="noStrike" cap="none">
                <a:solidFill>
                  <a:schemeClr val="dk2"/>
                </a:solidFill>
                <a:latin typeface="Arial"/>
                <a:ea typeface="Arial"/>
                <a:cs typeface="Arial"/>
                <a:sym typeface="Arial"/>
              </a:defRPr>
            </a:lvl6pPr>
            <a:lvl7pPr marR="0" lvl="6" algn="l" rtl="0">
              <a:spcBef>
                <a:spcPts val="0"/>
              </a:spcBef>
              <a:spcAft>
                <a:spcPts val="0"/>
              </a:spcAft>
              <a:buSzPts val="1100"/>
              <a:buNone/>
              <a:defRPr sz="2000" b="0" i="0" u="none" strike="noStrike" cap="none">
                <a:solidFill>
                  <a:schemeClr val="dk2"/>
                </a:solidFill>
                <a:latin typeface="Arial"/>
                <a:ea typeface="Arial"/>
                <a:cs typeface="Arial"/>
                <a:sym typeface="Arial"/>
              </a:defRPr>
            </a:lvl7pPr>
            <a:lvl8pPr marR="0" lvl="7" algn="l" rtl="0">
              <a:spcBef>
                <a:spcPts val="0"/>
              </a:spcBef>
              <a:spcAft>
                <a:spcPts val="0"/>
              </a:spcAft>
              <a:buSzPts val="1100"/>
              <a:buNone/>
              <a:defRPr sz="2000" b="0" i="0" u="none" strike="noStrike" cap="none">
                <a:solidFill>
                  <a:schemeClr val="dk2"/>
                </a:solidFill>
                <a:latin typeface="Arial"/>
                <a:ea typeface="Arial"/>
                <a:cs typeface="Arial"/>
                <a:sym typeface="Arial"/>
              </a:defRPr>
            </a:lvl8pPr>
            <a:lvl9pPr marR="0" lvl="8" algn="l" rtl="0">
              <a:spcBef>
                <a:spcPts val="0"/>
              </a:spcBef>
              <a:spcAft>
                <a:spcPts val="0"/>
              </a:spcAft>
              <a:buSzPts val="1100"/>
              <a:buNone/>
              <a:defRPr sz="2000" b="0" i="0" u="none" strike="noStrike" cap="none">
                <a:solidFill>
                  <a:schemeClr val="dk2"/>
                </a:solidFill>
                <a:latin typeface="Arial"/>
                <a:ea typeface="Arial"/>
                <a:cs typeface="Arial"/>
                <a:sym typeface="Arial"/>
              </a:defRPr>
            </a:lvl9pPr>
          </a:lstStyle>
          <a:p>
            <a:endParaRPr/>
          </a:p>
        </p:txBody>
      </p:sp>
      <p:cxnSp>
        <p:nvCxnSpPr>
          <p:cNvPr id="13" name="Google Shape;13;p3"/>
          <p:cNvCxnSpPr/>
          <p:nvPr/>
        </p:nvCxnSpPr>
        <p:spPr>
          <a:xfrm>
            <a:off x="269860" y="681698"/>
            <a:ext cx="8635500" cy="0"/>
          </a:xfrm>
          <a:prstGeom prst="straightConnector1">
            <a:avLst/>
          </a:prstGeom>
          <a:noFill/>
          <a:ln w="9525" cap="flat" cmpd="sng">
            <a:solidFill>
              <a:srgbClr val="333333"/>
            </a:solidFill>
            <a:prstDash val="solid"/>
            <a:round/>
            <a:headEnd type="none" w="sm" len="sm"/>
            <a:tailEnd type="none" w="sm" len="sm"/>
          </a:ln>
        </p:spPr>
      </p:cxnSp>
      <p:sp>
        <p:nvSpPr>
          <p:cNvPr id="14" name="Google Shape;14;p3"/>
          <p:cNvSpPr txBox="1"/>
          <p:nvPr/>
        </p:nvSpPr>
        <p:spPr>
          <a:xfrm>
            <a:off x="161918" y="4806000"/>
            <a:ext cx="4857600" cy="270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fld id="{00000000-1234-1234-1234-123412341234}" type="slidenum">
              <a:rPr lang="ja" sz="1200" b="1" i="0" u="none" strike="noStrike" cap="none">
                <a:solidFill>
                  <a:srgbClr val="7F7F7F"/>
                </a:solidFill>
                <a:latin typeface="Quattrocento Sans"/>
                <a:ea typeface="Quattrocento Sans"/>
                <a:cs typeface="Quattrocento Sans"/>
                <a:sym typeface="Quattrocento Sans"/>
              </a:rPr>
              <a:t>‹#›</a:t>
            </a:fld>
            <a:r>
              <a:rPr lang="ja" sz="1200" b="1" i="0" u="none" strike="noStrike" cap="none">
                <a:solidFill>
                  <a:srgbClr val="7F7F7F"/>
                </a:solidFill>
                <a:latin typeface="Quattrocento Sans"/>
                <a:ea typeface="Quattrocento Sans"/>
                <a:cs typeface="Quattrocento Sans"/>
                <a:sym typeface="Quattrocento Sans"/>
              </a:rPr>
              <a:t>  </a:t>
            </a:r>
            <a:r>
              <a:rPr lang="ja" sz="1200" b="0" i="0" u="none" strike="noStrike" cap="none">
                <a:solidFill>
                  <a:srgbClr val="7FD13B"/>
                </a:solidFill>
                <a:latin typeface="Open Sans"/>
                <a:ea typeface="Open Sans"/>
                <a:cs typeface="Open Sans"/>
                <a:sym typeface="Open Sans"/>
              </a:rPr>
              <a:t>▇</a:t>
            </a:r>
            <a:r>
              <a:rPr lang="ja" sz="1200" b="0" i="0" u="none" strike="noStrike" cap="none">
                <a:solidFill>
                  <a:srgbClr val="EA157A"/>
                </a:solidFill>
                <a:latin typeface="Open Sans"/>
                <a:ea typeface="Open Sans"/>
                <a:cs typeface="Open Sans"/>
                <a:sym typeface="Open Sans"/>
              </a:rPr>
              <a:t>▇</a:t>
            </a:r>
            <a:r>
              <a:rPr lang="ja" sz="1200" b="0" i="0" u="none" strike="noStrike" cap="none">
                <a:solidFill>
                  <a:srgbClr val="007DEA"/>
                </a:solidFill>
                <a:latin typeface="Open Sans"/>
                <a:ea typeface="Open Sans"/>
                <a:cs typeface="Open Sans"/>
                <a:sym typeface="Open Sans"/>
              </a:rPr>
              <a:t>▇</a:t>
            </a:r>
            <a:r>
              <a:rPr lang="ja" sz="1200" b="0" i="0" u="none" strike="noStrike" cap="none">
                <a:solidFill>
                  <a:srgbClr val="7FD13B"/>
                </a:solidFill>
                <a:latin typeface="Open Sans"/>
                <a:ea typeface="Open Sans"/>
                <a:cs typeface="Open Sans"/>
                <a:sym typeface="Open Sans"/>
              </a:rPr>
              <a:t> </a:t>
            </a:r>
            <a:r>
              <a:rPr lang="ja" sz="1200" b="0" i="0" u="none" strike="noStrike" cap="none">
                <a:solidFill>
                  <a:schemeClr val="dk1"/>
                </a:solidFill>
                <a:latin typeface="Open Sans"/>
                <a:ea typeface="Open Sans"/>
                <a:cs typeface="Open Sans"/>
                <a:sym typeface="Open Sans"/>
              </a:rPr>
              <a:t>The OpenChain project Japan work group / CC BY 4.0</a:t>
            </a:r>
            <a:endParaRPr sz="1200" b="0" i="0" u="none" strike="noStrike" cap="none">
              <a:solidFill>
                <a:srgbClr val="A5A5A5"/>
              </a:solidFill>
              <a:latin typeface="Open Sans"/>
              <a:ea typeface="Open Sans"/>
              <a:cs typeface="Open Sans"/>
              <a:sym typeface="Open Sans"/>
            </a:endParaRPr>
          </a:p>
        </p:txBody>
      </p:sp>
      <p:sp>
        <p:nvSpPr>
          <p:cNvPr id="15" name="Google Shape;15;p3"/>
          <p:cNvSpPr txBox="1"/>
          <p:nvPr/>
        </p:nvSpPr>
        <p:spPr>
          <a:xfrm>
            <a:off x="7114375" y="4778975"/>
            <a:ext cx="18945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ja" sz="1400" b="0" i="0" u="none" strike="noStrike" cap="none">
                <a:solidFill>
                  <a:schemeClr val="dk1"/>
                </a:solidFill>
                <a:latin typeface="Quattrocento Sans"/>
                <a:ea typeface="Quattrocento Sans"/>
                <a:cs typeface="Quattrocento Sans"/>
                <a:sym typeface="Quattrocento Sans"/>
              </a:rPr>
              <a:t>2022/</a:t>
            </a:r>
            <a:r>
              <a:rPr lang="ja">
                <a:solidFill>
                  <a:schemeClr val="dk1"/>
                </a:solidFill>
                <a:latin typeface="Quattrocento Sans"/>
                <a:ea typeface="Quattrocento Sans"/>
                <a:cs typeface="Quattrocento Sans"/>
                <a:sym typeface="Quattrocento Sans"/>
              </a:rPr>
              <a:t>3/31-</a:t>
            </a:r>
            <a:r>
              <a:rPr lang="ja" sz="1400" b="0" i="0" u="none" strike="noStrike" cap="none">
                <a:solidFill>
                  <a:schemeClr val="dk1"/>
                </a:solidFill>
                <a:latin typeface="Quattrocento Sans"/>
                <a:ea typeface="Quattrocento Sans"/>
                <a:cs typeface="Quattrocento Sans"/>
                <a:sym typeface="Quattrocento Sans"/>
              </a:rPr>
              <a:t>4/</a:t>
            </a:r>
            <a:r>
              <a:rPr lang="ja">
                <a:solidFill>
                  <a:schemeClr val="dk1"/>
                </a:solidFill>
                <a:latin typeface="Quattrocento Sans"/>
                <a:ea typeface="Quattrocento Sans"/>
                <a:cs typeface="Quattrocento Sans"/>
                <a:sym typeface="Quattrocento Sans"/>
              </a:rPr>
              <a:t>30調査</a:t>
            </a:r>
            <a:endParaRPr sz="11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6_MiddlePage_1_white　CC-BY">
  <p:cSld name="6_MiddlePage_1_white">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32000" y="34524"/>
            <a:ext cx="8280000" cy="594300"/>
          </a:xfrm>
          <a:prstGeom prst="rect">
            <a:avLst/>
          </a:prstGeom>
          <a:noFill/>
          <a:ln>
            <a:noFill/>
          </a:ln>
        </p:spPr>
        <p:txBody>
          <a:bodyPr spcFirstLastPara="1" wrap="square" lIns="0" tIns="0" rIns="0" bIns="0" anchor="b" anchorCtr="0">
            <a:noAutofit/>
          </a:bodyPr>
          <a:lstStyle>
            <a:lvl1pPr marR="0" lvl="0" algn="l" rtl="0">
              <a:spcBef>
                <a:spcPts val="0"/>
              </a:spcBef>
              <a:spcAft>
                <a:spcPts val="0"/>
              </a:spcAft>
              <a:buSzPts val="1100"/>
              <a:buNone/>
              <a:defRPr sz="1800" b="0" i="0" u="none" strike="noStrike" cap="none">
                <a:solidFill>
                  <a:schemeClr val="dk1"/>
                </a:solidFill>
                <a:latin typeface="Tahoma"/>
                <a:ea typeface="Tahoma"/>
                <a:cs typeface="Tahoma"/>
                <a:sym typeface="Tahoma"/>
              </a:defRPr>
            </a:lvl1pPr>
            <a:lvl2pPr marR="0" lvl="1" algn="l" rtl="0">
              <a:spcBef>
                <a:spcPts val="0"/>
              </a:spcBef>
              <a:spcAft>
                <a:spcPts val="0"/>
              </a:spcAft>
              <a:buSzPts val="1100"/>
              <a:buNone/>
              <a:defRPr sz="1800" b="0" i="0" u="none" strike="noStrike" cap="none">
                <a:solidFill>
                  <a:schemeClr val="dk2"/>
                </a:solidFill>
                <a:latin typeface="Arial"/>
                <a:ea typeface="Arial"/>
                <a:cs typeface="Arial"/>
                <a:sym typeface="Arial"/>
              </a:defRPr>
            </a:lvl2pPr>
            <a:lvl3pPr marR="0" lvl="2" algn="l" rtl="0">
              <a:spcBef>
                <a:spcPts val="0"/>
              </a:spcBef>
              <a:spcAft>
                <a:spcPts val="0"/>
              </a:spcAft>
              <a:buSzPts val="1100"/>
              <a:buNone/>
              <a:defRPr sz="1800" b="0" i="0" u="none" strike="noStrike" cap="none">
                <a:solidFill>
                  <a:schemeClr val="dk2"/>
                </a:solidFill>
                <a:latin typeface="Arial"/>
                <a:ea typeface="Arial"/>
                <a:cs typeface="Arial"/>
                <a:sym typeface="Arial"/>
              </a:defRPr>
            </a:lvl3pPr>
            <a:lvl4pPr marR="0" lvl="3" algn="l" rtl="0">
              <a:spcBef>
                <a:spcPts val="0"/>
              </a:spcBef>
              <a:spcAft>
                <a:spcPts val="0"/>
              </a:spcAft>
              <a:buSzPts val="1100"/>
              <a:buNone/>
              <a:defRPr sz="1800" b="0" i="0" u="none" strike="noStrike" cap="none">
                <a:solidFill>
                  <a:schemeClr val="dk2"/>
                </a:solidFill>
                <a:latin typeface="Arial"/>
                <a:ea typeface="Arial"/>
                <a:cs typeface="Arial"/>
                <a:sym typeface="Arial"/>
              </a:defRPr>
            </a:lvl4pPr>
            <a:lvl5pPr marR="0" lvl="4" algn="l" rtl="0">
              <a:spcBef>
                <a:spcPts val="0"/>
              </a:spcBef>
              <a:spcAft>
                <a:spcPts val="0"/>
              </a:spcAft>
              <a:buSzPts val="1100"/>
              <a:buNone/>
              <a:defRPr sz="1800" b="0" i="0" u="none" strike="noStrike" cap="none">
                <a:solidFill>
                  <a:schemeClr val="dk2"/>
                </a:solidFill>
                <a:latin typeface="Arial"/>
                <a:ea typeface="Arial"/>
                <a:cs typeface="Arial"/>
                <a:sym typeface="Arial"/>
              </a:defRPr>
            </a:lvl5pPr>
            <a:lvl6pPr marR="0" lvl="5" algn="l" rtl="0">
              <a:spcBef>
                <a:spcPts val="0"/>
              </a:spcBef>
              <a:spcAft>
                <a:spcPts val="0"/>
              </a:spcAft>
              <a:buSzPts val="1100"/>
              <a:buNone/>
              <a:defRPr sz="2000" b="0" i="0" u="none" strike="noStrike" cap="none">
                <a:solidFill>
                  <a:schemeClr val="dk2"/>
                </a:solidFill>
                <a:latin typeface="Arial"/>
                <a:ea typeface="Arial"/>
                <a:cs typeface="Arial"/>
                <a:sym typeface="Arial"/>
              </a:defRPr>
            </a:lvl6pPr>
            <a:lvl7pPr marR="0" lvl="6" algn="l" rtl="0">
              <a:spcBef>
                <a:spcPts val="0"/>
              </a:spcBef>
              <a:spcAft>
                <a:spcPts val="0"/>
              </a:spcAft>
              <a:buSzPts val="1100"/>
              <a:buNone/>
              <a:defRPr sz="2000" b="0" i="0" u="none" strike="noStrike" cap="none">
                <a:solidFill>
                  <a:schemeClr val="dk2"/>
                </a:solidFill>
                <a:latin typeface="Arial"/>
                <a:ea typeface="Arial"/>
                <a:cs typeface="Arial"/>
                <a:sym typeface="Arial"/>
              </a:defRPr>
            </a:lvl7pPr>
            <a:lvl8pPr marR="0" lvl="7" algn="l" rtl="0">
              <a:spcBef>
                <a:spcPts val="0"/>
              </a:spcBef>
              <a:spcAft>
                <a:spcPts val="0"/>
              </a:spcAft>
              <a:buSzPts val="1100"/>
              <a:buNone/>
              <a:defRPr sz="2000" b="0" i="0" u="none" strike="noStrike" cap="none">
                <a:solidFill>
                  <a:schemeClr val="dk2"/>
                </a:solidFill>
                <a:latin typeface="Arial"/>
                <a:ea typeface="Arial"/>
                <a:cs typeface="Arial"/>
                <a:sym typeface="Arial"/>
              </a:defRPr>
            </a:lvl8pPr>
            <a:lvl9pPr marR="0" lvl="8" algn="l" rtl="0">
              <a:spcBef>
                <a:spcPts val="0"/>
              </a:spcBef>
              <a:spcAft>
                <a:spcPts val="0"/>
              </a:spcAft>
              <a:buSzPts val="1100"/>
              <a:buNone/>
              <a:defRPr sz="2000" b="0" i="0" u="none" strike="noStrike" cap="none">
                <a:solidFill>
                  <a:schemeClr val="dk2"/>
                </a:solidFill>
                <a:latin typeface="Arial"/>
                <a:ea typeface="Arial"/>
                <a:cs typeface="Arial"/>
                <a:sym typeface="Arial"/>
              </a:defRPr>
            </a:lvl9pPr>
          </a:lstStyle>
          <a:p>
            <a:endParaRPr/>
          </a:p>
        </p:txBody>
      </p:sp>
      <p:sp>
        <p:nvSpPr>
          <p:cNvPr id="18" name="Google Shape;18;p4"/>
          <p:cNvSpPr txBox="1">
            <a:spLocks noGrp="1"/>
          </p:cNvSpPr>
          <p:nvPr>
            <p:ph type="body" idx="1"/>
          </p:nvPr>
        </p:nvSpPr>
        <p:spPr>
          <a:xfrm>
            <a:off x="432000" y="792368"/>
            <a:ext cx="8280000" cy="3835800"/>
          </a:xfrm>
          <a:prstGeom prst="rect">
            <a:avLst/>
          </a:prstGeom>
          <a:noFill/>
          <a:ln>
            <a:noFill/>
          </a:ln>
        </p:spPr>
        <p:txBody>
          <a:bodyPr spcFirstLastPara="1" wrap="square" lIns="49625" tIns="24875" rIns="49625" bIns="24875" anchor="t" anchorCtr="0">
            <a:noAutofit/>
          </a:bodyPr>
          <a:lstStyle>
            <a:lvl1pPr marL="457200" marR="0" lvl="0" indent="-342900" algn="l" rtl="0">
              <a:spcBef>
                <a:spcPts val="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1pPr>
            <a:lvl2pPr marL="914400" marR="0" lvl="1" indent="-323850" algn="l" rtl="0">
              <a:spcBef>
                <a:spcPts val="0"/>
              </a:spcBef>
              <a:spcAft>
                <a:spcPts val="0"/>
              </a:spcAft>
              <a:buClr>
                <a:schemeClr val="dk1"/>
              </a:buClr>
              <a:buSzPts val="1500"/>
              <a:buFont typeface="Arial"/>
              <a:buChar char="•"/>
              <a:defRPr sz="1500" b="0" i="0" u="none" strike="noStrike" cap="none">
                <a:solidFill>
                  <a:schemeClr val="dk1"/>
                </a:solidFill>
                <a:latin typeface="Quattrocento Sans"/>
                <a:ea typeface="Quattrocento Sans"/>
                <a:cs typeface="Quattrocento Sans"/>
                <a:sym typeface="Quattrocento Sans"/>
              </a:defRPr>
            </a:lvl2pPr>
            <a:lvl3pPr marL="1371600" marR="0" lvl="2" indent="-304800" algn="l" rtl="0">
              <a:spcBef>
                <a:spcPts val="0"/>
              </a:spcBef>
              <a:spcAft>
                <a:spcPts val="0"/>
              </a:spcAft>
              <a:buClr>
                <a:schemeClr val="dk1"/>
              </a:buClr>
              <a:buSzPts val="1200"/>
              <a:buFont typeface="Arial"/>
              <a:buChar char="•"/>
              <a:defRPr sz="1200" b="0" i="0" u="none" strike="noStrike" cap="none">
                <a:solidFill>
                  <a:schemeClr val="dk1"/>
                </a:solidFill>
                <a:latin typeface="Quattrocento Sans"/>
                <a:ea typeface="Quattrocento Sans"/>
                <a:cs typeface="Quattrocento Sans"/>
                <a:sym typeface="Quattrocento Sans"/>
              </a:defRPr>
            </a:lvl3pPr>
            <a:lvl4pPr marL="1828800" marR="0" lvl="3" indent="-298450" algn="l" rtl="0">
              <a:spcBef>
                <a:spcPts val="0"/>
              </a:spcBef>
              <a:spcAft>
                <a:spcPts val="0"/>
              </a:spcAft>
              <a:buClr>
                <a:schemeClr val="dk1"/>
              </a:buClr>
              <a:buSzPts val="1100"/>
              <a:buFont typeface="Arial"/>
              <a:buChar char="•"/>
              <a:defRPr sz="1100" b="0" i="0" u="none" strike="noStrike" cap="none">
                <a:solidFill>
                  <a:schemeClr val="dk1"/>
                </a:solidFill>
                <a:latin typeface="Quattrocento Sans"/>
                <a:ea typeface="Quattrocento Sans"/>
                <a:cs typeface="Quattrocento Sans"/>
                <a:sym typeface="Quattrocento Sans"/>
              </a:defRPr>
            </a:lvl4pPr>
            <a:lvl5pPr marL="2286000" marR="0" lvl="4" indent="-298450" algn="l" rtl="0">
              <a:spcBef>
                <a:spcPts val="0"/>
              </a:spcBef>
              <a:spcAft>
                <a:spcPts val="0"/>
              </a:spcAft>
              <a:buClr>
                <a:schemeClr val="dk1"/>
              </a:buClr>
              <a:buSzPts val="1100"/>
              <a:buFont typeface="Arial"/>
              <a:buChar char="•"/>
              <a:defRPr sz="1100" b="0" i="0" u="none" strike="noStrike" cap="none">
                <a:solidFill>
                  <a:schemeClr val="dk1"/>
                </a:solidFill>
                <a:latin typeface="Quattrocento Sans"/>
                <a:ea typeface="Quattrocento Sans"/>
                <a:cs typeface="Quattrocento Sans"/>
                <a:sym typeface="Quattrocento Sans"/>
              </a:defRPr>
            </a:lvl5pPr>
            <a:lvl6pPr marL="2743200" marR="0" lvl="5" indent="-298450" algn="l" rtl="0">
              <a:spcBef>
                <a:spcPts val="200"/>
              </a:spcBef>
              <a:spcAft>
                <a:spcPts val="0"/>
              </a:spcAft>
              <a:buClr>
                <a:schemeClr val="dk1"/>
              </a:buClr>
              <a:buSzPts val="1100"/>
              <a:buFont typeface="Quattrocento Sans"/>
              <a:buChar char="»"/>
              <a:defRPr sz="1100" b="0" i="0" u="none" strike="noStrike" cap="none">
                <a:solidFill>
                  <a:schemeClr val="dk1"/>
                </a:solidFill>
                <a:latin typeface="Quattrocento Sans"/>
                <a:ea typeface="Quattrocento Sans"/>
                <a:cs typeface="Quattrocento Sans"/>
                <a:sym typeface="Quattrocento Sans"/>
              </a:defRPr>
            </a:lvl6pPr>
            <a:lvl7pPr marL="3200400" marR="0" lvl="6" indent="-298450" algn="l" rtl="0">
              <a:spcBef>
                <a:spcPts val="200"/>
              </a:spcBef>
              <a:spcAft>
                <a:spcPts val="0"/>
              </a:spcAft>
              <a:buClr>
                <a:schemeClr val="dk1"/>
              </a:buClr>
              <a:buSzPts val="1100"/>
              <a:buFont typeface="Quattrocento Sans"/>
              <a:buChar char="»"/>
              <a:defRPr sz="1100" b="0" i="0" u="none" strike="noStrike" cap="none">
                <a:solidFill>
                  <a:schemeClr val="dk1"/>
                </a:solidFill>
                <a:latin typeface="Quattrocento Sans"/>
                <a:ea typeface="Quattrocento Sans"/>
                <a:cs typeface="Quattrocento Sans"/>
                <a:sym typeface="Quattrocento Sans"/>
              </a:defRPr>
            </a:lvl7pPr>
            <a:lvl8pPr marL="3657600" marR="0" lvl="7" indent="-298450" algn="l" rtl="0">
              <a:spcBef>
                <a:spcPts val="200"/>
              </a:spcBef>
              <a:spcAft>
                <a:spcPts val="0"/>
              </a:spcAft>
              <a:buClr>
                <a:schemeClr val="dk1"/>
              </a:buClr>
              <a:buSzPts val="1100"/>
              <a:buFont typeface="Quattrocento Sans"/>
              <a:buChar char="»"/>
              <a:defRPr sz="1100" b="0" i="0" u="none" strike="noStrike" cap="none">
                <a:solidFill>
                  <a:schemeClr val="dk1"/>
                </a:solidFill>
                <a:latin typeface="Quattrocento Sans"/>
                <a:ea typeface="Quattrocento Sans"/>
                <a:cs typeface="Quattrocento Sans"/>
                <a:sym typeface="Quattrocento Sans"/>
              </a:defRPr>
            </a:lvl8pPr>
            <a:lvl9pPr marL="4114800" marR="0" lvl="8" indent="-298450" algn="l" rtl="0">
              <a:spcBef>
                <a:spcPts val="200"/>
              </a:spcBef>
              <a:spcAft>
                <a:spcPts val="0"/>
              </a:spcAft>
              <a:buClr>
                <a:schemeClr val="dk1"/>
              </a:buClr>
              <a:buSzPts val="1100"/>
              <a:buFont typeface="Quattrocento Sans"/>
              <a:buChar char="»"/>
              <a:defRPr sz="1100" b="0" i="0" u="none" strike="noStrike" cap="none">
                <a:solidFill>
                  <a:schemeClr val="dk1"/>
                </a:solidFill>
                <a:latin typeface="Quattrocento Sans"/>
                <a:ea typeface="Quattrocento Sans"/>
                <a:cs typeface="Quattrocento Sans"/>
                <a:sym typeface="Quattrocento Sans"/>
              </a:defRPr>
            </a:lvl9pPr>
          </a:lstStyle>
          <a:p>
            <a:endParaRPr/>
          </a:p>
        </p:txBody>
      </p:sp>
      <p:cxnSp>
        <p:nvCxnSpPr>
          <p:cNvPr id="19" name="Google Shape;19;p4"/>
          <p:cNvCxnSpPr/>
          <p:nvPr/>
        </p:nvCxnSpPr>
        <p:spPr>
          <a:xfrm>
            <a:off x="269860" y="681698"/>
            <a:ext cx="8635500" cy="0"/>
          </a:xfrm>
          <a:prstGeom prst="straightConnector1">
            <a:avLst/>
          </a:prstGeom>
          <a:noFill/>
          <a:ln w="9525" cap="flat" cmpd="sng">
            <a:solidFill>
              <a:srgbClr val="333333"/>
            </a:solidFill>
            <a:prstDash val="solid"/>
            <a:round/>
            <a:headEnd type="none" w="sm" len="sm"/>
            <a:tailEnd type="none" w="sm" len="sm"/>
          </a:ln>
        </p:spPr>
      </p:cxnSp>
      <p:sp>
        <p:nvSpPr>
          <p:cNvPr id="20" name="Google Shape;20;p4"/>
          <p:cNvSpPr txBox="1"/>
          <p:nvPr/>
        </p:nvSpPr>
        <p:spPr>
          <a:xfrm>
            <a:off x="161918" y="4806000"/>
            <a:ext cx="4857600" cy="270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fld id="{00000000-1234-1234-1234-123412341234}" type="slidenum">
              <a:rPr lang="ja" sz="1200" b="1">
                <a:solidFill>
                  <a:srgbClr val="7F7F7F"/>
                </a:solidFill>
                <a:latin typeface="Quattrocento Sans"/>
                <a:ea typeface="Quattrocento Sans"/>
                <a:cs typeface="Quattrocento Sans"/>
                <a:sym typeface="Quattrocento Sans"/>
              </a:rPr>
              <a:t>‹#›</a:t>
            </a:fld>
            <a:r>
              <a:rPr lang="ja" sz="1200" b="1">
                <a:solidFill>
                  <a:srgbClr val="7F7F7F"/>
                </a:solidFill>
                <a:latin typeface="Quattrocento Sans"/>
                <a:ea typeface="Quattrocento Sans"/>
                <a:cs typeface="Quattrocento Sans"/>
                <a:sym typeface="Quattrocento Sans"/>
              </a:rPr>
              <a:t>  </a:t>
            </a:r>
            <a:r>
              <a:rPr lang="ja" sz="1200">
                <a:solidFill>
                  <a:srgbClr val="7FD13B"/>
                </a:solidFill>
                <a:latin typeface="Open Sans"/>
                <a:ea typeface="Open Sans"/>
                <a:cs typeface="Open Sans"/>
                <a:sym typeface="Open Sans"/>
              </a:rPr>
              <a:t>▇</a:t>
            </a:r>
            <a:r>
              <a:rPr lang="ja" sz="1200">
                <a:solidFill>
                  <a:srgbClr val="EA157A"/>
                </a:solidFill>
                <a:latin typeface="Open Sans"/>
                <a:ea typeface="Open Sans"/>
                <a:cs typeface="Open Sans"/>
                <a:sym typeface="Open Sans"/>
              </a:rPr>
              <a:t>▇</a:t>
            </a:r>
            <a:r>
              <a:rPr lang="ja" sz="1200">
                <a:solidFill>
                  <a:srgbClr val="007DEA"/>
                </a:solidFill>
                <a:latin typeface="Open Sans"/>
                <a:ea typeface="Open Sans"/>
                <a:cs typeface="Open Sans"/>
                <a:sym typeface="Open Sans"/>
              </a:rPr>
              <a:t>▇</a:t>
            </a:r>
            <a:r>
              <a:rPr lang="ja" sz="1200">
                <a:solidFill>
                  <a:srgbClr val="7FD13B"/>
                </a:solidFill>
                <a:latin typeface="Open Sans"/>
                <a:ea typeface="Open Sans"/>
                <a:cs typeface="Open Sans"/>
                <a:sym typeface="Open Sans"/>
              </a:rPr>
              <a:t> </a:t>
            </a:r>
            <a:r>
              <a:rPr lang="ja" sz="1200">
                <a:solidFill>
                  <a:schemeClr val="dk1"/>
                </a:solidFill>
                <a:latin typeface="Open Sans"/>
                <a:ea typeface="Open Sans"/>
                <a:cs typeface="Open Sans"/>
                <a:sym typeface="Open Sans"/>
              </a:rPr>
              <a:t>The OpenChain project Japan work group / CC BY 4.0</a:t>
            </a:r>
            <a:r>
              <a:rPr lang="ja" sz="1200">
                <a:solidFill>
                  <a:srgbClr val="7FD13B"/>
                </a:solidFill>
                <a:latin typeface="Open Sans"/>
                <a:ea typeface="Open Sans"/>
                <a:cs typeface="Open Sans"/>
                <a:sym typeface="Open Sans"/>
              </a:rPr>
              <a:t> </a:t>
            </a:r>
            <a:endParaRPr sz="1200">
              <a:solidFill>
                <a:srgbClr val="A5A5A5"/>
              </a:solidFill>
              <a:latin typeface="Open Sans"/>
              <a:ea typeface="Open Sans"/>
              <a:cs typeface="Open Sans"/>
              <a:sym typeface="Open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ユーザー設定レイアウト">
  <p:cSld name="ユーザー設定レイアウト">
    <p:spTree>
      <p:nvGrpSpPr>
        <p:cNvPr id="1" name="Shape 21"/>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8_MiddlePage_1_white　CC0">
  <p:cSld name="8_MiddlePage_1_white">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432000" y="34524"/>
            <a:ext cx="8280000" cy="594300"/>
          </a:xfrm>
          <a:prstGeom prst="rect">
            <a:avLst/>
          </a:prstGeom>
          <a:noFill/>
          <a:ln>
            <a:noFill/>
          </a:ln>
        </p:spPr>
        <p:txBody>
          <a:bodyPr spcFirstLastPara="1" wrap="square" lIns="0" tIns="0" rIns="0" bIns="0" anchor="b" anchorCtr="0">
            <a:noAutofit/>
          </a:bodyPr>
          <a:lstStyle>
            <a:lvl1pPr marR="0" lvl="0" algn="l" rtl="0">
              <a:spcBef>
                <a:spcPts val="0"/>
              </a:spcBef>
              <a:spcAft>
                <a:spcPts val="0"/>
              </a:spcAft>
              <a:buSzPts val="1100"/>
              <a:buNone/>
              <a:defRPr sz="1800" b="0" i="0" u="none" strike="noStrike" cap="none">
                <a:solidFill>
                  <a:schemeClr val="dk1"/>
                </a:solidFill>
                <a:latin typeface="Tahoma"/>
                <a:ea typeface="Tahoma"/>
                <a:cs typeface="Tahoma"/>
                <a:sym typeface="Tahoma"/>
              </a:defRPr>
            </a:lvl1pPr>
            <a:lvl2pPr marR="0" lvl="1" algn="l" rtl="0">
              <a:spcBef>
                <a:spcPts val="0"/>
              </a:spcBef>
              <a:spcAft>
                <a:spcPts val="0"/>
              </a:spcAft>
              <a:buSzPts val="1100"/>
              <a:buNone/>
              <a:defRPr sz="1800" b="0" i="0" u="none" strike="noStrike" cap="none">
                <a:solidFill>
                  <a:schemeClr val="dk2"/>
                </a:solidFill>
                <a:latin typeface="Arial"/>
                <a:ea typeface="Arial"/>
                <a:cs typeface="Arial"/>
                <a:sym typeface="Arial"/>
              </a:defRPr>
            </a:lvl2pPr>
            <a:lvl3pPr marR="0" lvl="2" algn="l" rtl="0">
              <a:spcBef>
                <a:spcPts val="0"/>
              </a:spcBef>
              <a:spcAft>
                <a:spcPts val="0"/>
              </a:spcAft>
              <a:buSzPts val="1100"/>
              <a:buNone/>
              <a:defRPr sz="1800" b="0" i="0" u="none" strike="noStrike" cap="none">
                <a:solidFill>
                  <a:schemeClr val="dk2"/>
                </a:solidFill>
                <a:latin typeface="Arial"/>
                <a:ea typeface="Arial"/>
                <a:cs typeface="Arial"/>
                <a:sym typeface="Arial"/>
              </a:defRPr>
            </a:lvl3pPr>
            <a:lvl4pPr marR="0" lvl="3" algn="l" rtl="0">
              <a:spcBef>
                <a:spcPts val="0"/>
              </a:spcBef>
              <a:spcAft>
                <a:spcPts val="0"/>
              </a:spcAft>
              <a:buSzPts val="1100"/>
              <a:buNone/>
              <a:defRPr sz="1800" b="0" i="0" u="none" strike="noStrike" cap="none">
                <a:solidFill>
                  <a:schemeClr val="dk2"/>
                </a:solidFill>
                <a:latin typeface="Arial"/>
                <a:ea typeface="Arial"/>
                <a:cs typeface="Arial"/>
                <a:sym typeface="Arial"/>
              </a:defRPr>
            </a:lvl4pPr>
            <a:lvl5pPr marR="0" lvl="4" algn="l" rtl="0">
              <a:spcBef>
                <a:spcPts val="0"/>
              </a:spcBef>
              <a:spcAft>
                <a:spcPts val="0"/>
              </a:spcAft>
              <a:buSzPts val="1100"/>
              <a:buNone/>
              <a:defRPr sz="1800" b="0" i="0" u="none" strike="noStrike" cap="none">
                <a:solidFill>
                  <a:schemeClr val="dk2"/>
                </a:solidFill>
                <a:latin typeface="Arial"/>
                <a:ea typeface="Arial"/>
                <a:cs typeface="Arial"/>
                <a:sym typeface="Arial"/>
              </a:defRPr>
            </a:lvl5pPr>
            <a:lvl6pPr marR="0" lvl="5" algn="l" rtl="0">
              <a:spcBef>
                <a:spcPts val="0"/>
              </a:spcBef>
              <a:spcAft>
                <a:spcPts val="0"/>
              </a:spcAft>
              <a:buSzPts val="1100"/>
              <a:buNone/>
              <a:defRPr sz="2000" b="0" i="0" u="none" strike="noStrike" cap="none">
                <a:solidFill>
                  <a:schemeClr val="dk2"/>
                </a:solidFill>
                <a:latin typeface="Arial"/>
                <a:ea typeface="Arial"/>
                <a:cs typeface="Arial"/>
                <a:sym typeface="Arial"/>
              </a:defRPr>
            </a:lvl6pPr>
            <a:lvl7pPr marR="0" lvl="6" algn="l" rtl="0">
              <a:spcBef>
                <a:spcPts val="0"/>
              </a:spcBef>
              <a:spcAft>
                <a:spcPts val="0"/>
              </a:spcAft>
              <a:buSzPts val="1100"/>
              <a:buNone/>
              <a:defRPr sz="2000" b="0" i="0" u="none" strike="noStrike" cap="none">
                <a:solidFill>
                  <a:schemeClr val="dk2"/>
                </a:solidFill>
                <a:latin typeface="Arial"/>
                <a:ea typeface="Arial"/>
                <a:cs typeface="Arial"/>
                <a:sym typeface="Arial"/>
              </a:defRPr>
            </a:lvl7pPr>
            <a:lvl8pPr marR="0" lvl="7" algn="l" rtl="0">
              <a:spcBef>
                <a:spcPts val="0"/>
              </a:spcBef>
              <a:spcAft>
                <a:spcPts val="0"/>
              </a:spcAft>
              <a:buSzPts val="1100"/>
              <a:buNone/>
              <a:defRPr sz="2000" b="0" i="0" u="none" strike="noStrike" cap="none">
                <a:solidFill>
                  <a:schemeClr val="dk2"/>
                </a:solidFill>
                <a:latin typeface="Arial"/>
                <a:ea typeface="Arial"/>
                <a:cs typeface="Arial"/>
                <a:sym typeface="Arial"/>
              </a:defRPr>
            </a:lvl8pPr>
            <a:lvl9pPr marR="0" lvl="8" algn="l" rtl="0">
              <a:spcBef>
                <a:spcPts val="0"/>
              </a:spcBef>
              <a:spcAft>
                <a:spcPts val="0"/>
              </a:spcAft>
              <a:buSzPts val="1100"/>
              <a:buNone/>
              <a:defRPr sz="2000" b="0" i="0" u="none" strike="noStrike" cap="none">
                <a:solidFill>
                  <a:schemeClr val="dk2"/>
                </a:solidFill>
                <a:latin typeface="Arial"/>
                <a:ea typeface="Arial"/>
                <a:cs typeface="Arial"/>
                <a:sym typeface="Arial"/>
              </a:defRPr>
            </a:lvl9pPr>
          </a:lstStyle>
          <a:p>
            <a:endParaRPr/>
          </a:p>
        </p:txBody>
      </p:sp>
      <p:cxnSp>
        <p:nvCxnSpPr>
          <p:cNvPr id="24" name="Google Shape;24;p6"/>
          <p:cNvCxnSpPr/>
          <p:nvPr/>
        </p:nvCxnSpPr>
        <p:spPr>
          <a:xfrm>
            <a:off x="269860" y="681698"/>
            <a:ext cx="8635500" cy="0"/>
          </a:xfrm>
          <a:prstGeom prst="straightConnector1">
            <a:avLst/>
          </a:prstGeom>
          <a:noFill/>
          <a:ln w="9525" cap="flat" cmpd="sng">
            <a:solidFill>
              <a:srgbClr val="333333"/>
            </a:solidFill>
            <a:prstDash val="solid"/>
            <a:round/>
            <a:headEnd type="none" w="sm" len="sm"/>
            <a:tailEnd type="none" w="sm" len="sm"/>
          </a:ln>
        </p:spPr>
      </p:cxnSp>
      <p:sp>
        <p:nvSpPr>
          <p:cNvPr id="25" name="Google Shape;25;p6"/>
          <p:cNvSpPr/>
          <p:nvPr/>
        </p:nvSpPr>
        <p:spPr>
          <a:xfrm>
            <a:off x="8382000" y="4883214"/>
            <a:ext cx="108300" cy="108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ja" sz="900">
                <a:solidFill>
                  <a:srgbClr val="FFFFFF"/>
                </a:solidFill>
                <a:latin typeface="Quattrocento Sans"/>
                <a:ea typeface="Quattrocento Sans"/>
                <a:cs typeface="Quattrocento Sans"/>
                <a:sym typeface="Quattrocento Sans"/>
              </a:rPr>
              <a:t>CONFIDENTIAL</a:t>
            </a:r>
            <a:endParaRPr sz="1100"/>
          </a:p>
        </p:txBody>
      </p:sp>
      <p:sp>
        <p:nvSpPr>
          <p:cNvPr id="26" name="Google Shape;26;p6"/>
          <p:cNvSpPr txBox="1"/>
          <p:nvPr/>
        </p:nvSpPr>
        <p:spPr>
          <a:xfrm>
            <a:off x="161918" y="4806000"/>
            <a:ext cx="4857600" cy="270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fld id="{00000000-1234-1234-1234-123412341234}" type="slidenum">
              <a:rPr lang="ja" sz="1300" b="1">
                <a:solidFill>
                  <a:srgbClr val="7F7F7F"/>
                </a:solidFill>
                <a:latin typeface="Quattrocento Sans"/>
                <a:ea typeface="Quattrocento Sans"/>
                <a:cs typeface="Quattrocento Sans"/>
                <a:sym typeface="Quattrocento Sans"/>
              </a:rPr>
              <a:t>‹#›</a:t>
            </a:fld>
            <a:r>
              <a:rPr lang="ja" sz="1300" b="1">
                <a:solidFill>
                  <a:srgbClr val="7F7F7F"/>
                </a:solidFill>
                <a:latin typeface="Quattrocento Sans"/>
                <a:ea typeface="Quattrocento Sans"/>
                <a:cs typeface="Quattrocento Sans"/>
                <a:sym typeface="Quattrocento Sans"/>
              </a:rPr>
              <a:t>  </a:t>
            </a:r>
            <a:r>
              <a:rPr lang="ja" sz="1300">
                <a:solidFill>
                  <a:srgbClr val="7FD13B"/>
                </a:solidFill>
                <a:latin typeface="Open Sans"/>
                <a:ea typeface="Open Sans"/>
                <a:cs typeface="Open Sans"/>
                <a:sym typeface="Open Sans"/>
              </a:rPr>
              <a:t>▇</a:t>
            </a:r>
            <a:r>
              <a:rPr lang="ja" sz="1300">
                <a:solidFill>
                  <a:srgbClr val="EA157A"/>
                </a:solidFill>
                <a:latin typeface="Open Sans"/>
                <a:ea typeface="Open Sans"/>
                <a:cs typeface="Open Sans"/>
                <a:sym typeface="Open Sans"/>
              </a:rPr>
              <a:t>▇</a:t>
            </a:r>
            <a:r>
              <a:rPr lang="ja" sz="1300">
                <a:solidFill>
                  <a:srgbClr val="007DEA"/>
                </a:solidFill>
                <a:latin typeface="Open Sans"/>
                <a:ea typeface="Open Sans"/>
                <a:cs typeface="Open Sans"/>
                <a:sym typeface="Open Sans"/>
              </a:rPr>
              <a:t>▇</a:t>
            </a:r>
            <a:r>
              <a:rPr lang="ja" sz="1300">
                <a:solidFill>
                  <a:srgbClr val="7FD13B"/>
                </a:solidFill>
                <a:latin typeface="Open Sans"/>
                <a:ea typeface="Open Sans"/>
                <a:cs typeface="Open Sans"/>
                <a:sym typeface="Open Sans"/>
              </a:rPr>
              <a:t> </a:t>
            </a:r>
            <a:r>
              <a:rPr lang="ja" sz="1300">
                <a:solidFill>
                  <a:schemeClr val="dk1"/>
                </a:solidFill>
                <a:latin typeface="Open Sans"/>
                <a:ea typeface="Open Sans"/>
                <a:cs typeface="Open Sans"/>
                <a:sym typeface="Open Sans"/>
              </a:rPr>
              <a:t>The OpenChain project Japan work group / CC0-1.0</a:t>
            </a:r>
            <a:endParaRPr sz="1200">
              <a:solidFill>
                <a:srgbClr val="A5A5A5"/>
              </a:solidFill>
              <a:latin typeface="Open Sans"/>
              <a:ea typeface="Open Sans"/>
              <a:cs typeface="Open Sans"/>
              <a:sym typeface="Open Sans"/>
            </a:endParaRPr>
          </a:p>
        </p:txBody>
      </p:sp>
      <p:sp>
        <p:nvSpPr>
          <p:cNvPr id="27" name="Google Shape;27;p6"/>
          <p:cNvSpPr txBox="1">
            <a:spLocks noGrp="1"/>
          </p:cNvSpPr>
          <p:nvPr>
            <p:ph type="body" idx="1"/>
          </p:nvPr>
        </p:nvSpPr>
        <p:spPr>
          <a:xfrm>
            <a:off x="432000" y="792368"/>
            <a:ext cx="8280000" cy="3835800"/>
          </a:xfrm>
          <a:prstGeom prst="rect">
            <a:avLst/>
          </a:prstGeom>
          <a:noFill/>
          <a:ln>
            <a:noFill/>
          </a:ln>
        </p:spPr>
        <p:txBody>
          <a:bodyPr spcFirstLastPara="1" wrap="square" lIns="49625" tIns="24875" rIns="49625" bIns="24875" anchor="t" anchorCtr="0">
            <a:noAutofit/>
          </a:bodyPr>
          <a:lstStyle>
            <a:lvl1pPr marL="457200" marR="0" lvl="0" indent="-342900" algn="l">
              <a:spcBef>
                <a:spcPts val="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1pPr>
            <a:lvl2pPr marL="914400" marR="0" lvl="1" indent="-323850" algn="l">
              <a:spcBef>
                <a:spcPts val="0"/>
              </a:spcBef>
              <a:spcAft>
                <a:spcPts val="0"/>
              </a:spcAft>
              <a:buClr>
                <a:schemeClr val="dk1"/>
              </a:buClr>
              <a:buSzPts val="1500"/>
              <a:buFont typeface="Arial"/>
              <a:buChar char="•"/>
              <a:defRPr sz="1500" b="0" i="0" u="none" strike="noStrike" cap="none">
                <a:solidFill>
                  <a:schemeClr val="dk1"/>
                </a:solidFill>
                <a:latin typeface="Quattrocento Sans"/>
                <a:ea typeface="Quattrocento Sans"/>
                <a:cs typeface="Quattrocento Sans"/>
                <a:sym typeface="Quattrocento Sans"/>
              </a:defRPr>
            </a:lvl2pPr>
            <a:lvl3pPr marL="1371600" marR="0" lvl="2" indent="-304800" algn="l">
              <a:spcBef>
                <a:spcPts val="0"/>
              </a:spcBef>
              <a:spcAft>
                <a:spcPts val="0"/>
              </a:spcAft>
              <a:buClr>
                <a:schemeClr val="dk1"/>
              </a:buClr>
              <a:buSzPts val="1200"/>
              <a:buFont typeface="Arial"/>
              <a:buChar char="•"/>
              <a:defRPr sz="1200" b="0" i="0" u="none" strike="noStrike" cap="none">
                <a:solidFill>
                  <a:schemeClr val="dk1"/>
                </a:solidFill>
                <a:latin typeface="Quattrocento Sans"/>
                <a:ea typeface="Quattrocento Sans"/>
                <a:cs typeface="Quattrocento Sans"/>
                <a:sym typeface="Quattrocento Sans"/>
              </a:defRPr>
            </a:lvl3pPr>
            <a:lvl4pPr marL="1828800" marR="0" lvl="3" indent="-298450" algn="l">
              <a:spcBef>
                <a:spcPts val="0"/>
              </a:spcBef>
              <a:spcAft>
                <a:spcPts val="0"/>
              </a:spcAft>
              <a:buClr>
                <a:schemeClr val="dk1"/>
              </a:buClr>
              <a:buSzPts val="1100"/>
              <a:buFont typeface="Arial"/>
              <a:buChar char="•"/>
              <a:defRPr sz="1100" b="0" i="0" u="none" strike="noStrike" cap="none">
                <a:solidFill>
                  <a:schemeClr val="dk1"/>
                </a:solidFill>
                <a:latin typeface="Quattrocento Sans"/>
                <a:ea typeface="Quattrocento Sans"/>
                <a:cs typeface="Quattrocento Sans"/>
                <a:sym typeface="Quattrocento Sans"/>
              </a:defRPr>
            </a:lvl4pPr>
            <a:lvl5pPr marL="2286000" marR="0" lvl="4" indent="-298450" algn="l">
              <a:spcBef>
                <a:spcPts val="0"/>
              </a:spcBef>
              <a:spcAft>
                <a:spcPts val="0"/>
              </a:spcAft>
              <a:buClr>
                <a:schemeClr val="dk1"/>
              </a:buClr>
              <a:buSzPts val="1100"/>
              <a:buFont typeface="Arial"/>
              <a:buChar char="•"/>
              <a:defRPr sz="1100" b="0" i="0" u="none" strike="noStrike" cap="none">
                <a:solidFill>
                  <a:schemeClr val="dk1"/>
                </a:solidFill>
                <a:latin typeface="Quattrocento Sans"/>
                <a:ea typeface="Quattrocento Sans"/>
                <a:cs typeface="Quattrocento Sans"/>
                <a:sym typeface="Quattrocento Sans"/>
              </a:defRPr>
            </a:lvl5pPr>
            <a:lvl6pPr marL="2743200" marR="0" lvl="5" indent="-298450" algn="l">
              <a:spcBef>
                <a:spcPts val="200"/>
              </a:spcBef>
              <a:spcAft>
                <a:spcPts val="0"/>
              </a:spcAft>
              <a:buClr>
                <a:schemeClr val="dk1"/>
              </a:buClr>
              <a:buSzPts val="1100"/>
              <a:buFont typeface="Quattrocento Sans"/>
              <a:buChar char="»"/>
              <a:defRPr sz="1100" b="0" i="0" u="none" strike="noStrike" cap="none">
                <a:solidFill>
                  <a:schemeClr val="dk1"/>
                </a:solidFill>
                <a:latin typeface="Quattrocento Sans"/>
                <a:ea typeface="Quattrocento Sans"/>
                <a:cs typeface="Quattrocento Sans"/>
                <a:sym typeface="Quattrocento Sans"/>
              </a:defRPr>
            </a:lvl6pPr>
            <a:lvl7pPr marL="3200400" marR="0" lvl="6" indent="-298450" algn="l">
              <a:spcBef>
                <a:spcPts val="200"/>
              </a:spcBef>
              <a:spcAft>
                <a:spcPts val="0"/>
              </a:spcAft>
              <a:buClr>
                <a:schemeClr val="dk1"/>
              </a:buClr>
              <a:buSzPts val="1100"/>
              <a:buFont typeface="Quattrocento Sans"/>
              <a:buChar char="»"/>
              <a:defRPr sz="1100" b="0" i="0" u="none" strike="noStrike" cap="none">
                <a:solidFill>
                  <a:schemeClr val="dk1"/>
                </a:solidFill>
                <a:latin typeface="Quattrocento Sans"/>
                <a:ea typeface="Quattrocento Sans"/>
                <a:cs typeface="Quattrocento Sans"/>
                <a:sym typeface="Quattrocento Sans"/>
              </a:defRPr>
            </a:lvl7pPr>
            <a:lvl8pPr marL="3657600" marR="0" lvl="7" indent="-298450" algn="l">
              <a:spcBef>
                <a:spcPts val="200"/>
              </a:spcBef>
              <a:spcAft>
                <a:spcPts val="0"/>
              </a:spcAft>
              <a:buClr>
                <a:schemeClr val="dk1"/>
              </a:buClr>
              <a:buSzPts val="1100"/>
              <a:buFont typeface="Quattrocento Sans"/>
              <a:buChar char="»"/>
              <a:defRPr sz="1100" b="0" i="0" u="none" strike="noStrike" cap="none">
                <a:solidFill>
                  <a:schemeClr val="dk1"/>
                </a:solidFill>
                <a:latin typeface="Quattrocento Sans"/>
                <a:ea typeface="Quattrocento Sans"/>
                <a:cs typeface="Quattrocento Sans"/>
                <a:sym typeface="Quattrocento Sans"/>
              </a:defRPr>
            </a:lvl8pPr>
            <a:lvl9pPr marL="4114800" marR="0" lvl="8" indent="-298450" algn="l">
              <a:spcBef>
                <a:spcPts val="200"/>
              </a:spcBef>
              <a:spcAft>
                <a:spcPts val="0"/>
              </a:spcAft>
              <a:buClr>
                <a:schemeClr val="dk1"/>
              </a:buClr>
              <a:buSzPts val="1100"/>
              <a:buFont typeface="Quattrocento Sans"/>
              <a:buChar char="»"/>
              <a:defRPr sz="1100" b="0" i="0" u="none" strike="noStrike" cap="none">
                <a:solidFill>
                  <a:schemeClr val="dk1"/>
                </a:solidFill>
                <a:latin typeface="Quattrocento Sans"/>
                <a:ea typeface="Quattrocento Sans"/>
                <a:cs typeface="Quattrocento Sans"/>
                <a:sym typeface="Quattrocento Sans"/>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8"/>
        <p:cNvGrpSpPr/>
        <p:nvPr/>
      </p:nvGrpSpPr>
      <p:grpSpPr>
        <a:xfrm>
          <a:off x="0" y="0"/>
          <a:ext cx="0" cy="0"/>
          <a:chOff x="0" y="0"/>
          <a:chExt cx="0" cy="0"/>
        </a:xfrm>
      </p:grpSpPr>
      <p:sp>
        <p:nvSpPr>
          <p:cNvPr id="29" name="Google Shape;29;p7"/>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SzPts val="5200"/>
              <a:buChar char="●"/>
              <a:defRPr sz="5200"/>
            </a:lvl1pPr>
            <a:lvl2pPr lvl="1" algn="ctr" rtl="0">
              <a:spcBef>
                <a:spcPts val="0"/>
              </a:spcBef>
              <a:spcAft>
                <a:spcPts val="0"/>
              </a:spcAft>
              <a:buSzPts val="5200"/>
              <a:buChar char="○"/>
              <a:defRPr sz="5200"/>
            </a:lvl2pPr>
            <a:lvl3pPr lvl="2" algn="ctr" rtl="0">
              <a:spcBef>
                <a:spcPts val="0"/>
              </a:spcBef>
              <a:spcAft>
                <a:spcPts val="0"/>
              </a:spcAft>
              <a:buSzPts val="5200"/>
              <a:buChar char="■"/>
              <a:defRPr sz="5200"/>
            </a:lvl3pPr>
            <a:lvl4pPr lvl="3" algn="ctr" rtl="0">
              <a:spcBef>
                <a:spcPts val="0"/>
              </a:spcBef>
              <a:spcAft>
                <a:spcPts val="0"/>
              </a:spcAft>
              <a:buSzPts val="5200"/>
              <a:buChar char="●"/>
              <a:defRPr sz="5200"/>
            </a:lvl4pPr>
            <a:lvl5pPr lvl="4" algn="ctr" rtl="0">
              <a:spcBef>
                <a:spcPts val="0"/>
              </a:spcBef>
              <a:spcAft>
                <a:spcPts val="0"/>
              </a:spcAft>
              <a:buSzPts val="5200"/>
              <a:buChar char="○"/>
              <a:defRPr sz="5200"/>
            </a:lvl5pPr>
            <a:lvl6pPr lvl="5" algn="ctr" rtl="0">
              <a:spcBef>
                <a:spcPts val="0"/>
              </a:spcBef>
              <a:spcAft>
                <a:spcPts val="0"/>
              </a:spcAft>
              <a:buSzPts val="5200"/>
              <a:buChar char="■"/>
              <a:defRPr sz="5200"/>
            </a:lvl6pPr>
            <a:lvl7pPr lvl="6" algn="ctr" rtl="0">
              <a:spcBef>
                <a:spcPts val="0"/>
              </a:spcBef>
              <a:spcAft>
                <a:spcPts val="0"/>
              </a:spcAft>
              <a:buSzPts val="5200"/>
              <a:buChar char="●"/>
              <a:defRPr sz="5200"/>
            </a:lvl7pPr>
            <a:lvl8pPr lvl="7" algn="ctr" rtl="0">
              <a:spcBef>
                <a:spcPts val="0"/>
              </a:spcBef>
              <a:spcAft>
                <a:spcPts val="0"/>
              </a:spcAft>
              <a:buSzPts val="5200"/>
              <a:buChar char="○"/>
              <a:defRPr sz="5200"/>
            </a:lvl8pPr>
            <a:lvl9pPr lvl="8" algn="ctr" rtl="0">
              <a:spcBef>
                <a:spcPts val="0"/>
              </a:spcBef>
              <a:spcAft>
                <a:spcPts val="0"/>
              </a:spcAft>
              <a:buSzPts val="5200"/>
              <a:buChar char="■"/>
              <a:defRPr sz="5200"/>
            </a:lvl9pPr>
          </a:lstStyle>
          <a:p>
            <a:endParaRPr/>
          </a:p>
        </p:txBody>
      </p:sp>
      <p:sp>
        <p:nvSpPr>
          <p:cNvPr id="30" name="Google Shape;30;p7"/>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1400"/>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sp>
        <p:nvSpPr>
          <p:cNvPr id="34" name="Google Shape;34;p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ctr" anchorCtr="0">
            <a:noAutofit/>
          </a:bodyPr>
          <a:lstStyle>
            <a:lvl1pPr marL="457200" lvl="0" indent="-317500" rtl="0">
              <a:spcBef>
                <a:spcPts val="0"/>
              </a:spcBef>
              <a:spcAft>
                <a:spcPts val="0"/>
              </a:spcAft>
              <a:buSzPts val="14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35" name="Google Shape;35;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hyperlink" Target="https://www.linuxfoundation.jp/wp-content/uploads/2022/11/ja_LFR_LFAID_Deep_Dive_Open_Source_Program_Offices_0830.pdf"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hyperlink" Target="https://ospomindmap.todogroup.org/jp" TargetMode="External"/><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hyperlink" Target="https://ssaits.jp/promapedia/concepts/project-program-portfolio.html" TargetMode="External"/><Relationship Id="rId2" Type="http://schemas.openxmlformats.org/officeDocument/2006/relationships/notesSlide" Target="../notesSlides/notesSlide9.xml"/><Relationship Id="rId1" Type="http://schemas.openxmlformats.org/officeDocument/2006/relationships/slideLayout" Target="../slideLayouts/slideLayout5.xml"/><Relationship Id="rId5" Type="http://schemas.openxmlformats.org/officeDocument/2006/relationships/hyperlink" Target="https://ospoglossary.todogroup.org/ospo-definition/" TargetMode="External"/><Relationship Id="rId4" Type="http://schemas.openxmlformats.org/officeDocument/2006/relationships/hyperlink" Target="https://dictionary.cambridge.org/ja/dictionary/english/program"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5.xml"/><Relationship Id="rId4" Type="http://schemas.openxmlformats.org/officeDocument/2006/relationships/hyperlink" Target="https://www.linuxfoundation.jp/wp-content/uploads/2022/11/ja_LFR_LFAID_Deep_Dive_Open_Source_Program_Offices_0830.pdf"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sched.co/1OZJh" TargetMode="External"/><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hyperlink" Target="https://www.linuxfoundation.jp/publications/2022/11/a-deep-dive-into-open-source-program-offices/"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hyperlink" Target="https://www.linuxfoundation.jp/publications/2022/11/a-deep-dive-into-open-source-program-offices/" TargetMode="External"/><Relationship Id="rId2" Type="http://schemas.openxmlformats.org/officeDocument/2006/relationships/notesSlide" Target="../notesSlides/notesSlide25.xml"/><Relationship Id="rId1" Type="http://schemas.openxmlformats.org/officeDocument/2006/relationships/slideLayout" Target="../slideLayouts/slideLayout5.xml"/><Relationship Id="rId4" Type="http://schemas.openxmlformats.org/officeDocument/2006/relationships/hyperlink" Target="https://www.linuxfoundation.jp/wp-content/uploads/2022/11/ja_LFR_LFAID_Deep_Dive_Open_Source_Program_Offices_0830.pdf" TargetMode="External"/></Relationships>
</file>

<file path=ppt/slides/_rels/slide26.xml.rels><?xml version="1.0" encoding="UTF-8" standalone="yes"?>
<Relationships xmlns="http://schemas.openxmlformats.org/package/2006/relationships"><Relationship Id="rId3" Type="http://schemas.openxmlformats.org/officeDocument/2006/relationships/hyperlink" Target="https://www.linuxfoundation.jp/publications/2022/11/a-deep-dive-into-open-source-program-offices/" TargetMode="External"/><Relationship Id="rId2" Type="http://schemas.openxmlformats.org/officeDocument/2006/relationships/notesSlide" Target="../notesSlides/notesSlide26.xml"/><Relationship Id="rId1" Type="http://schemas.openxmlformats.org/officeDocument/2006/relationships/slideLayout" Target="../slideLayouts/slideLayout5.xml"/><Relationship Id="rId4" Type="http://schemas.openxmlformats.org/officeDocument/2006/relationships/hyperlink" Target="https://www.linuxfoundation.jp/wp-content/uploads/2022/11/ja_LFR_LFAID_Deep_Dive_Open_Source_Program_Offices_0830.pdf" TargetMode="External"/></Relationships>
</file>

<file path=ppt/slides/_rels/slide27.xml.rels><?xml version="1.0" encoding="UTF-8" standalone="yes"?>
<Relationships xmlns="http://schemas.openxmlformats.org/package/2006/relationships"><Relationship Id="rId3" Type="http://schemas.openxmlformats.org/officeDocument/2006/relationships/hyperlink" Target="https://www.linuxfoundation.jp/publications/2022/11/a-deep-dive-into-open-source-program-offices/" TargetMode="External"/><Relationship Id="rId2" Type="http://schemas.openxmlformats.org/officeDocument/2006/relationships/notesSlide" Target="../notesSlides/notesSlide27.xml"/><Relationship Id="rId1" Type="http://schemas.openxmlformats.org/officeDocument/2006/relationships/slideLayout" Target="../slideLayouts/slideLayout5.xml"/><Relationship Id="rId4" Type="http://schemas.openxmlformats.org/officeDocument/2006/relationships/hyperlink" Target="https://www.linuxfoundation.jp/wp-content/uploads/2022/11/ja_LFR_LFAID_Deep_Dive_Open_Source_Program_Offices_0830.pdf" TargetMode="External"/></Relationships>
</file>

<file path=ppt/slides/_rels/slide28.xml.rels><?xml version="1.0" encoding="UTF-8" standalone="yes"?>
<Relationships xmlns="http://schemas.openxmlformats.org/package/2006/relationships"><Relationship Id="rId3" Type="http://schemas.openxmlformats.org/officeDocument/2006/relationships/hyperlink" Target="https://www.linuxfoundation.jp/publications/2022/11/a-deep-dive-into-open-source-program-offices/" TargetMode="External"/><Relationship Id="rId2" Type="http://schemas.openxmlformats.org/officeDocument/2006/relationships/notesSlide" Target="../notesSlides/notesSlide28.xml"/><Relationship Id="rId1" Type="http://schemas.openxmlformats.org/officeDocument/2006/relationships/slideLayout" Target="../slideLayouts/slideLayout5.xml"/><Relationship Id="rId4" Type="http://schemas.openxmlformats.org/officeDocument/2006/relationships/hyperlink" Target="https://www.linuxfoundation.jp/wp-content/uploads/2022/11/ja_LFR_LFAID_Deep_Dive_Open_Source_Program_Offices_0830.pdf" TargetMode="External"/></Relationships>
</file>

<file path=ppt/slides/_rels/slide29.xml.rels><?xml version="1.0" encoding="UTF-8" standalone="yes"?>
<Relationships xmlns="http://schemas.openxmlformats.org/package/2006/relationships"><Relationship Id="rId8" Type="http://schemas.openxmlformats.org/officeDocument/2006/relationships/hyperlink" Target="https://www.linuxfoundation.jp/wp-content/uploads/2022/08/LFResearch_OSPO_Report-jp.pdf" TargetMode="External"/><Relationship Id="rId3" Type="http://schemas.openxmlformats.org/officeDocument/2006/relationships/hyperlink" Target="https://www.linuxfoundation.org/research/a-deep-dive-into-open-source-program-offices" TargetMode="External"/><Relationship Id="rId7" Type="http://schemas.openxmlformats.org/officeDocument/2006/relationships/hyperlink" Target="https://github.com/todogroup/ospo-career-path/tree/main/OSPO-101" TargetMode="External"/><Relationship Id="rId2" Type="http://schemas.openxmlformats.org/officeDocument/2006/relationships/notesSlide" Target="../notesSlides/notesSlide29.xml"/><Relationship Id="rId1" Type="http://schemas.openxmlformats.org/officeDocument/2006/relationships/slideLayout" Target="../slideLayouts/slideLayout7.xml"/><Relationship Id="rId6" Type="http://schemas.openxmlformats.org/officeDocument/2006/relationships/hyperlink" Target="https://www.linuxfoundation.jp/resources/open-source-guides/creating-an-open-source-program/" TargetMode="External"/><Relationship Id="rId5" Type="http://schemas.openxmlformats.org/officeDocument/2006/relationships/hyperlink" Target="https://www.linuxfoundation.org/resources/open-source-guides/creating-an-open-source-program?hsLang=en" TargetMode="External"/><Relationship Id="rId4" Type="http://schemas.openxmlformats.org/officeDocument/2006/relationships/hyperlink" Target="https://www.linuxfoundation.jp/blog/2022/11/japanese-version-of-a-deep-dive-into-open-source-program-offices-launch/" TargetMode="External"/><Relationship Id="rId9" Type="http://schemas.openxmlformats.org/officeDocument/2006/relationships/comments" Target="../comments/comment1.xml"/></Relationships>
</file>

<file path=ppt/slides/_rels/slide3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30.xml"/><Relationship Id="rId1" Type="http://schemas.openxmlformats.org/officeDocument/2006/relationships/slideLayout" Target="../slideLayouts/slideLayout5.xml"/><Relationship Id="rId4" Type="http://schemas.openxmlformats.org/officeDocument/2006/relationships/comments" Target="../comments/commen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5.xml"/><Relationship Id="rId4" Type="http://schemas.openxmlformats.org/officeDocument/2006/relationships/hyperlink" Target="https://www.linuxfoundation.jp/wp-content/uploads/2022/11/ja_LFR_LFAID_Deep_Dive_Open_Source_Program_Offices_0830.pdf" TargetMode="Externa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5.xml"/><Relationship Id="rId4" Type="http://schemas.openxmlformats.org/officeDocument/2006/relationships/hyperlink" Target="https://www.linuxfoundation.jp/wp-content/uploads/2022/11/ja_LFR_LFAID_Deep_Dive_Open_Source_Program_Offices_0830.pdf" TargetMode="Externa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5.xml"/><Relationship Id="rId4" Type="http://schemas.openxmlformats.org/officeDocument/2006/relationships/hyperlink" Target="https://www.linuxfoundation.jp/wp-content/uploads/2022/11/ja_LFR_LFAID_Deep_Dive_Open_Source_Program_Offices_0830.pdf" TargetMode="Externa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5.xml"/><Relationship Id="rId4" Type="http://schemas.openxmlformats.org/officeDocument/2006/relationships/hyperlink" Target="https://www.linuxfoundation.jp/wp-content/uploads/2022/11/ja_LFR_LFAID_Deep_Dive_Open_Source_Program_Offices_0830.pdf" TargetMode="Externa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5.xml"/><Relationship Id="rId4" Type="http://schemas.openxmlformats.org/officeDocument/2006/relationships/hyperlink" Target="https://www.linuxfoundation.jp/wp-content/uploads/2022/11/ja_LFR_LFAID_Deep_Dive_Open_Source_Program_Offices_0830.pdf" TargetMode="Externa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5.xml"/><Relationship Id="rId4" Type="http://schemas.openxmlformats.org/officeDocument/2006/relationships/hyperlink" Target="https://www.linuxfoundation.jp/wp-content/uploads/2022/11/ja_LFR_LFAID_Deep_Dive_Open_Source_Program_Offices_0830.pdf" TargetMode="Externa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5.xml"/><Relationship Id="rId4" Type="http://schemas.openxmlformats.org/officeDocument/2006/relationships/hyperlink" Target="https://www.linuxfoundation.jp/wp-content/uploads/2022/11/ja_LFR_LFAID_Deep_Dive_Open_Source_Program_Offices_0830.pdf" TargetMode="Externa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5.xml"/><Relationship Id="rId4" Type="http://schemas.openxmlformats.org/officeDocument/2006/relationships/hyperlink" Target="https://www.linuxfoundation.jp/wp-content/uploads/2022/11/ja_LFR_LFAID_Deep_Dive_Open_Source_Program_Offices_0830.pdf" TargetMode="Externa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5.xml"/><Relationship Id="rId4" Type="http://schemas.openxmlformats.org/officeDocument/2006/relationships/hyperlink" Target="https://www.linuxfoundation.jp/wp-content/uploads/2022/11/ja_LFR_LFAID_Deep_Dive_Open_Source_Program_Offices_0830.pdf" TargetMode="Externa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5.xml"/><Relationship Id="rId4" Type="http://schemas.openxmlformats.org/officeDocument/2006/relationships/hyperlink" Target="https://www.linuxfoundation.jp/wp-content/uploads/2022/11/ja_LFR_LFAID_Deep_Dive_Open_Source_Program_Offices_0830.pdf" TargetMode="Externa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hyperlink" Target="https://www.linuxfoundation.jp/resources/open-source-guides/" TargetMode="External"/><Relationship Id="rId2" Type="http://schemas.openxmlformats.org/officeDocument/2006/relationships/notesSlide" Target="../notesSlides/notesSlide44.xml"/><Relationship Id="rId1" Type="http://schemas.openxmlformats.org/officeDocument/2006/relationships/slideLayout" Target="../slideLayouts/slideLayout3.xml"/><Relationship Id="rId5" Type="http://schemas.openxmlformats.org/officeDocument/2006/relationships/hyperlink" Target="https://www.intel.com/content/www/us/en/developer/articles/community/how-intel-supports-open-source-from-the-inside-out.html" TargetMode="External"/><Relationship Id="rId4" Type="http://schemas.openxmlformats.org/officeDocument/2006/relationships/hyperlink" Target="https://static.sched.com/hosted_files/ossna2024/05/QuantitativeMethodContributionValue-KS_MK_202404.pdf" TargetMode="Externa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hyperlink" Target="https://note.com/hal_sk/n/nd992ea322c78" TargetMode="External"/><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hyperlink" Target="https://osseu2023.sched.com/event/1OZJh/workshop-building-and-managing-an-open-source-program-office-ibrahim-haddad-the-linux-foundation" TargetMode="External"/><Relationship Id="rId2" Type="http://schemas.openxmlformats.org/officeDocument/2006/relationships/notesSlide" Target="../notesSlides/notesSlide49.xml"/><Relationship Id="rId1" Type="http://schemas.openxmlformats.org/officeDocument/2006/relationships/slideLayout" Target="../slideLayouts/slideLayout5.xml"/><Relationship Id="rId4" Type="http://schemas.openxmlformats.org/officeDocument/2006/relationships/hyperlink" Target="https://techcrunchjapan.com/2012/04/28/20120427i-would-like-to-work-at-red-hat/" TargetMode="External"/></Relationships>
</file>

<file path=ppt/slides/_rels/slide50.xml.rels><?xml version="1.0" encoding="UTF-8" standalone="yes"?>
<Relationships xmlns="http://schemas.openxmlformats.org/package/2006/relationships"><Relationship Id="rId3" Type="http://schemas.openxmlformats.org/officeDocument/2006/relationships/hyperlink" Target="https://gigazine.net/news/20241110-open-source-maker-taker-problem/" TargetMode="External"/><Relationship Id="rId2" Type="http://schemas.openxmlformats.org/officeDocument/2006/relationships/notesSlide" Target="../notesSlides/notesSlide50.xml"/><Relationship Id="rId1" Type="http://schemas.openxmlformats.org/officeDocument/2006/relationships/slideLayout" Target="../slideLayouts/slideLayout5.xml"/><Relationship Id="rId5" Type="http://schemas.openxmlformats.org/officeDocument/2006/relationships/hyperlink" Target="https://static.sched.com/hosted_files/osseu2024/bf/GroupWideActivitiesAcrossDiverseEntities-KS_MK_202409.pdf" TargetMode="External"/><Relationship Id="rId4" Type="http://schemas.openxmlformats.org/officeDocument/2006/relationships/hyperlink" Target="https://thenewstack.io/what-comes-after-open-source-bruce-perens-has-some-ideas/" TargetMode="Externa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hyperlink" Target="https://www.linuxfoundation.jp/wp-content/uploads/2025/01/OSPO_2024-111524_FINAL_jp-2.pdf" TargetMode="External"/><Relationship Id="rId2" Type="http://schemas.openxmlformats.org/officeDocument/2006/relationships/notesSlide" Target="../notesSlides/notesSlide52.xml"/><Relationship Id="rId1" Type="http://schemas.openxmlformats.org/officeDocument/2006/relationships/slideLayout" Target="../slideLayouts/slideLayout5.xml"/><Relationship Id="rId4" Type="http://schemas.openxmlformats.org/officeDocument/2006/relationships/hyperlink" Target="https://www.blackduck.com/resources/analyst-reports/open-source-security-risk-analysis.html" TargetMode="External"/></Relationships>
</file>

<file path=ppt/slides/_rels/slide53.xml.rels><?xml version="1.0" encoding="UTF-8" standalone="yes"?>
<Relationships xmlns="http://schemas.openxmlformats.org/package/2006/relationships"><Relationship Id="rId3" Type="http://schemas.openxmlformats.org/officeDocument/2006/relationships/comments" Target="../comments/comment3.xml"/><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3" Type="http://schemas.openxmlformats.org/officeDocument/2006/relationships/comments" Target="../comments/comment4.xml"/><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3" Type="http://schemas.openxmlformats.org/officeDocument/2006/relationships/hyperlink" Target="https://lf-automotivelinux.atlassian.net/wiki/spaces/OSPO/pages/397082627/Publications#OSS-%26-OSPO-Promotion-Slides-for-Automotive-Companies" TargetMode="External"/><Relationship Id="rId2" Type="http://schemas.openxmlformats.org/officeDocument/2006/relationships/notesSlide" Target="../notesSlides/notesSlide57.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3" Type="http://schemas.openxmlformats.org/officeDocument/2006/relationships/comments" Target="../comments/comment5.xml"/><Relationship Id="rId2" Type="http://schemas.openxmlformats.org/officeDocument/2006/relationships/notesSlide" Target="../notesSlides/notesSlide58.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3" Type="http://schemas.openxmlformats.org/officeDocument/2006/relationships/hyperlink" Target="https://ja.wikipedia.org/wiki/%E7%BE%A4%E7%9B%B2%E8%B1%A1%E3%82%92%E8%A9%95%E3%81%99" TargetMode="External"/><Relationship Id="rId2" Type="http://schemas.openxmlformats.org/officeDocument/2006/relationships/notesSlide" Target="../notesSlides/notesSlide60.xml"/><Relationship Id="rId1" Type="http://schemas.openxmlformats.org/officeDocument/2006/relationships/slideLayout" Target="../slideLayouts/slideLayout5.xml"/><Relationship Id="rId4" Type="http://schemas.openxmlformats.org/officeDocument/2006/relationships/hyperlink" Target="https://en.wikipedia.org/wiki/Blind_men_and_an_elephant" TargetMode="Externa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4.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9"/>
        <p:cNvGrpSpPr/>
        <p:nvPr/>
      </p:nvGrpSpPr>
      <p:grpSpPr>
        <a:xfrm>
          <a:off x="0" y="0"/>
          <a:ext cx="0" cy="0"/>
          <a:chOff x="0" y="0"/>
          <a:chExt cx="0" cy="0"/>
        </a:xfrm>
      </p:grpSpPr>
      <p:sp>
        <p:nvSpPr>
          <p:cNvPr id="40" name="Google Shape;40;p9"/>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a:t>Qx</a:t>
            </a:r>
            <a:endParaRPr/>
          </a:p>
        </p:txBody>
      </p:sp>
      <p:sp>
        <p:nvSpPr>
          <p:cNvPr id="41" name="Google Shape;41;p9"/>
          <p:cNvSpPr txBox="1"/>
          <p:nvPr/>
        </p:nvSpPr>
        <p:spPr>
          <a:xfrm>
            <a:off x="432000" y="990300"/>
            <a:ext cx="8280000" cy="400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ja"/>
              <a:t>Q: </a:t>
            </a:r>
            <a:r>
              <a:rPr lang="ja">
                <a:solidFill>
                  <a:schemeClr val="dk1"/>
                </a:solidFill>
              </a:rPr>
              <a:t>OSSの扱いに気を付けなくてはいけないのはなぜですか？</a:t>
            </a:r>
            <a:endParaRPr/>
          </a:p>
        </p:txBody>
      </p:sp>
      <p:sp>
        <p:nvSpPr>
          <p:cNvPr id="42" name="Google Shape;42;p9"/>
          <p:cNvSpPr txBox="1"/>
          <p:nvPr/>
        </p:nvSpPr>
        <p:spPr>
          <a:xfrm>
            <a:off x="432000" y="1568425"/>
            <a:ext cx="8280000" cy="30870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rmAutofit fontScale="70000" lnSpcReduction="20000"/>
          </a:bodyPr>
          <a:lstStyle/>
          <a:p>
            <a:pPr marL="0" lvl="0" indent="0" algn="l" rtl="0">
              <a:spcBef>
                <a:spcPts val="0"/>
              </a:spcBef>
              <a:spcAft>
                <a:spcPts val="0"/>
              </a:spcAft>
              <a:buNone/>
            </a:pPr>
            <a:r>
              <a:rPr lang="ja"/>
              <a:t>A:  </a:t>
            </a:r>
            <a:endParaRPr/>
          </a:p>
          <a:p>
            <a:pPr marL="457200" lvl="0" indent="-290830" algn="l" rtl="0">
              <a:spcBef>
                <a:spcPts val="0"/>
              </a:spcBef>
              <a:spcAft>
                <a:spcPts val="0"/>
              </a:spcAft>
              <a:buSzPct val="100000"/>
              <a:buChar char="●"/>
            </a:pPr>
            <a:r>
              <a:rPr lang="ja"/>
              <a:t>ライセンス面</a:t>
            </a:r>
            <a:endParaRPr/>
          </a:p>
          <a:p>
            <a:pPr marL="914400" lvl="1" indent="-290830" algn="l" rtl="0">
              <a:spcBef>
                <a:spcPts val="0"/>
              </a:spcBef>
              <a:spcAft>
                <a:spcPts val="0"/>
              </a:spcAft>
              <a:buSzPct val="100000"/>
              <a:buChar char="○"/>
            </a:pPr>
            <a:r>
              <a:rPr lang="ja"/>
              <a:t>ソフトウェアは著作権、ライセンスによって守られている</a:t>
            </a:r>
            <a:endParaRPr/>
          </a:p>
          <a:p>
            <a:pPr marL="1371600" lvl="2" indent="-290830" algn="l" rtl="0">
              <a:spcBef>
                <a:spcPts val="0"/>
              </a:spcBef>
              <a:spcAft>
                <a:spcPts val="0"/>
              </a:spcAft>
              <a:buSzPct val="100000"/>
              <a:buChar char="■"/>
            </a:pPr>
            <a:r>
              <a:rPr lang="ja"/>
              <a:t>ライセンスに従わないといけない</a:t>
            </a:r>
            <a:endParaRPr/>
          </a:p>
          <a:p>
            <a:pPr marL="1828800" lvl="3" indent="-290830" algn="l" rtl="0">
              <a:spcBef>
                <a:spcPts val="0"/>
              </a:spcBef>
              <a:spcAft>
                <a:spcPts val="0"/>
              </a:spcAft>
              <a:buSzPct val="100000"/>
              <a:buChar char="●"/>
            </a:pPr>
            <a:r>
              <a:rPr lang="ja"/>
              <a:t>著作者に対するリスペクトが必要</a:t>
            </a:r>
            <a:endParaRPr/>
          </a:p>
          <a:p>
            <a:pPr marL="1371600" lvl="2" indent="-290830" algn="l" rtl="0">
              <a:spcBef>
                <a:spcPts val="0"/>
              </a:spcBef>
              <a:spcAft>
                <a:spcPts val="0"/>
              </a:spcAft>
              <a:buSzPct val="100000"/>
              <a:buChar char="■"/>
            </a:pPr>
            <a:r>
              <a:rPr lang="ja"/>
              <a:t>ライセンス違反による裁判事例がある</a:t>
            </a:r>
            <a:endParaRPr/>
          </a:p>
          <a:p>
            <a:pPr marL="914400" lvl="1" indent="-290830" algn="l" rtl="0">
              <a:spcBef>
                <a:spcPts val="0"/>
              </a:spcBef>
              <a:spcAft>
                <a:spcPts val="0"/>
              </a:spcAft>
              <a:buSzPct val="100000"/>
              <a:buChar char="○"/>
            </a:pPr>
            <a:r>
              <a:rPr lang="ja"/>
              <a:t>OSSは特に契約等の手順を踏まなくても手に入れて、使うことができてしまう</a:t>
            </a:r>
            <a:endParaRPr/>
          </a:p>
          <a:p>
            <a:pPr marL="1371600" lvl="2" indent="-290830" algn="l" rtl="0">
              <a:spcBef>
                <a:spcPts val="0"/>
              </a:spcBef>
              <a:spcAft>
                <a:spcPts val="0"/>
              </a:spcAft>
              <a:buSzPct val="100000"/>
              <a:buChar char="■"/>
            </a:pPr>
            <a:r>
              <a:rPr lang="ja"/>
              <a:t>普通だったら、契約等の手順でライセンス条件等を確認するが、OSSはそれをしないで使ってしまうことがある</a:t>
            </a:r>
            <a:endParaRPr/>
          </a:p>
          <a:p>
            <a:pPr marL="1371600" lvl="2" indent="-290830" algn="l" rtl="0">
              <a:spcBef>
                <a:spcPts val="0"/>
              </a:spcBef>
              <a:spcAft>
                <a:spcPts val="0"/>
              </a:spcAft>
              <a:buSzPct val="100000"/>
              <a:buChar char="■"/>
            </a:pPr>
            <a:r>
              <a:rPr lang="ja"/>
              <a:t>草の根的に導入されて、管理できなくなる</a:t>
            </a:r>
            <a:endParaRPr/>
          </a:p>
          <a:p>
            <a:pPr marL="914400" lvl="1" indent="-290830" algn="l" rtl="0">
              <a:spcBef>
                <a:spcPts val="0"/>
              </a:spcBef>
              <a:spcAft>
                <a:spcPts val="0"/>
              </a:spcAft>
              <a:buSzPct val="100000"/>
              <a:buChar char="○"/>
            </a:pPr>
            <a:r>
              <a:rPr lang="ja"/>
              <a:t>OSSは依存関係で勝手に入ってくるものがある</a:t>
            </a:r>
            <a:endParaRPr/>
          </a:p>
          <a:p>
            <a:pPr marL="1371600" lvl="2" indent="-290830" algn="l" rtl="0">
              <a:spcBef>
                <a:spcPts val="0"/>
              </a:spcBef>
              <a:spcAft>
                <a:spcPts val="0"/>
              </a:spcAft>
              <a:buSzPct val="100000"/>
              <a:buChar char="■"/>
            </a:pPr>
            <a:r>
              <a:rPr lang="ja"/>
              <a:t>自分で使っていることを認識できていないものがある</a:t>
            </a:r>
            <a:endParaRPr/>
          </a:p>
          <a:p>
            <a:pPr marL="914400" lvl="1" indent="-290830" algn="l" rtl="0">
              <a:spcBef>
                <a:spcPts val="0"/>
              </a:spcBef>
              <a:spcAft>
                <a:spcPts val="0"/>
              </a:spcAft>
              <a:buSzPct val="100000"/>
              <a:buChar char="○"/>
            </a:pPr>
            <a:r>
              <a:rPr lang="ja"/>
              <a:t>FreewareとOSSの違い（フリーソフト）を理解し利用条件に従って扱わなくてはいけない</a:t>
            </a:r>
            <a:endParaRPr/>
          </a:p>
          <a:p>
            <a:pPr marL="1371600" lvl="2" indent="-290830" algn="l" rtl="0">
              <a:spcBef>
                <a:spcPts val="0"/>
              </a:spcBef>
              <a:spcAft>
                <a:spcPts val="0"/>
              </a:spcAft>
              <a:buSzPct val="100000"/>
              <a:buChar char="■"/>
            </a:pPr>
            <a:r>
              <a:rPr lang="ja"/>
              <a:t>判断に迷う場合が多い→ここでOSPOが必要になってくる</a:t>
            </a:r>
            <a:endParaRPr/>
          </a:p>
          <a:p>
            <a:pPr marL="457200" lvl="0" indent="-290830" algn="l" rtl="0">
              <a:spcBef>
                <a:spcPts val="0"/>
              </a:spcBef>
              <a:spcAft>
                <a:spcPts val="0"/>
              </a:spcAft>
              <a:buSzPct val="100000"/>
              <a:buChar char="●"/>
            </a:pPr>
            <a:r>
              <a:rPr lang="ja"/>
              <a:t>安心して利用</a:t>
            </a:r>
            <a:endParaRPr/>
          </a:p>
          <a:p>
            <a:pPr marL="914400" lvl="1" indent="-290830" algn="l" rtl="0">
              <a:spcBef>
                <a:spcPts val="0"/>
              </a:spcBef>
              <a:spcAft>
                <a:spcPts val="0"/>
              </a:spcAft>
              <a:buSzPct val="100000"/>
              <a:buChar char="○"/>
            </a:pPr>
            <a:r>
              <a:rPr lang="ja"/>
              <a:t>セキュリティ（脆弱性）</a:t>
            </a:r>
            <a:endParaRPr/>
          </a:p>
          <a:p>
            <a:pPr marL="1371600" lvl="2" indent="-290830" algn="l" rtl="0">
              <a:spcBef>
                <a:spcPts val="0"/>
              </a:spcBef>
              <a:spcAft>
                <a:spcPts val="0"/>
              </a:spcAft>
              <a:buSzPct val="100000"/>
              <a:buChar char="■"/>
            </a:pPr>
            <a:r>
              <a:rPr lang="ja"/>
              <a:t>導入した後に問題が発見されて、対応が必要になる。その時に何を使っているかを把握していないと対応が遅れる・できなくなる</a:t>
            </a:r>
            <a:endParaRPr/>
          </a:p>
          <a:p>
            <a:pPr marL="1371600" lvl="2" indent="-290830" algn="l" rtl="0">
              <a:spcBef>
                <a:spcPts val="0"/>
              </a:spcBef>
              <a:spcAft>
                <a:spcPts val="0"/>
              </a:spcAft>
              <a:buSzPct val="100000"/>
              <a:buChar char="■"/>
            </a:pPr>
            <a:r>
              <a:rPr lang="ja"/>
              <a:t>広く使われている/ソースが公開されているため攻撃側がやりやすい</a:t>
            </a:r>
            <a:endParaRPr/>
          </a:p>
          <a:p>
            <a:pPr marL="1828800" lvl="3" indent="-290830" algn="l" rtl="0">
              <a:spcBef>
                <a:spcPts val="0"/>
              </a:spcBef>
              <a:spcAft>
                <a:spcPts val="0"/>
              </a:spcAft>
              <a:buSzPct val="100000"/>
              <a:buChar char="●"/>
            </a:pPr>
            <a:r>
              <a:rPr lang="ja"/>
              <a:t>一方で開発者・利用者が多いので、対策が早い</a:t>
            </a:r>
            <a:endParaRPr/>
          </a:p>
          <a:p>
            <a:pPr marL="914400" lvl="1" indent="-290830" algn="l" rtl="0">
              <a:spcBef>
                <a:spcPts val="0"/>
              </a:spcBef>
              <a:spcAft>
                <a:spcPts val="0"/>
              </a:spcAft>
              <a:buSzPct val="100000"/>
              <a:buChar char="○"/>
            </a:pPr>
            <a:r>
              <a:rPr lang="ja"/>
              <a:t>OSSを安心して使う</a:t>
            </a:r>
            <a:endParaRPr/>
          </a:p>
          <a:p>
            <a:pPr marL="1371600" lvl="2" indent="-290830" algn="l" rtl="0">
              <a:spcBef>
                <a:spcPts val="0"/>
              </a:spcBef>
              <a:spcAft>
                <a:spcPts val="0"/>
              </a:spcAft>
              <a:buSzPct val="100000"/>
              <a:buChar char="■"/>
            </a:pPr>
            <a:r>
              <a:rPr lang="ja"/>
              <a:t>コミュニティの状態によって左右される</a:t>
            </a:r>
            <a:endParaRPr/>
          </a:p>
          <a:p>
            <a:pPr marL="1371600" lvl="2" indent="-290830" algn="l" rtl="0">
              <a:spcBef>
                <a:spcPts val="0"/>
              </a:spcBef>
              <a:spcAft>
                <a:spcPts val="0"/>
              </a:spcAft>
              <a:buSzPct val="100000"/>
              <a:buChar char="■"/>
            </a:pPr>
            <a:r>
              <a:rPr lang="ja"/>
              <a:t>コミュニティに貢献・参加することで、安心状態を保つ</a:t>
            </a:r>
            <a:endParaRPr/>
          </a:p>
          <a:p>
            <a:pPr marL="457200" lvl="0" indent="-290830" algn="l" rtl="0">
              <a:spcBef>
                <a:spcPts val="0"/>
              </a:spcBef>
              <a:spcAft>
                <a:spcPts val="0"/>
              </a:spcAft>
              <a:buSzPct val="100000"/>
              <a:buChar char="●"/>
            </a:pPr>
            <a:r>
              <a:rPr lang="ja"/>
              <a:t>　</a:t>
            </a:r>
            <a:endParaRPr/>
          </a:p>
          <a:p>
            <a:pPr marL="457200" lvl="0" indent="-290830" algn="l" rtl="0">
              <a:spcBef>
                <a:spcPts val="0"/>
              </a:spcBef>
              <a:spcAft>
                <a:spcPts val="0"/>
              </a:spcAft>
              <a:buSzPct val="100000"/>
              <a:buChar char="●"/>
            </a:pPr>
            <a:r>
              <a:rPr lang="ja"/>
              <a:t>注）初期段階の質問との想定</a:t>
            </a:r>
            <a:endParaRPr/>
          </a:p>
        </p:txBody>
      </p:sp>
      <p:sp>
        <p:nvSpPr>
          <p:cNvPr id="43" name="Google Shape;43;p9"/>
          <p:cNvSpPr/>
          <p:nvPr/>
        </p:nvSpPr>
        <p:spPr>
          <a:xfrm>
            <a:off x="7307150" y="345875"/>
            <a:ext cx="1353900" cy="466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ja"/>
              <a:t>ひとまず完了</a:t>
            </a:r>
            <a:endParaRPr/>
          </a:p>
        </p:txBody>
      </p:sp>
      <p:sp>
        <p:nvSpPr>
          <p:cNvPr id="44" name="Google Shape;44;p9"/>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0" lvl="0" indent="0" algn="l"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49" name="Google Shape;49;p10"/>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endParaRPr/>
          </a:p>
        </p:txBody>
      </p:sp>
      <p:sp>
        <p:nvSpPr>
          <p:cNvPr id="50" name="Google Shape;50;p10"/>
          <p:cNvSpPr txBox="1"/>
          <p:nvPr/>
        </p:nvSpPr>
        <p:spPr>
          <a:xfrm>
            <a:off x="432000" y="1568425"/>
            <a:ext cx="8280000" cy="30870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rmAutofit lnSpcReduction="20000"/>
          </a:bodyPr>
          <a:lstStyle/>
          <a:p>
            <a:pPr marL="0" lvl="0" indent="0" algn="l" rtl="0">
              <a:spcBef>
                <a:spcPts val="0"/>
              </a:spcBef>
              <a:spcAft>
                <a:spcPts val="0"/>
              </a:spcAft>
              <a:buNone/>
            </a:pPr>
            <a:r>
              <a:rPr lang="ja"/>
              <a:t>A:  </a:t>
            </a:r>
            <a:endParaRPr/>
          </a:p>
          <a:p>
            <a:pPr marL="457200" lvl="0" indent="-317500" algn="l" rtl="0">
              <a:spcBef>
                <a:spcPts val="0"/>
              </a:spcBef>
              <a:spcAft>
                <a:spcPts val="0"/>
              </a:spcAft>
              <a:buSzPts val="1400"/>
              <a:buChar char="●"/>
            </a:pPr>
            <a:r>
              <a:rPr lang="ja"/>
              <a:t>オープンソースソフトウェアを利用するメリット</a:t>
            </a:r>
            <a:endParaRPr/>
          </a:p>
          <a:p>
            <a:pPr marL="914400" lvl="1" indent="-317500" algn="l" rtl="0">
              <a:spcBef>
                <a:spcPts val="0"/>
              </a:spcBef>
              <a:spcAft>
                <a:spcPts val="0"/>
              </a:spcAft>
              <a:buSzPts val="1400"/>
              <a:buChar char="○"/>
            </a:pPr>
            <a:r>
              <a:rPr lang="ja"/>
              <a:t>既にあるソフトを使える（開発を楽できる）</a:t>
            </a:r>
            <a:endParaRPr/>
          </a:p>
          <a:p>
            <a:pPr marL="914400" lvl="1" indent="-317500" algn="l" rtl="0">
              <a:spcBef>
                <a:spcPts val="0"/>
              </a:spcBef>
              <a:spcAft>
                <a:spcPts val="0"/>
              </a:spcAft>
              <a:buSzPts val="1400"/>
              <a:buChar char="○"/>
            </a:pPr>
            <a:r>
              <a:rPr lang="ja"/>
              <a:t>最先端のソフト（技術）を使える</a:t>
            </a:r>
            <a:endParaRPr/>
          </a:p>
          <a:p>
            <a:pPr marL="914400" lvl="1" indent="-317500" algn="l" rtl="0">
              <a:spcBef>
                <a:spcPts val="0"/>
              </a:spcBef>
              <a:spcAft>
                <a:spcPts val="0"/>
              </a:spcAft>
              <a:buSzPts val="1400"/>
              <a:buChar char="○"/>
            </a:pPr>
            <a:r>
              <a:rPr lang="ja"/>
              <a:t>多くの人が集まって作ったソフトなので、レベルが高い</a:t>
            </a:r>
            <a:endParaRPr/>
          </a:p>
          <a:p>
            <a:pPr marL="914400" lvl="1" indent="-317500" algn="l" rtl="0">
              <a:spcBef>
                <a:spcPts val="0"/>
              </a:spcBef>
              <a:spcAft>
                <a:spcPts val="0"/>
              </a:spcAft>
              <a:buSzPts val="1400"/>
              <a:buChar char="○"/>
            </a:pPr>
            <a:r>
              <a:rPr lang="ja"/>
              <a:t>多くの人が使うので、バグが見つかりやすく、修正も的確で早い</a:t>
            </a:r>
            <a:endParaRPr/>
          </a:p>
          <a:p>
            <a:pPr marL="457200" lvl="0" indent="-317500" algn="l" rtl="0">
              <a:spcBef>
                <a:spcPts val="0"/>
              </a:spcBef>
              <a:spcAft>
                <a:spcPts val="0"/>
              </a:spcAft>
              <a:buSzPts val="1400"/>
              <a:buChar char="●"/>
            </a:pPr>
            <a:r>
              <a:rPr lang="ja"/>
              <a:t>コミュニティ活動のメリット</a:t>
            </a:r>
            <a:endParaRPr/>
          </a:p>
          <a:p>
            <a:pPr marL="914400" lvl="1" indent="-317500" algn="l" rtl="0">
              <a:spcBef>
                <a:spcPts val="0"/>
              </a:spcBef>
              <a:spcAft>
                <a:spcPts val="0"/>
              </a:spcAft>
              <a:buSzPts val="1400"/>
              <a:buChar char="○"/>
            </a:pPr>
            <a:r>
              <a:rPr lang="ja"/>
              <a:t>コミュニティでの協力による開発リソース効率化</a:t>
            </a:r>
            <a:endParaRPr/>
          </a:p>
          <a:p>
            <a:pPr marL="914400" lvl="1" indent="-317500" algn="l" rtl="0">
              <a:spcBef>
                <a:spcPts val="0"/>
              </a:spcBef>
              <a:spcAft>
                <a:spcPts val="0"/>
              </a:spcAft>
              <a:buSzPts val="1400"/>
              <a:buChar char="○"/>
            </a:pPr>
            <a:r>
              <a:rPr lang="ja"/>
              <a:t>人材獲得のチャンスがある（企業側）</a:t>
            </a:r>
            <a:endParaRPr/>
          </a:p>
          <a:p>
            <a:pPr marL="1371600" lvl="2" indent="-317500" algn="l" rtl="0">
              <a:spcBef>
                <a:spcPts val="0"/>
              </a:spcBef>
              <a:spcAft>
                <a:spcPts val="0"/>
              </a:spcAft>
              <a:buSzPts val="1400"/>
              <a:buChar char="■"/>
            </a:pPr>
            <a:r>
              <a:rPr lang="ja"/>
              <a:t>技術者としては自分の価値向上、活動の場の獲得ができる</a:t>
            </a:r>
            <a:endParaRPr/>
          </a:p>
          <a:p>
            <a:pPr marL="1371600" lvl="2" indent="-317500" algn="l" rtl="0">
              <a:spcBef>
                <a:spcPts val="0"/>
              </a:spcBef>
              <a:spcAft>
                <a:spcPts val="0"/>
              </a:spcAft>
              <a:buSzPts val="1400"/>
              <a:buChar char="■"/>
            </a:pPr>
            <a:r>
              <a:rPr lang="ja">
                <a:solidFill>
                  <a:schemeClr val="dk1"/>
                </a:solidFill>
              </a:rPr>
              <a:t>人材育成</a:t>
            </a:r>
            <a:endParaRPr/>
          </a:p>
          <a:p>
            <a:pPr marL="457200" lvl="0" indent="-317500" algn="l" rtl="0">
              <a:spcBef>
                <a:spcPts val="0"/>
              </a:spcBef>
              <a:spcAft>
                <a:spcPts val="0"/>
              </a:spcAft>
              <a:buSzPts val="1400"/>
              <a:buChar char="●"/>
            </a:pPr>
            <a:r>
              <a:rPr lang="ja"/>
              <a:t>ビジネス戦略上のメリット</a:t>
            </a:r>
            <a:endParaRPr/>
          </a:p>
          <a:p>
            <a:pPr marL="914400" lvl="1" indent="-317500" algn="l" rtl="0">
              <a:spcBef>
                <a:spcPts val="0"/>
              </a:spcBef>
              <a:spcAft>
                <a:spcPts val="0"/>
              </a:spcAft>
              <a:buSzPts val="1400"/>
              <a:buChar char="○"/>
            </a:pPr>
            <a:r>
              <a:rPr lang="ja"/>
              <a:t>コミュニティを通じた市場・潜在顧客層の拡大、開発方向性への関与</a:t>
            </a:r>
            <a:endParaRPr/>
          </a:p>
          <a:p>
            <a:pPr marL="914400" lvl="1" indent="-317500" algn="l" rtl="0">
              <a:spcBef>
                <a:spcPts val="0"/>
              </a:spcBef>
              <a:spcAft>
                <a:spcPts val="0"/>
              </a:spcAft>
              <a:buSzPts val="1400"/>
              <a:buChar char="○"/>
            </a:pPr>
            <a:r>
              <a:rPr lang="ja"/>
              <a:t>デファクトスタンダードの確立・普及</a:t>
            </a:r>
            <a:endParaRPr/>
          </a:p>
          <a:p>
            <a:pPr marL="0" lvl="0" indent="0" algn="l" rtl="0">
              <a:spcBef>
                <a:spcPts val="0"/>
              </a:spcBef>
              <a:spcAft>
                <a:spcPts val="0"/>
              </a:spcAft>
              <a:buNone/>
            </a:pPr>
            <a:endParaRPr/>
          </a:p>
          <a:p>
            <a:pPr marL="0" lvl="0" indent="0" algn="l" rtl="0">
              <a:spcBef>
                <a:spcPts val="0"/>
              </a:spcBef>
              <a:spcAft>
                <a:spcPts val="0"/>
              </a:spcAft>
              <a:buNone/>
            </a:pPr>
            <a:r>
              <a:rPr lang="ja"/>
              <a:t>OSPOのステージとのマッピングを次回考える（2023/5/26)</a:t>
            </a:r>
            <a:endParaRPr/>
          </a:p>
          <a:p>
            <a:pPr marL="914400" lvl="0" indent="0" algn="l" rtl="0">
              <a:spcBef>
                <a:spcPts val="0"/>
              </a:spcBef>
              <a:spcAft>
                <a:spcPts val="0"/>
              </a:spcAft>
              <a:buNone/>
            </a:pPr>
            <a:endParaRPr/>
          </a:p>
        </p:txBody>
      </p:sp>
      <p:sp>
        <p:nvSpPr>
          <p:cNvPr id="51" name="Google Shape;51;p10"/>
          <p:cNvSpPr txBox="1"/>
          <p:nvPr/>
        </p:nvSpPr>
        <p:spPr>
          <a:xfrm>
            <a:off x="432000" y="990300"/>
            <a:ext cx="8280000" cy="400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ja"/>
              <a:t>Q: </a:t>
            </a:r>
            <a:r>
              <a:rPr lang="ja">
                <a:solidFill>
                  <a:schemeClr val="dk1"/>
                </a:solidFill>
              </a:rPr>
              <a:t>OSSを活用する、OSS活動のメリットは何ですか</a:t>
            </a:r>
            <a:endParaRPr/>
          </a:p>
        </p:txBody>
      </p:sp>
      <p:sp>
        <p:nvSpPr>
          <p:cNvPr id="52" name="Google Shape;52;p10"/>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0" lvl="0" indent="0" algn="l" rtl="0">
              <a:spcBef>
                <a:spcPts val="0"/>
              </a:spcBef>
              <a:spcAft>
                <a:spcPts val="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57" name="Google Shape;57;p11"/>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a:t>Q: OSSを活用する、OSS活動のメリットは何ですか</a:t>
            </a:r>
            <a:endParaRPr/>
          </a:p>
        </p:txBody>
      </p:sp>
      <p:pic>
        <p:nvPicPr>
          <p:cNvPr id="58" name="Google Shape;58;p11"/>
          <p:cNvPicPr preferRelativeResize="0"/>
          <p:nvPr/>
        </p:nvPicPr>
        <p:blipFill rotWithShape="1">
          <a:blip r:embed="rId3">
            <a:alphaModFix/>
          </a:blip>
          <a:srcRect l="13179" t="-1800" r="-13179" b="1800"/>
          <a:stretch/>
        </p:blipFill>
        <p:spPr>
          <a:xfrm>
            <a:off x="220526" y="1680322"/>
            <a:ext cx="8569399" cy="3036700"/>
          </a:xfrm>
          <a:prstGeom prst="rect">
            <a:avLst/>
          </a:prstGeom>
          <a:noFill/>
          <a:ln>
            <a:noFill/>
          </a:ln>
        </p:spPr>
      </p:pic>
      <p:sp>
        <p:nvSpPr>
          <p:cNvPr id="59" name="Google Shape;59;p11"/>
          <p:cNvSpPr txBox="1"/>
          <p:nvPr/>
        </p:nvSpPr>
        <p:spPr>
          <a:xfrm>
            <a:off x="4832625" y="4422950"/>
            <a:ext cx="4209300" cy="664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ja" sz="700" u="sng">
                <a:solidFill>
                  <a:schemeClr val="hlink"/>
                </a:solidFill>
                <a:hlinkClick r:id="rId4"/>
              </a:rPr>
              <a:t>https://www.linuxfoundation.jp/wp-content/uploads/2022/11/ja_LFR_LFAID_Deep_Dive_Open_Source_Program_Offices_0830.pdf</a:t>
            </a:r>
            <a:endParaRPr sz="700" u="sng">
              <a:solidFill>
                <a:schemeClr val="hlink"/>
              </a:solidFill>
            </a:endParaRPr>
          </a:p>
          <a:p>
            <a:pPr marL="0" lvl="0" indent="0" algn="l" rtl="0">
              <a:lnSpc>
                <a:spcPct val="115000"/>
              </a:lnSpc>
              <a:spcBef>
                <a:spcPts val="0"/>
              </a:spcBef>
              <a:spcAft>
                <a:spcPts val="0"/>
              </a:spcAft>
              <a:buClr>
                <a:schemeClr val="dk1"/>
              </a:buClr>
              <a:buSzPts val="1100"/>
              <a:buFont typeface="Arial"/>
              <a:buNone/>
            </a:pPr>
            <a:r>
              <a:rPr lang="ja" sz="700">
                <a:solidFill>
                  <a:schemeClr val="dk1"/>
                </a:solidFill>
              </a:rPr>
              <a:t>Ibrahim Haddad, “</a:t>
            </a:r>
            <a:r>
              <a:rPr lang="ja" sz="700" b="1">
                <a:solidFill>
                  <a:schemeClr val="dk1"/>
                </a:solidFill>
              </a:rPr>
              <a:t>A Deep Dive Into Open Source Program Offices:</a:t>
            </a:r>
            <a:endParaRPr sz="700" b="1">
              <a:solidFill>
                <a:schemeClr val="dk1"/>
              </a:solidFill>
            </a:endParaRPr>
          </a:p>
          <a:p>
            <a:pPr marL="0" lvl="0" indent="0" algn="l" rtl="0">
              <a:lnSpc>
                <a:spcPct val="115000"/>
              </a:lnSpc>
              <a:spcBef>
                <a:spcPts val="0"/>
              </a:spcBef>
              <a:spcAft>
                <a:spcPts val="0"/>
              </a:spcAft>
              <a:buNone/>
            </a:pPr>
            <a:r>
              <a:rPr lang="ja" sz="700" b="1">
                <a:solidFill>
                  <a:schemeClr val="dk1"/>
                </a:solidFill>
              </a:rPr>
              <a:t>Structure, Roles, Responsibilities, and Challenges </a:t>
            </a:r>
            <a:r>
              <a:rPr lang="ja" sz="700">
                <a:solidFill>
                  <a:schemeClr val="dk1"/>
                </a:solidFill>
              </a:rPr>
              <a:t>“ foreword by Chris Aniszczyk, August, 2022</a:t>
            </a:r>
            <a:endParaRPr sz="800"/>
          </a:p>
        </p:txBody>
      </p:sp>
      <p:sp>
        <p:nvSpPr>
          <p:cNvPr id="60" name="Google Shape;60;p11"/>
          <p:cNvSpPr/>
          <p:nvPr/>
        </p:nvSpPr>
        <p:spPr>
          <a:xfrm>
            <a:off x="39275" y="2375625"/>
            <a:ext cx="2293200" cy="861300"/>
          </a:xfrm>
          <a:prstGeom prst="wedgeRectCallout">
            <a:avLst>
              <a:gd name="adj1" fmla="val 7120"/>
              <a:gd name="adj2" fmla="val 130152"/>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49225" algn="l" rtl="0">
              <a:spcBef>
                <a:spcPts val="0"/>
              </a:spcBef>
              <a:spcAft>
                <a:spcPts val="0"/>
              </a:spcAft>
              <a:buSzPts val="1000"/>
              <a:buChar char="●"/>
            </a:pPr>
            <a:r>
              <a:rPr lang="ja" sz="1000"/>
              <a:t>既にあるソフトを使える（開発を楽できる）</a:t>
            </a:r>
            <a:endParaRPr sz="1000"/>
          </a:p>
          <a:p>
            <a:pPr marL="89999" lvl="0" indent="-149225" algn="l" rtl="0">
              <a:spcBef>
                <a:spcPts val="0"/>
              </a:spcBef>
              <a:spcAft>
                <a:spcPts val="0"/>
              </a:spcAft>
              <a:buSzPts val="1000"/>
              <a:buChar char="●"/>
            </a:pPr>
            <a:r>
              <a:rPr lang="ja" sz="1000"/>
              <a:t>最先端のソフト（技術）を使える</a:t>
            </a:r>
            <a:endParaRPr sz="1000"/>
          </a:p>
          <a:p>
            <a:pPr marL="89999" lvl="0" indent="-149225" algn="l" rtl="0">
              <a:spcBef>
                <a:spcPts val="0"/>
              </a:spcBef>
              <a:spcAft>
                <a:spcPts val="0"/>
              </a:spcAft>
              <a:buSzPts val="1000"/>
              <a:buChar char="●"/>
            </a:pPr>
            <a:r>
              <a:rPr lang="ja" sz="1000"/>
              <a:t>多くの人が集まって作ったソフトなので、レベルが高い</a:t>
            </a:r>
            <a:endParaRPr sz="1000"/>
          </a:p>
        </p:txBody>
      </p:sp>
      <p:sp>
        <p:nvSpPr>
          <p:cNvPr id="61" name="Google Shape;61;p11"/>
          <p:cNvSpPr/>
          <p:nvPr/>
        </p:nvSpPr>
        <p:spPr>
          <a:xfrm>
            <a:off x="4257600" y="812375"/>
            <a:ext cx="2476200" cy="1371600"/>
          </a:xfrm>
          <a:prstGeom prst="wedgeRectCallout">
            <a:avLst>
              <a:gd name="adj1" fmla="val -44299"/>
              <a:gd name="adj2" fmla="val 109493"/>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Clr>
                <a:schemeClr val="dk1"/>
              </a:buClr>
              <a:buSzPts val="1000"/>
              <a:buChar char="●"/>
            </a:pPr>
            <a:r>
              <a:rPr lang="ja" sz="1000">
                <a:solidFill>
                  <a:schemeClr val="dk1"/>
                </a:solidFill>
              </a:rPr>
              <a:t>自社だけで対応するよりも、多くの技術者によって、バグが見つかりやすく、修正も的確で早い</a:t>
            </a:r>
            <a:endParaRPr sz="1000"/>
          </a:p>
          <a:p>
            <a:pPr marL="89999" lvl="0" indent="-158750" algn="l" rtl="0">
              <a:spcBef>
                <a:spcPts val="0"/>
              </a:spcBef>
              <a:spcAft>
                <a:spcPts val="0"/>
              </a:spcAft>
              <a:buSzPts val="1000"/>
              <a:buChar char="●"/>
            </a:pPr>
            <a:r>
              <a:rPr lang="ja" sz="1000"/>
              <a:t>コミュニティでの協力による開発リソース効率化</a:t>
            </a:r>
            <a:endParaRPr sz="1000"/>
          </a:p>
          <a:p>
            <a:pPr marL="89999" lvl="0" indent="-158750" algn="l" rtl="0">
              <a:spcBef>
                <a:spcPts val="0"/>
              </a:spcBef>
              <a:spcAft>
                <a:spcPts val="0"/>
              </a:spcAft>
              <a:buSzPts val="1000"/>
              <a:buChar char="●"/>
            </a:pPr>
            <a:r>
              <a:rPr lang="ja" sz="1000">
                <a:solidFill>
                  <a:schemeClr val="dk1"/>
                </a:solidFill>
              </a:rPr>
              <a:t>人材育成の場・</a:t>
            </a:r>
            <a:r>
              <a:rPr lang="ja" sz="1000"/>
              <a:t>人材維持／獲得</a:t>
            </a:r>
            <a:endParaRPr sz="1000"/>
          </a:p>
          <a:p>
            <a:pPr marL="89999" lvl="0" indent="-158750" algn="l" rtl="0">
              <a:spcBef>
                <a:spcPts val="0"/>
              </a:spcBef>
              <a:spcAft>
                <a:spcPts val="0"/>
              </a:spcAft>
              <a:buSzPts val="1000"/>
              <a:buChar char="●"/>
            </a:pPr>
            <a:r>
              <a:rPr lang="ja" sz="1000"/>
              <a:t>技術者への、市場価値向上、活動の場の提供による人材の誘因力</a:t>
            </a:r>
            <a:endParaRPr sz="1000"/>
          </a:p>
        </p:txBody>
      </p:sp>
      <p:sp>
        <p:nvSpPr>
          <p:cNvPr id="62" name="Google Shape;62;p11"/>
          <p:cNvSpPr/>
          <p:nvPr/>
        </p:nvSpPr>
        <p:spPr>
          <a:xfrm>
            <a:off x="6868625" y="990300"/>
            <a:ext cx="2127600" cy="1316400"/>
          </a:xfrm>
          <a:prstGeom prst="wedgeRectCallout">
            <a:avLst>
              <a:gd name="adj1" fmla="val -54408"/>
              <a:gd name="adj2" fmla="val 4862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Clr>
                <a:schemeClr val="dk1"/>
              </a:buClr>
              <a:buSzPts val="1000"/>
              <a:buChar char="●"/>
            </a:pPr>
            <a:r>
              <a:rPr lang="ja" sz="1000">
                <a:solidFill>
                  <a:schemeClr val="dk1"/>
                </a:solidFill>
              </a:rPr>
              <a:t>OSS活用ビジネスの創造</a:t>
            </a:r>
            <a:endParaRPr sz="1000">
              <a:solidFill>
                <a:schemeClr val="dk1"/>
              </a:solidFill>
            </a:endParaRPr>
          </a:p>
          <a:p>
            <a:pPr marL="179999" lvl="1" indent="-168275" algn="l" rtl="0">
              <a:spcBef>
                <a:spcPts val="0"/>
              </a:spcBef>
              <a:spcAft>
                <a:spcPts val="0"/>
              </a:spcAft>
              <a:buClr>
                <a:schemeClr val="dk1"/>
              </a:buClr>
              <a:buSzPts val="1000"/>
              <a:buChar char="○"/>
            </a:pPr>
            <a:r>
              <a:rPr lang="ja" sz="1000">
                <a:solidFill>
                  <a:schemeClr val="dk1"/>
                </a:solidFill>
              </a:rPr>
              <a:t>市場・潜在顧客層の拡大</a:t>
            </a:r>
            <a:endParaRPr sz="1000">
              <a:solidFill>
                <a:schemeClr val="dk1"/>
              </a:solidFill>
            </a:endParaRPr>
          </a:p>
          <a:p>
            <a:pPr marL="179999" lvl="1" indent="-168275" algn="l" rtl="0">
              <a:spcBef>
                <a:spcPts val="0"/>
              </a:spcBef>
              <a:spcAft>
                <a:spcPts val="0"/>
              </a:spcAft>
              <a:buClr>
                <a:schemeClr val="dk1"/>
              </a:buClr>
              <a:buSzPts val="1000"/>
              <a:buChar char="○"/>
            </a:pPr>
            <a:r>
              <a:rPr lang="ja" sz="1000">
                <a:solidFill>
                  <a:schemeClr val="dk1"/>
                </a:solidFill>
              </a:rPr>
              <a:t>デファクトスタンダードの確立・普及</a:t>
            </a:r>
            <a:endParaRPr sz="1000">
              <a:solidFill>
                <a:schemeClr val="dk1"/>
              </a:solidFill>
            </a:endParaRPr>
          </a:p>
          <a:p>
            <a:pPr marL="179999" lvl="1" indent="-168275" algn="l" rtl="0">
              <a:spcBef>
                <a:spcPts val="0"/>
              </a:spcBef>
              <a:spcAft>
                <a:spcPts val="0"/>
              </a:spcAft>
              <a:buClr>
                <a:schemeClr val="dk1"/>
              </a:buClr>
              <a:buSzPts val="1000"/>
              <a:buChar char="○"/>
            </a:pPr>
            <a:r>
              <a:rPr lang="ja" sz="1000">
                <a:solidFill>
                  <a:schemeClr val="dk1"/>
                </a:solidFill>
              </a:rPr>
              <a:t>エコシステムの構築</a:t>
            </a:r>
            <a:endParaRPr sz="1000">
              <a:solidFill>
                <a:schemeClr val="dk1"/>
              </a:solidFill>
            </a:endParaRPr>
          </a:p>
          <a:p>
            <a:pPr marL="179999" lvl="1" indent="-168275" algn="l" rtl="0">
              <a:spcBef>
                <a:spcPts val="0"/>
              </a:spcBef>
              <a:spcAft>
                <a:spcPts val="0"/>
              </a:spcAft>
              <a:buClr>
                <a:schemeClr val="dk1"/>
              </a:buClr>
              <a:buSzPts val="1000"/>
              <a:buChar char="○"/>
            </a:pPr>
            <a:r>
              <a:rPr lang="ja" sz="1000">
                <a:solidFill>
                  <a:schemeClr val="dk1"/>
                </a:solidFill>
              </a:rPr>
              <a:t>活動の正統性を手に入れる</a:t>
            </a:r>
            <a:endParaRPr sz="1000">
              <a:solidFill>
                <a:schemeClr val="dk1"/>
              </a:solidFill>
            </a:endParaRPr>
          </a:p>
          <a:p>
            <a:pPr marL="360000" lvl="2" indent="-177800" algn="l" rtl="0">
              <a:spcBef>
                <a:spcPts val="0"/>
              </a:spcBef>
              <a:spcAft>
                <a:spcPts val="0"/>
              </a:spcAft>
              <a:buClr>
                <a:schemeClr val="dk1"/>
              </a:buClr>
              <a:buSzPts val="1000"/>
              <a:buChar char="■"/>
            </a:pPr>
            <a:r>
              <a:rPr lang="ja" sz="1000">
                <a:solidFill>
                  <a:schemeClr val="dk1"/>
                </a:solidFill>
              </a:rPr>
              <a:t>コミュニティ参加者からエンドースを得られる</a:t>
            </a:r>
            <a:endParaRPr sz="1000"/>
          </a:p>
        </p:txBody>
      </p:sp>
      <p:sp>
        <p:nvSpPr>
          <p:cNvPr id="63" name="Google Shape;63;p11"/>
          <p:cNvSpPr/>
          <p:nvPr/>
        </p:nvSpPr>
        <p:spPr>
          <a:xfrm>
            <a:off x="1940875" y="1390500"/>
            <a:ext cx="2181900" cy="1005900"/>
          </a:xfrm>
          <a:prstGeom prst="wedgeRectCallout">
            <a:avLst>
              <a:gd name="adj1" fmla="val 1319"/>
              <a:gd name="adj2" fmla="val 159653"/>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SzPts val="1000"/>
              <a:buChar char="●"/>
            </a:pPr>
            <a:r>
              <a:rPr lang="ja" sz="1000"/>
              <a:t>OSSをビジネスでちゃんと安心して使える</a:t>
            </a:r>
            <a:endParaRPr sz="1000"/>
          </a:p>
          <a:p>
            <a:pPr marL="89999" lvl="0" indent="-158750" algn="l" rtl="0">
              <a:spcBef>
                <a:spcPts val="0"/>
              </a:spcBef>
              <a:spcAft>
                <a:spcPts val="0"/>
              </a:spcAft>
              <a:buSzPts val="1000"/>
              <a:buChar char="●"/>
            </a:pPr>
            <a:r>
              <a:rPr lang="ja" sz="1000"/>
              <a:t>OSSを企業間取引をする上で必要な本来の姿でOSSを使える</a:t>
            </a:r>
            <a:endParaRPr sz="1000"/>
          </a:p>
          <a:p>
            <a:pPr marL="89999" lvl="0" indent="-158750" algn="l" rtl="0">
              <a:spcBef>
                <a:spcPts val="0"/>
              </a:spcBef>
              <a:spcAft>
                <a:spcPts val="0"/>
              </a:spcAft>
              <a:buSzPts val="1000"/>
              <a:buChar char="●"/>
            </a:pPr>
            <a:r>
              <a:rPr lang="ja" sz="1000"/>
              <a:t>サプライチェーン全体でのOSS利用のリスクコントロール</a:t>
            </a:r>
            <a:endParaRPr sz="1000"/>
          </a:p>
        </p:txBody>
      </p:sp>
      <p:sp>
        <p:nvSpPr>
          <p:cNvPr id="64" name="Google Shape;64;p11"/>
          <p:cNvSpPr/>
          <p:nvPr/>
        </p:nvSpPr>
        <p:spPr>
          <a:xfrm>
            <a:off x="6868625" y="2541525"/>
            <a:ext cx="2127600" cy="921600"/>
          </a:xfrm>
          <a:prstGeom prst="wedgeRectCallout">
            <a:avLst>
              <a:gd name="adj1" fmla="val -56599"/>
              <a:gd name="adj2" fmla="val -1818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SzPts val="1000"/>
              <a:buChar char="●"/>
            </a:pPr>
            <a:r>
              <a:rPr lang="ja" sz="1000"/>
              <a:t>コミュニティを通じた企業としての期待とコミュニティの動きの整合</a:t>
            </a:r>
            <a:endParaRPr sz="1000"/>
          </a:p>
          <a:p>
            <a:pPr marL="269999" lvl="1" indent="-168275" algn="l" rtl="0">
              <a:spcBef>
                <a:spcPts val="0"/>
              </a:spcBef>
              <a:spcAft>
                <a:spcPts val="0"/>
              </a:spcAft>
              <a:buSzPts val="1000"/>
              <a:buChar char="○"/>
            </a:pPr>
            <a:r>
              <a:rPr lang="ja" sz="1000"/>
              <a:t>開発方向性への関与</a:t>
            </a:r>
            <a:endParaRPr sz="1000"/>
          </a:p>
          <a:p>
            <a:pPr marL="89999" lvl="0" indent="-158750" algn="l" rtl="0">
              <a:spcBef>
                <a:spcPts val="0"/>
              </a:spcBef>
              <a:spcAft>
                <a:spcPts val="0"/>
              </a:spcAft>
              <a:buSzPts val="1000"/>
              <a:buChar char="●"/>
            </a:pPr>
            <a:r>
              <a:rPr lang="ja" sz="1000"/>
              <a:t>技術者のモチベーション向上</a:t>
            </a:r>
            <a:endParaRPr sz="1000"/>
          </a:p>
        </p:txBody>
      </p:sp>
      <p:sp>
        <p:nvSpPr>
          <p:cNvPr id="65" name="Google Shape;65;p11"/>
          <p:cNvSpPr/>
          <p:nvPr/>
        </p:nvSpPr>
        <p:spPr>
          <a:xfrm>
            <a:off x="4572000" y="3026025"/>
            <a:ext cx="1984500" cy="1278300"/>
          </a:xfrm>
          <a:prstGeom prst="wedgeRectCallout">
            <a:avLst>
              <a:gd name="adj1" fmla="val -49565"/>
              <a:gd name="adj2" fmla="val -16530"/>
            </a:avLst>
          </a:prstGeom>
          <a:solidFill>
            <a:srgbClr val="FF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SzPts val="1000"/>
              <a:buChar char="●"/>
            </a:pPr>
            <a:r>
              <a:rPr lang="ja" sz="1000"/>
              <a:t>リーダーシップ</a:t>
            </a:r>
            <a:endParaRPr sz="1000"/>
          </a:p>
          <a:p>
            <a:pPr marL="269999" lvl="1" indent="-168275" algn="l" rtl="0">
              <a:spcBef>
                <a:spcPts val="0"/>
              </a:spcBef>
              <a:spcAft>
                <a:spcPts val="0"/>
              </a:spcAft>
              <a:buSzPts val="1000"/>
              <a:buChar char="○"/>
            </a:pPr>
            <a:r>
              <a:rPr lang="ja" sz="1000"/>
              <a:t>コミュニティのリーダーとして意思決定の中心メンバー</a:t>
            </a:r>
            <a:endParaRPr sz="1000"/>
          </a:p>
          <a:p>
            <a:pPr marL="89999" lvl="0" indent="-158750" algn="l" rtl="0">
              <a:spcBef>
                <a:spcPts val="0"/>
              </a:spcBef>
              <a:spcAft>
                <a:spcPts val="0"/>
              </a:spcAft>
              <a:buSzPts val="1000"/>
              <a:buChar char="●"/>
            </a:pPr>
            <a:r>
              <a:rPr lang="ja" sz="1000"/>
              <a:t>エンゲージメント</a:t>
            </a:r>
            <a:endParaRPr sz="1000"/>
          </a:p>
          <a:p>
            <a:pPr marL="269999" lvl="1" indent="-168275" algn="l" rtl="0">
              <a:spcBef>
                <a:spcPts val="0"/>
              </a:spcBef>
              <a:spcAft>
                <a:spcPts val="0"/>
              </a:spcAft>
              <a:buSzPts val="1000"/>
              <a:buChar char="○"/>
            </a:pPr>
            <a:r>
              <a:rPr lang="ja" sz="1000"/>
              <a:t>意思決定会議参加者</a:t>
            </a:r>
            <a:endParaRPr sz="1000"/>
          </a:p>
          <a:p>
            <a:pPr marL="89999" lvl="0" indent="-158750" algn="l" rtl="0">
              <a:spcBef>
                <a:spcPts val="0"/>
              </a:spcBef>
              <a:spcAft>
                <a:spcPts val="0"/>
              </a:spcAft>
              <a:buSzPts val="1000"/>
              <a:buChar char="●"/>
            </a:pPr>
            <a:r>
              <a:rPr lang="ja" sz="1000"/>
              <a:t>コミュニティ教育</a:t>
            </a:r>
            <a:endParaRPr sz="1000"/>
          </a:p>
          <a:p>
            <a:pPr marL="269999" lvl="1" indent="-168275" algn="l" rtl="0">
              <a:spcBef>
                <a:spcPts val="0"/>
              </a:spcBef>
              <a:spcAft>
                <a:spcPts val="0"/>
              </a:spcAft>
              <a:buSzPts val="1000"/>
              <a:buChar char="○"/>
            </a:pPr>
            <a:r>
              <a:rPr lang="ja" sz="1000"/>
              <a:t>初期の貢献者</a:t>
            </a:r>
            <a:endParaRPr sz="1000"/>
          </a:p>
        </p:txBody>
      </p:sp>
      <p:sp>
        <p:nvSpPr>
          <p:cNvPr id="66" name="Google Shape;66;p11"/>
          <p:cNvSpPr/>
          <p:nvPr/>
        </p:nvSpPr>
        <p:spPr>
          <a:xfrm>
            <a:off x="7307150" y="345875"/>
            <a:ext cx="1353900" cy="466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ja"/>
              <a:t>Fix</a:t>
            </a:r>
            <a:endParaRPr/>
          </a:p>
        </p:txBody>
      </p:sp>
      <p:sp>
        <p:nvSpPr>
          <p:cNvPr id="67" name="Google Shape;67;p11"/>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0" lvl="0" indent="0" algn="l" rtl="0">
              <a:spcBef>
                <a:spcPts val="0"/>
              </a:spcBef>
              <a:spcAft>
                <a:spcPts val="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2"/>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a:t>Q: OSSを活用する、OSS活動のメリットは何ですか</a:t>
            </a:r>
            <a:endParaRPr/>
          </a:p>
        </p:txBody>
      </p:sp>
      <p:pic>
        <p:nvPicPr>
          <p:cNvPr id="73" name="Google Shape;73;p12"/>
          <p:cNvPicPr preferRelativeResize="0"/>
          <p:nvPr/>
        </p:nvPicPr>
        <p:blipFill>
          <a:blip r:embed="rId3">
            <a:alphaModFix/>
          </a:blip>
          <a:stretch>
            <a:fillRect/>
          </a:stretch>
        </p:blipFill>
        <p:spPr>
          <a:xfrm>
            <a:off x="222549" y="2762425"/>
            <a:ext cx="9089400" cy="1882375"/>
          </a:xfrm>
          <a:prstGeom prst="rect">
            <a:avLst/>
          </a:prstGeom>
          <a:noFill/>
          <a:ln>
            <a:noFill/>
          </a:ln>
        </p:spPr>
      </p:pic>
      <p:sp>
        <p:nvSpPr>
          <p:cNvPr id="74" name="Google Shape;74;p12"/>
          <p:cNvSpPr/>
          <p:nvPr/>
        </p:nvSpPr>
        <p:spPr>
          <a:xfrm>
            <a:off x="39275" y="1918425"/>
            <a:ext cx="2293200" cy="861300"/>
          </a:xfrm>
          <a:prstGeom prst="wedgeRectCallout">
            <a:avLst>
              <a:gd name="adj1" fmla="val 71828"/>
              <a:gd name="adj2" fmla="val 17372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49225" algn="l" rtl="0">
              <a:spcBef>
                <a:spcPts val="0"/>
              </a:spcBef>
              <a:spcAft>
                <a:spcPts val="0"/>
              </a:spcAft>
              <a:buSzPts val="1000"/>
              <a:buChar char="●"/>
            </a:pPr>
            <a:r>
              <a:rPr lang="ja" sz="1000"/>
              <a:t>既にあるソフトを使える（開発を楽できる）</a:t>
            </a:r>
            <a:endParaRPr sz="1000"/>
          </a:p>
          <a:p>
            <a:pPr marL="89999" lvl="0" indent="-149225" algn="l" rtl="0">
              <a:spcBef>
                <a:spcPts val="0"/>
              </a:spcBef>
              <a:spcAft>
                <a:spcPts val="0"/>
              </a:spcAft>
              <a:buSzPts val="1000"/>
              <a:buChar char="●"/>
            </a:pPr>
            <a:r>
              <a:rPr lang="ja" sz="1000"/>
              <a:t>最先端のソフト（技術）を使える</a:t>
            </a:r>
            <a:endParaRPr sz="1000"/>
          </a:p>
          <a:p>
            <a:pPr marL="89999" lvl="0" indent="-149225" algn="l" rtl="0">
              <a:spcBef>
                <a:spcPts val="0"/>
              </a:spcBef>
              <a:spcAft>
                <a:spcPts val="0"/>
              </a:spcAft>
              <a:buSzPts val="1000"/>
              <a:buChar char="●"/>
            </a:pPr>
            <a:r>
              <a:rPr lang="ja" sz="1000"/>
              <a:t>多くの人が集まって作ったソフトなので、レベルが高い</a:t>
            </a:r>
            <a:endParaRPr sz="1000"/>
          </a:p>
        </p:txBody>
      </p:sp>
      <p:sp>
        <p:nvSpPr>
          <p:cNvPr id="75" name="Google Shape;75;p12"/>
          <p:cNvSpPr/>
          <p:nvPr/>
        </p:nvSpPr>
        <p:spPr>
          <a:xfrm>
            <a:off x="3409525" y="729675"/>
            <a:ext cx="2476200" cy="1371600"/>
          </a:xfrm>
          <a:prstGeom prst="wedgeRectCallout">
            <a:avLst>
              <a:gd name="adj1" fmla="val -11885"/>
              <a:gd name="adj2" fmla="val 162553"/>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Clr>
                <a:schemeClr val="dk1"/>
              </a:buClr>
              <a:buSzPts val="1000"/>
              <a:buChar char="●"/>
            </a:pPr>
            <a:r>
              <a:rPr lang="ja" sz="1000">
                <a:solidFill>
                  <a:schemeClr val="dk1"/>
                </a:solidFill>
              </a:rPr>
              <a:t>自社だけで対応するよりも、多くの技術者によって、バグが見つかりやすく、修正も的確で早い</a:t>
            </a:r>
            <a:endParaRPr sz="1000"/>
          </a:p>
          <a:p>
            <a:pPr marL="89999" lvl="0" indent="-158750" algn="l" rtl="0">
              <a:spcBef>
                <a:spcPts val="0"/>
              </a:spcBef>
              <a:spcAft>
                <a:spcPts val="0"/>
              </a:spcAft>
              <a:buSzPts val="1000"/>
              <a:buChar char="●"/>
            </a:pPr>
            <a:r>
              <a:rPr lang="ja" sz="1000"/>
              <a:t>コミュニティでの協力による開発リソース効率化</a:t>
            </a:r>
            <a:endParaRPr sz="1000"/>
          </a:p>
          <a:p>
            <a:pPr marL="89999" lvl="0" indent="-158750" algn="l" rtl="0">
              <a:spcBef>
                <a:spcPts val="0"/>
              </a:spcBef>
              <a:spcAft>
                <a:spcPts val="0"/>
              </a:spcAft>
              <a:buSzPts val="1000"/>
              <a:buChar char="●"/>
            </a:pPr>
            <a:r>
              <a:rPr lang="ja" sz="1000">
                <a:solidFill>
                  <a:schemeClr val="dk1"/>
                </a:solidFill>
              </a:rPr>
              <a:t>人材育成の場・</a:t>
            </a:r>
            <a:r>
              <a:rPr lang="ja" sz="1000"/>
              <a:t>人材維持／獲得</a:t>
            </a:r>
            <a:endParaRPr sz="1000"/>
          </a:p>
          <a:p>
            <a:pPr marL="89999" lvl="0" indent="-158750" algn="l" rtl="0">
              <a:spcBef>
                <a:spcPts val="0"/>
              </a:spcBef>
              <a:spcAft>
                <a:spcPts val="0"/>
              </a:spcAft>
              <a:buSzPts val="1000"/>
              <a:buChar char="●"/>
            </a:pPr>
            <a:r>
              <a:rPr lang="ja" sz="1000"/>
              <a:t>技術者への、市場価値向上、活動の場の提供による人材の誘因力</a:t>
            </a:r>
            <a:endParaRPr sz="1000"/>
          </a:p>
        </p:txBody>
      </p:sp>
      <p:sp>
        <p:nvSpPr>
          <p:cNvPr id="76" name="Google Shape;76;p12"/>
          <p:cNvSpPr/>
          <p:nvPr/>
        </p:nvSpPr>
        <p:spPr>
          <a:xfrm>
            <a:off x="6823125" y="729675"/>
            <a:ext cx="2127600" cy="1316400"/>
          </a:xfrm>
          <a:prstGeom prst="wedgeRectCallout">
            <a:avLst>
              <a:gd name="adj1" fmla="val -4774"/>
              <a:gd name="adj2" fmla="val 129974"/>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Clr>
                <a:schemeClr val="dk1"/>
              </a:buClr>
              <a:buSzPts val="1000"/>
              <a:buChar char="●"/>
            </a:pPr>
            <a:r>
              <a:rPr lang="ja" sz="1000">
                <a:solidFill>
                  <a:schemeClr val="dk1"/>
                </a:solidFill>
              </a:rPr>
              <a:t>OSS活用ビジネスの創造</a:t>
            </a:r>
            <a:endParaRPr sz="1000">
              <a:solidFill>
                <a:schemeClr val="dk1"/>
              </a:solidFill>
            </a:endParaRPr>
          </a:p>
          <a:p>
            <a:pPr marL="179999" lvl="1" indent="-168275" algn="l" rtl="0">
              <a:spcBef>
                <a:spcPts val="0"/>
              </a:spcBef>
              <a:spcAft>
                <a:spcPts val="0"/>
              </a:spcAft>
              <a:buClr>
                <a:schemeClr val="dk1"/>
              </a:buClr>
              <a:buSzPts val="1000"/>
              <a:buChar char="○"/>
            </a:pPr>
            <a:r>
              <a:rPr lang="ja" sz="1000">
                <a:solidFill>
                  <a:schemeClr val="dk1"/>
                </a:solidFill>
              </a:rPr>
              <a:t>市場・潜在顧客層の拡大</a:t>
            </a:r>
            <a:endParaRPr sz="1000">
              <a:solidFill>
                <a:schemeClr val="dk1"/>
              </a:solidFill>
            </a:endParaRPr>
          </a:p>
          <a:p>
            <a:pPr marL="179999" lvl="1" indent="-168275" algn="l" rtl="0">
              <a:spcBef>
                <a:spcPts val="0"/>
              </a:spcBef>
              <a:spcAft>
                <a:spcPts val="0"/>
              </a:spcAft>
              <a:buClr>
                <a:schemeClr val="dk1"/>
              </a:buClr>
              <a:buSzPts val="1000"/>
              <a:buChar char="○"/>
            </a:pPr>
            <a:r>
              <a:rPr lang="ja" sz="1000">
                <a:solidFill>
                  <a:schemeClr val="dk1"/>
                </a:solidFill>
              </a:rPr>
              <a:t>デファクトスタンダードの確立・普及</a:t>
            </a:r>
            <a:endParaRPr sz="1000">
              <a:solidFill>
                <a:schemeClr val="dk1"/>
              </a:solidFill>
            </a:endParaRPr>
          </a:p>
          <a:p>
            <a:pPr marL="179999" lvl="1" indent="-168275" algn="l" rtl="0">
              <a:spcBef>
                <a:spcPts val="0"/>
              </a:spcBef>
              <a:spcAft>
                <a:spcPts val="0"/>
              </a:spcAft>
              <a:buClr>
                <a:schemeClr val="dk1"/>
              </a:buClr>
              <a:buSzPts val="1000"/>
              <a:buChar char="○"/>
            </a:pPr>
            <a:r>
              <a:rPr lang="ja" sz="1000">
                <a:solidFill>
                  <a:schemeClr val="dk1"/>
                </a:solidFill>
              </a:rPr>
              <a:t>エコシステムの構築</a:t>
            </a:r>
            <a:endParaRPr sz="1000">
              <a:solidFill>
                <a:schemeClr val="dk1"/>
              </a:solidFill>
            </a:endParaRPr>
          </a:p>
          <a:p>
            <a:pPr marL="179999" lvl="1" indent="-168275" algn="l" rtl="0">
              <a:spcBef>
                <a:spcPts val="0"/>
              </a:spcBef>
              <a:spcAft>
                <a:spcPts val="0"/>
              </a:spcAft>
              <a:buClr>
                <a:schemeClr val="dk1"/>
              </a:buClr>
              <a:buSzPts val="1000"/>
              <a:buChar char="○"/>
            </a:pPr>
            <a:r>
              <a:rPr lang="ja" sz="1000">
                <a:solidFill>
                  <a:schemeClr val="dk1"/>
                </a:solidFill>
              </a:rPr>
              <a:t>活動の正統性を手に入れる</a:t>
            </a:r>
            <a:endParaRPr sz="1000">
              <a:solidFill>
                <a:schemeClr val="dk1"/>
              </a:solidFill>
            </a:endParaRPr>
          </a:p>
          <a:p>
            <a:pPr marL="360000" lvl="2" indent="-177800" algn="l" rtl="0">
              <a:spcBef>
                <a:spcPts val="0"/>
              </a:spcBef>
              <a:spcAft>
                <a:spcPts val="0"/>
              </a:spcAft>
              <a:buClr>
                <a:schemeClr val="dk1"/>
              </a:buClr>
              <a:buSzPts val="1000"/>
              <a:buChar char="■"/>
            </a:pPr>
            <a:r>
              <a:rPr lang="ja" sz="1000">
                <a:solidFill>
                  <a:schemeClr val="dk1"/>
                </a:solidFill>
              </a:rPr>
              <a:t>コミュニティ参加者からエンドースを得られる</a:t>
            </a:r>
            <a:endParaRPr sz="1000"/>
          </a:p>
        </p:txBody>
      </p:sp>
      <p:sp>
        <p:nvSpPr>
          <p:cNvPr id="77" name="Google Shape;77;p12"/>
          <p:cNvSpPr/>
          <p:nvPr/>
        </p:nvSpPr>
        <p:spPr>
          <a:xfrm>
            <a:off x="1103350" y="912525"/>
            <a:ext cx="2181900" cy="1005900"/>
          </a:xfrm>
          <a:prstGeom prst="wedgeRectCallout">
            <a:avLst>
              <a:gd name="adj1" fmla="val 33029"/>
              <a:gd name="adj2" fmla="val 2424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SzPts val="1000"/>
              <a:buChar char="●"/>
            </a:pPr>
            <a:r>
              <a:rPr lang="ja" sz="1000"/>
              <a:t>OSSをビジネスでちゃんと安心して使える</a:t>
            </a:r>
            <a:endParaRPr sz="1000"/>
          </a:p>
          <a:p>
            <a:pPr marL="89999" lvl="0" indent="-158750" algn="l" rtl="0">
              <a:spcBef>
                <a:spcPts val="0"/>
              </a:spcBef>
              <a:spcAft>
                <a:spcPts val="0"/>
              </a:spcAft>
              <a:buSzPts val="1000"/>
              <a:buChar char="●"/>
            </a:pPr>
            <a:r>
              <a:rPr lang="ja" sz="1000"/>
              <a:t>OSSを企業間取引をする上で必要な本来の姿でOSSを使える</a:t>
            </a:r>
            <a:endParaRPr sz="1000"/>
          </a:p>
          <a:p>
            <a:pPr marL="89999" lvl="0" indent="-158750" algn="l" rtl="0">
              <a:spcBef>
                <a:spcPts val="0"/>
              </a:spcBef>
              <a:spcAft>
                <a:spcPts val="0"/>
              </a:spcAft>
              <a:buSzPts val="1000"/>
              <a:buChar char="●"/>
            </a:pPr>
            <a:r>
              <a:rPr lang="ja" sz="1000"/>
              <a:t>サプライチェーン全体でのOSS利用のリスクコントロール</a:t>
            </a:r>
            <a:endParaRPr sz="1000"/>
          </a:p>
        </p:txBody>
      </p:sp>
      <p:sp>
        <p:nvSpPr>
          <p:cNvPr id="78" name="Google Shape;78;p12"/>
          <p:cNvSpPr/>
          <p:nvPr/>
        </p:nvSpPr>
        <p:spPr>
          <a:xfrm>
            <a:off x="4811225" y="2202125"/>
            <a:ext cx="2127600" cy="921600"/>
          </a:xfrm>
          <a:prstGeom prst="wedgeRectCallout">
            <a:avLst>
              <a:gd name="adj1" fmla="val 17904"/>
              <a:gd name="adj2" fmla="val 77922"/>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SzPts val="1000"/>
              <a:buChar char="●"/>
            </a:pPr>
            <a:r>
              <a:rPr lang="ja" sz="1000"/>
              <a:t>コミュニティを通じた企業としての期待とコミュニティの動きの整合</a:t>
            </a:r>
            <a:endParaRPr sz="1000"/>
          </a:p>
          <a:p>
            <a:pPr marL="269999" lvl="1" indent="-168275" algn="l" rtl="0">
              <a:spcBef>
                <a:spcPts val="0"/>
              </a:spcBef>
              <a:spcAft>
                <a:spcPts val="0"/>
              </a:spcAft>
              <a:buSzPts val="1000"/>
              <a:buChar char="○"/>
            </a:pPr>
            <a:r>
              <a:rPr lang="ja" sz="1000"/>
              <a:t>開発方向性への関与</a:t>
            </a:r>
            <a:endParaRPr sz="1000"/>
          </a:p>
          <a:p>
            <a:pPr marL="89999" lvl="0" indent="-158750" algn="l" rtl="0">
              <a:spcBef>
                <a:spcPts val="0"/>
              </a:spcBef>
              <a:spcAft>
                <a:spcPts val="0"/>
              </a:spcAft>
              <a:buSzPts val="1000"/>
              <a:buChar char="●"/>
            </a:pPr>
            <a:r>
              <a:rPr lang="ja" sz="1000"/>
              <a:t>技術者のモチベーション向上</a:t>
            </a:r>
            <a:endParaRPr sz="1000"/>
          </a:p>
        </p:txBody>
      </p:sp>
      <p:sp>
        <p:nvSpPr>
          <p:cNvPr id="79" name="Google Shape;79;p12"/>
          <p:cNvSpPr/>
          <p:nvPr/>
        </p:nvSpPr>
        <p:spPr>
          <a:xfrm>
            <a:off x="7531350" y="128275"/>
            <a:ext cx="1353900" cy="466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ja"/>
              <a:t>Fix</a:t>
            </a:r>
            <a:endParaRPr/>
          </a:p>
        </p:txBody>
      </p:sp>
      <p:sp>
        <p:nvSpPr>
          <p:cNvPr id="80" name="Google Shape;80;p12"/>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0" lvl="0" indent="0" algn="l" rtl="0">
              <a:spcBef>
                <a:spcPts val="0"/>
              </a:spcBef>
              <a:spcAft>
                <a:spcPts val="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3"/>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a:t>そもそもOSPOとはなんですか</a:t>
            </a:r>
            <a:endParaRPr/>
          </a:p>
        </p:txBody>
      </p:sp>
      <p:sp>
        <p:nvSpPr>
          <p:cNvPr id="86" name="Google Shape;86;p13"/>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rmAutofit fontScale="62500" lnSpcReduction="20000"/>
          </a:bodyPr>
          <a:lstStyle/>
          <a:p>
            <a:pPr marL="457200" lvl="0" indent="-300037" algn="l" rtl="0">
              <a:spcBef>
                <a:spcPts val="0"/>
              </a:spcBef>
              <a:spcAft>
                <a:spcPts val="0"/>
              </a:spcAft>
              <a:buClr>
                <a:schemeClr val="accent1"/>
              </a:buClr>
              <a:buSzPct val="100000"/>
              <a:buChar char="•"/>
            </a:pPr>
            <a:r>
              <a:rPr lang="ja"/>
              <a:t>（上位概念として纏めてみる）</a:t>
            </a:r>
            <a:endParaRPr/>
          </a:p>
          <a:p>
            <a:pPr marL="457200" lvl="0" indent="-300037" algn="l" rtl="0">
              <a:spcBef>
                <a:spcPts val="0"/>
              </a:spcBef>
              <a:spcAft>
                <a:spcPts val="0"/>
              </a:spcAft>
              <a:buSzPct val="100000"/>
              <a:buChar char="•"/>
            </a:pPr>
            <a:r>
              <a:rPr lang="ja"/>
              <a:t>OSPOが取り組むこと</a:t>
            </a:r>
            <a:endParaRPr/>
          </a:p>
          <a:p>
            <a:pPr marL="914400" lvl="1" indent="-288131" algn="l" rtl="0">
              <a:spcBef>
                <a:spcPts val="0"/>
              </a:spcBef>
              <a:spcAft>
                <a:spcPts val="0"/>
              </a:spcAft>
              <a:buSzPct val="100000"/>
              <a:buChar char="•"/>
            </a:pPr>
            <a:r>
              <a:rPr lang="ja"/>
              <a:t>課題</a:t>
            </a:r>
            <a:endParaRPr/>
          </a:p>
          <a:p>
            <a:pPr marL="1371600" lvl="2" indent="-276225" algn="l" rtl="0">
              <a:spcBef>
                <a:spcPts val="0"/>
              </a:spcBef>
              <a:spcAft>
                <a:spcPts val="0"/>
              </a:spcAft>
              <a:buSzPct val="100000"/>
              <a:buChar char="•"/>
            </a:pPr>
            <a:r>
              <a:rPr lang="ja"/>
              <a:t>OSSが８０％以上使われている現状に対応する</a:t>
            </a:r>
            <a:endParaRPr/>
          </a:p>
          <a:p>
            <a:pPr marL="914400" lvl="1" indent="-288131" algn="l" rtl="0">
              <a:spcBef>
                <a:spcPts val="0"/>
              </a:spcBef>
              <a:spcAft>
                <a:spcPts val="0"/>
              </a:spcAft>
              <a:buSzPct val="100000"/>
              <a:buChar char="•"/>
            </a:pPr>
            <a:r>
              <a:rPr lang="ja"/>
              <a:t>取り組み</a:t>
            </a:r>
            <a:endParaRPr/>
          </a:p>
          <a:p>
            <a:pPr marL="1371600" lvl="2" indent="-276225" algn="l" rtl="0">
              <a:spcBef>
                <a:spcPts val="0"/>
              </a:spcBef>
              <a:spcAft>
                <a:spcPts val="0"/>
              </a:spcAft>
              <a:buSzPct val="100000"/>
              <a:buChar char="•"/>
            </a:pPr>
            <a:r>
              <a:rPr lang="ja"/>
              <a:t>OSS、OSSコミュニティと企業としてどうかかわると良いかを見つけ、推進</a:t>
            </a:r>
            <a:endParaRPr/>
          </a:p>
          <a:p>
            <a:pPr marL="457200" lvl="0" indent="-300037" algn="l" rtl="0">
              <a:spcBef>
                <a:spcPts val="0"/>
              </a:spcBef>
              <a:spcAft>
                <a:spcPts val="0"/>
              </a:spcAft>
              <a:buSzPct val="100000"/>
              <a:buChar char="•"/>
            </a:pPr>
            <a:r>
              <a:rPr lang="ja"/>
              <a:t>前にもチラッと書きましたが、</a:t>
            </a:r>
            <a:r>
              <a:rPr lang="ja">
                <a:highlight>
                  <a:srgbClr val="FFFF00"/>
                </a:highlight>
              </a:rPr>
              <a:t>OSPO=社内とOSSの文化のギャップを埋める</a:t>
            </a:r>
            <a:r>
              <a:rPr lang="ja"/>
              <a:t>ためのもの と感じています</a:t>
            </a:r>
            <a:endParaRPr/>
          </a:p>
          <a:p>
            <a:pPr marL="914400" lvl="1" indent="-288131" algn="l" rtl="0">
              <a:spcBef>
                <a:spcPts val="0"/>
              </a:spcBef>
              <a:spcAft>
                <a:spcPts val="0"/>
              </a:spcAft>
              <a:buSzPct val="100000"/>
              <a:buChar char="•"/>
            </a:pPr>
            <a:r>
              <a:rPr lang="ja"/>
              <a:t>追いつくだけのイメージなので、不十分な気がする</a:t>
            </a:r>
            <a:endParaRPr/>
          </a:p>
          <a:p>
            <a:pPr marL="457200" lvl="0" indent="-300037" algn="l" rtl="0">
              <a:spcBef>
                <a:spcPts val="0"/>
              </a:spcBef>
              <a:spcAft>
                <a:spcPts val="0"/>
              </a:spcAft>
              <a:buSzPct val="100000"/>
              <a:buChar char="•"/>
            </a:pPr>
            <a:r>
              <a:rPr lang="ja">
                <a:highlight>
                  <a:srgbClr val="FFFF00"/>
                </a:highlight>
              </a:rPr>
              <a:t>組織とOSSコミュニティをブリッジ</a:t>
            </a:r>
            <a:r>
              <a:rPr lang="ja"/>
              <a:t>するのがOSPO</a:t>
            </a:r>
            <a:endParaRPr/>
          </a:p>
          <a:p>
            <a:pPr marL="457200" lvl="0" indent="-300037" algn="l" rtl="0">
              <a:spcBef>
                <a:spcPts val="0"/>
              </a:spcBef>
              <a:spcAft>
                <a:spcPts val="0"/>
              </a:spcAft>
              <a:buSzPct val="100000"/>
              <a:buChar char="•"/>
            </a:pPr>
            <a:r>
              <a:rPr lang="ja"/>
              <a:t>企業内の認識、マインドセットをStage upするように推進するのがOSPOの役割</a:t>
            </a:r>
            <a:endParaRPr/>
          </a:p>
          <a:p>
            <a:pPr marL="457200" lvl="0" indent="-300037" algn="l" rtl="0">
              <a:spcBef>
                <a:spcPts val="0"/>
              </a:spcBef>
              <a:spcAft>
                <a:spcPts val="0"/>
              </a:spcAft>
              <a:buSzPct val="100000"/>
              <a:buChar char="•"/>
            </a:pPr>
            <a:r>
              <a:rPr lang="ja"/>
              <a:t>エンジニアに限らず、OSS的な働き方（外部で当たり前になりつつあること）を自組織に浸透させる</a:t>
            </a:r>
            <a:endParaRPr/>
          </a:p>
          <a:p>
            <a:pPr marL="457200" lvl="0" indent="-300037" algn="l" rtl="0">
              <a:spcBef>
                <a:spcPts val="0"/>
              </a:spcBef>
              <a:spcAft>
                <a:spcPts val="0"/>
              </a:spcAft>
              <a:buSzPct val="100000"/>
              <a:buChar char="•"/>
            </a:pPr>
            <a:r>
              <a:rPr lang="ja"/>
              <a:t>規模が大きくなった開発をうまく行うために、OSSコミュニティで成功しているやり方を社内に導入しようとする取り組み</a:t>
            </a:r>
            <a:endParaRPr/>
          </a:p>
          <a:p>
            <a:pPr marL="457200" lvl="0" indent="-300037" algn="l" rtl="0">
              <a:spcBef>
                <a:spcPts val="0"/>
              </a:spcBef>
              <a:spcAft>
                <a:spcPts val="0"/>
              </a:spcAft>
              <a:buSzPct val="100000"/>
              <a:buChar char="•"/>
            </a:pPr>
            <a:r>
              <a:rPr lang="ja"/>
              <a:t>自社をOSSが生み出したエコシステムに組込む（一員になろうとする）取り組み</a:t>
            </a:r>
            <a:endParaRPr/>
          </a:p>
          <a:p>
            <a:pPr marL="457200" lvl="0" indent="-300037" algn="l" rtl="0">
              <a:spcBef>
                <a:spcPts val="0"/>
              </a:spcBef>
              <a:spcAft>
                <a:spcPts val="0"/>
              </a:spcAft>
              <a:buSzPct val="100000"/>
              <a:buChar char="•"/>
            </a:pPr>
            <a:r>
              <a:rPr lang="ja"/>
              <a:t>自社ビジネスをOSSエコシステムを活用して発展させる</a:t>
            </a:r>
            <a:endParaRPr/>
          </a:p>
          <a:p>
            <a:pPr marL="914400" lvl="1" indent="-288131" algn="l" rtl="0">
              <a:spcBef>
                <a:spcPts val="0"/>
              </a:spcBef>
              <a:spcAft>
                <a:spcPts val="0"/>
              </a:spcAft>
              <a:buSzPct val="100000"/>
              <a:buChar char="•"/>
            </a:pPr>
            <a:r>
              <a:rPr lang="ja"/>
              <a:t>企業の論理とOSSの論理の間を取り持って、双方の発展を目指す</a:t>
            </a:r>
            <a:endParaRPr/>
          </a:p>
          <a:p>
            <a:pPr marL="914400" lvl="1" indent="-288131" algn="l" rtl="0">
              <a:spcBef>
                <a:spcPts val="0"/>
              </a:spcBef>
              <a:spcAft>
                <a:spcPts val="0"/>
              </a:spcAft>
              <a:buSzPct val="100000"/>
              <a:buChar char="•"/>
            </a:pPr>
            <a:r>
              <a:rPr lang="ja"/>
              <a:t>OSSコミュニティで活動する企業エンジニアには、OSS活動に専念してもらうべき</a:t>
            </a:r>
            <a:endParaRPr/>
          </a:p>
          <a:p>
            <a:pPr marL="1371600" lvl="2" indent="-276225" algn="l" rtl="0">
              <a:spcBef>
                <a:spcPts val="0"/>
              </a:spcBef>
              <a:spcAft>
                <a:spcPts val="0"/>
              </a:spcAft>
              <a:buSzPct val="100000"/>
              <a:buChar char="•"/>
            </a:pPr>
            <a:r>
              <a:rPr lang="ja"/>
              <a:t>その人とは別に企業の論理側も考えて戦略を実践するのがOSPOのメンバー</a:t>
            </a:r>
            <a:endParaRPr/>
          </a:p>
          <a:p>
            <a:pPr marL="1371600" lvl="2" indent="-276225" algn="l" rtl="0">
              <a:spcBef>
                <a:spcPts val="0"/>
              </a:spcBef>
              <a:spcAft>
                <a:spcPts val="0"/>
              </a:spcAft>
              <a:buSzPct val="100000"/>
              <a:buChar char="•"/>
            </a:pPr>
            <a:r>
              <a:rPr lang="ja"/>
              <a:t>OSPOメンバーとOSS活動メンバーが混同されると活動メンバーが苦しくなる</a:t>
            </a:r>
            <a:endParaRPr/>
          </a:p>
          <a:p>
            <a:pPr marL="457200" lvl="0" indent="-300037" algn="l" rtl="0">
              <a:spcBef>
                <a:spcPts val="0"/>
              </a:spcBef>
              <a:spcAft>
                <a:spcPts val="0"/>
              </a:spcAft>
              <a:buSzPct val="100000"/>
              <a:buChar char="•"/>
            </a:pPr>
            <a:r>
              <a:rPr lang="ja"/>
              <a:t>OSPOの人の社内での位置づけ</a:t>
            </a:r>
            <a:endParaRPr/>
          </a:p>
          <a:p>
            <a:pPr marL="914400" lvl="1" indent="-288131" algn="l" rtl="0">
              <a:spcBef>
                <a:spcPts val="0"/>
              </a:spcBef>
              <a:spcAft>
                <a:spcPts val="0"/>
              </a:spcAft>
              <a:buSzPct val="100000"/>
              <a:buChar char="•"/>
            </a:pPr>
            <a:r>
              <a:rPr lang="ja"/>
              <a:t>事業部の人でもない、OSS活動エンジニアでもない。両方考えている。</a:t>
            </a:r>
            <a:endParaRPr/>
          </a:p>
          <a:p>
            <a:pPr marL="914400" lvl="1" indent="-288131" algn="l" rtl="0">
              <a:spcBef>
                <a:spcPts val="0"/>
              </a:spcBef>
              <a:spcAft>
                <a:spcPts val="0"/>
              </a:spcAft>
              <a:buSzPct val="100000"/>
              <a:buChar char="•"/>
            </a:pPr>
            <a:r>
              <a:rPr lang="ja"/>
              <a:t>複数の立場を使い分けている。（これがOSPOをやるときの難しさを生んでいる）</a:t>
            </a:r>
            <a:endParaRPr/>
          </a:p>
          <a:p>
            <a:pPr marL="457200" lvl="0" indent="-300037" algn="l" rtl="0">
              <a:spcBef>
                <a:spcPts val="0"/>
              </a:spcBef>
              <a:spcAft>
                <a:spcPts val="0"/>
              </a:spcAft>
              <a:buSzPct val="100000"/>
              <a:buChar char="•"/>
            </a:pPr>
            <a:r>
              <a:rPr lang="ja"/>
              <a:t>OSS活動が企業からもOSSコミュニティからも価値、メリットがある状態を目指す／作り上げる</a:t>
            </a:r>
            <a:endParaRPr/>
          </a:p>
          <a:p>
            <a:pPr marL="457200" lvl="0" indent="-300037" algn="l" rtl="0">
              <a:spcBef>
                <a:spcPts val="0"/>
              </a:spcBef>
              <a:spcAft>
                <a:spcPts val="0"/>
              </a:spcAft>
              <a:buSzPct val="100000"/>
              <a:buChar char="•"/>
            </a:pPr>
            <a:r>
              <a:rPr lang="ja"/>
              <a:t>Open Source Program Officeという名称の意味から議論してみてはどうか</a:t>
            </a:r>
            <a:endParaRPr/>
          </a:p>
          <a:p>
            <a:pPr marL="457200" lvl="0" indent="-300037" algn="l" rtl="0">
              <a:spcBef>
                <a:spcPts val="0"/>
              </a:spcBef>
              <a:spcAft>
                <a:spcPts val="0"/>
              </a:spcAft>
              <a:buSzPct val="100000"/>
              <a:buChar char="•"/>
            </a:pPr>
            <a:r>
              <a:rPr lang="ja"/>
              <a:t>Programの意味</a:t>
            </a:r>
            <a:endParaRPr/>
          </a:p>
          <a:p>
            <a:pPr marL="914400" lvl="1" indent="-288131" algn="l" rtl="0">
              <a:spcBef>
                <a:spcPts val="0"/>
              </a:spcBef>
              <a:spcAft>
                <a:spcPts val="0"/>
              </a:spcAft>
              <a:buSzPct val="100000"/>
              <a:buChar char="•"/>
            </a:pPr>
            <a:r>
              <a:rPr lang="ja"/>
              <a:t>プログラムオフィサー（program officer, PO）とは、研究機関やシンクタンク、財団などにおいて、研究や助成のプログラムの企画立案、運営管理などを行う人のこと。</a:t>
            </a:r>
            <a:endParaRPr/>
          </a:p>
          <a:p>
            <a:pPr marL="914400" lvl="1" indent="-288131" algn="l" rtl="0">
              <a:spcBef>
                <a:spcPts val="0"/>
              </a:spcBef>
              <a:spcAft>
                <a:spcPts val="0"/>
              </a:spcAft>
              <a:buSzPct val="100000"/>
              <a:buChar char="•"/>
            </a:pPr>
            <a:r>
              <a:rPr lang="ja"/>
              <a:t>継続的に行うことという見方もある</a:t>
            </a:r>
            <a:endParaRPr/>
          </a:p>
        </p:txBody>
      </p:sp>
      <p:sp>
        <p:nvSpPr>
          <p:cNvPr id="87" name="Google Shape;87;p13"/>
          <p:cNvSpPr/>
          <p:nvPr/>
        </p:nvSpPr>
        <p:spPr>
          <a:xfrm>
            <a:off x="7190675" y="325875"/>
            <a:ext cx="1563600" cy="466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ja"/>
              <a:t>2023/10/27議論-次回12/22継続</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a:t>そもそもOSPOとはなんですか</a:t>
            </a:r>
            <a:endParaRPr/>
          </a:p>
        </p:txBody>
      </p:sp>
      <p:sp>
        <p:nvSpPr>
          <p:cNvPr id="93" name="Google Shape;93;p14"/>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rmAutofit fontScale="77500" lnSpcReduction="20000"/>
          </a:bodyPr>
          <a:lstStyle/>
          <a:p>
            <a:pPr marL="457200" lvl="0" indent="-317182" algn="l" rtl="0">
              <a:spcBef>
                <a:spcPts val="0"/>
              </a:spcBef>
              <a:spcAft>
                <a:spcPts val="0"/>
              </a:spcAft>
              <a:buClr>
                <a:schemeClr val="accent1"/>
              </a:buClr>
              <a:buSzPct val="100000"/>
              <a:buChar char="•"/>
            </a:pPr>
            <a:r>
              <a:rPr lang="ja"/>
              <a:t>OSPOのメンバーに求めるスキルは</a:t>
            </a:r>
            <a:endParaRPr/>
          </a:p>
          <a:p>
            <a:pPr marL="914400" lvl="1" indent="-302418" algn="l" rtl="0">
              <a:spcBef>
                <a:spcPts val="0"/>
              </a:spcBef>
              <a:spcAft>
                <a:spcPts val="0"/>
              </a:spcAft>
              <a:buSzPct val="100000"/>
              <a:buChar char="•"/>
            </a:pPr>
            <a:r>
              <a:rPr lang="ja"/>
              <a:t>幅が広い？</a:t>
            </a:r>
            <a:endParaRPr/>
          </a:p>
          <a:p>
            <a:pPr marL="914400" lvl="1" indent="-302418" algn="l" rtl="0">
              <a:spcBef>
                <a:spcPts val="0"/>
              </a:spcBef>
              <a:spcAft>
                <a:spcPts val="0"/>
              </a:spcAft>
              <a:buSzPct val="100000"/>
              <a:buChar char="•"/>
            </a:pPr>
            <a:r>
              <a:rPr lang="ja"/>
              <a:t>ソフトウェアの開発技術（ある程度のレベル）</a:t>
            </a:r>
            <a:endParaRPr/>
          </a:p>
          <a:p>
            <a:pPr marL="914400" lvl="1" indent="-302418" algn="l" rtl="0">
              <a:spcBef>
                <a:spcPts val="0"/>
              </a:spcBef>
              <a:spcAft>
                <a:spcPts val="0"/>
              </a:spcAft>
              <a:buSzPct val="100000"/>
              <a:buChar char="•"/>
            </a:pPr>
            <a:r>
              <a:rPr lang="ja"/>
              <a:t>ライセンスに関する知識</a:t>
            </a:r>
            <a:endParaRPr/>
          </a:p>
          <a:p>
            <a:pPr marL="1371600" lvl="2" indent="-287655" algn="l" rtl="0">
              <a:spcBef>
                <a:spcPts val="0"/>
              </a:spcBef>
              <a:spcAft>
                <a:spcPts val="0"/>
              </a:spcAft>
              <a:buSzPct val="100000"/>
              <a:buChar char="•"/>
            </a:pPr>
            <a:r>
              <a:rPr lang="ja"/>
              <a:t>法務、知財の基礎知識</a:t>
            </a:r>
            <a:endParaRPr/>
          </a:p>
          <a:p>
            <a:pPr marL="1371600" lvl="2" indent="-287655" algn="l" rtl="0">
              <a:spcBef>
                <a:spcPts val="0"/>
              </a:spcBef>
              <a:spcAft>
                <a:spcPts val="0"/>
              </a:spcAft>
              <a:buSzPct val="100000"/>
              <a:buChar char="•"/>
            </a:pPr>
            <a:r>
              <a:rPr lang="ja"/>
              <a:t>コミュニティでの共通理解（意図、背景）</a:t>
            </a:r>
            <a:endParaRPr/>
          </a:p>
          <a:p>
            <a:pPr marL="914400" lvl="1" indent="-302418" algn="l" rtl="0">
              <a:spcBef>
                <a:spcPts val="0"/>
              </a:spcBef>
              <a:spcAft>
                <a:spcPts val="0"/>
              </a:spcAft>
              <a:buSzPct val="100000"/>
              <a:buChar char="•"/>
            </a:pPr>
            <a:r>
              <a:rPr lang="ja"/>
              <a:t>コミュニケーション能力</a:t>
            </a:r>
            <a:endParaRPr/>
          </a:p>
          <a:p>
            <a:pPr marL="1371600" lvl="2" indent="-287655" algn="l" rtl="0">
              <a:spcBef>
                <a:spcPts val="0"/>
              </a:spcBef>
              <a:spcAft>
                <a:spcPts val="0"/>
              </a:spcAft>
              <a:buSzPct val="100000"/>
              <a:buChar char="•"/>
            </a:pPr>
            <a:r>
              <a:rPr lang="ja"/>
              <a:t>英語力</a:t>
            </a:r>
            <a:endParaRPr/>
          </a:p>
          <a:p>
            <a:pPr marL="1371600" lvl="2" indent="-287655" algn="l" rtl="0">
              <a:spcBef>
                <a:spcPts val="0"/>
              </a:spcBef>
              <a:spcAft>
                <a:spcPts val="0"/>
              </a:spcAft>
              <a:buSzPct val="100000"/>
              <a:buChar char="•"/>
            </a:pPr>
            <a:r>
              <a:rPr lang="ja"/>
              <a:t>リスペクトの精神</a:t>
            </a:r>
            <a:endParaRPr/>
          </a:p>
          <a:p>
            <a:pPr marL="914400" lvl="1" indent="-302418" algn="l" rtl="0">
              <a:spcBef>
                <a:spcPts val="0"/>
              </a:spcBef>
              <a:spcAft>
                <a:spcPts val="0"/>
              </a:spcAft>
              <a:buSzPct val="100000"/>
              <a:buChar char="•"/>
            </a:pPr>
            <a:r>
              <a:rPr lang="ja"/>
              <a:t>やる気、逆風に耐えられるメンタル</a:t>
            </a:r>
            <a:endParaRPr/>
          </a:p>
          <a:p>
            <a:pPr marL="914400" lvl="1" indent="-302418" algn="l" rtl="0">
              <a:spcBef>
                <a:spcPts val="0"/>
              </a:spcBef>
              <a:spcAft>
                <a:spcPts val="0"/>
              </a:spcAft>
              <a:buSzPct val="100000"/>
              <a:buChar char="•"/>
            </a:pPr>
            <a:r>
              <a:rPr lang="ja"/>
              <a:t>説明能力</a:t>
            </a:r>
            <a:endParaRPr/>
          </a:p>
          <a:p>
            <a:pPr marL="1371600" lvl="2" indent="-287655" algn="l" rtl="0">
              <a:spcBef>
                <a:spcPts val="0"/>
              </a:spcBef>
              <a:spcAft>
                <a:spcPts val="0"/>
              </a:spcAft>
              <a:buSzPct val="100000"/>
              <a:buChar char="•"/>
            </a:pPr>
            <a:r>
              <a:rPr lang="ja"/>
              <a:t>教育者としてのスキル</a:t>
            </a:r>
            <a:endParaRPr/>
          </a:p>
          <a:p>
            <a:pPr marL="914400" lvl="1" indent="-302418" algn="l" rtl="0">
              <a:spcBef>
                <a:spcPts val="0"/>
              </a:spcBef>
              <a:spcAft>
                <a:spcPts val="0"/>
              </a:spcAft>
              <a:buSzPct val="100000"/>
              <a:buChar char="•"/>
            </a:pPr>
            <a:r>
              <a:rPr lang="ja"/>
              <a:t>コミュニティ活動の経験と適正</a:t>
            </a:r>
            <a:endParaRPr/>
          </a:p>
          <a:p>
            <a:pPr marL="1371600" lvl="2" indent="-287655" algn="l" rtl="0">
              <a:spcBef>
                <a:spcPts val="0"/>
              </a:spcBef>
              <a:spcAft>
                <a:spcPts val="0"/>
              </a:spcAft>
              <a:buSzPct val="100000"/>
              <a:buChar char="•"/>
            </a:pPr>
            <a:r>
              <a:rPr lang="ja"/>
              <a:t>OSSの開発手法・</a:t>
            </a:r>
            <a:r>
              <a:rPr lang="ja">
                <a:solidFill>
                  <a:schemeClr val="dk1"/>
                </a:solidFill>
              </a:rPr>
              <a:t>エコシステム・</a:t>
            </a:r>
            <a:r>
              <a:rPr lang="ja"/>
              <a:t>コミュニティに対する正しい理解</a:t>
            </a:r>
            <a:endParaRPr/>
          </a:p>
          <a:p>
            <a:pPr marL="1371600" lvl="2" indent="-287655" algn="l" rtl="0">
              <a:spcBef>
                <a:spcPts val="0"/>
              </a:spcBef>
              <a:spcAft>
                <a:spcPts val="0"/>
              </a:spcAft>
              <a:buClr>
                <a:schemeClr val="accent1"/>
              </a:buClr>
              <a:buSzPct val="100000"/>
              <a:buChar char="•"/>
            </a:pPr>
            <a:r>
              <a:rPr lang="ja"/>
              <a:t>OSS、コミュニティの文化の理解とリスペクト</a:t>
            </a:r>
            <a:endParaRPr/>
          </a:p>
          <a:p>
            <a:pPr marL="1828800" lvl="3" indent="-282733" algn="l" rtl="0">
              <a:spcBef>
                <a:spcPts val="0"/>
              </a:spcBef>
              <a:spcAft>
                <a:spcPts val="0"/>
              </a:spcAft>
              <a:buSzPct val="100000"/>
              <a:buChar char="•"/>
            </a:pPr>
            <a:r>
              <a:rPr lang="ja"/>
              <a:t>参加者の価値観</a:t>
            </a:r>
            <a:endParaRPr/>
          </a:p>
          <a:p>
            <a:pPr marL="457200" lvl="0" indent="-317182" algn="l" rtl="0">
              <a:spcBef>
                <a:spcPts val="0"/>
              </a:spcBef>
              <a:spcAft>
                <a:spcPts val="0"/>
              </a:spcAft>
              <a:buClr>
                <a:schemeClr val="accent1"/>
              </a:buClr>
              <a:buSzPct val="100000"/>
              <a:buChar char="•"/>
            </a:pPr>
            <a:r>
              <a:rPr lang="ja"/>
              <a:t>OSPOが果たすべき責任は何？</a:t>
            </a:r>
            <a:endParaRPr/>
          </a:p>
          <a:p>
            <a:pPr marL="914400" lvl="1" indent="-302418" algn="l" rtl="0">
              <a:spcBef>
                <a:spcPts val="0"/>
              </a:spcBef>
              <a:spcAft>
                <a:spcPts val="0"/>
              </a:spcAft>
              <a:buSzPct val="100000"/>
              <a:buChar char="•"/>
            </a:pPr>
            <a:r>
              <a:rPr lang="ja"/>
              <a:t>ライセンス管理</a:t>
            </a:r>
            <a:endParaRPr/>
          </a:p>
          <a:p>
            <a:pPr marL="914400" lvl="1" indent="-302418" algn="l" rtl="0">
              <a:spcBef>
                <a:spcPts val="0"/>
              </a:spcBef>
              <a:spcAft>
                <a:spcPts val="0"/>
              </a:spcAft>
              <a:buSzPct val="100000"/>
              <a:buChar char="•"/>
            </a:pPr>
            <a:r>
              <a:rPr lang="ja"/>
              <a:t>事業戦略へのOSS活用提案・アドバイス</a:t>
            </a:r>
            <a:endParaRPr/>
          </a:p>
          <a:p>
            <a:pPr marL="914400" lvl="1" indent="-302418" algn="l" rtl="0">
              <a:spcBef>
                <a:spcPts val="0"/>
              </a:spcBef>
              <a:spcAft>
                <a:spcPts val="0"/>
              </a:spcAft>
              <a:buSzPct val="100000"/>
              <a:buChar char="•"/>
            </a:pPr>
            <a:r>
              <a:rPr lang="ja"/>
              <a:t>OSSコミュニティでの活動の活性化</a:t>
            </a:r>
            <a:endParaRPr/>
          </a:p>
          <a:p>
            <a:pPr marL="914400" lvl="1" indent="-302418" algn="l" rtl="0">
              <a:spcBef>
                <a:spcPts val="0"/>
              </a:spcBef>
              <a:spcAft>
                <a:spcPts val="0"/>
              </a:spcAft>
              <a:buSzPct val="100000"/>
              <a:buChar char="•"/>
            </a:pPr>
            <a:r>
              <a:rPr lang="ja"/>
              <a:t>OSSに関する啓蒙</a:t>
            </a:r>
            <a:endParaRPr/>
          </a:p>
          <a:p>
            <a:pPr marL="1371600" lvl="2" indent="-287655" algn="l" rtl="0">
              <a:spcBef>
                <a:spcPts val="0"/>
              </a:spcBef>
              <a:spcAft>
                <a:spcPts val="0"/>
              </a:spcAft>
              <a:buSzPct val="100000"/>
              <a:buChar char="•"/>
            </a:pPr>
            <a:r>
              <a:rPr lang="ja"/>
              <a:t>OSS使用時のリスクの啓蒙</a:t>
            </a:r>
            <a:endParaRPr/>
          </a:p>
          <a:p>
            <a:pPr marL="1371600" lvl="2" indent="-287655" algn="l" rtl="0">
              <a:spcBef>
                <a:spcPts val="0"/>
              </a:spcBef>
              <a:spcAft>
                <a:spcPts val="0"/>
              </a:spcAft>
              <a:buSzPct val="100000"/>
              <a:buChar char="•"/>
            </a:pPr>
            <a:r>
              <a:rPr lang="ja"/>
              <a:t>OSSの利用価値、コミュニティ効果の啓蒙</a:t>
            </a:r>
            <a:endParaRPr/>
          </a:p>
          <a:p>
            <a:pPr marL="914400" lvl="1" indent="-302418" algn="l" rtl="0">
              <a:spcBef>
                <a:spcPts val="0"/>
              </a:spcBef>
              <a:spcAft>
                <a:spcPts val="0"/>
              </a:spcAft>
              <a:buSzPct val="100000"/>
              <a:buChar char="•"/>
            </a:pPr>
            <a:r>
              <a:rPr lang="ja"/>
              <a:t>CLAの管理：</a:t>
            </a:r>
            <a:endParaRPr/>
          </a:p>
          <a:p>
            <a:pPr marL="457200" lvl="0" indent="-317182" algn="l" rtl="0">
              <a:spcBef>
                <a:spcPts val="0"/>
              </a:spcBef>
              <a:spcAft>
                <a:spcPts val="0"/>
              </a:spcAft>
              <a:buClr>
                <a:schemeClr val="accent1"/>
              </a:buClr>
              <a:buSzPct val="100000"/>
              <a:buChar char="•"/>
            </a:pPr>
            <a:r>
              <a:rPr lang="ja"/>
              <a:t>OSPOに与えらえるべき社内の権限</a:t>
            </a:r>
            <a:endParaRPr/>
          </a:p>
          <a:p>
            <a:pPr marL="914400" lvl="1" indent="-302418" algn="l" rtl="0">
              <a:spcBef>
                <a:spcPts val="0"/>
              </a:spcBef>
              <a:spcAft>
                <a:spcPts val="0"/>
              </a:spcAft>
              <a:buSzPct val="100000"/>
              <a:buChar char="•"/>
            </a:pPr>
            <a:r>
              <a:rPr lang="ja"/>
              <a:t>Cレベルと話せるパス</a:t>
            </a:r>
            <a:endParaRPr/>
          </a:p>
          <a:p>
            <a:pPr marL="457200" lvl="0" indent="-317182" algn="l" rtl="0">
              <a:spcBef>
                <a:spcPts val="0"/>
              </a:spcBef>
              <a:spcAft>
                <a:spcPts val="0"/>
              </a:spcAft>
              <a:buSzPct val="100000"/>
              <a:buChar char="•"/>
            </a:pPr>
            <a:endParaRPr/>
          </a:p>
        </p:txBody>
      </p:sp>
      <p:sp>
        <p:nvSpPr>
          <p:cNvPr id="94" name="Google Shape;94;p14"/>
          <p:cNvSpPr/>
          <p:nvPr/>
        </p:nvSpPr>
        <p:spPr>
          <a:xfrm>
            <a:off x="7190675" y="325875"/>
            <a:ext cx="1563600" cy="466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ja"/>
              <a:t>2023/12/22継続</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5"/>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a:t>そもそもOSPOとはなんですか</a:t>
            </a:r>
            <a:endParaRPr/>
          </a:p>
        </p:txBody>
      </p:sp>
      <p:sp>
        <p:nvSpPr>
          <p:cNvPr id="100" name="Google Shape;100;p15"/>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rmAutofit fontScale="77500" lnSpcReduction="20000"/>
          </a:bodyPr>
          <a:lstStyle/>
          <a:p>
            <a:pPr marL="457200" lvl="0" indent="-317182" algn="l" rtl="0">
              <a:spcBef>
                <a:spcPts val="0"/>
              </a:spcBef>
              <a:spcAft>
                <a:spcPts val="0"/>
              </a:spcAft>
              <a:buSzPct val="100000"/>
              <a:buChar char="•"/>
            </a:pPr>
            <a:r>
              <a:rPr lang="ja"/>
              <a:t>OSPOの最適なサイズは？</a:t>
            </a:r>
            <a:endParaRPr/>
          </a:p>
          <a:p>
            <a:pPr marL="914400" lvl="1" indent="-302418" algn="l" rtl="0">
              <a:spcBef>
                <a:spcPts val="0"/>
              </a:spcBef>
              <a:spcAft>
                <a:spcPts val="0"/>
              </a:spcAft>
              <a:buSzPct val="100000"/>
              <a:buChar char="•"/>
            </a:pPr>
            <a:r>
              <a:rPr lang="ja"/>
              <a:t>総エンジニアの何％ぐらい？</a:t>
            </a:r>
            <a:endParaRPr/>
          </a:p>
          <a:p>
            <a:pPr marL="1371600" lvl="2" indent="-287655" algn="l" rtl="0">
              <a:spcBef>
                <a:spcPts val="0"/>
              </a:spcBef>
              <a:spcAft>
                <a:spcPts val="0"/>
              </a:spcAft>
              <a:buSzPct val="100000"/>
              <a:buChar char="•"/>
            </a:pPr>
            <a:r>
              <a:rPr lang="ja"/>
              <a:t>OSSの成熟ステージで変わる（初期は大きく、次第に小さくなる）</a:t>
            </a:r>
            <a:endParaRPr/>
          </a:p>
          <a:p>
            <a:pPr marL="457200" lvl="0" indent="-317182" algn="l" rtl="0">
              <a:spcBef>
                <a:spcPts val="0"/>
              </a:spcBef>
              <a:spcAft>
                <a:spcPts val="0"/>
              </a:spcAft>
              <a:buClr>
                <a:schemeClr val="accent1"/>
              </a:buClr>
              <a:buSzPct val="100000"/>
              <a:buChar char="•"/>
            </a:pPr>
            <a:r>
              <a:rPr lang="ja"/>
              <a:t>OSPOに必要な社外との関わりは？</a:t>
            </a:r>
            <a:endParaRPr/>
          </a:p>
          <a:p>
            <a:pPr marL="914400" lvl="1" indent="-302418" algn="l" rtl="0">
              <a:spcBef>
                <a:spcPts val="0"/>
              </a:spcBef>
              <a:spcAft>
                <a:spcPts val="0"/>
              </a:spcAft>
              <a:buSzPct val="100000"/>
              <a:buChar char="•"/>
            </a:pPr>
            <a:r>
              <a:rPr lang="ja"/>
              <a:t>OSSイベントに参加、貢献、議論</a:t>
            </a:r>
            <a:endParaRPr/>
          </a:p>
          <a:p>
            <a:pPr marL="914400" lvl="1" indent="-302418" algn="l" rtl="0">
              <a:spcBef>
                <a:spcPts val="0"/>
              </a:spcBef>
              <a:spcAft>
                <a:spcPts val="0"/>
              </a:spcAft>
              <a:buSzPct val="100000"/>
              <a:buChar char="•"/>
            </a:pPr>
            <a:r>
              <a:rPr lang="ja"/>
              <a:t>社外の情報を吸収して社内に持ち帰る</a:t>
            </a:r>
            <a:endParaRPr/>
          </a:p>
          <a:p>
            <a:pPr marL="914400" lvl="1" indent="-302418" algn="l" rtl="0">
              <a:spcBef>
                <a:spcPts val="0"/>
              </a:spcBef>
              <a:spcAft>
                <a:spcPts val="0"/>
              </a:spcAft>
              <a:buSzPct val="100000"/>
              <a:buChar char="•"/>
            </a:pPr>
            <a:r>
              <a:rPr lang="ja"/>
              <a:t>会社（技術者）が社外に意見発信して、共通理解の形成をする支援</a:t>
            </a:r>
            <a:endParaRPr/>
          </a:p>
          <a:p>
            <a:pPr marL="914400" lvl="1" indent="-302418" algn="l" rtl="0">
              <a:spcBef>
                <a:spcPts val="0"/>
              </a:spcBef>
              <a:spcAft>
                <a:spcPts val="0"/>
              </a:spcAft>
              <a:buSzPct val="100000"/>
              <a:buChar char="•"/>
            </a:pPr>
            <a:r>
              <a:rPr lang="ja"/>
              <a:t>会社として自社の姿勢を示すことを推進（協力、仲間づくり、人材獲得）</a:t>
            </a:r>
            <a:endParaRPr/>
          </a:p>
          <a:p>
            <a:pPr marL="457200" lvl="0" indent="-317182" algn="l" rtl="0">
              <a:spcBef>
                <a:spcPts val="0"/>
              </a:spcBef>
              <a:spcAft>
                <a:spcPts val="0"/>
              </a:spcAft>
              <a:buSzPct val="100000"/>
              <a:buChar char="•"/>
            </a:pPr>
            <a:r>
              <a:rPr lang="ja"/>
              <a:t>OSSプロジェクトの運営</a:t>
            </a:r>
            <a:endParaRPr/>
          </a:p>
          <a:p>
            <a:pPr marL="914400" lvl="1" indent="-302418" algn="l" rtl="0">
              <a:spcBef>
                <a:spcPts val="0"/>
              </a:spcBef>
              <a:spcAft>
                <a:spcPts val="0"/>
              </a:spcAft>
              <a:buSzPct val="100000"/>
              <a:buChar char="•"/>
            </a:pPr>
            <a:r>
              <a:rPr lang="ja"/>
              <a:t>CLAの設定戦略、管理</a:t>
            </a:r>
            <a:endParaRPr/>
          </a:p>
          <a:p>
            <a:pPr marL="457200" lvl="0" indent="-317182" algn="l" rtl="0">
              <a:spcBef>
                <a:spcPts val="0"/>
              </a:spcBef>
              <a:spcAft>
                <a:spcPts val="0"/>
              </a:spcAft>
              <a:buSzPct val="100000"/>
              <a:buChar char="•"/>
            </a:pPr>
            <a:r>
              <a:rPr lang="ja"/>
              <a:t>M＆Aの視点</a:t>
            </a:r>
            <a:endParaRPr/>
          </a:p>
          <a:p>
            <a:pPr marL="914400" lvl="1" indent="-302418" algn="l" rtl="0">
              <a:spcBef>
                <a:spcPts val="0"/>
              </a:spcBef>
              <a:spcAft>
                <a:spcPts val="0"/>
              </a:spcAft>
              <a:buSzPct val="100000"/>
              <a:buChar char="•"/>
            </a:pPr>
            <a:r>
              <a:rPr lang="ja"/>
              <a:t>企業の買収だけでなく、プロジェクトの買収（？）の支援</a:t>
            </a:r>
            <a:endParaRPr/>
          </a:p>
          <a:p>
            <a:pPr marL="457200" lvl="0" indent="-317182" algn="l" rtl="0">
              <a:spcBef>
                <a:spcPts val="0"/>
              </a:spcBef>
              <a:spcAft>
                <a:spcPts val="0"/>
              </a:spcAft>
              <a:buSzPct val="100000"/>
              <a:buChar char="•"/>
            </a:pPr>
            <a:r>
              <a:rPr lang="ja"/>
              <a:t>OSPOのパフォーマンス評価方法</a:t>
            </a:r>
            <a:endParaRPr/>
          </a:p>
          <a:p>
            <a:pPr marL="914400" lvl="1" indent="-302418" algn="l" rtl="0">
              <a:spcBef>
                <a:spcPts val="0"/>
              </a:spcBef>
              <a:spcAft>
                <a:spcPts val="0"/>
              </a:spcAft>
              <a:buSzPct val="100000"/>
              <a:buChar char="•"/>
            </a:pPr>
            <a:r>
              <a:rPr lang="ja"/>
              <a:t>活動の正当化の方法</a:t>
            </a:r>
            <a:endParaRPr/>
          </a:p>
          <a:p>
            <a:pPr marL="914400" lvl="1" indent="-302418" algn="l" rtl="0">
              <a:spcBef>
                <a:spcPts val="0"/>
              </a:spcBef>
              <a:spcAft>
                <a:spcPts val="0"/>
              </a:spcAft>
              <a:buSzPct val="100000"/>
              <a:buChar char="•"/>
            </a:pPr>
            <a:r>
              <a:rPr lang="ja"/>
              <a:t>社内の理解者の割合</a:t>
            </a:r>
            <a:endParaRPr/>
          </a:p>
          <a:p>
            <a:pPr marL="914400" lvl="1" indent="-302418" algn="l" rtl="0">
              <a:spcBef>
                <a:spcPts val="0"/>
              </a:spcBef>
              <a:spcAft>
                <a:spcPts val="0"/>
              </a:spcAft>
              <a:buSzPct val="100000"/>
              <a:buChar char="•"/>
            </a:pPr>
            <a:r>
              <a:rPr lang="ja"/>
              <a:t>事業への貢献度の示し方</a:t>
            </a:r>
            <a:endParaRPr/>
          </a:p>
          <a:p>
            <a:pPr marL="914400" lvl="1" indent="-302418" algn="l" rtl="0">
              <a:spcBef>
                <a:spcPts val="0"/>
              </a:spcBef>
              <a:spcAft>
                <a:spcPts val="0"/>
              </a:spcAft>
              <a:buSzPct val="100000"/>
              <a:buChar char="•"/>
            </a:pPr>
            <a:r>
              <a:rPr lang="ja"/>
              <a:t>認知度</a:t>
            </a:r>
            <a:endParaRPr/>
          </a:p>
          <a:p>
            <a:pPr marL="457200" lvl="0" indent="-317182" algn="l" rtl="0">
              <a:spcBef>
                <a:spcPts val="0"/>
              </a:spcBef>
              <a:spcAft>
                <a:spcPts val="0"/>
              </a:spcAft>
              <a:buSzPct val="100000"/>
              <a:buChar char="•"/>
            </a:pPr>
            <a:r>
              <a:rPr lang="ja"/>
              <a:t>OSPOのスタートは何か</a:t>
            </a:r>
            <a:endParaRPr/>
          </a:p>
          <a:p>
            <a:pPr marL="914400" lvl="1" indent="-302418" algn="l" rtl="0">
              <a:spcBef>
                <a:spcPts val="0"/>
              </a:spcBef>
              <a:spcAft>
                <a:spcPts val="0"/>
              </a:spcAft>
              <a:buSzPct val="100000"/>
              <a:buChar char="•"/>
            </a:pPr>
            <a:r>
              <a:rPr lang="ja"/>
              <a:t>ライセンス遵守、教育</a:t>
            </a:r>
            <a:endParaRPr/>
          </a:p>
          <a:p>
            <a:pPr marL="457200" lvl="0" indent="-317182" algn="l" rtl="0">
              <a:spcBef>
                <a:spcPts val="0"/>
              </a:spcBef>
              <a:spcAft>
                <a:spcPts val="0"/>
              </a:spcAft>
              <a:buSzPct val="100000"/>
              <a:buChar char="•"/>
            </a:pPr>
            <a:endParaRPr/>
          </a:p>
          <a:p>
            <a:pPr marL="457200" lvl="0" indent="-317182" algn="l" rtl="0">
              <a:spcBef>
                <a:spcPts val="0"/>
              </a:spcBef>
              <a:spcAft>
                <a:spcPts val="0"/>
              </a:spcAft>
              <a:buSzPct val="100000"/>
              <a:buChar char="•"/>
            </a:pPr>
            <a:endParaRPr/>
          </a:p>
          <a:p>
            <a:pPr marL="457200" lvl="0" indent="-317182" algn="l" rtl="0">
              <a:spcBef>
                <a:spcPts val="0"/>
              </a:spcBef>
              <a:spcAft>
                <a:spcPts val="0"/>
              </a:spcAft>
              <a:buSzPct val="100000"/>
              <a:buChar char="•"/>
            </a:pPr>
            <a:r>
              <a:rPr lang="ja"/>
              <a:t>参考：</a:t>
            </a:r>
            <a:r>
              <a:rPr lang="ja" u="sng">
                <a:solidFill>
                  <a:schemeClr val="hlink"/>
                </a:solidFill>
                <a:hlinkClick r:id="rId3"/>
              </a:rPr>
              <a:t>https://ospomindmap.todogroup.org/jp</a:t>
            </a:r>
            <a:endParaRPr/>
          </a:p>
          <a:p>
            <a:pPr marL="457200" lvl="0" indent="-317182" algn="l" rtl="0">
              <a:spcBef>
                <a:spcPts val="0"/>
              </a:spcBef>
              <a:spcAft>
                <a:spcPts val="0"/>
              </a:spcAft>
              <a:buSzPct val="100000"/>
              <a:buChar char="•"/>
            </a:pPr>
            <a:endParaRPr/>
          </a:p>
        </p:txBody>
      </p:sp>
      <p:sp>
        <p:nvSpPr>
          <p:cNvPr id="101" name="Google Shape;101;p15"/>
          <p:cNvSpPr/>
          <p:nvPr/>
        </p:nvSpPr>
        <p:spPr>
          <a:xfrm>
            <a:off x="7190675" y="325875"/>
            <a:ext cx="1563600" cy="466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ja"/>
              <a:t>2023/12/22継続</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6"/>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a:t>そもそもOSPOとはなんですか</a:t>
            </a:r>
            <a:endParaRPr/>
          </a:p>
        </p:txBody>
      </p:sp>
      <p:sp>
        <p:nvSpPr>
          <p:cNvPr id="107" name="Google Shape;107;p16"/>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rmAutofit fontScale="92500" lnSpcReduction="20000"/>
          </a:bodyPr>
          <a:lstStyle/>
          <a:p>
            <a:pPr marL="457200" lvl="0" indent="-334327" algn="l" rtl="0">
              <a:spcBef>
                <a:spcPts val="0"/>
              </a:spcBef>
              <a:spcAft>
                <a:spcPts val="0"/>
              </a:spcAft>
              <a:buSzPct val="100000"/>
              <a:buChar char="•"/>
            </a:pPr>
            <a:r>
              <a:rPr lang="ja"/>
              <a:t>組織全体がOSSを適切に扱えるようになるために（いろいろな方法で）働きかけるのがOSPO</a:t>
            </a:r>
            <a:endParaRPr/>
          </a:p>
          <a:p>
            <a:pPr marL="457200" lvl="0" indent="-334327" algn="l" rtl="0">
              <a:spcBef>
                <a:spcPts val="0"/>
              </a:spcBef>
              <a:spcAft>
                <a:spcPts val="0"/>
              </a:spcAft>
              <a:buSzPct val="100000"/>
              <a:buChar char="•"/>
            </a:pPr>
            <a:r>
              <a:rPr lang="ja"/>
              <a:t>組織全体か、OSSを扱う部門だけが対象か？</a:t>
            </a:r>
            <a:endParaRPr/>
          </a:p>
          <a:p>
            <a:pPr marL="914400" lvl="1" indent="-316706" algn="l" rtl="0">
              <a:spcBef>
                <a:spcPts val="0"/>
              </a:spcBef>
              <a:spcAft>
                <a:spcPts val="0"/>
              </a:spcAft>
              <a:buSzPct val="100000"/>
              <a:buChar char="•"/>
            </a:pPr>
            <a:r>
              <a:rPr lang="ja"/>
              <a:t>DXを例にとると、ITを組織全体が活用して変化すること＝＝これのOSS版</a:t>
            </a:r>
            <a:endParaRPr/>
          </a:p>
          <a:p>
            <a:pPr marL="914400" lvl="1" indent="-316706" algn="l" rtl="0">
              <a:spcBef>
                <a:spcPts val="0"/>
              </a:spcBef>
              <a:spcAft>
                <a:spcPts val="0"/>
              </a:spcAft>
              <a:buSzPct val="100000"/>
              <a:buChar char="•"/>
            </a:pPr>
            <a:r>
              <a:rPr lang="ja"/>
              <a:t>OSSに適合して組織全体が変容する必要がある</a:t>
            </a:r>
            <a:endParaRPr/>
          </a:p>
          <a:p>
            <a:pPr marL="914400" lvl="1" indent="-316706" algn="l" rtl="0">
              <a:spcBef>
                <a:spcPts val="0"/>
              </a:spcBef>
              <a:spcAft>
                <a:spcPts val="0"/>
              </a:spcAft>
              <a:buSzPct val="100000"/>
              <a:buChar char="•"/>
            </a:pPr>
            <a:r>
              <a:rPr lang="ja"/>
              <a:t>Open Source Companyになる、ということ</a:t>
            </a:r>
            <a:endParaRPr/>
          </a:p>
          <a:p>
            <a:pPr marL="1371600" lvl="2" indent="-299085" algn="l" rtl="0">
              <a:spcBef>
                <a:spcPts val="0"/>
              </a:spcBef>
              <a:spcAft>
                <a:spcPts val="0"/>
              </a:spcAft>
              <a:buSzPct val="100000"/>
              <a:buChar char="•"/>
            </a:pPr>
            <a:r>
              <a:rPr lang="ja"/>
              <a:t>RedHatみたいになること</a:t>
            </a:r>
            <a:endParaRPr/>
          </a:p>
          <a:p>
            <a:pPr marL="1828800" lvl="3" indent="-293211" algn="l" rtl="0">
              <a:spcBef>
                <a:spcPts val="0"/>
              </a:spcBef>
              <a:spcAft>
                <a:spcPts val="0"/>
              </a:spcAft>
              <a:buSzPct val="100000"/>
              <a:buChar char="•"/>
            </a:pPr>
            <a:r>
              <a:rPr lang="ja"/>
              <a:t>技術開発、情報発信の仕方がOpen Source Communityの手法を取り入れている</a:t>
            </a:r>
            <a:endParaRPr/>
          </a:p>
          <a:p>
            <a:pPr marL="1828800" lvl="3" indent="-293211" algn="l" rtl="0">
              <a:spcBef>
                <a:spcPts val="0"/>
              </a:spcBef>
              <a:spcAft>
                <a:spcPts val="0"/>
              </a:spcAft>
              <a:buSzPct val="100000"/>
              <a:buChar char="•"/>
            </a:pPr>
            <a:r>
              <a:rPr lang="ja"/>
              <a:t>組織とOSSコミュニティのブリッジがうまくできている会社</a:t>
            </a:r>
            <a:endParaRPr/>
          </a:p>
          <a:p>
            <a:pPr marL="2286000" lvl="4" indent="-293211" algn="l" rtl="0">
              <a:spcBef>
                <a:spcPts val="0"/>
              </a:spcBef>
              <a:spcAft>
                <a:spcPts val="0"/>
              </a:spcAft>
              <a:buSzPct val="100000"/>
              <a:buChar char="•"/>
            </a:pPr>
            <a:r>
              <a:rPr lang="ja"/>
              <a:t>ブリッジとは、企業の常識とコミュニティの常識の両方を理解してコミュニケーションができる</a:t>
            </a:r>
            <a:endParaRPr/>
          </a:p>
          <a:p>
            <a:pPr marL="2286000" lvl="4" indent="-293211" algn="l" rtl="0">
              <a:spcBef>
                <a:spcPts val="0"/>
              </a:spcBef>
              <a:spcAft>
                <a:spcPts val="0"/>
              </a:spcAft>
              <a:buSzPct val="100000"/>
              <a:buChar char="•"/>
            </a:pPr>
            <a:r>
              <a:rPr lang="ja"/>
              <a:t>組織の全体、各部門、各人がブリッジを行える、行っている状態を作る</a:t>
            </a:r>
            <a:endParaRPr/>
          </a:p>
          <a:p>
            <a:pPr marL="914400" lvl="1" indent="-316706" algn="l" rtl="0">
              <a:spcBef>
                <a:spcPts val="0"/>
              </a:spcBef>
              <a:spcAft>
                <a:spcPts val="0"/>
              </a:spcAft>
              <a:buSzPct val="100000"/>
              <a:buChar char="•"/>
            </a:pPr>
            <a:r>
              <a:rPr lang="ja"/>
              <a:t>ブリッジの例</a:t>
            </a:r>
            <a:endParaRPr/>
          </a:p>
          <a:p>
            <a:pPr marL="1371600" lvl="2" indent="-299085" algn="l" rtl="0">
              <a:spcBef>
                <a:spcPts val="0"/>
              </a:spcBef>
              <a:spcAft>
                <a:spcPts val="0"/>
              </a:spcAft>
              <a:buSzPct val="100000"/>
              <a:buChar char="•"/>
            </a:pPr>
            <a:r>
              <a:rPr lang="ja"/>
              <a:t>企画部と開発部がOSSコミュニティの理解をベースに</a:t>
            </a:r>
            <a:r>
              <a:rPr lang="ja">
                <a:solidFill>
                  <a:schemeClr val="dk1"/>
                </a:solidFill>
              </a:rPr>
              <a:t>OSSを利用した</a:t>
            </a:r>
            <a:r>
              <a:rPr lang="ja"/>
              <a:t>新しいビジネスの立ち上げがスムーズにできる状態</a:t>
            </a:r>
            <a:endParaRPr/>
          </a:p>
          <a:p>
            <a:pPr marL="1371600" lvl="2" indent="-299085" algn="l" rtl="0">
              <a:spcBef>
                <a:spcPts val="0"/>
              </a:spcBef>
              <a:spcAft>
                <a:spcPts val="0"/>
              </a:spcAft>
              <a:buSzPct val="100000"/>
              <a:buChar char="•"/>
            </a:pPr>
            <a:r>
              <a:rPr lang="ja"/>
              <a:t>OSS貢献が事業メリットになっていることを組織の全員が理解し、実践している状態</a:t>
            </a:r>
            <a:endParaRPr/>
          </a:p>
          <a:p>
            <a:pPr marL="1828800" lvl="3" indent="-293211" algn="l" rtl="0">
              <a:spcBef>
                <a:spcPts val="0"/>
              </a:spcBef>
              <a:spcAft>
                <a:spcPts val="0"/>
              </a:spcAft>
              <a:buSzPct val="100000"/>
              <a:buChar char="•"/>
            </a:pPr>
            <a:r>
              <a:rPr lang="ja">
                <a:solidFill>
                  <a:schemeClr val="dk1"/>
                </a:solidFill>
              </a:rPr>
              <a:t>OSS貢献が事業活動につながっていることの説明がついている状態</a:t>
            </a:r>
            <a:endParaRPr>
              <a:solidFill>
                <a:schemeClr val="dk1"/>
              </a:solidFill>
            </a:endParaRPr>
          </a:p>
          <a:p>
            <a:pPr marL="1371600" lvl="2" indent="-299085" algn="l" rtl="0">
              <a:spcBef>
                <a:spcPts val="0"/>
              </a:spcBef>
              <a:spcAft>
                <a:spcPts val="0"/>
              </a:spcAft>
              <a:buClr>
                <a:schemeClr val="dk1"/>
              </a:buClr>
              <a:buSzPct val="100000"/>
              <a:buChar char="•"/>
            </a:pPr>
            <a:r>
              <a:rPr lang="ja">
                <a:solidFill>
                  <a:schemeClr val="dk1"/>
                </a:solidFill>
              </a:rPr>
              <a:t>OSSが世の中に占める割合が大きくなり、世の中の変化に事業活動を合わせる必要があり、その手段がOSS活動に関わってゆくことになる</a:t>
            </a:r>
            <a:endParaRPr>
              <a:solidFill>
                <a:schemeClr val="dk1"/>
              </a:solidFill>
            </a:endParaRPr>
          </a:p>
          <a:p>
            <a:pPr marL="1828800" lvl="3" indent="-293211" algn="l" rtl="0">
              <a:spcBef>
                <a:spcPts val="0"/>
              </a:spcBef>
              <a:spcAft>
                <a:spcPts val="0"/>
              </a:spcAft>
              <a:buClr>
                <a:schemeClr val="dk1"/>
              </a:buClr>
              <a:buSzPct val="100000"/>
              <a:buChar char="•"/>
            </a:pPr>
            <a:r>
              <a:rPr lang="ja">
                <a:solidFill>
                  <a:schemeClr val="dk1"/>
                </a:solidFill>
              </a:rPr>
              <a:t>AIへの対応、新たな規制（セキュリティ、倫理等）への対応</a:t>
            </a:r>
            <a:endParaRPr>
              <a:solidFill>
                <a:schemeClr val="dk1"/>
              </a:solidFill>
            </a:endParaRPr>
          </a:p>
          <a:p>
            <a:pPr marL="1371600" lvl="2" indent="-299085" algn="l" rtl="0">
              <a:spcBef>
                <a:spcPts val="0"/>
              </a:spcBef>
              <a:spcAft>
                <a:spcPts val="0"/>
              </a:spcAft>
              <a:buClr>
                <a:schemeClr val="dk1"/>
              </a:buClr>
              <a:buSzPct val="100000"/>
              <a:buChar char="•"/>
            </a:pPr>
            <a:r>
              <a:rPr lang="ja">
                <a:solidFill>
                  <a:schemeClr val="dk1"/>
                </a:solidFill>
              </a:rPr>
              <a:t>事業メリットの例</a:t>
            </a:r>
            <a:endParaRPr>
              <a:solidFill>
                <a:schemeClr val="dk1"/>
              </a:solidFill>
            </a:endParaRPr>
          </a:p>
          <a:p>
            <a:pPr marL="1828800" lvl="3" indent="-293211" algn="l" rtl="0">
              <a:spcBef>
                <a:spcPts val="0"/>
              </a:spcBef>
              <a:spcAft>
                <a:spcPts val="0"/>
              </a:spcAft>
              <a:buClr>
                <a:schemeClr val="dk1"/>
              </a:buClr>
              <a:buSzPct val="100000"/>
              <a:buChar char="•"/>
            </a:pPr>
            <a:r>
              <a:rPr lang="ja">
                <a:solidFill>
                  <a:schemeClr val="dk1"/>
                </a:solidFill>
              </a:rPr>
              <a:t>SoCベンダーであれば、OSS活動により、SoCのLinux Distributionがコミュニティで長期に安定的に維持され、SoC採用の増加や差別化につながる</a:t>
            </a:r>
            <a:endParaRPr>
              <a:solidFill>
                <a:schemeClr val="dk1"/>
              </a:solidFill>
            </a:endParaRPr>
          </a:p>
          <a:p>
            <a:pPr marL="1828800" lvl="3" indent="-293211" algn="l" rtl="0">
              <a:spcBef>
                <a:spcPts val="0"/>
              </a:spcBef>
              <a:spcAft>
                <a:spcPts val="0"/>
              </a:spcAft>
              <a:buClr>
                <a:schemeClr val="dk1"/>
              </a:buClr>
              <a:buSzPct val="100000"/>
              <a:buChar char="•"/>
            </a:pPr>
            <a:r>
              <a:rPr lang="ja">
                <a:solidFill>
                  <a:schemeClr val="dk1"/>
                </a:solidFill>
              </a:rPr>
              <a:t>Openな活動になっていることが企業のアピールとなり、製品の信頼度や採用に有利に働く</a:t>
            </a:r>
            <a:endParaRPr>
              <a:solidFill>
                <a:schemeClr val="dk1"/>
              </a:solidFill>
            </a:endParaRPr>
          </a:p>
          <a:p>
            <a:pPr marL="1828800" lvl="3" indent="-293211" algn="l" rtl="0">
              <a:spcBef>
                <a:spcPts val="0"/>
              </a:spcBef>
              <a:spcAft>
                <a:spcPts val="0"/>
              </a:spcAft>
              <a:buClr>
                <a:schemeClr val="dk1"/>
              </a:buClr>
              <a:buSzPct val="100000"/>
              <a:buChar char="•"/>
            </a:pPr>
            <a:r>
              <a:rPr lang="ja">
                <a:solidFill>
                  <a:schemeClr val="dk1"/>
                </a:solidFill>
              </a:rPr>
              <a:t>OSSを使用してもらうことによって、ユーザーに潜在的なマーケットを創出する</a:t>
            </a:r>
            <a:endParaRPr>
              <a:solidFill>
                <a:schemeClr val="dk1"/>
              </a:solidFill>
            </a:endParaRPr>
          </a:p>
          <a:p>
            <a:pPr marL="2286000" lvl="4" indent="-293211" algn="l" rtl="0">
              <a:spcBef>
                <a:spcPts val="0"/>
              </a:spcBef>
              <a:spcAft>
                <a:spcPts val="0"/>
              </a:spcAft>
              <a:buClr>
                <a:schemeClr val="dk1"/>
              </a:buClr>
              <a:buSzPct val="100000"/>
              <a:buChar char="•"/>
            </a:pPr>
            <a:r>
              <a:rPr lang="ja">
                <a:solidFill>
                  <a:schemeClr val="dk1"/>
                </a:solidFill>
              </a:rPr>
              <a:t>OSSの利用者を増やすことによって、そのサポートビジネスを成立させる</a:t>
            </a:r>
            <a:endParaRPr>
              <a:solidFill>
                <a:schemeClr val="dk1"/>
              </a:solidFill>
            </a:endParaRPr>
          </a:p>
          <a:p>
            <a:pPr marL="2286000" lvl="4" indent="-293211" algn="l" rtl="0">
              <a:spcBef>
                <a:spcPts val="0"/>
              </a:spcBef>
              <a:spcAft>
                <a:spcPts val="0"/>
              </a:spcAft>
              <a:buClr>
                <a:schemeClr val="dk1"/>
              </a:buClr>
              <a:buSzPct val="100000"/>
              <a:buChar char="•"/>
            </a:pPr>
            <a:r>
              <a:rPr lang="ja">
                <a:solidFill>
                  <a:schemeClr val="dk1"/>
                </a:solidFill>
              </a:rPr>
              <a:t>Androidの例</a:t>
            </a:r>
            <a:endParaRPr>
              <a:solidFill>
                <a:schemeClr val="dk1"/>
              </a:solidFill>
            </a:endParaRPr>
          </a:p>
        </p:txBody>
      </p:sp>
      <p:sp>
        <p:nvSpPr>
          <p:cNvPr id="108" name="Google Shape;108;p16"/>
          <p:cNvSpPr/>
          <p:nvPr/>
        </p:nvSpPr>
        <p:spPr>
          <a:xfrm>
            <a:off x="7190675" y="325875"/>
            <a:ext cx="1563600" cy="466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ja"/>
              <a:t>2024/1/26継続</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7"/>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a:t>そもそもOSPOとはなんですか</a:t>
            </a:r>
            <a:endParaRPr/>
          </a:p>
        </p:txBody>
      </p:sp>
      <p:sp>
        <p:nvSpPr>
          <p:cNvPr id="114" name="Google Shape;114;p17"/>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rmAutofit fontScale="62500" lnSpcReduction="20000"/>
          </a:bodyPr>
          <a:lstStyle/>
          <a:p>
            <a:pPr marL="457200" lvl="0" indent="-300037" algn="l" rtl="0">
              <a:spcBef>
                <a:spcPts val="0"/>
              </a:spcBef>
              <a:spcAft>
                <a:spcPts val="0"/>
              </a:spcAft>
              <a:buSzPct val="100000"/>
              <a:buChar char="•"/>
            </a:pPr>
            <a:r>
              <a:rPr lang="ja">
                <a:solidFill>
                  <a:schemeClr val="dk1"/>
                </a:solidFill>
              </a:rPr>
              <a:t>「OSPOとは、組織のOSS Journeyの水先案内人である」と言ってみてはどうか？</a:t>
            </a:r>
            <a:endParaRPr>
              <a:solidFill>
                <a:schemeClr val="dk1"/>
              </a:solidFill>
            </a:endParaRPr>
          </a:p>
          <a:p>
            <a:pPr marL="914400" lvl="1" indent="-288131" algn="l" rtl="0">
              <a:spcBef>
                <a:spcPts val="0"/>
              </a:spcBef>
              <a:spcAft>
                <a:spcPts val="0"/>
              </a:spcAft>
              <a:buClr>
                <a:schemeClr val="dk1"/>
              </a:buClr>
              <a:buSzPct val="100000"/>
              <a:buChar char="•"/>
            </a:pPr>
            <a:r>
              <a:rPr lang="ja">
                <a:solidFill>
                  <a:schemeClr val="dk1"/>
                </a:solidFill>
              </a:rPr>
              <a:t>組織のOSS Journeyは、それぞれの組織で異なる</a:t>
            </a:r>
            <a:endParaRPr>
              <a:solidFill>
                <a:schemeClr val="dk1"/>
              </a:solidFill>
            </a:endParaRPr>
          </a:p>
          <a:p>
            <a:pPr marL="914400" lvl="1" indent="-288131" algn="l" rtl="0">
              <a:spcBef>
                <a:spcPts val="0"/>
              </a:spcBef>
              <a:spcAft>
                <a:spcPts val="0"/>
              </a:spcAft>
              <a:buClr>
                <a:schemeClr val="dk1"/>
              </a:buClr>
              <a:buSzPct val="100000"/>
              <a:buChar char="•"/>
            </a:pPr>
            <a:r>
              <a:rPr lang="ja">
                <a:solidFill>
                  <a:schemeClr val="dk1"/>
                </a:solidFill>
              </a:rPr>
              <a:t>先に行って引っ張るというより、支援して後押しだと思うので、水先案内人という言葉がしっくりこない</a:t>
            </a:r>
            <a:endParaRPr>
              <a:solidFill>
                <a:schemeClr val="dk1"/>
              </a:solidFill>
            </a:endParaRPr>
          </a:p>
          <a:p>
            <a:pPr marL="457200" lvl="0" indent="-300037" algn="l" rtl="0">
              <a:spcBef>
                <a:spcPts val="0"/>
              </a:spcBef>
              <a:spcAft>
                <a:spcPts val="0"/>
              </a:spcAft>
              <a:buClr>
                <a:schemeClr val="dk1"/>
              </a:buClr>
              <a:buSzPct val="100000"/>
              <a:buChar char="•"/>
            </a:pPr>
            <a:r>
              <a:rPr lang="ja">
                <a:solidFill>
                  <a:schemeClr val="dk1"/>
                </a:solidFill>
              </a:rPr>
              <a:t>組織としての方向、戦略があって、そのためにOSS、OSSコミュニティとどう関わってゆくと良いかを示して、それを進めるのがOSPOの役割</a:t>
            </a:r>
            <a:endParaRPr>
              <a:solidFill>
                <a:schemeClr val="dk1"/>
              </a:solidFill>
            </a:endParaRPr>
          </a:p>
          <a:p>
            <a:pPr marL="914400" lvl="1" indent="-288131" algn="l" rtl="0">
              <a:spcBef>
                <a:spcPts val="0"/>
              </a:spcBef>
              <a:spcAft>
                <a:spcPts val="0"/>
              </a:spcAft>
              <a:buClr>
                <a:schemeClr val="dk1"/>
              </a:buClr>
              <a:buSzPct val="100000"/>
              <a:buChar char="•"/>
            </a:pPr>
            <a:r>
              <a:rPr lang="ja">
                <a:solidFill>
                  <a:schemeClr val="dk1"/>
                </a:solidFill>
              </a:rPr>
              <a:t>そのためのアクションは、それぞれの組織の状態（ステージ）によって異なる</a:t>
            </a:r>
            <a:endParaRPr>
              <a:solidFill>
                <a:schemeClr val="dk1"/>
              </a:solidFill>
            </a:endParaRPr>
          </a:p>
          <a:p>
            <a:pPr marL="914400" lvl="1" indent="-288131" algn="l" rtl="0">
              <a:spcBef>
                <a:spcPts val="0"/>
              </a:spcBef>
              <a:spcAft>
                <a:spcPts val="0"/>
              </a:spcAft>
              <a:buClr>
                <a:schemeClr val="dk1"/>
              </a:buClr>
              <a:buSzPct val="100000"/>
              <a:buChar char="•"/>
            </a:pPr>
            <a:r>
              <a:rPr lang="ja">
                <a:solidFill>
                  <a:schemeClr val="dk1"/>
                </a:solidFill>
              </a:rPr>
              <a:t>例えば、</a:t>
            </a:r>
            <a:endParaRPr>
              <a:solidFill>
                <a:schemeClr val="dk1"/>
              </a:solidFill>
            </a:endParaRPr>
          </a:p>
          <a:p>
            <a:pPr marL="1371600" lvl="2" indent="-276225" algn="l" rtl="0">
              <a:spcBef>
                <a:spcPts val="0"/>
              </a:spcBef>
              <a:spcAft>
                <a:spcPts val="0"/>
              </a:spcAft>
              <a:buClr>
                <a:schemeClr val="dk1"/>
              </a:buClr>
              <a:buSzPct val="100000"/>
              <a:buChar char="•"/>
            </a:pPr>
            <a:r>
              <a:rPr lang="ja">
                <a:solidFill>
                  <a:schemeClr val="dk1"/>
                </a:solidFill>
              </a:rPr>
              <a:t>組織内の既存の部門に働きかける</a:t>
            </a:r>
            <a:endParaRPr>
              <a:solidFill>
                <a:schemeClr val="dk1"/>
              </a:solidFill>
            </a:endParaRPr>
          </a:p>
          <a:p>
            <a:pPr marL="1371600" lvl="2" indent="-276225" algn="l" rtl="0">
              <a:spcBef>
                <a:spcPts val="0"/>
              </a:spcBef>
              <a:spcAft>
                <a:spcPts val="0"/>
              </a:spcAft>
              <a:buClr>
                <a:schemeClr val="dk1"/>
              </a:buClr>
              <a:buSzPct val="100000"/>
              <a:buChar char="•"/>
            </a:pPr>
            <a:r>
              <a:rPr lang="ja">
                <a:solidFill>
                  <a:schemeClr val="dk1"/>
                </a:solidFill>
              </a:rPr>
              <a:t>Corporate PortfolioとProject Managementの間を取り持つのがOSPO</a:t>
            </a:r>
            <a:endParaRPr>
              <a:solidFill>
                <a:schemeClr val="dk1"/>
              </a:solidFill>
            </a:endParaRPr>
          </a:p>
          <a:p>
            <a:pPr marL="1371600" lvl="2" indent="-276225" algn="l" rtl="0">
              <a:spcBef>
                <a:spcPts val="0"/>
              </a:spcBef>
              <a:spcAft>
                <a:spcPts val="0"/>
              </a:spcAft>
              <a:buClr>
                <a:schemeClr val="dk1"/>
              </a:buClr>
              <a:buSzPct val="100000"/>
              <a:buChar char="•"/>
            </a:pPr>
            <a:r>
              <a:rPr lang="ja">
                <a:solidFill>
                  <a:schemeClr val="dk1"/>
                </a:solidFill>
              </a:rPr>
              <a:t>ステージ０では、コンプライアンス遵守の必要性を示し、ライセンスの理解を広げる活動を行う</a:t>
            </a:r>
            <a:endParaRPr>
              <a:solidFill>
                <a:schemeClr val="dk1"/>
              </a:solidFill>
            </a:endParaRPr>
          </a:p>
          <a:p>
            <a:pPr marL="1371600" lvl="2" indent="-276225" algn="l" rtl="0">
              <a:spcBef>
                <a:spcPts val="0"/>
              </a:spcBef>
              <a:spcAft>
                <a:spcPts val="0"/>
              </a:spcAft>
              <a:buClr>
                <a:schemeClr val="dk1"/>
              </a:buClr>
              <a:buSzPct val="100000"/>
              <a:buChar char="•"/>
            </a:pPr>
            <a:r>
              <a:rPr lang="ja">
                <a:solidFill>
                  <a:schemeClr val="dk1"/>
                </a:solidFill>
              </a:rPr>
              <a:t>ステージ１では、コミュニティへのバグフィックスの提供の効果を伝える</a:t>
            </a:r>
            <a:endParaRPr>
              <a:solidFill>
                <a:schemeClr val="dk1"/>
              </a:solidFill>
            </a:endParaRPr>
          </a:p>
          <a:p>
            <a:pPr marL="1371600" lvl="2" indent="-276225" algn="l" rtl="0">
              <a:spcBef>
                <a:spcPts val="0"/>
              </a:spcBef>
              <a:spcAft>
                <a:spcPts val="0"/>
              </a:spcAft>
              <a:buClr>
                <a:schemeClr val="dk1"/>
              </a:buClr>
              <a:buSzPct val="100000"/>
              <a:buChar char="•"/>
            </a:pPr>
            <a:r>
              <a:rPr lang="ja">
                <a:solidFill>
                  <a:schemeClr val="dk1"/>
                </a:solidFill>
              </a:rPr>
              <a:t>ステージ２では、OSS貢献による開発工数（コスト）の分担メリットを示す。OSS活動しやすい社内の仕組み（制度）を作る。</a:t>
            </a:r>
            <a:endParaRPr>
              <a:solidFill>
                <a:schemeClr val="dk1"/>
              </a:solidFill>
            </a:endParaRPr>
          </a:p>
          <a:p>
            <a:pPr marL="1371600" lvl="2" indent="-276225" algn="l" rtl="0">
              <a:spcBef>
                <a:spcPts val="0"/>
              </a:spcBef>
              <a:spcAft>
                <a:spcPts val="0"/>
              </a:spcAft>
              <a:buClr>
                <a:schemeClr val="dk1"/>
              </a:buClr>
              <a:buSzPct val="100000"/>
              <a:buChar char="•"/>
            </a:pPr>
            <a:r>
              <a:rPr lang="ja">
                <a:solidFill>
                  <a:schemeClr val="dk1"/>
                </a:solidFill>
              </a:rPr>
              <a:t>ステージ３では、</a:t>
            </a:r>
            <a:endParaRPr>
              <a:solidFill>
                <a:schemeClr val="dk1"/>
              </a:solidFill>
            </a:endParaRPr>
          </a:p>
          <a:p>
            <a:pPr marL="1371600" lvl="2" indent="-276225" algn="l" rtl="0">
              <a:spcBef>
                <a:spcPts val="0"/>
              </a:spcBef>
              <a:spcAft>
                <a:spcPts val="0"/>
              </a:spcAft>
              <a:buClr>
                <a:schemeClr val="dk1"/>
              </a:buClr>
              <a:buSzPct val="100000"/>
              <a:buChar char="•"/>
            </a:pPr>
            <a:r>
              <a:rPr lang="ja">
                <a:solidFill>
                  <a:schemeClr val="dk1"/>
                </a:solidFill>
              </a:rPr>
              <a:t>ステージ４では、</a:t>
            </a:r>
            <a:endParaRPr>
              <a:solidFill>
                <a:schemeClr val="dk1"/>
              </a:solidFill>
            </a:endParaRPr>
          </a:p>
          <a:p>
            <a:pPr marL="914400" lvl="1" indent="-288131" algn="l" rtl="0">
              <a:spcBef>
                <a:spcPts val="0"/>
              </a:spcBef>
              <a:spcAft>
                <a:spcPts val="0"/>
              </a:spcAft>
              <a:buClr>
                <a:schemeClr val="dk1"/>
              </a:buClr>
              <a:buSzPct val="100000"/>
              <a:buChar char="•"/>
            </a:pPr>
            <a:r>
              <a:rPr lang="ja">
                <a:solidFill>
                  <a:schemeClr val="dk1"/>
                </a:solidFill>
              </a:rPr>
              <a:t>OSSに対する組織の形が企業によって異なるので、</a:t>
            </a:r>
            <a:endParaRPr>
              <a:solidFill>
                <a:schemeClr val="dk1"/>
              </a:solidFill>
            </a:endParaRPr>
          </a:p>
          <a:p>
            <a:pPr marL="457200" lvl="0" indent="-300037" algn="l" rtl="0">
              <a:spcBef>
                <a:spcPts val="0"/>
              </a:spcBef>
              <a:spcAft>
                <a:spcPts val="0"/>
              </a:spcAft>
              <a:buClr>
                <a:schemeClr val="dk1"/>
              </a:buClr>
              <a:buSzPct val="100000"/>
              <a:buChar char="•"/>
            </a:pPr>
            <a:r>
              <a:rPr lang="ja">
                <a:solidFill>
                  <a:schemeClr val="dk1"/>
                </a:solidFill>
              </a:rPr>
              <a:t>OSS Journeyとはなにかも議論してみていいと思う</a:t>
            </a:r>
            <a:endParaRPr>
              <a:solidFill>
                <a:schemeClr val="dk1"/>
              </a:solidFill>
            </a:endParaRPr>
          </a:p>
          <a:p>
            <a:pPr marL="457200" lvl="0" indent="-300037" algn="l" rtl="0">
              <a:spcBef>
                <a:spcPts val="0"/>
              </a:spcBef>
              <a:spcAft>
                <a:spcPts val="0"/>
              </a:spcAft>
              <a:buClr>
                <a:schemeClr val="dk1"/>
              </a:buClr>
              <a:buSzPct val="100000"/>
              <a:buChar char="•"/>
            </a:pPr>
            <a:r>
              <a:rPr lang="ja">
                <a:solidFill>
                  <a:schemeClr val="dk1"/>
                </a:solidFill>
              </a:rPr>
              <a:t>OSS Initiativeをどう説明すると良いか</a:t>
            </a:r>
            <a:endParaRPr>
              <a:solidFill>
                <a:schemeClr val="dk1"/>
              </a:solidFill>
            </a:endParaRPr>
          </a:p>
          <a:p>
            <a:pPr marL="457200" lvl="0" indent="-300037" algn="l" rtl="0">
              <a:spcBef>
                <a:spcPts val="0"/>
              </a:spcBef>
              <a:spcAft>
                <a:spcPts val="0"/>
              </a:spcAft>
              <a:buClr>
                <a:schemeClr val="dk1"/>
              </a:buClr>
              <a:buSzPct val="100000"/>
              <a:buChar char="•"/>
            </a:pPr>
            <a:r>
              <a:rPr lang="ja">
                <a:solidFill>
                  <a:schemeClr val="dk1"/>
                </a:solidFill>
              </a:rPr>
              <a:t>Shared Costをうまく伝える</a:t>
            </a:r>
            <a:endParaRPr>
              <a:solidFill>
                <a:schemeClr val="dk1"/>
              </a:solidFill>
            </a:endParaRPr>
          </a:p>
          <a:p>
            <a:pPr marL="457200" lvl="0" indent="-300037" algn="l" rtl="0">
              <a:spcBef>
                <a:spcPts val="0"/>
              </a:spcBef>
              <a:spcAft>
                <a:spcPts val="0"/>
              </a:spcAft>
              <a:buClr>
                <a:schemeClr val="dk1"/>
              </a:buClr>
              <a:buSzPct val="100000"/>
              <a:buChar char="•"/>
            </a:pPr>
            <a:r>
              <a:rPr lang="ja">
                <a:solidFill>
                  <a:schemeClr val="dk1"/>
                </a:solidFill>
              </a:rPr>
              <a:t>Programをどう伝える　＝＝＝＞次回、もう少し掘り下げてみる！</a:t>
            </a:r>
            <a:endParaRPr>
              <a:solidFill>
                <a:schemeClr val="dk1"/>
              </a:solidFill>
            </a:endParaRPr>
          </a:p>
          <a:p>
            <a:pPr marL="914400" lvl="1" indent="-288131" algn="l" rtl="0">
              <a:spcBef>
                <a:spcPts val="0"/>
              </a:spcBef>
              <a:spcAft>
                <a:spcPts val="0"/>
              </a:spcAft>
              <a:buClr>
                <a:schemeClr val="dk1"/>
              </a:buClr>
              <a:buSzPct val="100000"/>
              <a:buChar char="•"/>
            </a:pPr>
            <a:r>
              <a:rPr lang="ja">
                <a:solidFill>
                  <a:schemeClr val="dk1"/>
                </a:solidFill>
              </a:rPr>
              <a:t>PMI＝Project Management Institute の用語としてのProgramが使われている</a:t>
            </a:r>
            <a:endParaRPr>
              <a:solidFill>
                <a:schemeClr val="dk1"/>
              </a:solidFill>
            </a:endParaRPr>
          </a:p>
          <a:p>
            <a:pPr marL="914400" lvl="1" indent="-288131" algn="l" rtl="0">
              <a:spcBef>
                <a:spcPts val="0"/>
              </a:spcBef>
              <a:spcAft>
                <a:spcPts val="0"/>
              </a:spcAft>
              <a:buClr>
                <a:schemeClr val="dk1"/>
              </a:buClr>
              <a:buSzPct val="100000"/>
              <a:buChar char="•"/>
            </a:pPr>
            <a:r>
              <a:rPr lang="ja">
                <a:solidFill>
                  <a:schemeClr val="dk1"/>
                </a:solidFill>
              </a:rPr>
              <a:t>PMO＝Program Management Office：複数のProjectをうまくマネージメントするための組織</a:t>
            </a:r>
            <a:endParaRPr>
              <a:solidFill>
                <a:schemeClr val="dk1"/>
              </a:solidFill>
            </a:endParaRPr>
          </a:p>
          <a:p>
            <a:pPr marL="914400" lvl="1" indent="-288131" algn="l" rtl="0">
              <a:spcBef>
                <a:spcPts val="0"/>
              </a:spcBef>
              <a:spcAft>
                <a:spcPts val="0"/>
              </a:spcAft>
              <a:buClr>
                <a:schemeClr val="dk1"/>
              </a:buClr>
              <a:buSzPct val="100000"/>
              <a:buChar char="•"/>
            </a:pPr>
            <a:r>
              <a:rPr lang="ja">
                <a:solidFill>
                  <a:schemeClr val="dk1"/>
                </a:solidFill>
              </a:rPr>
              <a:t>PMPのサイト：</a:t>
            </a:r>
            <a:r>
              <a:rPr lang="ja" u="sng">
                <a:solidFill>
                  <a:schemeClr val="hlink"/>
                </a:solidFill>
                <a:hlinkClick r:id="rId3"/>
              </a:rPr>
              <a:t>https://ssaits.jp/promapedia/concepts/project-program-portfolio.html</a:t>
            </a:r>
            <a:endParaRPr>
              <a:solidFill>
                <a:schemeClr val="dk1"/>
              </a:solidFill>
            </a:endParaRPr>
          </a:p>
          <a:p>
            <a:pPr marL="914400" lvl="1" indent="-288131" algn="l" rtl="0">
              <a:spcBef>
                <a:spcPts val="0"/>
              </a:spcBef>
              <a:spcAft>
                <a:spcPts val="0"/>
              </a:spcAft>
              <a:buClr>
                <a:schemeClr val="dk1"/>
              </a:buClr>
              <a:buSzPct val="100000"/>
              <a:buChar char="•"/>
            </a:pPr>
            <a:r>
              <a:rPr lang="ja">
                <a:solidFill>
                  <a:schemeClr val="dk1"/>
                </a:solidFill>
              </a:rPr>
              <a:t>Program = “an officially organized system of services, activities, or opportunities that help people achieve something” (</a:t>
            </a:r>
            <a:r>
              <a:rPr lang="ja" u="sng">
                <a:solidFill>
                  <a:schemeClr val="hlink"/>
                </a:solidFill>
                <a:hlinkClick r:id="rId4"/>
              </a:rPr>
              <a:t>https://dictionary.cambridge.org/ja/dictionary/english/program</a:t>
            </a:r>
            <a:r>
              <a:rPr lang="ja">
                <a:solidFill>
                  <a:schemeClr val="dk1"/>
                </a:solidFill>
              </a:rPr>
              <a:t> より)</a:t>
            </a:r>
            <a:endParaRPr>
              <a:solidFill>
                <a:schemeClr val="dk1"/>
              </a:solidFill>
            </a:endParaRPr>
          </a:p>
          <a:p>
            <a:pPr marL="914400" lvl="1" indent="-288131" algn="l" rtl="0">
              <a:spcBef>
                <a:spcPts val="0"/>
              </a:spcBef>
              <a:spcAft>
                <a:spcPts val="0"/>
              </a:spcAft>
              <a:buClr>
                <a:schemeClr val="dk1"/>
              </a:buClr>
              <a:buSzPct val="100000"/>
              <a:buChar char="•"/>
            </a:pPr>
            <a:r>
              <a:rPr lang="ja" u="sng">
                <a:solidFill>
                  <a:schemeClr val="hlink"/>
                </a:solidFill>
                <a:hlinkClick r:id="rId5"/>
              </a:rPr>
              <a:t>https://ospoglossary.todogroup.org/ospo-definition/</a:t>
            </a:r>
            <a:endParaRPr>
              <a:solidFill>
                <a:schemeClr val="dk1"/>
              </a:solidFill>
            </a:endParaRPr>
          </a:p>
          <a:p>
            <a:pPr marL="457200" lvl="0" indent="-300037" algn="l" rtl="0">
              <a:spcBef>
                <a:spcPts val="0"/>
              </a:spcBef>
              <a:spcAft>
                <a:spcPts val="0"/>
              </a:spcAft>
              <a:buClr>
                <a:schemeClr val="dk1"/>
              </a:buClr>
              <a:buSzPct val="100000"/>
              <a:buChar char="•"/>
            </a:pPr>
            <a:endParaRPr>
              <a:solidFill>
                <a:schemeClr val="dk1"/>
              </a:solidFill>
            </a:endParaRPr>
          </a:p>
          <a:p>
            <a:pPr marL="457200" lvl="0" indent="-300037" algn="l" rtl="0">
              <a:spcBef>
                <a:spcPts val="0"/>
              </a:spcBef>
              <a:spcAft>
                <a:spcPts val="0"/>
              </a:spcAft>
              <a:buClr>
                <a:schemeClr val="dk1"/>
              </a:buClr>
              <a:buSzPct val="100000"/>
              <a:buChar char="•"/>
            </a:pPr>
            <a:r>
              <a:rPr lang="ja">
                <a:solidFill>
                  <a:schemeClr val="dk1"/>
                </a:solidFill>
              </a:rPr>
              <a:t>「OSSが引き起こしたビジネス環境の変化を理解し、その変化し続ける環境に会社が適合するよう働きかけることがOSPOの役割」と言ってみては</a:t>
            </a:r>
            <a:endParaRPr>
              <a:solidFill>
                <a:schemeClr val="dk1"/>
              </a:solidFill>
            </a:endParaRPr>
          </a:p>
          <a:p>
            <a:pPr marL="914400" lvl="1" indent="-288131" algn="l" rtl="0">
              <a:spcBef>
                <a:spcPts val="0"/>
              </a:spcBef>
              <a:spcAft>
                <a:spcPts val="0"/>
              </a:spcAft>
              <a:buClr>
                <a:schemeClr val="dk1"/>
              </a:buClr>
              <a:buSzPct val="100000"/>
              <a:buChar char="•"/>
            </a:pPr>
            <a:r>
              <a:rPr lang="ja">
                <a:solidFill>
                  <a:schemeClr val="dk1"/>
                </a:solidFill>
              </a:rPr>
              <a:t>「適合」にもステージがある：①直接関わる変化に反応、②変化の背景を理解し、次に起こる変化を予測し準備、③望ましい状態を考え、その状態を実現するための変化を生み出す、など</a:t>
            </a:r>
            <a:endParaRPr>
              <a:solidFill>
                <a:schemeClr val="dk1"/>
              </a:solidFill>
            </a:endParaRPr>
          </a:p>
          <a:p>
            <a:pPr marL="457200" lvl="0" indent="-300037" algn="l" rtl="0">
              <a:spcBef>
                <a:spcPts val="0"/>
              </a:spcBef>
              <a:spcAft>
                <a:spcPts val="0"/>
              </a:spcAft>
              <a:buClr>
                <a:schemeClr val="dk1"/>
              </a:buClr>
              <a:buSzPct val="100000"/>
              <a:buChar char="•"/>
            </a:pPr>
            <a:r>
              <a:rPr lang="ja">
                <a:solidFill>
                  <a:schemeClr val="dk1"/>
                </a:solidFill>
              </a:rPr>
              <a:t> 2/29の提起事項：OSPOの立ち上げ方／作戦を検討する</a:t>
            </a:r>
            <a:endParaRPr>
              <a:solidFill>
                <a:schemeClr val="dk1"/>
              </a:solidFill>
            </a:endParaRPr>
          </a:p>
        </p:txBody>
      </p:sp>
      <p:sp>
        <p:nvSpPr>
          <p:cNvPr id="115" name="Google Shape;115;p17"/>
          <p:cNvSpPr/>
          <p:nvPr/>
        </p:nvSpPr>
        <p:spPr>
          <a:xfrm>
            <a:off x="7190675" y="325875"/>
            <a:ext cx="1563600" cy="466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ja"/>
              <a:t>2024/2/16継続</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8"/>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a:t>そもそもOSPOとはなんですか</a:t>
            </a:r>
            <a:endParaRPr/>
          </a:p>
        </p:txBody>
      </p:sp>
      <p:sp>
        <p:nvSpPr>
          <p:cNvPr id="121" name="Google Shape;121;p18"/>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rmAutofit lnSpcReduction="10000"/>
          </a:bodyPr>
          <a:lstStyle/>
          <a:p>
            <a:pPr marL="457200" lvl="0" indent="-342900" algn="l" rtl="0">
              <a:spcBef>
                <a:spcPts val="0"/>
              </a:spcBef>
              <a:spcAft>
                <a:spcPts val="0"/>
              </a:spcAft>
              <a:buClr>
                <a:schemeClr val="dk1"/>
              </a:buClr>
              <a:buSzPts val="1800"/>
              <a:buChar char="•"/>
            </a:pPr>
            <a:r>
              <a:rPr lang="ja">
                <a:solidFill>
                  <a:schemeClr val="dk1"/>
                </a:solidFill>
              </a:rPr>
              <a:t>「</a:t>
            </a:r>
            <a:r>
              <a:rPr lang="ja">
                <a:solidFill>
                  <a:schemeClr val="dk1"/>
                </a:solidFill>
                <a:highlight>
                  <a:srgbClr val="FFFF00"/>
                </a:highlight>
              </a:rPr>
              <a:t>OSSが引き起こしたビジネス環境の変化を理解し、その変化し続ける環境に会社が適合するよう働きかけることがOSPOの役割</a:t>
            </a:r>
            <a:r>
              <a:rPr lang="ja">
                <a:solidFill>
                  <a:schemeClr val="dk1"/>
                </a:solidFill>
              </a:rPr>
              <a:t>」と言ってみては</a:t>
            </a:r>
            <a:endParaRPr>
              <a:solidFill>
                <a:schemeClr val="dk1"/>
              </a:solidFill>
            </a:endParaRPr>
          </a:p>
          <a:p>
            <a:pPr marL="914400" lvl="1" indent="-323850" algn="l" rtl="0">
              <a:spcBef>
                <a:spcPts val="0"/>
              </a:spcBef>
              <a:spcAft>
                <a:spcPts val="0"/>
              </a:spcAft>
              <a:buClr>
                <a:schemeClr val="dk1"/>
              </a:buClr>
              <a:buSzPts val="1500"/>
              <a:buChar char="•"/>
            </a:pPr>
            <a:r>
              <a:rPr lang="ja">
                <a:solidFill>
                  <a:schemeClr val="dk1"/>
                </a:solidFill>
              </a:rPr>
              <a:t>「適合」にもステージがある：→「適合し、共存する」</a:t>
            </a:r>
            <a:endParaRPr>
              <a:solidFill>
                <a:schemeClr val="dk1"/>
              </a:solidFill>
            </a:endParaRPr>
          </a:p>
          <a:p>
            <a:pPr marL="1371600" lvl="2" indent="-304800" algn="l" rtl="0">
              <a:spcBef>
                <a:spcPts val="0"/>
              </a:spcBef>
              <a:spcAft>
                <a:spcPts val="0"/>
              </a:spcAft>
              <a:buClr>
                <a:schemeClr val="dk1"/>
              </a:buClr>
              <a:buSzPts val="1200"/>
              <a:buChar char="•"/>
            </a:pPr>
            <a:r>
              <a:rPr lang="ja">
                <a:solidFill>
                  <a:schemeClr val="dk1"/>
                </a:solidFill>
              </a:rPr>
              <a:t>①直接関わる変化に反応、</a:t>
            </a:r>
            <a:endParaRPr>
              <a:solidFill>
                <a:schemeClr val="dk1"/>
              </a:solidFill>
            </a:endParaRPr>
          </a:p>
          <a:p>
            <a:pPr marL="1371600" lvl="2" indent="-304800" algn="l" rtl="0">
              <a:spcBef>
                <a:spcPts val="0"/>
              </a:spcBef>
              <a:spcAft>
                <a:spcPts val="0"/>
              </a:spcAft>
              <a:buClr>
                <a:schemeClr val="dk1"/>
              </a:buClr>
              <a:buSzPts val="1200"/>
              <a:buChar char="•"/>
            </a:pPr>
            <a:r>
              <a:rPr lang="ja">
                <a:solidFill>
                  <a:schemeClr val="dk1"/>
                </a:solidFill>
              </a:rPr>
              <a:t>②変化の背景を理解し、次に起こる変化を予測し準備、</a:t>
            </a:r>
            <a:endParaRPr>
              <a:solidFill>
                <a:schemeClr val="dk1"/>
              </a:solidFill>
            </a:endParaRPr>
          </a:p>
          <a:p>
            <a:pPr marL="1371600" lvl="2" indent="-304800" algn="l" rtl="0">
              <a:spcBef>
                <a:spcPts val="0"/>
              </a:spcBef>
              <a:spcAft>
                <a:spcPts val="0"/>
              </a:spcAft>
              <a:buClr>
                <a:schemeClr val="dk1"/>
              </a:buClr>
              <a:buSzPts val="1200"/>
              <a:buChar char="•"/>
            </a:pPr>
            <a:r>
              <a:rPr lang="ja">
                <a:solidFill>
                  <a:schemeClr val="dk1"/>
                </a:solidFill>
              </a:rPr>
              <a:t>③望ましい状態を考え、その状態を実現するための変化を生み出す、</a:t>
            </a:r>
            <a:endParaRPr>
              <a:solidFill>
                <a:schemeClr val="dk1"/>
              </a:solidFill>
            </a:endParaRPr>
          </a:p>
          <a:p>
            <a:pPr marL="1371600" lvl="2" indent="-304800" algn="l" rtl="0">
              <a:spcBef>
                <a:spcPts val="0"/>
              </a:spcBef>
              <a:spcAft>
                <a:spcPts val="0"/>
              </a:spcAft>
              <a:buClr>
                <a:schemeClr val="dk1"/>
              </a:buClr>
              <a:buSzPts val="1200"/>
              <a:buChar char="•"/>
            </a:pPr>
            <a:r>
              <a:rPr lang="ja">
                <a:solidFill>
                  <a:schemeClr val="dk1"/>
                </a:solidFill>
              </a:rPr>
              <a:t>など</a:t>
            </a:r>
            <a:endParaRPr>
              <a:solidFill>
                <a:schemeClr val="dk1"/>
              </a:solidFill>
            </a:endParaRPr>
          </a:p>
          <a:p>
            <a:pPr marL="914400" lvl="1" indent="-323850" algn="l" rtl="0">
              <a:spcBef>
                <a:spcPts val="0"/>
              </a:spcBef>
              <a:spcAft>
                <a:spcPts val="0"/>
              </a:spcAft>
              <a:buClr>
                <a:schemeClr val="dk1"/>
              </a:buClr>
              <a:buSzPts val="1500"/>
              <a:buChar char="•"/>
            </a:pPr>
            <a:r>
              <a:rPr lang="ja">
                <a:solidFill>
                  <a:schemeClr val="dk1"/>
                </a:solidFill>
              </a:rPr>
              <a:t>あるステージ以上になるとOSPOがコミュニティと組織のブリッジの働きをするようになる</a:t>
            </a:r>
            <a:endParaRPr>
              <a:solidFill>
                <a:schemeClr val="dk1"/>
              </a:solidFill>
            </a:endParaRPr>
          </a:p>
          <a:p>
            <a:pPr marL="914400" lvl="1" indent="-323850" algn="l" rtl="0">
              <a:spcBef>
                <a:spcPts val="0"/>
              </a:spcBef>
              <a:spcAft>
                <a:spcPts val="0"/>
              </a:spcAft>
              <a:buClr>
                <a:schemeClr val="dk1"/>
              </a:buClr>
              <a:buSzPts val="1500"/>
              <a:buChar char="•"/>
            </a:pPr>
            <a:r>
              <a:rPr lang="ja">
                <a:solidFill>
                  <a:schemeClr val="dk1"/>
                </a:solidFill>
              </a:rPr>
              <a:t>人事をOSSコミュニティに関わるように進めることで採用等の活動がうまくいくようにブリッジできるようになる</a:t>
            </a:r>
            <a:endParaRPr>
              <a:solidFill>
                <a:schemeClr val="dk1"/>
              </a:solidFill>
            </a:endParaRPr>
          </a:p>
          <a:p>
            <a:pPr marL="1371600" lvl="2" indent="-304800" algn="l" rtl="0">
              <a:spcBef>
                <a:spcPts val="0"/>
              </a:spcBef>
              <a:spcAft>
                <a:spcPts val="0"/>
              </a:spcAft>
              <a:buClr>
                <a:schemeClr val="dk1"/>
              </a:buClr>
              <a:buSzPts val="1200"/>
              <a:buChar char="•"/>
            </a:pPr>
            <a:r>
              <a:rPr lang="ja">
                <a:solidFill>
                  <a:schemeClr val="dk1"/>
                </a:solidFill>
              </a:rPr>
              <a:t>企業紹介チラシをコミュニティで配布する、スポンサーになるなど</a:t>
            </a:r>
            <a:endParaRPr>
              <a:solidFill>
                <a:schemeClr val="dk1"/>
              </a:solidFill>
            </a:endParaRPr>
          </a:p>
          <a:p>
            <a:pPr marL="457200" lvl="0" indent="-342900" algn="l" rtl="0">
              <a:spcBef>
                <a:spcPts val="0"/>
              </a:spcBef>
              <a:spcAft>
                <a:spcPts val="0"/>
              </a:spcAft>
              <a:buClr>
                <a:schemeClr val="dk1"/>
              </a:buClr>
              <a:buSzPts val="1800"/>
              <a:buChar char="•"/>
            </a:pPr>
            <a:r>
              <a:rPr lang="ja">
                <a:solidFill>
                  <a:schemeClr val="dk1"/>
                </a:solidFill>
              </a:rPr>
              <a:t>OSSの世界と会社の距離感は会社がOSSをどう理解しているかによって変わる</a:t>
            </a:r>
            <a:endParaRPr>
              <a:solidFill>
                <a:schemeClr val="dk1"/>
              </a:solidFill>
            </a:endParaRPr>
          </a:p>
          <a:p>
            <a:pPr marL="914400" lvl="1" indent="-323850" algn="l" rtl="0">
              <a:spcBef>
                <a:spcPts val="0"/>
              </a:spcBef>
              <a:spcAft>
                <a:spcPts val="0"/>
              </a:spcAft>
              <a:buClr>
                <a:schemeClr val="dk1"/>
              </a:buClr>
              <a:buSzPts val="1500"/>
              <a:buChar char="•"/>
            </a:pPr>
            <a:r>
              <a:rPr lang="ja">
                <a:solidFill>
                  <a:schemeClr val="dk1"/>
                </a:solidFill>
              </a:rPr>
              <a:t>成熟度のステージが上がると距離が縮まる。</a:t>
            </a:r>
            <a:endParaRPr>
              <a:solidFill>
                <a:schemeClr val="dk1"/>
              </a:solidFill>
            </a:endParaRPr>
          </a:p>
          <a:p>
            <a:pPr marL="914400" lvl="1" indent="-323850" algn="l" rtl="0">
              <a:spcBef>
                <a:spcPts val="0"/>
              </a:spcBef>
              <a:spcAft>
                <a:spcPts val="0"/>
              </a:spcAft>
              <a:buClr>
                <a:schemeClr val="dk1"/>
              </a:buClr>
              <a:buSzPts val="1500"/>
              <a:buChar char="•"/>
            </a:pPr>
            <a:r>
              <a:rPr lang="ja">
                <a:solidFill>
                  <a:schemeClr val="dk1"/>
                </a:solidFill>
              </a:rPr>
              <a:t>最初は離れているが、徐々にOSSの世界に会社が入り込む。</a:t>
            </a:r>
            <a:endParaRPr>
              <a:solidFill>
                <a:schemeClr val="dk1"/>
              </a:solidFill>
            </a:endParaRPr>
          </a:p>
          <a:p>
            <a:pPr marL="914400" lvl="1" indent="-323850" algn="l" rtl="0">
              <a:spcBef>
                <a:spcPts val="0"/>
              </a:spcBef>
              <a:spcAft>
                <a:spcPts val="0"/>
              </a:spcAft>
              <a:buClr>
                <a:schemeClr val="dk1"/>
              </a:buClr>
              <a:buSzPts val="1500"/>
              <a:buChar char="•"/>
            </a:pPr>
            <a:r>
              <a:rPr lang="ja">
                <a:solidFill>
                  <a:schemeClr val="dk1"/>
                </a:solidFill>
              </a:rPr>
              <a:t>入り込みかた、規模がOSS戦略となる</a:t>
            </a:r>
            <a:endParaRPr>
              <a:solidFill>
                <a:schemeClr val="dk1"/>
              </a:solidFill>
            </a:endParaRPr>
          </a:p>
          <a:p>
            <a:pPr marL="457200" lvl="0" indent="-342900" algn="l" rtl="0">
              <a:spcBef>
                <a:spcPts val="0"/>
              </a:spcBef>
              <a:spcAft>
                <a:spcPts val="0"/>
              </a:spcAft>
              <a:buClr>
                <a:schemeClr val="dk1"/>
              </a:buClr>
              <a:buSzPts val="1800"/>
              <a:buChar char="•"/>
            </a:pPr>
            <a:r>
              <a:rPr lang="ja">
                <a:solidFill>
                  <a:schemeClr val="dk1"/>
                </a:solidFill>
              </a:rPr>
              <a:t> 2/29の提起事項：OSPOの立ち上げ方／作戦を検討する：OSPO Strategy</a:t>
            </a:r>
            <a:endParaRPr>
              <a:solidFill>
                <a:schemeClr val="dk1"/>
              </a:solidFill>
            </a:endParaRPr>
          </a:p>
        </p:txBody>
      </p:sp>
      <p:sp>
        <p:nvSpPr>
          <p:cNvPr id="122" name="Google Shape;122;p18"/>
          <p:cNvSpPr/>
          <p:nvPr/>
        </p:nvSpPr>
        <p:spPr>
          <a:xfrm>
            <a:off x="7190675" y="325875"/>
            <a:ext cx="1563600" cy="466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ja"/>
              <a:t>2024/3/22継続</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19"/>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a:t>OSPO Strategy：</a:t>
            </a:r>
            <a:r>
              <a:rPr lang="ja" sz="1400">
                <a:latin typeface="Arial"/>
                <a:ea typeface="Arial"/>
                <a:cs typeface="Arial"/>
                <a:sym typeface="Arial"/>
              </a:rPr>
              <a:t>OSPOの立ち上げ方／作戦</a:t>
            </a:r>
            <a:endParaRPr/>
          </a:p>
        </p:txBody>
      </p:sp>
      <p:sp>
        <p:nvSpPr>
          <p:cNvPr id="128" name="Google Shape;128;p19"/>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rmAutofit lnSpcReduction="10000"/>
          </a:bodyPr>
          <a:lstStyle/>
          <a:p>
            <a:pPr marL="457200" lvl="0" indent="-342900" algn="l" rtl="0">
              <a:spcBef>
                <a:spcPts val="0"/>
              </a:spcBef>
              <a:spcAft>
                <a:spcPts val="0"/>
              </a:spcAft>
              <a:buClr>
                <a:schemeClr val="dk1"/>
              </a:buClr>
              <a:buSzPts val="1800"/>
              <a:buChar char="•"/>
            </a:pPr>
            <a:r>
              <a:rPr lang="ja">
                <a:solidFill>
                  <a:schemeClr val="dk1"/>
                </a:solidFill>
              </a:rPr>
              <a:t>Stage 0　→　１の作戦</a:t>
            </a:r>
            <a:endParaRPr>
              <a:solidFill>
                <a:schemeClr val="dk1"/>
              </a:solidFill>
            </a:endParaRPr>
          </a:p>
          <a:p>
            <a:pPr marL="914400" lvl="1" indent="-323850" algn="l" rtl="0">
              <a:spcBef>
                <a:spcPts val="0"/>
              </a:spcBef>
              <a:spcAft>
                <a:spcPts val="0"/>
              </a:spcAft>
              <a:buClr>
                <a:schemeClr val="dk1"/>
              </a:buClr>
              <a:buSzPts val="1500"/>
              <a:buChar char="•"/>
            </a:pPr>
            <a:r>
              <a:rPr lang="ja">
                <a:solidFill>
                  <a:schemeClr val="dk1"/>
                </a:solidFill>
              </a:rPr>
              <a:t>訴訟の事例を伝える</a:t>
            </a:r>
            <a:endParaRPr>
              <a:solidFill>
                <a:schemeClr val="dk1"/>
              </a:solidFill>
            </a:endParaRPr>
          </a:p>
          <a:p>
            <a:pPr marL="914400" lvl="1" indent="-323850" algn="l" rtl="0">
              <a:spcBef>
                <a:spcPts val="0"/>
              </a:spcBef>
              <a:spcAft>
                <a:spcPts val="0"/>
              </a:spcAft>
              <a:buClr>
                <a:schemeClr val="dk1"/>
              </a:buClr>
              <a:buSzPts val="1500"/>
              <a:buChar char="•"/>
            </a:pPr>
            <a:r>
              <a:rPr lang="ja">
                <a:solidFill>
                  <a:schemeClr val="dk1"/>
                </a:solidFill>
              </a:rPr>
              <a:t>痛い目に合って必要性を痛感する</a:t>
            </a:r>
            <a:endParaRPr>
              <a:solidFill>
                <a:schemeClr val="dk1"/>
              </a:solidFill>
            </a:endParaRPr>
          </a:p>
          <a:p>
            <a:pPr marL="457200" lvl="0" indent="-342900" algn="l" rtl="0">
              <a:spcBef>
                <a:spcPts val="0"/>
              </a:spcBef>
              <a:spcAft>
                <a:spcPts val="0"/>
              </a:spcAft>
              <a:buClr>
                <a:schemeClr val="dk1"/>
              </a:buClr>
              <a:buSzPts val="1800"/>
              <a:buChar char="•"/>
            </a:pPr>
            <a:r>
              <a:rPr lang="ja">
                <a:solidFill>
                  <a:schemeClr val="dk1"/>
                </a:solidFill>
              </a:rPr>
              <a:t>OSSがらみの課題の洗い出しをして、全体感を見てから取り組みの優先度を決めて取り組んでゆく</a:t>
            </a:r>
            <a:endParaRPr>
              <a:solidFill>
                <a:schemeClr val="dk1"/>
              </a:solidFill>
            </a:endParaRPr>
          </a:p>
          <a:p>
            <a:pPr marL="914400" lvl="1" indent="-323850" algn="l" rtl="0">
              <a:spcBef>
                <a:spcPts val="0"/>
              </a:spcBef>
              <a:spcAft>
                <a:spcPts val="0"/>
              </a:spcAft>
              <a:buClr>
                <a:schemeClr val="dk1"/>
              </a:buClr>
              <a:buSzPts val="1500"/>
              <a:buChar char="•"/>
            </a:pPr>
            <a:r>
              <a:rPr lang="ja">
                <a:solidFill>
                  <a:schemeClr val="dk1"/>
                </a:solidFill>
              </a:rPr>
              <a:t>目の前の課題を追いかけると五里霧中の状態で終わりが見えない</a:t>
            </a:r>
            <a:endParaRPr>
              <a:solidFill>
                <a:schemeClr val="dk1"/>
              </a:solidFill>
            </a:endParaRPr>
          </a:p>
          <a:p>
            <a:pPr marL="914400" lvl="1" indent="-323850" algn="l" rtl="0">
              <a:spcBef>
                <a:spcPts val="0"/>
              </a:spcBef>
              <a:spcAft>
                <a:spcPts val="0"/>
              </a:spcAft>
              <a:buClr>
                <a:schemeClr val="dk1"/>
              </a:buClr>
              <a:buSzPts val="1500"/>
              <a:buChar char="•"/>
            </a:pPr>
            <a:r>
              <a:rPr lang="ja">
                <a:solidFill>
                  <a:schemeClr val="dk1"/>
                </a:solidFill>
              </a:rPr>
              <a:t>まず全体感をつかんでおくとやりやすい</a:t>
            </a:r>
            <a:endParaRPr>
              <a:solidFill>
                <a:schemeClr val="dk1"/>
              </a:solidFill>
            </a:endParaRPr>
          </a:p>
          <a:p>
            <a:pPr marL="457200" lvl="0" indent="-342900" algn="l" rtl="0">
              <a:spcBef>
                <a:spcPts val="0"/>
              </a:spcBef>
              <a:spcAft>
                <a:spcPts val="0"/>
              </a:spcAft>
              <a:buClr>
                <a:schemeClr val="dk1"/>
              </a:buClr>
              <a:buSzPts val="1800"/>
              <a:buChar char="•"/>
            </a:pPr>
            <a:r>
              <a:rPr lang="ja">
                <a:solidFill>
                  <a:schemeClr val="dk1"/>
                </a:solidFill>
              </a:rPr>
              <a:t>OSPOを作ろうと思ったときにOSSの戦略が必要</a:t>
            </a:r>
            <a:endParaRPr>
              <a:solidFill>
                <a:schemeClr val="dk1"/>
              </a:solidFill>
            </a:endParaRPr>
          </a:p>
          <a:p>
            <a:pPr marL="914400" lvl="1" indent="-323850" algn="l" rtl="0">
              <a:spcBef>
                <a:spcPts val="0"/>
              </a:spcBef>
              <a:spcAft>
                <a:spcPts val="0"/>
              </a:spcAft>
              <a:buClr>
                <a:schemeClr val="dk1"/>
              </a:buClr>
              <a:buSzPts val="1500"/>
              <a:buChar char="•"/>
            </a:pPr>
            <a:r>
              <a:rPr lang="ja">
                <a:solidFill>
                  <a:schemeClr val="dk1"/>
                </a:solidFill>
              </a:rPr>
              <a:t>でも、簡単に戦略が作れるわけではない</a:t>
            </a:r>
            <a:endParaRPr>
              <a:solidFill>
                <a:schemeClr val="dk1"/>
              </a:solidFill>
            </a:endParaRPr>
          </a:p>
          <a:p>
            <a:pPr marL="914400" lvl="1" indent="-323850" algn="l" rtl="0">
              <a:spcBef>
                <a:spcPts val="0"/>
              </a:spcBef>
              <a:spcAft>
                <a:spcPts val="0"/>
              </a:spcAft>
              <a:buClr>
                <a:schemeClr val="dk1"/>
              </a:buClr>
              <a:buSzPts val="1500"/>
              <a:buChar char="•"/>
            </a:pPr>
            <a:r>
              <a:rPr lang="ja">
                <a:solidFill>
                  <a:schemeClr val="dk1"/>
                </a:solidFill>
              </a:rPr>
              <a:t>OSSの戦略の事例に対して、それを実現するためにOSPOが何をするか</a:t>
            </a:r>
            <a:endParaRPr>
              <a:solidFill>
                <a:schemeClr val="dk1"/>
              </a:solidFill>
            </a:endParaRPr>
          </a:p>
          <a:p>
            <a:pPr marL="457200" lvl="0" indent="-342900" algn="l" rtl="0">
              <a:spcBef>
                <a:spcPts val="0"/>
              </a:spcBef>
              <a:spcAft>
                <a:spcPts val="0"/>
              </a:spcAft>
              <a:buClr>
                <a:schemeClr val="dk1"/>
              </a:buClr>
              <a:buSzPts val="1800"/>
              <a:buChar char="•"/>
            </a:pPr>
            <a:r>
              <a:rPr lang="ja">
                <a:solidFill>
                  <a:schemeClr val="dk1"/>
                </a:solidFill>
              </a:rPr>
              <a:t>Strategy議論の２次の会社（TV、カメラ等の製品の開発販売会社）のOSS戦略を実現するためにOSPOが行うことを検討してみる</a:t>
            </a:r>
            <a:endParaRPr>
              <a:solidFill>
                <a:schemeClr val="dk1"/>
              </a:solidFill>
            </a:endParaRPr>
          </a:p>
          <a:p>
            <a:pPr marL="914400" lvl="1" indent="-323850" algn="l" rtl="0">
              <a:spcBef>
                <a:spcPts val="0"/>
              </a:spcBef>
              <a:spcAft>
                <a:spcPts val="0"/>
              </a:spcAft>
              <a:buClr>
                <a:schemeClr val="dk1"/>
              </a:buClr>
              <a:buSzPts val="1500"/>
              <a:buChar char="•"/>
            </a:pPr>
            <a:r>
              <a:rPr lang="ja">
                <a:solidFill>
                  <a:schemeClr val="dk1"/>
                </a:solidFill>
              </a:rPr>
              <a:t>この会社のOSS戦略とは</a:t>
            </a:r>
            <a:endParaRPr>
              <a:solidFill>
                <a:schemeClr val="dk1"/>
              </a:solidFill>
            </a:endParaRPr>
          </a:p>
          <a:p>
            <a:pPr marL="1371600" lvl="2" indent="-304800" algn="l" rtl="0">
              <a:spcBef>
                <a:spcPts val="0"/>
              </a:spcBef>
              <a:spcAft>
                <a:spcPts val="0"/>
              </a:spcAft>
              <a:buClr>
                <a:schemeClr val="dk1"/>
              </a:buClr>
              <a:buSzPts val="1200"/>
              <a:buChar char="•"/>
            </a:pPr>
            <a:r>
              <a:rPr lang="ja">
                <a:solidFill>
                  <a:schemeClr val="dk1"/>
                </a:solidFill>
              </a:rPr>
              <a:t>不具合修正をコントリビューションする</a:t>
            </a:r>
            <a:endParaRPr>
              <a:solidFill>
                <a:schemeClr val="dk1"/>
              </a:solidFill>
            </a:endParaRPr>
          </a:p>
          <a:p>
            <a:pPr marL="1371600" lvl="2" indent="-304800" algn="l" rtl="0">
              <a:spcBef>
                <a:spcPts val="0"/>
              </a:spcBef>
              <a:spcAft>
                <a:spcPts val="0"/>
              </a:spcAft>
              <a:buClr>
                <a:schemeClr val="dk1"/>
              </a:buClr>
              <a:buSzPts val="1200"/>
              <a:buChar char="•"/>
            </a:pPr>
            <a:r>
              <a:rPr lang="ja">
                <a:solidFill>
                  <a:schemeClr val="dk1"/>
                </a:solidFill>
              </a:rPr>
              <a:t>コンプライアンス遵守</a:t>
            </a:r>
            <a:endParaRPr>
              <a:solidFill>
                <a:schemeClr val="dk1"/>
              </a:solidFill>
            </a:endParaRPr>
          </a:p>
          <a:p>
            <a:pPr marL="1371600" lvl="2" indent="-304800" algn="l" rtl="0">
              <a:spcBef>
                <a:spcPts val="0"/>
              </a:spcBef>
              <a:spcAft>
                <a:spcPts val="0"/>
              </a:spcAft>
              <a:buClr>
                <a:schemeClr val="dk1"/>
              </a:buClr>
              <a:buSzPts val="1200"/>
              <a:buChar char="•"/>
            </a:pPr>
            <a:r>
              <a:rPr lang="ja">
                <a:solidFill>
                  <a:schemeClr val="dk1"/>
                </a:solidFill>
              </a:rPr>
              <a:t>バージョンアップについてゆく</a:t>
            </a:r>
            <a:endParaRPr>
              <a:solidFill>
                <a:schemeClr val="dk1"/>
              </a:solidFill>
            </a:endParaRPr>
          </a:p>
          <a:p>
            <a:pPr marL="1371600" lvl="2" indent="-304800" algn="l" rtl="0">
              <a:spcBef>
                <a:spcPts val="0"/>
              </a:spcBef>
              <a:spcAft>
                <a:spcPts val="0"/>
              </a:spcAft>
              <a:buClr>
                <a:schemeClr val="dk1"/>
              </a:buClr>
              <a:buSzPts val="1200"/>
              <a:buChar char="•"/>
            </a:pPr>
            <a:endParaRPr>
              <a:solidFill>
                <a:schemeClr val="dk1"/>
              </a:solidFill>
            </a:endParaRPr>
          </a:p>
        </p:txBody>
      </p:sp>
      <p:sp>
        <p:nvSpPr>
          <p:cNvPr id="129" name="Google Shape;129;p19"/>
          <p:cNvSpPr/>
          <p:nvPr/>
        </p:nvSpPr>
        <p:spPr>
          <a:xfrm>
            <a:off x="7190675" y="325875"/>
            <a:ext cx="1563600" cy="466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ja"/>
              <a:t>2024/3/22継続</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0"/>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a:t>Open Source Program OfficeのProgramとは何か？</a:t>
            </a:r>
            <a:endParaRPr/>
          </a:p>
        </p:txBody>
      </p:sp>
      <p:sp>
        <p:nvSpPr>
          <p:cNvPr id="135" name="Google Shape;135;p20"/>
          <p:cNvSpPr/>
          <p:nvPr/>
        </p:nvSpPr>
        <p:spPr>
          <a:xfrm>
            <a:off x="7190675" y="325875"/>
            <a:ext cx="1563600" cy="466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ja"/>
              <a:t>2024/4/26</a:t>
            </a:r>
            <a:endParaRPr/>
          </a:p>
        </p:txBody>
      </p:sp>
      <p:sp>
        <p:nvSpPr>
          <p:cNvPr id="136" name="Google Shape;136;p20"/>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rmAutofit/>
          </a:bodyPr>
          <a:lstStyle/>
          <a:p>
            <a:pPr marL="457200" lvl="0" indent="-342900" algn="l" rtl="0">
              <a:spcBef>
                <a:spcPts val="0"/>
              </a:spcBef>
              <a:spcAft>
                <a:spcPts val="0"/>
              </a:spcAft>
              <a:buClr>
                <a:schemeClr val="dk1"/>
              </a:buClr>
              <a:buSzPts val="1800"/>
              <a:buChar char="•"/>
            </a:pPr>
            <a:r>
              <a:rPr lang="ja">
                <a:solidFill>
                  <a:schemeClr val="dk1"/>
                </a:solidFill>
              </a:rPr>
              <a:t>参加者：７名</a:t>
            </a:r>
            <a:endParaRPr>
              <a:solidFill>
                <a:schemeClr val="dk1"/>
              </a:solidFill>
            </a:endParaRPr>
          </a:p>
          <a:p>
            <a:pPr marL="457200" lvl="0" indent="-342900" algn="l" rtl="0">
              <a:spcBef>
                <a:spcPts val="0"/>
              </a:spcBef>
              <a:spcAft>
                <a:spcPts val="0"/>
              </a:spcAft>
              <a:buClr>
                <a:schemeClr val="dk1"/>
              </a:buClr>
              <a:buSzPts val="1800"/>
              <a:buChar char="•"/>
            </a:pPr>
            <a:r>
              <a:rPr lang="ja">
                <a:solidFill>
                  <a:schemeClr val="dk1"/>
                </a:solidFill>
              </a:rPr>
              <a:t>Portfolio、Program、Project</a:t>
            </a:r>
            <a:endParaRPr>
              <a:solidFill>
                <a:schemeClr val="dk1"/>
              </a:solidFill>
            </a:endParaRPr>
          </a:p>
          <a:p>
            <a:pPr marL="457200" lvl="0" indent="-342900" algn="l" rtl="0">
              <a:spcBef>
                <a:spcPts val="0"/>
              </a:spcBef>
              <a:spcAft>
                <a:spcPts val="0"/>
              </a:spcAft>
              <a:buClr>
                <a:schemeClr val="dk1"/>
              </a:buClr>
              <a:buSzPts val="1800"/>
              <a:buChar char="•"/>
            </a:pPr>
            <a:r>
              <a:rPr lang="ja">
                <a:solidFill>
                  <a:schemeClr val="dk1"/>
                </a:solidFill>
              </a:rPr>
              <a:t>ProjectーProduct</a:t>
            </a:r>
            <a:endParaRPr>
              <a:solidFill>
                <a:schemeClr val="dk1"/>
              </a:solidFill>
            </a:endParaRPr>
          </a:p>
          <a:p>
            <a:pPr marL="457200" lvl="0" indent="-342900" algn="l" rtl="0">
              <a:spcBef>
                <a:spcPts val="0"/>
              </a:spcBef>
              <a:spcAft>
                <a:spcPts val="0"/>
              </a:spcAft>
              <a:buClr>
                <a:schemeClr val="dk1"/>
              </a:buClr>
              <a:buSzPts val="1800"/>
              <a:buChar char="•"/>
            </a:pPr>
            <a:r>
              <a:rPr lang="ja">
                <a:solidFill>
                  <a:schemeClr val="dk1"/>
                </a:solidFill>
              </a:rPr>
              <a:t>ProjectはOutputを出すところ、ProgramはOutcomeを出すところ</a:t>
            </a:r>
            <a:endParaRPr>
              <a:solidFill>
                <a:schemeClr val="dk1"/>
              </a:solidFill>
            </a:endParaRPr>
          </a:p>
          <a:p>
            <a:pPr marL="457200" lvl="0" indent="-342900" algn="l" rtl="0">
              <a:spcBef>
                <a:spcPts val="0"/>
              </a:spcBef>
              <a:spcAft>
                <a:spcPts val="0"/>
              </a:spcAft>
              <a:buClr>
                <a:schemeClr val="dk1"/>
              </a:buClr>
              <a:buSzPts val="1800"/>
              <a:buChar char="•"/>
            </a:pPr>
            <a:r>
              <a:rPr lang="ja">
                <a:solidFill>
                  <a:schemeClr val="dk1"/>
                </a:solidFill>
              </a:rPr>
              <a:t>OSPOは会社の中でどのスコープで活動するかはそれぞれの会社で異なる</a:t>
            </a:r>
            <a:endParaRPr>
              <a:solidFill>
                <a:schemeClr val="dk1"/>
              </a:solidFill>
            </a:endParaRPr>
          </a:p>
          <a:p>
            <a:pPr marL="914400" lvl="1" indent="-323850" algn="l" rtl="0">
              <a:spcBef>
                <a:spcPts val="0"/>
              </a:spcBef>
              <a:spcAft>
                <a:spcPts val="0"/>
              </a:spcAft>
              <a:buClr>
                <a:schemeClr val="dk1"/>
              </a:buClr>
              <a:buSzPts val="1500"/>
              <a:buChar char="•"/>
            </a:pPr>
            <a:r>
              <a:rPr lang="ja">
                <a:solidFill>
                  <a:schemeClr val="dk1"/>
                </a:solidFill>
              </a:rPr>
              <a:t>Projectレベル、Programレベル、Portfolioレベル</a:t>
            </a:r>
            <a:endParaRPr>
              <a:solidFill>
                <a:schemeClr val="dk1"/>
              </a:solidFill>
            </a:endParaRPr>
          </a:p>
          <a:p>
            <a:pPr marL="457200" lvl="0" indent="-342900" algn="l" rtl="0">
              <a:spcBef>
                <a:spcPts val="0"/>
              </a:spcBef>
              <a:spcAft>
                <a:spcPts val="0"/>
              </a:spcAft>
              <a:buClr>
                <a:schemeClr val="dk1"/>
              </a:buClr>
              <a:buSzPts val="1800"/>
              <a:buChar char="•"/>
            </a:pPr>
            <a:r>
              <a:rPr lang="ja">
                <a:solidFill>
                  <a:schemeClr val="dk1"/>
                </a:solidFill>
              </a:rPr>
              <a:t>Programという言葉にこだわらない方が</a:t>
            </a:r>
            <a:br>
              <a:rPr lang="ja">
                <a:solidFill>
                  <a:schemeClr val="dk1"/>
                </a:solidFill>
              </a:rPr>
            </a:br>
            <a:r>
              <a:rPr lang="ja">
                <a:solidFill>
                  <a:schemeClr val="dk1"/>
                </a:solidFill>
              </a:rPr>
              <a:t>いいのかも＝Open Source Office</a:t>
            </a:r>
            <a:endParaRPr>
              <a:solidFill>
                <a:schemeClr val="dk1"/>
              </a:solidFill>
            </a:endParaRPr>
          </a:p>
          <a:p>
            <a:pPr marL="457200" lvl="0" indent="-342900" algn="l" rtl="0">
              <a:spcBef>
                <a:spcPts val="0"/>
              </a:spcBef>
              <a:spcAft>
                <a:spcPts val="0"/>
              </a:spcAft>
              <a:buClr>
                <a:schemeClr val="dk1"/>
              </a:buClr>
              <a:buSzPts val="1800"/>
              <a:buChar char="•"/>
            </a:pPr>
            <a:r>
              <a:rPr lang="ja">
                <a:solidFill>
                  <a:schemeClr val="dk1"/>
                </a:solidFill>
              </a:rPr>
              <a:t>やはり、Programが入っている方が、</a:t>
            </a:r>
            <a:br>
              <a:rPr lang="ja">
                <a:solidFill>
                  <a:schemeClr val="dk1"/>
                </a:solidFill>
              </a:rPr>
            </a:br>
            <a:r>
              <a:rPr lang="ja">
                <a:solidFill>
                  <a:schemeClr val="dk1"/>
                </a:solidFill>
              </a:rPr>
              <a:t>管理＆推進面が伝わるので良い</a:t>
            </a:r>
            <a:endParaRPr>
              <a:solidFill>
                <a:schemeClr val="dk1"/>
              </a:solidFill>
            </a:endParaRPr>
          </a:p>
          <a:p>
            <a:pPr marL="457200" lvl="0" indent="-342900" algn="l" rtl="0">
              <a:spcBef>
                <a:spcPts val="0"/>
              </a:spcBef>
              <a:spcAft>
                <a:spcPts val="0"/>
              </a:spcAft>
              <a:buClr>
                <a:schemeClr val="dk1"/>
              </a:buClr>
              <a:buSzPts val="1800"/>
              <a:buChar char="•"/>
            </a:pPr>
            <a:endParaRPr>
              <a:solidFill>
                <a:schemeClr val="dk1"/>
              </a:solidFill>
            </a:endParaRPr>
          </a:p>
        </p:txBody>
      </p:sp>
      <p:pic>
        <p:nvPicPr>
          <p:cNvPr id="137" name="Google Shape;137;p20"/>
          <p:cNvPicPr preferRelativeResize="0"/>
          <p:nvPr/>
        </p:nvPicPr>
        <p:blipFill>
          <a:blip r:embed="rId3">
            <a:alphaModFix/>
          </a:blip>
          <a:stretch>
            <a:fillRect/>
          </a:stretch>
        </p:blipFill>
        <p:spPr>
          <a:xfrm>
            <a:off x="4189725" y="2098153"/>
            <a:ext cx="4928451" cy="273594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1"/>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endParaRPr/>
          </a:p>
        </p:txBody>
      </p:sp>
      <p:sp>
        <p:nvSpPr>
          <p:cNvPr id="143" name="Google Shape;143;p21"/>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457200" lvl="0" indent="-342900" algn="l" rtl="0">
              <a:spcBef>
                <a:spcPts val="0"/>
              </a:spcBef>
              <a:spcAft>
                <a:spcPts val="0"/>
              </a:spcAft>
              <a:buSzPts val="1800"/>
              <a:buChar char="•"/>
            </a:pPr>
            <a:r>
              <a:rPr lang="ja"/>
              <a:t>最初、コントリビューションは草の根でここで上司を説得していた</a:t>
            </a:r>
            <a:endParaRPr/>
          </a:p>
          <a:p>
            <a:pPr marL="457200" lvl="0" indent="-342900" algn="l" rtl="0">
              <a:spcBef>
                <a:spcPts val="0"/>
              </a:spcBef>
              <a:spcAft>
                <a:spcPts val="0"/>
              </a:spcAft>
              <a:buSzPts val="1800"/>
              <a:buChar char="•"/>
            </a:pPr>
            <a:r>
              <a:rPr lang="ja"/>
              <a:t>それを会社として纏まって行おうとしてOSPOが生まれた</a:t>
            </a:r>
            <a:endParaRPr/>
          </a:p>
          <a:p>
            <a:pPr marL="457200" lvl="0" indent="-342900" algn="l" rtl="0">
              <a:spcBef>
                <a:spcPts val="0"/>
              </a:spcBef>
              <a:spcAft>
                <a:spcPts val="0"/>
              </a:spcAft>
              <a:buSzPts val="1800"/>
              <a:buChar char="•"/>
            </a:pPr>
            <a:r>
              <a:rPr lang="ja"/>
              <a:t>OSPOは草の根活動だけでは難しく、トップからのアプローチも必要</a:t>
            </a:r>
            <a:endParaRPr/>
          </a:p>
          <a:p>
            <a:pPr marL="914400" lvl="1" indent="-323850" algn="l" rtl="0">
              <a:spcBef>
                <a:spcPts val="0"/>
              </a:spcBef>
              <a:spcAft>
                <a:spcPts val="0"/>
              </a:spcAft>
              <a:buSzPts val="1500"/>
              <a:buChar char="•"/>
            </a:pPr>
            <a:r>
              <a:rPr lang="ja"/>
              <a:t>トップアプローチをどうやって生み出すか。ベストプラクティスが欲しい。。。</a:t>
            </a:r>
            <a:endParaRPr/>
          </a:p>
          <a:p>
            <a:pPr marL="914400" lvl="1" indent="-323850" algn="l" rtl="0">
              <a:spcBef>
                <a:spcPts val="0"/>
              </a:spcBef>
              <a:spcAft>
                <a:spcPts val="0"/>
              </a:spcAft>
              <a:buSzPts val="1500"/>
              <a:buChar char="•"/>
            </a:pPr>
            <a:r>
              <a:rPr lang="ja"/>
              <a:t>「COSO（Chief Open Source Officer）への道」という書き物があるといい</a:t>
            </a:r>
            <a:endParaRPr/>
          </a:p>
          <a:p>
            <a:pPr marL="457200" lvl="0" indent="-342900" algn="l" rtl="0">
              <a:spcBef>
                <a:spcPts val="0"/>
              </a:spcBef>
              <a:spcAft>
                <a:spcPts val="0"/>
              </a:spcAft>
              <a:buSzPts val="1800"/>
              <a:buChar char="•"/>
            </a:pPr>
            <a:r>
              <a:rPr lang="ja"/>
              <a:t>ビジネス観点でのOSSを会社として認識していただくにはCレベルに動いてもらうのがやりやすい</a:t>
            </a:r>
            <a:endParaRPr/>
          </a:p>
          <a:p>
            <a:pPr marL="457200" lvl="0" indent="-342900" algn="l" rtl="0">
              <a:spcBef>
                <a:spcPts val="0"/>
              </a:spcBef>
              <a:spcAft>
                <a:spcPts val="0"/>
              </a:spcAft>
              <a:buSzPts val="1800"/>
              <a:buChar char="•"/>
            </a:pPr>
            <a:r>
              <a:rPr lang="ja"/>
              <a:t>営業からの声</a:t>
            </a:r>
            <a:endParaRPr/>
          </a:p>
          <a:p>
            <a:pPr marL="914400" lvl="1" indent="-323850" algn="l" rtl="0">
              <a:spcBef>
                <a:spcPts val="0"/>
              </a:spcBef>
              <a:spcAft>
                <a:spcPts val="0"/>
              </a:spcAft>
              <a:buSzPts val="1500"/>
              <a:buChar char="•"/>
            </a:pPr>
            <a:r>
              <a:rPr lang="ja"/>
              <a:t>ソフトの事業の場合、売るためにOSS、コミュニティを理解していると有利、という認識が広がってきている</a:t>
            </a:r>
            <a:endParaRPr/>
          </a:p>
          <a:p>
            <a:pPr marL="457200" lvl="0" indent="-342900" algn="l" rtl="0">
              <a:spcBef>
                <a:spcPts val="0"/>
              </a:spcBef>
              <a:spcAft>
                <a:spcPts val="0"/>
              </a:spcAft>
              <a:buSzPts val="1800"/>
              <a:buChar char="•"/>
            </a:pPr>
            <a:r>
              <a:rPr lang="ja"/>
              <a:t>SBOM、輸出規制などがソフト以外の事業でもOSS、コミュニティの理解＋コミュニティに参加して標準を作っていることが役立つということをわかりやすく・正しく伝えるといいのでは</a:t>
            </a:r>
            <a:endParaRPr/>
          </a:p>
          <a:p>
            <a:pPr marL="914400" lvl="1" indent="-323850" algn="l" rtl="0">
              <a:spcBef>
                <a:spcPts val="0"/>
              </a:spcBef>
              <a:spcAft>
                <a:spcPts val="0"/>
              </a:spcAft>
              <a:buSzPts val="1500"/>
              <a:buChar char="•"/>
            </a:pPr>
            <a:r>
              <a:rPr lang="ja"/>
              <a:t>お客さんもそういったところを見ているところもある</a:t>
            </a:r>
            <a:endParaRPr/>
          </a:p>
        </p:txBody>
      </p:sp>
      <p:sp>
        <p:nvSpPr>
          <p:cNvPr id="144" name="Google Shape;144;p21"/>
          <p:cNvSpPr/>
          <p:nvPr/>
        </p:nvSpPr>
        <p:spPr>
          <a:xfrm>
            <a:off x="7190675" y="325875"/>
            <a:ext cx="1563600" cy="466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ja"/>
              <a:t>2024/5/24</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2"/>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a:t>OSPOって何ですか？</a:t>
            </a:r>
            <a:endParaRPr/>
          </a:p>
        </p:txBody>
      </p:sp>
      <p:sp>
        <p:nvSpPr>
          <p:cNvPr id="150" name="Google Shape;150;p22"/>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rmAutofit fontScale="62500" lnSpcReduction="20000"/>
          </a:bodyPr>
          <a:lstStyle/>
          <a:p>
            <a:pPr marL="457200" lvl="0" indent="-300037" algn="l" rtl="0">
              <a:spcBef>
                <a:spcPts val="0"/>
              </a:spcBef>
              <a:spcAft>
                <a:spcPts val="0"/>
              </a:spcAft>
              <a:buSzPct val="100000"/>
              <a:buChar char="•"/>
            </a:pPr>
            <a:r>
              <a:rPr lang="ja"/>
              <a:t>組織図上のどこにあるかは会社によって異なる</a:t>
            </a:r>
            <a:endParaRPr/>
          </a:p>
          <a:p>
            <a:pPr marL="914400" lvl="1" indent="-288131" algn="l" rtl="0">
              <a:spcBef>
                <a:spcPts val="0"/>
              </a:spcBef>
              <a:spcAft>
                <a:spcPts val="0"/>
              </a:spcAft>
              <a:buSzPct val="100000"/>
              <a:buChar char="•"/>
            </a:pPr>
            <a:r>
              <a:rPr lang="ja"/>
              <a:t>役割も様々</a:t>
            </a:r>
            <a:endParaRPr/>
          </a:p>
          <a:p>
            <a:pPr marL="914400" lvl="1" indent="-288131" algn="l" rtl="0">
              <a:spcBef>
                <a:spcPts val="0"/>
              </a:spcBef>
              <a:spcAft>
                <a:spcPts val="0"/>
              </a:spcAft>
              <a:buSzPct val="100000"/>
              <a:buChar char="•"/>
            </a:pPr>
            <a:r>
              <a:rPr lang="ja"/>
              <a:t>R＆Dの中、CTO室、セキュリティ室、リスクコンプライアンス、品証、法務知財</a:t>
            </a:r>
            <a:endParaRPr/>
          </a:p>
          <a:p>
            <a:pPr marL="914400" lvl="1" indent="-288131" algn="l" rtl="0">
              <a:spcBef>
                <a:spcPts val="0"/>
              </a:spcBef>
              <a:spcAft>
                <a:spcPts val="0"/>
              </a:spcAft>
              <a:buSzPct val="100000"/>
              <a:buChar char="•"/>
            </a:pPr>
            <a:r>
              <a:rPr lang="ja"/>
              <a:t>会社のいるステージが異なると、上記のどこに置くかが変わる</a:t>
            </a:r>
            <a:endParaRPr/>
          </a:p>
          <a:p>
            <a:pPr marL="914400" lvl="1" indent="-288131" algn="l" rtl="0">
              <a:spcBef>
                <a:spcPts val="0"/>
              </a:spcBef>
              <a:spcAft>
                <a:spcPts val="0"/>
              </a:spcAft>
              <a:buSzPct val="100000"/>
              <a:buChar char="•"/>
            </a:pPr>
            <a:r>
              <a:rPr lang="ja"/>
              <a:t>上記の一つの場所の役割には収まらないことが、どこに置けばいいか議論になる理由では</a:t>
            </a:r>
            <a:endParaRPr/>
          </a:p>
          <a:p>
            <a:pPr marL="914400" lvl="1" indent="-288131" algn="l" rtl="0">
              <a:spcBef>
                <a:spcPts val="0"/>
              </a:spcBef>
              <a:spcAft>
                <a:spcPts val="0"/>
              </a:spcAft>
              <a:buSzPct val="100000"/>
              <a:buChar char="•"/>
            </a:pPr>
            <a:r>
              <a:rPr lang="ja"/>
              <a:t>会社がOSPOのどの役割に重点を置いているかによっても変わる</a:t>
            </a:r>
            <a:endParaRPr/>
          </a:p>
          <a:p>
            <a:pPr marL="457200" lvl="0" indent="-300037" algn="l" rtl="0">
              <a:spcBef>
                <a:spcPts val="0"/>
              </a:spcBef>
              <a:spcAft>
                <a:spcPts val="0"/>
              </a:spcAft>
              <a:buClr>
                <a:schemeClr val="accent1"/>
              </a:buClr>
              <a:buSzPct val="100000"/>
              <a:buChar char="•"/>
            </a:pPr>
            <a:r>
              <a:rPr lang="ja">
                <a:solidFill>
                  <a:schemeClr val="accent1"/>
                </a:solidFill>
              </a:rPr>
              <a:t>Open Sourceという異なる文化に対して会社が協調してゆくための橋渡しをして、スムーズに利活用するフレームワークがOSPOである</a:t>
            </a:r>
            <a:endParaRPr>
              <a:solidFill>
                <a:schemeClr val="accent1"/>
              </a:solidFill>
            </a:endParaRPr>
          </a:p>
          <a:p>
            <a:pPr marL="457200" lvl="0" indent="-300037" algn="l" rtl="0">
              <a:spcBef>
                <a:spcPts val="0"/>
              </a:spcBef>
              <a:spcAft>
                <a:spcPts val="0"/>
              </a:spcAft>
              <a:buClr>
                <a:schemeClr val="accent1"/>
              </a:buClr>
              <a:buSzPct val="100000"/>
              <a:buChar char="•"/>
            </a:pPr>
            <a:r>
              <a:rPr lang="ja">
                <a:solidFill>
                  <a:schemeClr val="accent1"/>
                </a:solidFill>
              </a:rPr>
              <a:t>Open Sourceという異なる文化を持つOSSコミュニティと団体、組織との協調を実現し、その活動がコミュニティの動きの中に自然に組込まれること目指す組織がOSPOである</a:t>
            </a:r>
            <a:endParaRPr>
              <a:solidFill>
                <a:schemeClr val="accent1"/>
              </a:solidFill>
            </a:endParaRPr>
          </a:p>
          <a:p>
            <a:pPr marL="457200" lvl="0" indent="-300037" algn="l" rtl="0">
              <a:spcBef>
                <a:spcPts val="0"/>
              </a:spcBef>
              <a:spcAft>
                <a:spcPts val="0"/>
              </a:spcAft>
              <a:buClr>
                <a:schemeClr val="accent1"/>
              </a:buClr>
              <a:buSzPct val="100000"/>
              <a:buChar char="•"/>
            </a:pPr>
            <a:r>
              <a:rPr lang="ja">
                <a:solidFill>
                  <a:schemeClr val="accent1"/>
                </a:solidFill>
              </a:rPr>
              <a:t>OSSコミュニティを利活用するために、その文化を理解し社内で適切に行動できるようになるための準備室（これがステージ０，１辺りでの定義）</a:t>
            </a:r>
            <a:endParaRPr>
              <a:solidFill>
                <a:schemeClr val="accent1"/>
              </a:solidFill>
            </a:endParaRPr>
          </a:p>
          <a:p>
            <a:pPr marL="914400" lvl="1" indent="-288131" algn="l" rtl="0">
              <a:spcBef>
                <a:spcPts val="0"/>
              </a:spcBef>
              <a:spcAft>
                <a:spcPts val="0"/>
              </a:spcAft>
              <a:buSzPct val="100000"/>
              <a:buChar char="•"/>
            </a:pPr>
            <a:r>
              <a:rPr lang="ja"/>
              <a:t>ここから発展してゆく</a:t>
            </a:r>
            <a:endParaRPr/>
          </a:p>
          <a:p>
            <a:pPr marL="457200" lvl="0" indent="-300037" algn="l" rtl="0">
              <a:spcBef>
                <a:spcPts val="0"/>
              </a:spcBef>
              <a:spcAft>
                <a:spcPts val="0"/>
              </a:spcAft>
              <a:buSzPct val="100000"/>
              <a:buChar char="•"/>
            </a:pPr>
            <a:r>
              <a:rPr lang="ja"/>
              <a:t>OSPOのあり方も様々</a:t>
            </a:r>
            <a:endParaRPr/>
          </a:p>
          <a:p>
            <a:pPr marL="914400" lvl="1" indent="-288131" algn="l" rtl="0">
              <a:spcBef>
                <a:spcPts val="0"/>
              </a:spcBef>
              <a:spcAft>
                <a:spcPts val="0"/>
              </a:spcAft>
              <a:buSzPct val="100000"/>
              <a:buChar char="•"/>
            </a:pPr>
            <a:r>
              <a:rPr lang="ja"/>
              <a:t>バーチャル　ー　リアル</a:t>
            </a:r>
            <a:endParaRPr/>
          </a:p>
          <a:p>
            <a:pPr marL="914400" lvl="1" indent="-288131" algn="l" rtl="0">
              <a:spcBef>
                <a:spcPts val="0"/>
              </a:spcBef>
              <a:spcAft>
                <a:spcPts val="0"/>
              </a:spcAft>
              <a:buSzPct val="100000"/>
              <a:buChar char="•"/>
            </a:pPr>
            <a:r>
              <a:rPr lang="ja"/>
              <a:t>複数個所にある　ー　一か所集中</a:t>
            </a:r>
            <a:endParaRPr/>
          </a:p>
          <a:p>
            <a:pPr marL="1371600" lvl="2" indent="-276225" algn="l" rtl="0">
              <a:spcBef>
                <a:spcPts val="0"/>
              </a:spcBef>
              <a:spcAft>
                <a:spcPts val="0"/>
              </a:spcAft>
              <a:buSzPct val="100000"/>
              <a:buChar char="•"/>
            </a:pPr>
            <a:r>
              <a:rPr lang="ja"/>
              <a:t>成り立ちとして、社内でばらばらに複数のOSPOが発生して、成長にしたがって、一つにまとまって行く流れもあるだろう</a:t>
            </a:r>
            <a:endParaRPr/>
          </a:p>
          <a:p>
            <a:pPr marL="914400" lvl="1" indent="-288131" algn="l" rtl="0">
              <a:spcBef>
                <a:spcPts val="0"/>
              </a:spcBef>
              <a:spcAft>
                <a:spcPts val="0"/>
              </a:spcAft>
              <a:buSzPct val="100000"/>
              <a:buChar char="•"/>
            </a:pPr>
            <a:r>
              <a:rPr lang="ja"/>
              <a:t>OSPOは一か所にまとまると機能しなくなる</a:t>
            </a:r>
            <a:endParaRPr/>
          </a:p>
          <a:p>
            <a:pPr marL="1371600" lvl="2" indent="-276225" algn="l" rtl="0">
              <a:spcBef>
                <a:spcPts val="0"/>
              </a:spcBef>
              <a:spcAft>
                <a:spcPts val="0"/>
              </a:spcAft>
              <a:buSzPct val="100000"/>
              <a:buChar char="•"/>
            </a:pPr>
            <a:r>
              <a:rPr lang="ja"/>
              <a:t>「ここに任せておけばよい」ということになって、うまくいかない</a:t>
            </a:r>
            <a:endParaRPr/>
          </a:p>
          <a:p>
            <a:pPr marL="1828800" lvl="3" indent="-272256" algn="l" rtl="0">
              <a:spcBef>
                <a:spcPts val="0"/>
              </a:spcBef>
              <a:spcAft>
                <a:spcPts val="0"/>
              </a:spcAft>
              <a:buSzPct val="100000"/>
              <a:buChar char="•"/>
            </a:pPr>
            <a:r>
              <a:rPr lang="ja"/>
              <a:t>OSS文化を学ぶことをやめてしまうことを危惧している</a:t>
            </a:r>
            <a:endParaRPr/>
          </a:p>
          <a:p>
            <a:pPr marL="457200" lvl="0" indent="-300037" algn="l" rtl="0">
              <a:spcBef>
                <a:spcPts val="0"/>
              </a:spcBef>
              <a:spcAft>
                <a:spcPts val="0"/>
              </a:spcAft>
              <a:buClr>
                <a:schemeClr val="accent1"/>
              </a:buClr>
              <a:buSzPct val="100000"/>
              <a:buChar char="•"/>
            </a:pPr>
            <a:r>
              <a:rPr lang="ja">
                <a:solidFill>
                  <a:schemeClr val="accent1"/>
                </a:solidFill>
              </a:rPr>
              <a:t>啓発して浸透させる役割を持つ</a:t>
            </a:r>
            <a:endParaRPr>
              <a:solidFill>
                <a:schemeClr val="accent1"/>
              </a:solidFill>
            </a:endParaRPr>
          </a:p>
          <a:p>
            <a:pPr marL="457200" lvl="0" indent="-300037" algn="l" rtl="0">
              <a:spcBef>
                <a:spcPts val="0"/>
              </a:spcBef>
              <a:spcAft>
                <a:spcPts val="0"/>
              </a:spcAft>
              <a:buSzPct val="100000"/>
              <a:buChar char="•"/>
            </a:pPr>
            <a:r>
              <a:rPr lang="ja">
                <a:solidFill>
                  <a:schemeClr val="accent1"/>
                </a:solidFill>
              </a:rPr>
              <a:t>ゆくゆくは、社外のOSSコミュニティに貢献できるように、まずは社内でのOSS情報共有をする、社内のOSSコミュニティを築いて交流を活発にする</a:t>
            </a:r>
            <a:r>
              <a:rPr lang="ja"/>
              <a:t>、</a:t>
            </a:r>
            <a:endParaRPr/>
          </a:p>
          <a:p>
            <a:pPr marL="457200" lvl="0" indent="-300037" algn="l" rtl="0">
              <a:spcBef>
                <a:spcPts val="0"/>
              </a:spcBef>
              <a:spcAft>
                <a:spcPts val="0"/>
              </a:spcAft>
              <a:buSzPct val="100000"/>
              <a:buChar char="•"/>
            </a:pPr>
            <a:r>
              <a:rPr lang="ja">
                <a:solidFill>
                  <a:schemeClr val="accent1"/>
                </a:solidFill>
              </a:rPr>
              <a:t>ライフサイクルがある：大きくなっていって、浸透したら小さくなる</a:t>
            </a:r>
            <a:r>
              <a:rPr lang="ja"/>
              <a:t>。</a:t>
            </a:r>
            <a:endParaRPr/>
          </a:p>
          <a:p>
            <a:pPr marL="914400" lvl="1" indent="-288131" algn="l" rtl="0">
              <a:spcBef>
                <a:spcPts val="0"/>
              </a:spcBef>
              <a:spcAft>
                <a:spcPts val="0"/>
              </a:spcAft>
              <a:buSzPct val="100000"/>
              <a:buChar char="•"/>
            </a:pPr>
            <a:r>
              <a:rPr lang="ja"/>
              <a:t>文化を浸透させる　→　ビジネス活用</a:t>
            </a:r>
            <a:endParaRPr/>
          </a:p>
          <a:p>
            <a:pPr marL="457200" lvl="0" indent="-300037" algn="l" rtl="0">
              <a:spcBef>
                <a:spcPts val="0"/>
              </a:spcBef>
              <a:spcAft>
                <a:spcPts val="0"/>
              </a:spcAft>
              <a:buClr>
                <a:schemeClr val="accent1"/>
              </a:buClr>
              <a:buSzPct val="100000"/>
              <a:buChar char="•"/>
            </a:pPr>
            <a:r>
              <a:rPr lang="ja">
                <a:solidFill>
                  <a:schemeClr val="accent1"/>
                </a:solidFill>
              </a:rPr>
              <a:t>「コミュニティ貢献＝会社の成功」を実現するのがOSPOの一つの姿</a:t>
            </a:r>
            <a:endParaRPr>
              <a:solidFill>
                <a:schemeClr val="accent1"/>
              </a:solidFill>
            </a:endParaRPr>
          </a:p>
          <a:p>
            <a:pPr marL="457200" lvl="0" indent="-300037" algn="l" rtl="0">
              <a:spcBef>
                <a:spcPts val="0"/>
              </a:spcBef>
              <a:spcAft>
                <a:spcPts val="0"/>
              </a:spcAft>
              <a:buClr>
                <a:schemeClr val="accent1"/>
              </a:buClr>
              <a:buSzPct val="100000"/>
              <a:buChar char="•"/>
            </a:pPr>
            <a:r>
              <a:rPr lang="ja">
                <a:solidFill>
                  <a:schemeClr val="accent1"/>
                </a:solidFill>
              </a:rPr>
              <a:t>業界の文化とトレンドの変化をキャッチして、社内の文化のアップデートを行うのがOSPOの役割？</a:t>
            </a:r>
            <a:endParaRPr>
              <a:solidFill>
                <a:schemeClr val="accent1"/>
              </a:solidFill>
            </a:endParaRPr>
          </a:p>
          <a:p>
            <a:pPr marL="457200" lvl="0" indent="-300037" algn="l" rtl="0">
              <a:spcBef>
                <a:spcPts val="0"/>
              </a:spcBef>
              <a:spcAft>
                <a:spcPts val="0"/>
              </a:spcAft>
              <a:buClr>
                <a:schemeClr val="accent1"/>
              </a:buClr>
              <a:buSzPct val="100000"/>
              <a:buChar char="•"/>
            </a:pPr>
            <a:r>
              <a:rPr lang="ja">
                <a:solidFill>
                  <a:schemeClr val="accent1"/>
                </a:solidFill>
              </a:rPr>
              <a:t>コミュニティの中のトレンドを把握し、事業に活かすのがOSPOの役割（文化もその一つ）【経営企画的な活動？】</a:t>
            </a:r>
            <a:endParaRPr>
              <a:solidFill>
                <a:schemeClr val="accent1"/>
              </a:solidFill>
            </a:endParaRPr>
          </a:p>
        </p:txBody>
      </p:sp>
      <p:sp>
        <p:nvSpPr>
          <p:cNvPr id="151" name="Google Shape;151;p22"/>
          <p:cNvSpPr/>
          <p:nvPr/>
        </p:nvSpPr>
        <p:spPr>
          <a:xfrm>
            <a:off x="7307150" y="345875"/>
            <a:ext cx="1353900" cy="466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ja"/>
              <a:t>2023/8/25議論</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3"/>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a:t>Qx</a:t>
            </a:r>
            <a:endParaRPr/>
          </a:p>
        </p:txBody>
      </p:sp>
      <p:sp>
        <p:nvSpPr>
          <p:cNvPr id="157" name="Google Shape;157;p23"/>
          <p:cNvSpPr txBox="1"/>
          <p:nvPr/>
        </p:nvSpPr>
        <p:spPr>
          <a:xfrm>
            <a:off x="432000" y="990300"/>
            <a:ext cx="8280000" cy="400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ja"/>
              <a:t>Q: </a:t>
            </a:r>
            <a:r>
              <a:rPr lang="ja">
                <a:solidFill>
                  <a:schemeClr val="dk1"/>
                </a:solidFill>
              </a:rPr>
              <a:t>OSPOってなんですか</a:t>
            </a:r>
            <a:endParaRPr/>
          </a:p>
        </p:txBody>
      </p:sp>
      <p:sp>
        <p:nvSpPr>
          <p:cNvPr id="158" name="Google Shape;158;p23"/>
          <p:cNvSpPr txBox="1"/>
          <p:nvPr/>
        </p:nvSpPr>
        <p:spPr>
          <a:xfrm>
            <a:off x="432000" y="1568425"/>
            <a:ext cx="8280000" cy="30870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rmAutofit lnSpcReduction="20000"/>
          </a:bodyPr>
          <a:lstStyle/>
          <a:p>
            <a:pPr marL="0" lvl="0" indent="0" algn="l" rtl="0">
              <a:spcBef>
                <a:spcPts val="0"/>
              </a:spcBef>
              <a:spcAft>
                <a:spcPts val="0"/>
              </a:spcAft>
              <a:buNone/>
            </a:pPr>
            <a:r>
              <a:rPr lang="ja"/>
              <a:t>A:  </a:t>
            </a:r>
            <a:endParaRPr/>
          </a:p>
          <a:p>
            <a:pPr marL="457200" lvl="0" indent="-317500" algn="l" rtl="0">
              <a:spcBef>
                <a:spcPts val="0"/>
              </a:spcBef>
              <a:spcAft>
                <a:spcPts val="0"/>
              </a:spcAft>
              <a:buSzPts val="1400"/>
              <a:buChar char="●"/>
            </a:pPr>
            <a:r>
              <a:rPr lang="ja"/>
              <a:t>オープンソースソフトウェアを利用するメリット</a:t>
            </a:r>
            <a:endParaRPr/>
          </a:p>
          <a:p>
            <a:pPr marL="914400" lvl="1" indent="-317500" algn="l" rtl="0">
              <a:spcBef>
                <a:spcPts val="0"/>
              </a:spcBef>
              <a:spcAft>
                <a:spcPts val="0"/>
              </a:spcAft>
              <a:buSzPts val="1400"/>
              <a:buChar char="○"/>
            </a:pPr>
            <a:r>
              <a:rPr lang="ja"/>
              <a:t>既にあるソフトを使える（開発を楽できる）</a:t>
            </a:r>
            <a:endParaRPr/>
          </a:p>
          <a:p>
            <a:pPr marL="914400" lvl="1" indent="-317500" algn="l" rtl="0">
              <a:spcBef>
                <a:spcPts val="0"/>
              </a:spcBef>
              <a:spcAft>
                <a:spcPts val="0"/>
              </a:spcAft>
              <a:buSzPts val="1400"/>
              <a:buChar char="○"/>
            </a:pPr>
            <a:r>
              <a:rPr lang="ja"/>
              <a:t>最先端のソフト（技術）を使える</a:t>
            </a:r>
            <a:endParaRPr/>
          </a:p>
          <a:p>
            <a:pPr marL="914400" lvl="1" indent="-317500" algn="l" rtl="0">
              <a:spcBef>
                <a:spcPts val="0"/>
              </a:spcBef>
              <a:spcAft>
                <a:spcPts val="0"/>
              </a:spcAft>
              <a:buSzPts val="1400"/>
              <a:buChar char="○"/>
            </a:pPr>
            <a:r>
              <a:rPr lang="ja"/>
              <a:t>多くの人が集まって作ったソフトなので、レベルが高い</a:t>
            </a:r>
            <a:endParaRPr/>
          </a:p>
          <a:p>
            <a:pPr marL="914400" lvl="1" indent="-317500" algn="l" rtl="0">
              <a:spcBef>
                <a:spcPts val="0"/>
              </a:spcBef>
              <a:spcAft>
                <a:spcPts val="0"/>
              </a:spcAft>
              <a:buSzPts val="1400"/>
              <a:buChar char="○"/>
            </a:pPr>
            <a:r>
              <a:rPr lang="ja"/>
              <a:t>多くの人が使うので、バグが見つかりやすく、修正も的確で早い</a:t>
            </a:r>
            <a:endParaRPr/>
          </a:p>
          <a:p>
            <a:pPr marL="457200" lvl="0" indent="-317500" algn="l" rtl="0">
              <a:spcBef>
                <a:spcPts val="0"/>
              </a:spcBef>
              <a:spcAft>
                <a:spcPts val="0"/>
              </a:spcAft>
              <a:buSzPts val="1400"/>
              <a:buChar char="●"/>
            </a:pPr>
            <a:r>
              <a:rPr lang="ja"/>
              <a:t>コミュニティ活動のメリット</a:t>
            </a:r>
            <a:endParaRPr/>
          </a:p>
          <a:p>
            <a:pPr marL="914400" lvl="1" indent="-317500" algn="l" rtl="0">
              <a:spcBef>
                <a:spcPts val="0"/>
              </a:spcBef>
              <a:spcAft>
                <a:spcPts val="0"/>
              </a:spcAft>
              <a:buSzPts val="1400"/>
              <a:buChar char="○"/>
            </a:pPr>
            <a:r>
              <a:rPr lang="ja"/>
              <a:t>コミュニティでの協力による開発リソース効率化</a:t>
            </a:r>
            <a:endParaRPr/>
          </a:p>
          <a:p>
            <a:pPr marL="914400" lvl="1" indent="-317500" algn="l" rtl="0">
              <a:spcBef>
                <a:spcPts val="0"/>
              </a:spcBef>
              <a:spcAft>
                <a:spcPts val="0"/>
              </a:spcAft>
              <a:buSzPts val="1400"/>
              <a:buChar char="○"/>
            </a:pPr>
            <a:r>
              <a:rPr lang="ja"/>
              <a:t>人材獲得のチャンスがある（企業側）</a:t>
            </a:r>
            <a:endParaRPr/>
          </a:p>
          <a:p>
            <a:pPr marL="1371600" lvl="2" indent="-317500" algn="l" rtl="0">
              <a:spcBef>
                <a:spcPts val="0"/>
              </a:spcBef>
              <a:spcAft>
                <a:spcPts val="0"/>
              </a:spcAft>
              <a:buSzPts val="1400"/>
              <a:buChar char="■"/>
            </a:pPr>
            <a:r>
              <a:rPr lang="ja"/>
              <a:t>技術者としては自分の価値向上、活動の場の獲得ができる</a:t>
            </a:r>
            <a:endParaRPr/>
          </a:p>
          <a:p>
            <a:pPr marL="1371600" lvl="2" indent="-317500" algn="l" rtl="0">
              <a:spcBef>
                <a:spcPts val="0"/>
              </a:spcBef>
              <a:spcAft>
                <a:spcPts val="0"/>
              </a:spcAft>
              <a:buSzPts val="1400"/>
              <a:buChar char="■"/>
            </a:pPr>
            <a:r>
              <a:rPr lang="ja">
                <a:solidFill>
                  <a:schemeClr val="dk1"/>
                </a:solidFill>
              </a:rPr>
              <a:t>人材育成</a:t>
            </a:r>
            <a:endParaRPr/>
          </a:p>
          <a:p>
            <a:pPr marL="457200" lvl="0" indent="-317500" algn="l" rtl="0">
              <a:spcBef>
                <a:spcPts val="0"/>
              </a:spcBef>
              <a:spcAft>
                <a:spcPts val="0"/>
              </a:spcAft>
              <a:buSzPts val="1400"/>
              <a:buChar char="●"/>
            </a:pPr>
            <a:r>
              <a:rPr lang="ja"/>
              <a:t>ビジネス戦略上のメリット</a:t>
            </a:r>
            <a:endParaRPr/>
          </a:p>
          <a:p>
            <a:pPr marL="914400" lvl="1" indent="-317500" algn="l" rtl="0">
              <a:spcBef>
                <a:spcPts val="0"/>
              </a:spcBef>
              <a:spcAft>
                <a:spcPts val="0"/>
              </a:spcAft>
              <a:buSzPts val="1400"/>
              <a:buChar char="○"/>
            </a:pPr>
            <a:r>
              <a:rPr lang="ja"/>
              <a:t>コミュニティを通じた市場・潜在顧客層の拡大、開発方向性への関与</a:t>
            </a:r>
            <a:endParaRPr/>
          </a:p>
          <a:p>
            <a:pPr marL="914400" lvl="1" indent="-317500" algn="l" rtl="0">
              <a:spcBef>
                <a:spcPts val="0"/>
              </a:spcBef>
              <a:spcAft>
                <a:spcPts val="0"/>
              </a:spcAft>
              <a:buSzPts val="1400"/>
              <a:buChar char="○"/>
            </a:pPr>
            <a:r>
              <a:rPr lang="ja"/>
              <a:t>デファクトスタンダードの確立・普及</a:t>
            </a:r>
            <a:endParaRPr/>
          </a:p>
          <a:p>
            <a:pPr marL="0" lvl="0" indent="0" algn="l" rtl="0">
              <a:spcBef>
                <a:spcPts val="0"/>
              </a:spcBef>
              <a:spcAft>
                <a:spcPts val="0"/>
              </a:spcAft>
              <a:buNone/>
            </a:pPr>
            <a:endParaRPr/>
          </a:p>
          <a:p>
            <a:pPr marL="0" lvl="0" indent="0" algn="l" rtl="0">
              <a:spcBef>
                <a:spcPts val="0"/>
              </a:spcBef>
              <a:spcAft>
                <a:spcPts val="0"/>
              </a:spcAft>
              <a:buNone/>
            </a:pPr>
            <a:r>
              <a:rPr lang="ja"/>
              <a:t>OSPOのステージとのマッピングを次回考える（2023/5/26)</a:t>
            </a:r>
            <a:endParaRPr/>
          </a:p>
          <a:p>
            <a:pPr marL="914400" lvl="0" indent="0" algn="l" rtl="0">
              <a:spcBef>
                <a:spcPts val="0"/>
              </a:spcBef>
              <a:spcAft>
                <a:spcPts val="0"/>
              </a:spcAft>
              <a:buNone/>
            </a:pPr>
            <a:endParaRPr/>
          </a:p>
        </p:txBody>
      </p:sp>
      <p:sp>
        <p:nvSpPr>
          <p:cNvPr id="159" name="Google Shape;159;p23"/>
          <p:cNvSpPr/>
          <p:nvPr/>
        </p:nvSpPr>
        <p:spPr>
          <a:xfrm>
            <a:off x="7553300" y="98425"/>
            <a:ext cx="1353900" cy="466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ja"/>
              <a:t>2023/10/27</a:t>
            </a:r>
            <a:endParaRPr/>
          </a:p>
          <a:p>
            <a:pPr marL="0" lvl="0" indent="0" algn="l" rtl="0">
              <a:spcBef>
                <a:spcPts val="0"/>
              </a:spcBef>
              <a:spcAft>
                <a:spcPts val="0"/>
              </a:spcAft>
              <a:buNone/>
            </a:pPr>
            <a:r>
              <a:rPr lang="ja"/>
              <a:t>ひとまずFix</a:t>
            </a:r>
            <a:endParaRPr/>
          </a:p>
        </p:txBody>
      </p:sp>
      <p:sp>
        <p:nvSpPr>
          <p:cNvPr id="160" name="Google Shape;160;p23"/>
          <p:cNvSpPr txBox="1"/>
          <p:nvPr/>
        </p:nvSpPr>
        <p:spPr>
          <a:xfrm>
            <a:off x="846000" y="34525"/>
            <a:ext cx="6737400" cy="59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ja">
                <a:solidFill>
                  <a:schemeClr val="dk1"/>
                </a:solidFill>
              </a:rPr>
              <a:t>OSPOってなんですか</a:t>
            </a:r>
            <a:endParaRPr>
              <a:solidFill>
                <a:schemeClr val="dk1"/>
              </a:solidFill>
            </a:endParaRPr>
          </a:p>
          <a:p>
            <a:pPr marL="0" lvl="0" indent="0" algn="l" rtl="0">
              <a:spcBef>
                <a:spcPts val="0"/>
              </a:spcBef>
              <a:spcAft>
                <a:spcPts val="0"/>
              </a:spcAft>
              <a:buNone/>
            </a:pPr>
            <a:r>
              <a:rPr lang="ja"/>
              <a:t>それぞれのStageにある会社においてOSPOがやることをまとめてみた</a:t>
            </a:r>
            <a:endParaRPr/>
          </a:p>
        </p:txBody>
      </p:sp>
      <p:sp>
        <p:nvSpPr>
          <p:cNvPr id="161" name="Google Shape;161;p23"/>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0" lvl="0" indent="0" algn="l" rtl="0">
              <a:spcBef>
                <a:spcPts val="0"/>
              </a:spcBef>
              <a:spcAft>
                <a:spcPts val="0"/>
              </a:spcAft>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4"/>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a:t>Qx</a:t>
            </a:r>
            <a:endParaRPr/>
          </a:p>
        </p:txBody>
      </p:sp>
      <p:pic>
        <p:nvPicPr>
          <p:cNvPr id="167" name="Google Shape;167;p24"/>
          <p:cNvPicPr preferRelativeResize="0"/>
          <p:nvPr/>
        </p:nvPicPr>
        <p:blipFill rotWithShape="1">
          <a:blip r:embed="rId3">
            <a:alphaModFix/>
          </a:blip>
          <a:srcRect l="13179" t="-1800" r="-13179" b="1800"/>
          <a:stretch/>
        </p:blipFill>
        <p:spPr>
          <a:xfrm>
            <a:off x="220526" y="1680322"/>
            <a:ext cx="8569399" cy="3036700"/>
          </a:xfrm>
          <a:prstGeom prst="rect">
            <a:avLst/>
          </a:prstGeom>
          <a:noFill/>
          <a:ln>
            <a:noFill/>
          </a:ln>
        </p:spPr>
      </p:pic>
      <p:sp>
        <p:nvSpPr>
          <p:cNvPr id="168" name="Google Shape;168;p24"/>
          <p:cNvSpPr/>
          <p:nvPr/>
        </p:nvSpPr>
        <p:spPr>
          <a:xfrm>
            <a:off x="39275" y="2375625"/>
            <a:ext cx="2293200" cy="861300"/>
          </a:xfrm>
          <a:prstGeom prst="wedgeRectCallout">
            <a:avLst>
              <a:gd name="adj1" fmla="val 7667"/>
              <a:gd name="adj2" fmla="val 123406"/>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49225" algn="l" rtl="0">
              <a:spcBef>
                <a:spcPts val="0"/>
              </a:spcBef>
              <a:spcAft>
                <a:spcPts val="0"/>
              </a:spcAft>
              <a:buSzPts val="1000"/>
              <a:buChar char="●"/>
            </a:pPr>
            <a:r>
              <a:rPr lang="ja" sz="1000"/>
              <a:t>ライセンスを啓発して浸透させる役割を持つ</a:t>
            </a:r>
            <a:endParaRPr sz="1000"/>
          </a:p>
          <a:p>
            <a:pPr marL="89999" lvl="0" indent="-149225" algn="l" rtl="0">
              <a:spcBef>
                <a:spcPts val="0"/>
              </a:spcBef>
              <a:spcAft>
                <a:spcPts val="0"/>
              </a:spcAft>
              <a:buSzPts val="1000"/>
              <a:buChar char="●"/>
            </a:pPr>
            <a:r>
              <a:rPr lang="ja" sz="1000"/>
              <a:t>  OSSは重要とか、ライセンスは守りましょうとか、を伝道する活動</a:t>
            </a:r>
            <a:endParaRPr sz="1000"/>
          </a:p>
        </p:txBody>
      </p:sp>
      <p:sp>
        <p:nvSpPr>
          <p:cNvPr id="169" name="Google Shape;169;p24"/>
          <p:cNvSpPr/>
          <p:nvPr/>
        </p:nvSpPr>
        <p:spPr>
          <a:xfrm>
            <a:off x="4274375" y="668225"/>
            <a:ext cx="2476200" cy="1453500"/>
          </a:xfrm>
          <a:prstGeom prst="wedgeRectCallout">
            <a:avLst>
              <a:gd name="adj1" fmla="val -43620"/>
              <a:gd name="adj2" fmla="val 114071"/>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SzPts val="1000"/>
              <a:buChar char="●"/>
            </a:pPr>
            <a:r>
              <a:rPr lang="ja" sz="1000"/>
              <a:t>Open Sourceという異なる文化に対して会社が協調してゆくための橋渡しをして、スムーズに利活用するフレームワークがOSPOである</a:t>
            </a:r>
            <a:endParaRPr sz="1000"/>
          </a:p>
          <a:p>
            <a:pPr marL="89999" lvl="0" indent="-158750" algn="l" rtl="0">
              <a:spcBef>
                <a:spcPts val="0"/>
              </a:spcBef>
              <a:spcAft>
                <a:spcPts val="0"/>
              </a:spcAft>
              <a:buSzPts val="1000"/>
              <a:buChar char="●"/>
            </a:pPr>
            <a:r>
              <a:rPr lang="ja" sz="1000"/>
              <a:t>Open Sourceという異なる文化を持つOSSコミュニティと団体、組織との協調を実現し、その活動がコミュニティの動きの中に自然に組込まれること目指す組織がOSPOである</a:t>
            </a:r>
            <a:endParaRPr sz="1000"/>
          </a:p>
        </p:txBody>
      </p:sp>
      <p:sp>
        <p:nvSpPr>
          <p:cNvPr id="170" name="Google Shape;170;p24"/>
          <p:cNvSpPr/>
          <p:nvPr/>
        </p:nvSpPr>
        <p:spPr>
          <a:xfrm>
            <a:off x="6868625" y="750125"/>
            <a:ext cx="2127600" cy="1074900"/>
          </a:xfrm>
          <a:prstGeom prst="wedgeRectCallout">
            <a:avLst>
              <a:gd name="adj1" fmla="val -55071"/>
              <a:gd name="adj2" fmla="val 81433"/>
            </a:avLst>
          </a:prstGeom>
          <a:solidFill>
            <a:schemeClr val="lt2"/>
          </a:solidFill>
          <a:ln w="9525" cap="flat" cmpd="sng">
            <a:solidFill>
              <a:schemeClr val="dk2"/>
            </a:solidFill>
            <a:prstDash val="solid"/>
            <a:round/>
            <a:headEnd type="none" w="sm" len="sm"/>
            <a:tailEnd type="none" w="sm" len="sm"/>
          </a:ln>
        </p:spPr>
        <p:txBody>
          <a:bodyPr spcFirstLastPara="1" wrap="square" lIns="270000" tIns="91425" rIns="91425" bIns="91425" anchor="ctr" anchorCtr="0">
            <a:noAutofit/>
          </a:bodyPr>
          <a:lstStyle/>
          <a:p>
            <a:pPr marL="89999" lvl="0" indent="-292100" algn="l" rtl="0">
              <a:spcBef>
                <a:spcPts val="0"/>
              </a:spcBef>
              <a:spcAft>
                <a:spcPts val="0"/>
              </a:spcAft>
              <a:buClr>
                <a:schemeClr val="dk1"/>
              </a:buClr>
              <a:buSzPts val="1000"/>
              <a:buChar char="●"/>
            </a:pPr>
            <a:r>
              <a:rPr lang="ja" sz="1000"/>
              <a:t>コミュニティの中のトレンドを把握し、さらに、コミュニティをリードし、トレンドを生み出して、事業に活かすのがOSPOの役割</a:t>
            </a:r>
            <a:endParaRPr sz="1000"/>
          </a:p>
          <a:p>
            <a:pPr marL="89999" lvl="0" indent="-292100" algn="l" rtl="0">
              <a:spcBef>
                <a:spcPts val="0"/>
              </a:spcBef>
              <a:spcAft>
                <a:spcPts val="0"/>
              </a:spcAft>
              <a:buSzPts val="1000"/>
              <a:buChar char="●"/>
            </a:pPr>
            <a:r>
              <a:rPr lang="ja" sz="1000"/>
              <a:t>上記が企業文化として定着するように活動する役割</a:t>
            </a:r>
            <a:endParaRPr sz="1000"/>
          </a:p>
        </p:txBody>
      </p:sp>
      <p:sp>
        <p:nvSpPr>
          <p:cNvPr id="171" name="Google Shape;171;p24"/>
          <p:cNvSpPr/>
          <p:nvPr/>
        </p:nvSpPr>
        <p:spPr>
          <a:xfrm>
            <a:off x="1283575" y="877325"/>
            <a:ext cx="2798700" cy="1453500"/>
          </a:xfrm>
          <a:prstGeom prst="wedgeRectCallout">
            <a:avLst>
              <a:gd name="adj1" fmla="val 6634"/>
              <a:gd name="adj2" fmla="val 13144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SzPts val="1000"/>
              <a:buChar char="●"/>
            </a:pPr>
            <a:r>
              <a:rPr lang="ja" sz="1000"/>
              <a:t>会社全体でライセンス遵守を徹底するために推進する役割を担う</a:t>
            </a:r>
            <a:endParaRPr sz="1000"/>
          </a:p>
          <a:p>
            <a:pPr marL="89999" lvl="0" indent="-158750" algn="l" rtl="0">
              <a:spcBef>
                <a:spcPts val="0"/>
              </a:spcBef>
              <a:spcAft>
                <a:spcPts val="0"/>
              </a:spcAft>
              <a:buSzPts val="1000"/>
              <a:buChar char="●"/>
            </a:pPr>
            <a:r>
              <a:rPr lang="ja" sz="1000"/>
              <a:t>OSSコミュニティを利活用するために、その文化を理解し社内で適切に行動できるようになるための準備室</a:t>
            </a:r>
            <a:endParaRPr sz="1000"/>
          </a:p>
          <a:p>
            <a:pPr marL="89999" lvl="0" indent="-158750" algn="l" rtl="0">
              <a:spcBef>
                <a:spcPts val="0"/>
              </a:spcBef>
              <a:spcAft>
                <a:spcPts val="0"/>
              </a:spcAft>
              <a:buSzPts val="1000"/>
              <a:buChar char="●"/>
            </a:pPr>
            <a:r>
              <a:rPr lang="ja" sz="1000"/>
              <a:t>ゆくゆくは、社外のOSSコミュニティに貢献できるように、まずは社内でのOSS情報共有をする、社内のOSSコミュニティを築いて交流を活発にする</a:t>
            </a:r>
            <a:endParaRPr sz="1000"/>
          </a:p>
        </p:txBody>
      </p:sp>
      <p:sp>
        <p:nvSpPr>
          <p:cNvPr id="172" name="Google Shape;172;p24"/>
          <p:cNvSpPr/>
          <p:nvPr/>
        </p:nvSpPr>
        <p:spPr>
          <a:xfrm>
            <a:off x="6868625" y="2245325"/>
            <a:ext cx="2127600" cy="1217700"/>
          </a:xfrm>
          <a:prstGeom prst="wedgeRectCallout">
            <a:avLst>
              <a:gd name="adj1" fmla="val -56599"/>
              <a:gd name="adj2" fmla="val -1818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SzPts val="1000"/>
              <a:buChar char="●"/>
            </a:pPr>
            <a:r>
              <a:rPr lang="ja" sz="1000"/>
              <a:t>「コミュニティ貢献＝会社の成功」を実現するのがOSPOの一つの姿</a:t>
            </a:r>
            <a:endParaRPr sz="1000"/>
          </a:p>
          <a:p>
            <a:pPr marL="89999" lvl="0" indent="-158750" algn="l" rtl="0">
              <a:spcBef>
                <a:spcPts val="0"/>
              </a:spcBef>
              <a:spcAft>
                <a:spcPts val="0"/>
              </a:spcAft>
              <a:buSzPts val="1000"/>
              <a:buChar char="●"/>
            </a:pPr>
            <a:r>
              <a:rPr lang="ja" sz="1000"/>
              <a:t>業界の文化とトレンドの変化をキャッチして、社内の文化のアップデートを行うのがOSPOの役割</a:t>
            </a:r>
            <a:endParaRPr sz="1000"/>
          </a:p>
        </p:txBody>
      </p:sp>
      <p:sp>
        <p:nvSpPr>
          <p:cNvPr id="173" name="Google Shape;173;p24"/>
          <p:cNvSpPr/>
          <p:nvPr/>
        </p:nvSpPr>
        <p:spPr>
          <a:xfrm>
            <a:off x="4572000" y="3026025"/>
            <a:ext cx="1984500" cy="1278300"/>
          </a:xfrm>
          <a:prstGeom prst="wedgeRectCallout">
            <a:avLst>
              <a:gd name="adj1" fmla="val -49565"/>
              <a:gd name="adj2" fmla="val -16530"/>
            </a:avLst>
          </a:prstGeom>
          <a:solidFill>
            <a:srgbClr val="FF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SzPts val="1000"/>
              <a:buChar char="●"/>
            </a:pPr>
            <a:r>
              <a:rPr lang="ja" sz="1000"/>
              <a:t>リーダーシップ</a:t>
            </a:r>
            <a:endParaRPr sz="1000"/>
          </a:p>
          <a:p>
            <a:pPr marL="269999" lvl="1" indent="-168275" algn="l" rtl="0">
              <a:spcBef>
                <a:spcPts val="0"/>
              </a:spcBef>
              <a:spcAft>
                <a:spcPts val="0"/>
              </a:spcAft>
              <a:buSzPts val="1000"/>
              <a:buChar char="○"/>
            </a:pPr>
            <a:r>
              <a:rPr lang="ja" sz="1000"/>
              <a:t>コミュニティのリーダーとして意思決定の中心メンバー</a:t>
            </a:r>
            <a:endParaRPr sz="1000"/>
          </a:p>
          <a:p>
            <a:pPr marL="89999" lvl="0" indent="-158750" algn="l" rtl="0">
              <a:spcBef>
                <a:spcPts val="0"/>
              </a:spcBef>
              <a:spcAft>
                <a:spcPts val="0"/>
              </a:spcAft>
              <a:buSzPts val="1000"/>
              <a:buChar char="●"/>
            </a:pPr>
            <a:r>
              <a:rPr lang="ja" sz="1000"/>
              <a:t>エンゲージメント</a:t>
            </a:r>
            <a:endParaRPr sz="1000"/>
          </a:p>
          <a:p>
            <a:pPr marL="269999" lvl="1" indent="-168275" algn="l" rtl="0">
              <a:spcBef>
                <a:spcPts val="0"/>
              </a:spcBef>
              <a:spcAft>
                <a:spcPts val="0"/>
              </a:spcAft>
              <a:buSzPts val="1000"/>
              <a:buChar char="○"/>
            </a:pPr>
            <a:r>
              <a:rPr lang="ja" sz="1000"/>
              <a:t>意思決定会議参加者</a:t>
            </a:r>
            <a:endParaRPr sz="1000"/>
          </a:p>
          <a:p>
            <a:pPr marL="89999" lvl="0" indent="-158750" algn="l" rtl="0">
              <a:spcBef>
                <a:spcPts val="0"/>
              </a:spcBef>
              <a:spcAft>
                <a:spcPts val="0"/>
              </a:spcAft>
              <a:buSzPts val="1000"/>
              <a:buChar char="●"/>
            </a:pPr>
            <a:r>
              <a:rPr lang="ja" sz="1000"/>
              <a:t>コミュニティ教育</a:t>
            </a:r>
            <a:endParaRPr sz="1000"/>
          </a:p>
          <a:p>
            <a:pPr marL="269999" lvl="1" indent="-168275" algn="l" rtl="0">
              <a:spcBef>
                <a:spcPts val="0"/>
              </a:spcBef>
              <a:spcAft>
                <a:spcPts val="0"/>
              </a:spcAft>
              <a:buSzPts val="1000"/>
              <a:buChar char="○"/>
            </a:pPr>
            <a:r>
              <a:rPr lang="ja" sz="1000"/>
              <a:t>初期の貢献者</a:t>
            </a:r>
            <a:endParaRPr sz="1000"/>
          </a:p>
        </p:txBody>
      </p:sp>
      <p:sp>
        <p:nvSpPr>
          <p:cNvPr id="174" name="Google Shape;174;p24"/>
          <p:cNvSpPr/>
          <p:nvPr/>
        </p:nvSpPr>
        <p:spPr>
          <a:xfrm>
            <a:off x="7553300" y="98425"/>
            <a:ext cx="1353900" cy="466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ja"/>
              <a:t>2023/10/27</a:t>
            </a:r>
            <a:endParaRPr/>
          </a:p>
          <a:p>
            <a:pPr marL="0" lvl="0" indent="0" algn="l" rtl="0">
              <a:spcBef>
                <a:spcPts val="0"/>
              </a:spcBef>
              <a:spcAft>
                <a:spcPts val="0"/>
              </a:spcAft>
              <a:buNone/>
            </a:pPr>
            <a:r>
              <a:rPr lang="ja"/>
              <a:t>ひとまずFix</a:t>
            </a:r>
            <a:endParaRPr/>
          </a:p>
        </p:txBody>
      </p:sp>
      <p:sp>
        <p:nvSpPr>
          <p:cNvPr id="175" name="Google Shape;175;p24"/>
          <p:cNvSpPr txBox="1"/>
          <p:nvPr/>
        </p:nvSpPr>
        <p:spPr>
          <a:xfrm>
            <a:off x="846000" y="34525"/>
            <a:ext cx="6737400" cy="59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ja">
                <a:solidFill>
                  <a:schemeClr val="dk1"/>
                </a:solidFill>
              </a:rPr>
              <a:t>OSPOってなんですか</a:t>
            </a:r>
            <a:endParaRPr>
              <a:solidFill>
                <a:schemeClr val="dk1"/>
              </a:solidFill>
            </a:endParaRPr>
          </a:p>
          <a:p>
            <a:pPr marL="0" lvl="0" indent="0" algn="l" rtl="0">
              <a:spcBef>
                <a:spcPts val="0"/>
              </a:spcBef>
              <a:spcAft>
                <a:spcPts val="0"/>
              </a:spcAft>
              <a:buNone/>
            </a:pPr>
            <a:r>
              <a:rPr lang="ja"/>
              <a:t>それぞれのStageにある会社においてOSPOがやることをまとめてみた</a:t>
            </a:r>
            <a:endParaRPr/>
          </a:p>
        </p:txBody>
      </p:sp>
      <p:sp>
        <p:nvSpPr>
          <p:cNvPr id="176" name="Google Shape;176;p24"/>
          <p:cNvSpPr/>
          <p:nvPr/>
        </p:nvSpPr>
        <p:spPr>
          <a:xfrm>
            <a:off x="6971575" y="3575900"/>
            <a:ext cx="2127600" cy="921600"/>
          </a:xfrm>
          <a:prstGeom prst="wedgeRectCallout">
            <a:avLst>
              <a:gd name="adj1" fmla="val -56599"/>
              <a:gd name="adj2" fmla="val -18187"/>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ja" sz="1000" b="1"/>
              <a:t>ステージによらない役割</a:t>
            </a:r>
            <a:endParaRPr sz="1000" b="1"/>
          </a:p>
          <a:p>
            <a:pPr marL="89999" lvl="0" indent="-158750" algn="l" rtl="0">
              <a:spcBef>
                <a:spcPts val="0"/>
              </a:spcBef>
              <a:spcAft>
                <a:spcPts val="0"/>
              </a:spcAft>
              <a:buSzPts val="1000"/>
              <a:buChar char="●"/>
            </a:pPr>
            <a:r>
              <a:rPr lang="ja" sz="1000"/>
              <a:t>啓発して浸透させる役割を持つ</a:t>
            </a:r>
            <a:endParaRPr sz="1000"/>
          </a:p>
          <a:p>
            <a:pPr marL="89999" lvl="0" indent="-158750" algn="l" rtl="0">
              <a:spcBef>
                <a:spcPts val="0"/>
              </a:spcBef>
              <a:spcAft>
                <a:spcPts val="0"/>
              </a:spcAft>
              <a:buSzPts val="1000"/>
              <a:buChar char="●"/>
            </a:pPr>
            <a:r>
              <a:rPr lang="ja" sz="1000"/>
              <a:t>ライフサイクルがある：大きくなっていって、浸透したら小さくなる</a:t>
            </a:r>
            <a:endParaRPr sz="1000"/>
          </a:p>
        </p:txBody>
      </p:sp>
      <p:sp>
        <p:nvSpPr>
          <p:cNvPr id="177" name="Google Shape;177;p24"/>
          <p:cNvSpPr txBox="1"/>
          <p:nvPr/>
        </p:nvSpPr>
        <p:spPr>
          <a:xfrm>
            <a:off x="4832625" y="4422950"/>
            <a:ext cx="4209300" cy="664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ja" sz="700" u="sng">
                <a:solidFill>
                  <a:schemeClr val="hlink"/>
                </a:solidFill>
                <a:hlinkClick r:id="rId4"/>
              </a:rPr>
              <a:t>https://www.linuxfoundation.jp/wp-content/uploads/2022/11/ja_LFR_LFAID_Deep_Dive_Open_Source_Program_Offices_0830.pdf</a:t>
            </a:r>
            <a:endParaRPr sz="700" u="sng">
              <a:solidFill>
                <a:schemeClr val="hlink"/>
              </a:solidFill>
            </a:endParaRPr>
          </a:p>
          <a:p>
            <a:pPr marL="0" lvl="0" indent="0" algn="l" rtl="0">
              <a:lnSpc>
                <a:spcPct val="115000"/>
              </a:lnSpc>
              <a:spcBef>
                <a:spcPts val="0"/>
              </a:spcBef>
              <a:spcAft>
                <a:spcPts val="0"/>
              </a:spcAft>
              <a:buNone/>
            </a:pPr>
            <a:r>
              <a:rPr lang="ja" sz="700">
                <a:solidFill>
                  <a:schemeClr val="dk1"/>
                </a:solidFill>
              </a:rPr>
              <a:t>Ibrahim Haddad, “</a:t>
            </a:r>
            <a:r>
              <a:rPr lang="ja" sz="700" b="1">
                <a:solidFill>
                  <a:schemeClr val="dk1"/>
                </a:solidFill>
              </a:rPr>
              <a:t>A Deep Dive Into Open Source Program Offices:</a:t>
            </a:r>
            <a:endParaRPr sz="700" b="1">
              <a:solidFill>
                <a:schemeClr val="dk1"/>
              </a:solidFill>
            </a:endParaRPr>
          </a:p>
          <a:p>
            <a:pPr marL="0" lvl="0" indent="0" algn="l" rtl="0">
              <a:lnSpc>
                <a:spcPct val="115000"/>
              </a:lnSpc>
              <a:spcBef>
                <a:spcPts val="0"/>
              </a:spcBef>
              <a:spcAft>
                <a:spcPts val="0"/>
              </a:spcAft>
              <a:buNone/>
            </a:pPr>
            <a:r>
              <a:rPr lang="ja" sz="700" b="1">
                <a:solidFill>
                  <a:schemeClr val="dk1"/>
                </a:solidFill>
              </a:rPr>
              <a:t>Structure, Roles, Responsibilities, and Challenges </a:t>
            </a:r>
            <a:r>
              <a:rPr lang="ja" sz="700">
                <a:solidFill>
                  <a:schemeClr val="dk1"/>
                </a:solidFill>
              </a:rPr>
              <a:t>“ foreword by Chris Aniszczyk, August, 2022</a:t>
            </a:r>
            <a:endParaRPr sz="8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5"/>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a:t>OSPOの組織の成長の考察</a:t>
            </a:r>
            <a:endParaRPr/>
          </a:p>
        </p:txBody>
      </p:sp>
      <p:sp>
        <p:nvSpPr>
          <p:cNvPr id="183" name="Google Shape;183;p25"/>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rmAutofit fontScale="70000" lnSpcReduction="20000"/>
          </a:bodyPr>
          <a:lstStyle/>
          <a:p>
            <a:pPr marL="457200" lvl="0" indent="-308610" algn="l" rtl="0">
              <a:spcBef>
                <a:spcPts val="0"/>
              </a:spcBef>
              <a:spcAft>
                <a:spcPts val="0"/>
              </a:spcAft>
              <a:buSzPct val="100000"/>
              <a:buChar char="•"/>
            </a:pPr>
            <a:r>
              <a:rPr lang="ja" sz="1800"/>
              <a:t>組織図上のどこにあるかは会社によって異なる</a:t>
            </a:r>
            <a:endParaRPr sz="1800"/>
          </a:p>
          <a:p>
            <a:pPr marL="914400" lvl="1" indent="-295275" algn="l" rtl="0">
              <a:spcBef>
                <a:spcPts val="0"/>
              </a:spcBef>
              <a:spcAft>
                <a:spcPts val="0"/>
              </a:spcAft>
              <a:buSzPct val="100000"/>
              <a:buChar char="•"/>
            </a:pPr>
            <a:r>
              <a:rPr lang="ja"/>
              <a:t>役割も様々</a:t>
            </a:r>
            <a:endParaRPr/>
          </a:p>
          <a:p>
            <a:pPr marL="914400" lvl="1" indent="-295275" algn="l" rtl="0">
              <a:spcBef>
                <a:spcPts val="0"/>
              </a:spcBef>
              <a:spcAft>
                <a:spcPts val="0"/>
              </a:spcAft>
              <a:buSzPct val="100000"/>
              <a:buChar char="•"/>
            </a:pPr>
            <a:r>
              <a:rPr lang="ja"/>
              <a:t>R＆Dの中、CTO室、セキュリティ室、リスクコンプライアンス、品証、法務知財</a:t>
            </a:r>
            <a:endParaRPr/>
          </a:p>
          <a:p>
            <a:pPr marL="914400" lvl="1" indent="-295275" algn="l" rtl="0">
              <a:spcBef>
                <a:spcPts val="0"/>
              </a:spcBef>
              <a:spcAft>
                <a:spcPts val="0"/>
              </a:spcAft>
              <a:buSzPct val="100000"/>
              <a:buChar char="•"/>
            </a:pPr>
            <a:r>
              <a:rPr lang="ja"/>
              <a:t>会社のいるステージが異なると、上記のどこに置くかが変わる</a:t>
            </a:r>
            <a:endParaRPr/>
          </a:p>
          <a:p>
            <a:pPr marL="914400" lvl="1" indent="-295275" algn="l" rtl="0">
              <a:spcBef>
                <a:spcPts val="0"/>
              </a:spcBef>
              <a:spcAft>
                <a:spcPts val="0"/>
              </a:spcAft>
              <a:buSzPct val="100000"/>
              <a:buChar char="•"/>
            </a:pPr>
            <a:r>
              <a:rPr lang="ja"/>
              <a:t>上記の一つの場所の役割には収まらないことが、どこに置けばいいか議論になる理由では</a:t>
            </a:r>
            <a:endParaRPr/>
          </a:p>
          <a:p>
            <a:pPr marL="914400" lvl="1" indent="-295275" algn="l" rtl="0">
              <a:spcBef>
                <a:spcPts val="0"/>
              </a:spcBef>
              <a:spcAft>
                <a:spcPts val="0"/>
              </a:spcAft>
              <a:buSzPct val="100000"/>
              <a:buChar char="•"/>
            </a:pPr>
            <a:r>
              <a:rPr lang="ja"/>
              <a:t>会社がOSPOのどの役割に重点を置いているかによっても変わる</a:t>
            </a:r>
            <a:endParaRPr/>
          </a:p>
          <a:p>
            <a:pPr marL="457200" lvl="0" indent="-308610" algn="l" rtl="0">
              <a:spcBef>
                <a:spcPts val="0"/>
              </a:spcBef>
              <a:spcAft>
                <a:spcPts val="0"/>
              </a:spcAft>
              <a:buSzPct val="100000"/>
              <a:buChar char="•"/>
            </a:pPr>
            <a:r>
              <a:rPr lang="ja"/>
              <a:t>OSPOのあり方も様々</a:t>
            </a:r>
            <a:endParaRPr/>
          </a:p>
          <a:p>
            <a:pPr marL="914400" lvl="1" indent="-295275" algn="l" rtl="0">
              <a:spcBef>
                <a:spcPts val="0"/>
              </a:spcBef>
              <a:spcAft>
                <a:spcPts val="0"/>
              </a:spcAft>
              <a:buSzPct val="100000"/>
              <a:buChar char="•"/>
            </a:pPr>
            <a:r>
              <a:rPr lang="ja"/>
              <a:t>バーチャル　ー　リアル</a:t>
            </a:r>
            <a:endParaRPr/>
          </a:p>
          <a:p>
            <a:pPr marL="914400" lvl="1" indent="-295275" algn="l" rtl="0">
              <a:spcBef>
                <a:spcPts val="0"/>
              </a:spcBef>
              <a:spcAft>
                <a:spcPts val="0"/>
              </a:spcAft>
              <a:buSzPct val="100000"/>
              <a:buChar char="•"/>
            </a:pPr>
            <a:r>
              <a:rPr lang="ja"/>
              <a:t>複数個所にある　ー　一か所集中</a:t>
            </a:r>
            <a:endParaRPr/>
          </a:p>
          <a:p>
            <a:pPr marL="1371600" lvl="2" indent="-281939" algn="l" rtl="0">
              <a:spcBef>
                <a:spcPts val="0"/>
              </a:spcBef>
              <a:spcAft>
                <a:spcPts val="0"/>
              </a:spcAft>
              <a:buSzPct val="100000"/>
              <a:buChar char="•"/>
            </a:pPr>
            <a:r>
              <a:rPr lang="ja"/>
              <a:t>成り立ちとして、社内でばらばらに複数のOSPOが発生して、成長にしたがって、一つにまとまって行く流れもあるだろう</a:t>
            </a:r>
            <a:endParaRPr/>
          </a:p>
          <a:p>
            <a:pPr marL="914400" lvl="1" indent="-295275" algn="l" rtl="0">
              <a:spcBef>
                <a:spcPts val="0"/>
              </a:spcBef>
              <a:spcAft>
                <a:spcPts val="0"/>
              </a:spcAft>
              <a:buSzPct val="100000"/>
              <a:buChar char="•"/>
            </a:pPr>
            <a:r>
              <a:rPr lang="ja"/>
              <a:t>OSPOは一か所にまとまると機能しなくなる</a:t>
            </a:r>
            <a:endParaRPr/>
          </a:p>
          <a:p>
            <a:pPr marL="1371600" lvl="2" indent="-281939" algn="l" rtl="0">
              <a:spcBef>
                <a:spcPts val="0"/>
              </a:spcBef>
              <a:spcAft>
                <a:spcPts val="0"/>
              </a:spcAft>
              <a:buSzPct val="100000"/>
              <a:buChar char="•"/>
            </a:pPr>
            <a:r>
              <a:rPr lang="ja"/>
              <a:t>「ここに任せておけばよい」ということになって、うまくいかない</a:t>
            </a:r>
            <a:endParaRPr/>
          </a:p>
          <a:p>
            <a:pPr marL="1828800" lvl="3" indent="-277494" algn="l" rtl="0">
              <a:spcBef>
                <a:spcPts val="0"/>
              </a:spcBef>
              <a:spcAft>
                <a:spcPts val="0"/>
              </a:spcAft>
              <a:buSzPct val="100000"/>
              <a:buChar char="•"/>
            </a:pPr>
            <a:r>
              <a:rPr lang="ja"/>
              <a:t>OSS文化を学ぶことをやめてしまうことを危惧している</a:t>
            </a:r>
            <a:endParaRPr/>
          </a:p>
          <a:p>
            <a:pPr marL="457200" lvl="0" indent="-308610" algn="l" rtl="0">
              <a:spcBef>
                <a:spcPts val="0"/>
              </a:spcBef>
              <a:spcAft>
                <a:spcPts val="0"/>
              </a:spcAft>
              <a:buSzPct val="100000"/>
              <a:buChar char="•"/>
            </a:pPr>
            <a:r>
              <a:rPr lang="ja"/>
              <a:t>OSPOの始まり方について考察してみる</a:t>
            </a:r>
            <a:endParaRPr/>
          </a:p>
          <a:p>
            <a:pPr marL="914400" lvl="1" indent="-295275" algn="l" rtl="0">
              <a:spcBef>
                <a:spcPts val="0"/>
              </a:spcBef>
              <a:spcAft>
                <a:spcPts val="0"/>
              </a:spcAft>
              <a:buSzPct val="100000"/>
              <a:buChar char="•"/>
            </a:pPr>
            <a:r>
              <a:rPr lang="ja"/>
              <a:t>最初のころはOSPOという言葉はなく、OSSは重要とか、ライセンスは守りましょうとか、伝道活動をしていた</a:t>
            </a:r>
            <a:endParaRPr/>
          </a:p>
          <a:p>
            <a:pPr marL="914400" lvl="1" indent="-295275" algn="l" rtl="0">
              <a:spcBef>
                <a:spcPts val="0"/>
              </a:spcBef>
              <a:spcAft>
                <a:spcPts val="0"/>
              </a:spcAft>
              <a:buSzPct val="100000"/>
              <a:buChar char="•"/>
            </a:pPr>
            <a:r>
              <a:rPr lang="ja"/>
              <a:t>GPL等のライセンスの理解を深めるところから始めていた</a:t>
            </a:r>
            <a:endParaRPr/>
          </a:p>
          <a:p>
            <a:pPr marL="914400" lvl="1" indent="-295275" algn="l" rtl="0">
              <a:spcBef>
                <a:spcPts val="0"/>
              </a:spcBef>
              <a:spcAft>
                <a:spcPts val="0"/>
              </a:spcAft>
              <a:buSzPct val="100000"/>
              <a:buChar char="•"/>
            </a:pPr>
            <a:r>
              <a:rPr lang="ja"/>
              <a:t>OSPOそのもののライフサイクル：</a:t>
            </a:r>
            <a:endParaRPr/>
          </a:p>
          <a:p>
            <a:pPr marL="1371600" lvl="2" indent="-281939" algn="l" rtl="0">
              <a:spcBef>
                <a:spcPts val="0"/>
              </a:spcBef>
              <a:spcAft>
                <a:spcPts val="0"/>
              </a:spcAft>
              <a:buSzPct val="100000"/>
              <a:buChar char="•"/>
            </a:pPr>
            <a:r>
              <a:rPr lang="ja"/>
              <a:t>OSS EU での Ibrahim のセッション：</a:t>
            </a:r>
            <a:r>
              <a:rPr lang="ja" u="sng">
                <a:solidFill>
                  <a:schemeClr val="hlink"/>
                </a:solidFill>
                <a:hlinkClick r:id="rId3"/>
              </a:rPr>
              <a:t>https://sched.co/1OZJh</a:t>
            </a:r>
            <a:r>
              <a:rPr lang="ja"/>
              <a:t>　（1:05のあたり）</a:t>
            </a:r>
            <a:endParaRPr/>
          </a:p>
          <a:p>
            <a:pPr marL="457200" lvl="0" indent="-308610" algn="l" rtl="0">
              <a:spcBef>
                <a:spcPts val="0"/>
              </a:spcBef>
              <a:spcAft>
                <a:spcPts val="0"/>
              </a:spcAft>
              <a:buSzPct val="100000"/>
              <a:buChar char="•"/>
            </a:pPr>
            <a:r>
              <a:rPr lang="ja"/>
              <a:t>参考：深層考察：『オープンソース プログラム オフィス』 - The Linux Foundation</a:t>
            </a:r>
            <a:r>
              <a:rPr lang="ja" u="sng">
                <a:solidFill>
                  <a:schemeClr val="hlink"/>
                </a:solidFill>
                <a:hlinkClick r:id="rId4"/>
              </a:rPr>
              <a:t>https://www.linuxfoundation.jp/publications/2022/11/a-deep-dive-into-open-source-program-offices/</a:t>
            </a:r>
            <a:endParaRPr/>
          </a:p>
          <a:p>
            <a:pPr marL="914400" lvl="1" indent="-295275" algn="l" rtl="0">
              <a:spcBef>
                <a:spcPts val="0"/>
              </a:spcBef>
              <a:spcAft>
                <a:spcPts val="0"/>
              </a:spcAft>
              <a:buSzPct val="100000"/>
              <a:buChar char="•"/>
            </a:pPr>
            <a:r>
              <a:rPr lang="ja"/>
              <a:t>Ibrahim Haddad, “</a:t>
            </a:r>
            <a:r>
              <a:rPr lang="ja" b="1"/>
              <a:t>A Deep Dive Into Open Source Program Offices: Structure, Roles, Responsibilities, and Challenges </a:t>
            </a:r>
            <a:r>
              <a:rPr lang="ja"/>
              <a:t>“ foreword by Chris Aniszczyk, August, 2022</a:t>
            </a:r>
            <a:endParaRPr/>
          </a:p>
          <a:p>
            <a:pPr marL="914400" lvl="1" indent="-295275" algn="l" rtl="0">
              <a:spcBef>
                <a:spcPts val="0"/>
              </a:spcBef>
              <a:spcAft>
                <a:spcPts val="0"/>
              </a:spcAft>
              <a:buSzPct val="100000"/>
              <a:buChar char="•"/>
            </a:pPr>
            <a:endParaRPr/>
          </a:p>
          <a:p>
            <a:pPr marL="457200" lvl="0" indent="-308610" algn="l" rtl="0">
              <a:spcBef>
                <a:spcPts val="0"/>
              </a:spcBef>
              <a:spcAft>
                <a:spcPts val="0"/>
              </a:spcAft>
              <a:buSzPct val="100000"/>
              <a:buChar char="•"/>
            </a:pPr>
            <a:endParaRPr/>
          </a:p>
          <a:p>
            <a:pPr marL="0" lvl="0" indent="0" algn="l" rtl="0">
              <a:spcBef>
                <a:spcPts val="0"/>
              </a:spcBef>
              <a:spcAft>
                <a:spcPts val="0"/>
              </a:spcAft>
              <a:buNone/>
            </a:pPr>
            <a:endParaRPr/>
          </a:p>
        </p:txBody>
      </p:sp>
      <p:sp>
        <p:nvSpPr>
          <p:cNvPr id="184" name="Google Shape;184;p25"/>
          <p:cNvSpPr/>
          <p:nvPr/>
        </p:nvSpPr>
        <p:spPr>
          <a:xfrm>
            <a:off x="7307150" y="345875"/>
            <a:ext cx="1353900" cy="466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ja"/>
              <a:t>2023/9/22議論</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6"/>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a:t>OSS に対する意識の変化</a:t>
            </a:r>
            <a:endParaRPr/>
          </a:p>
        </p:txBody>
      </p:sp>
      <p:graphicFrame>
        <p:nvGraphicFramePr>
          <p:cNvPr id="190" name="Google Shape;190;p26"/>
          <p:cNvGraphicFramePr/>
          <p:nvPr/>
        </p:nvGraphicFramePr>
        <p:xfrm>
          <a:off x="276025" y="903900"/>
          <a:ext cx="3000000" cy="3000000"/>
        </p:xfrm>
        <a:graphic>
          <a:graphicData uri="http://schemas.openxmlformats.org/drawingml/2006/table">
            <a:tbl>
              <a:tblPr>
                <a:noFill/>
                <a:tableStyleId>{FA691572-F3AE-4C50-9FBC-A2B79843BC87}</a:tableStyleId>
              </a:tblPr>
              <a:tblGrid>
                <a:gridCol w="820325">
                  <a:extLst>
                    <a:ext uri="{9D8B030D-6E8A-4147-A177-3AD203B41FA5}">
                      <a16:colId xmlns:a16="http://schemas.microsoft.com/office/drawing/2014/main" val="20000"/>
                    </a:ext>
                  </a:extLst>
                </a:gridCol>
                <a:gridCol w="2317725">
                  <a:extLst>
                    <a:ext uri="{9D8B030D-6E8A-4147-A177-3AD203B41FA5}">
                      <a16:colId xmlns:a16="http://schemas.microsoft.com/office/drawing/2014/main" val="20001"/>
                    </a:ext>
                  </a:extLst>
                </a:gridCol>
                <a:gridCol w="2515850">
                  <a:extLst>
                    <a:ext uri="{9D8B030D-6E8A-4147-A177-3AD203B41FA5}">
                      <a16:colId xmlns:a16="http://schemas.microsoft.com/office/drawing/2014/main" val="20002"/>
                    </a:ext>
                  </a:extLst>
                </a:gridCol>
                <a:gridCol w="2559925">
                  <a:extLst>
                    <a:ext uri="{9D8B030D-6E8A-4147-A177-3AD203B41FA5}">
                      <a16:colId xmlns:a16="http://schemas.microsoft.com/office/drawing/2014/main" val="20003"/>
                    </a:ext>
                  </a:extLst>
                </a:gridCol>
              </a:tblGrid>
              <a:tr h="381000">
                <a:tc>
                  <a:txBody>
                    <a:bodyPr/>
                    <a:lstStyle/>
                    <a:p>
                      <a:pPr marL="0" lvl="0" indent="0" algn="l" rtl="0">
                        <a:spcBef>
                          <a:spcPts val="0"/>
                        </a:spcBef>
                        <a:spcAft>
                          <a:spcPts val="0"/>
                        </a:spcAft>
                        <a:buNone/>
                      </a:pPr>
                      <a:endParaRPr sz="1200"/>
                    </a:p>
                  </a:txBody>
                  <a:tcPr marL="91425" marR="91425" marT="91425" marB="91425"/>
                </a:tc>
                <a:tc>
                  <a:txBody>
                    <a:bodyPr/>
                    <a:lstStyle/>
                    <a:p>
                      <a:pPr marL="0" lvl="0" indent="0" algn="l" rtl="0">
                        <a:spcBef>
                          <a:spcPts val="0"/>
                        </a:spcBef>
                        <a:spcAft>
                          <a:spcPts val="0"/>
                        </a:spcAft>
                        <a:buNone/>
                      </a:pPr>
                      <a:r>
                        <a:rPr lang="ja" sz="1200"/>
                        <a:t>事業活動への利用</a:t>
                      </a:r>
                      <a:endParaRPr sz="1200"/>
                    </a:p>
                  </a:txBody>
                  <a:tcPr marL="91425" marR="91425" marT="91425" marB="91425"/>
                </a:tc>
                <a:tc>
                  <a:txBody>
                    <a:bodyPr/>
                    <a:lstStyle/>
                    <a:p>
                      <a:pPr marL="0" lvl="0" indent="0" algn="l" rtl="0">
                        <a:spcBef>
                          <a:spcPts val="0"/>
                        </a:spcBef>
                        <a:spcAft>
                          <a:spcPts val="0"/>
                        </a:spcAft>
                        <a:buNone/>
                      </a:pPr>
                      <a:r>
                        <a:rPr lang="ja" sz="1200"/>
                        <a:t>コンプライアンス</a:t>
                      </a:r>
                      <a:endParaRPr sz="1200"/>
                    </a:p>
                  </a:txBody>
                  <a:tcPr marL="91425" marR="91425" marT="91425" marB="91425"/>
                </a:tc>
                <a:tc>
                  <a:txBody>
                    <a:bodyPr/>
                    <a:lstStyle/>
                    <a:p>
                      <a:pPr marL="0" lvl="0" indent="0" algn="l" rtl="0">
                        <a:spcBef>
                          <a:spcPts val="0"/>
                        </a:spcBef>
                        <a:spcAft>
                          <a:spcPts val="0"/>
                        </a:spcAft>
                        <a:buNone/>
                      </a:pPr>
                      <a:r>
                        <a:rPr lang="ja" sz="1200"/>
                        <a:t>貢献</a:t>
                      </a:r>
                      <a:endParaRPr sz="1200"/>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ja" sz="1200"/>
                        <a:t>Stage 4</a:t>
                      </a:r>
                      <a:endParaRPr sz="1200"/>
                    </a:p>
                  </a:txBody>
                  <a:tcPr marL="91425" marR="91425" marT="91425" marB="91425"/>
                </a:tc>
                <a:tc>
                  <a:txBody>
                    <a:bodyPr/>
                    <a:lstStyle/>
                    <a:p>
                      <a:pPr marL="0" lvl="0" indent="0" algn="l" rtl="0">
                        <a:spcBef>
                          <a:spcPts val="0"/>
                        </a:spcBef>
                        <a:spcAft>
                          <a:spcPts val="0"/>
                        </a:spcAft>
                        <a:buNone/>
                      </a:pPr>
                      <a:r>
                        <a:rPr lang="ja" sz="1200"/>
                        <a:t>コミュニティを活性化させることが、事業の安定性に必要と理解</a:t>
                      </a:r>
                      <a:endParaRPr sz="1200"/>
                    </a:p>
                  </a:txBody>
                  <a:tcPr marL="91425" marR="91425" marT="91425" marB="91425"/>
                </a:tc>
                <a:tc>
                  <a:txBody>
                    <a:bodyPr/>
                    <a:lstStyle/>
                    <a:p>
                      <a:pPr marL="0" lvl="0" indent="0" algn="l" rtl="0">
                        <a:spcBef>
                          <a:spcPts val="0"/>
                        </a:spcBef>
                        <a:spcAft>
                          <a:spcPts val="0"/>
                        </a:spcAft>
                        <a:buNone/>
                      </a:pPr>
                      <a:r>
                        <a:rPr lang="ja" sz="1200"/>
                        <a:t>より良いライセンスのあり方を提案、推進</a:t>
                      </a:r>
                      <a:endParaRPr sz="1200"/>
                    </a:p>
                  </a:txBody>
                  <a:tcPr marL="91425" marR="91425" marT="91425" marB="91425"/>
                </a:tc>
                <a:tc>
                  <a:txBody>
                    <a:bodyPr/>
                    <a:lstStyle/>
                    <a:p>
                      <a:pPr marL="0" lvl="0" indent="0" algn="l" rtl="0">
                        <a:spcBef>
                          <a:spcPts val="0"/>
                        </a:spcBef>
                        <a:spcAft>
                          <a:spcPts val="0"/>
                        </a:spcAft>
                        <a:buNone/>
                      </a:pPr>
                      <a:r>
                        <a:rPr lang="ja" sz="1200"/>
                        <a:t>新機能、新モジュールの開発を提案、推進</a:t>
                      </a:r>
                      <a:endParaRPr sz="1200"/>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ja" sz="1200"/>
                        <a:t>Stage 3</a:t>
                      </a:r>
                      <a:endParaRPr sz="1200"/>
                    </a:p>
                  </a:txBody>
                  <a:tcPr marL="91425" marR="91425" marT="91425" marB="91425"/>
                </a:tc>
                <a:tc>
                  <a:txBody>
                    <a:bodyPr/>
                    <a:lstStyle/>
                    <a:p>
                      <a:pPr marL="0" lvl="0" indent="0" algn="l" rtl="0">
                        <a:spcBef>
                          <a:spcPts val="0"/>
                        </a:spcBef>
                        <a:spcAft>
                          <a:spcPts val="0"/>
                        </a:spcAft>
                        <a:buNone/>
                      </a:pPr>
                      <a:r>
                        <a:rPr lang="ja" sz="1200"/>
                        <a:t>コミュニティと良好なコミュニケーションが製品の向上につながると理解</a:t>
                      </a:r>
                      <a:endParaRPr sz="1200"/>
                    </a:p>
                  </a:txBody>
                  <a:tcPr marL="91425" marR="91425" marT="91425" marB="91425"/>
                </a:tc>
                <a:tc>
                  <a:txBody>
                    <a:bodyPr/>
                    <a:lstStyle/>
                    <a:p>
                      <a:pPr marL="0" lvl="0" indent="0" algn="l" rtl="0">
                        <a:spcBef>
                          <a:spcPts val="0"/>
                        </a:spcBef>
                        <a:spcAft>
                          <a:spcPts val="0"/>
                        </a:spcAft>
                        <a:buNone/>
                      </a:pPr>
                      <a:r>
                        <a:rPr lang="ja" sz="1200"/>
                        <a:t>ライセンスの扱い、ツールについてコミュニティと意見交換</a:t>
                      </a:r>
                      <a:endParaRPr sz="1200"/>
                    </a:p>
                  </a:txBody>
                  <a:tcPr marL="91425" marR="91425" marT="91425" marB="91425"/>
                </a:tc>
                <a:tc>
                  <a:txBody>
                    <a:bodyPr/>
                    <a:lstStyle/>
                    <a:p>
                      <a:pPr marL="0" lvl="0" indent="0" algn="l" rtl="0">
                        <a:spcBef>
                          <a:spcPts val="0"/>
                        </a:spcBef>
                        <a:spcAft>
                          <a:spcPts val="0"/>
                        </a:spcAft>
                        <a:buNone/>
                      </a:pPr>
                      <a:r>
                        <a:rPr lang="ja" sz="1200"/>
                        <a:t>コミュニティでのアップデート活動、不具合対応に参加</a:t>
                      </a:r>
                      <a:endParaRPr sz="1200"/>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ja" sz="1200"/>
                        <a:t>Stage 2</a:t>
                      </a:r>
                      <a:endParaRPr sz="1200"/>
                    </a:p>
                  </a:txBody>
                  <a:tcPr marL="91425" marR="91425" marT="91425" marB="91425"/>
                </a:tc>
                <a:tc>
                  <a:txBody>
                    <a:bodyPr/>
                    <a:lstStyle/>
                    <a:p>
                      <a:pPr marL="0" lvl="0" indent="0" algn="l" rtl="0">
                        <a:spcBef>
                          <a:spcPts val="0"/>
                        </a:spcBef>
                        <a:spcAft>
                          <a:spcPts val="0"/>
                        </a:spcAft>
                        <a:buNone/>
                      </a:pPr>
                      <a:r>
                        <a:rPr lang="ja" sz="1200"/>
                        <a:t>実質的に品質が高いことに気づく。</a:t>
                      </a:r>
                      <a:endParaRPr sz="1200"/>
                    </a:p>
                    <a:p>
                      <a:pPr marL="0" lvl="0" indent="0" algn="l" rtl="0">
                        <a:spcBef>
                          <a:spcPts val="0"/>
                        </a:spcBef>
                        <a:spcAft>
                          <a:spcPts val="0"/>
                        </a:spcAft>
                        <a:buNone/>
                      </a:pPr>
                      <a:r>
                        <a:rPr lang="ja" sz="1200"/>
                        <a:t>不具合があっても修正がされることに気づく</a:t>
                      </a:r>
                      <a:endParaRPr sz="1200"/>
                    </a:p>
                  </a:txBody>
                  <a:tcPr marL="91425" marR="91425" marT="91425" marB="91425"/>
                </a:tc>
                <a:tc>
                  <a:txBody>
                    <a:bodyPr/>
                    <a:lstStyle/>
                    <a:p>
                      <a:pPr marL="0" lvl="0" indent="0" algn="l" rtl="0">
                        <a:spcBef>
                          <a:spcPts val="0"/>
                        </a:spcBef>
                        <a:spcAft>
                          <a:spcPts val="0"/>
                        </a:spcAft>
                        <a:buNone/>
                      </a:pPr>
                      <a:r>
                        <a:rPr lang="ja" sz="1200"/>
                        <a:t>コミュニティの意見、発言を尊重</a:t>
                      </a:r>
                      <a:endParaRPr sz="1200"/>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ja" sz="1200">
                          <a:solidFill>
                            <a:schemeClr val="dk1"/>
                          </a:solidFill>
                        </a:rPr>
                        <a:t>コミュニティでのアップデート情報、不具合情報を活用。発見した不具合の報告、利用実績の報告</a:t>
                      </a:r>
                      <a:endParaRPr sz="1200"/>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ja" sz="1200"/>
                        <a:t>Stage 1</a:t>
                      </a:r>
                      <a:endParaRPr sz="1200"/>
                    </a:p>
                  </a:txBody>
                  <a:tcPr marL="91425" marR="91425" marT="91425" marB="91425"/>
                </a:tc>
                <a:tc>
                  <a:txBody>
                    <a:bodyPr/>
                    <a:lstStyle/>
                    <a:p>
                      <a:pPr marL="0" lvl="0" indent="0" algn="l" rtl="0">
                        <a:spcBef>
                          <a:spcPts val="0"/>
                        </a:spcBef>
                        <a:spcAft>
                          <a:spcPts val="0"/>
                        </a:spcAft>
                        <a:buNone/>
                      </a:pPr>
                      <a:r>
                        <a:rPr lang="ja" sz="1200"/>
                        <a:t>ライセンスに従い、最低限の利用報告、情報開示</a:t>
                      </a:r>
                      <a:endParaRPr sz="1200"/>
                    </a:p>
                  </a:txBody>
                  <a:tcPr marL="91425" marR="91425" marT="91425" marB="91425"/>
                </a:tc>
                <a:tc>
                  <a:txBody>
                    <a:bodyPr/>
                    <a:lstStyle/>
                    <a:p>
                      <a:pPr marL="0" lvl="0" indent="0" algn="l" rtl="0">
                        <a:spcBef>
                          <a:spcPts val="0"/>
                        </a:spcBef>
                        <a:spcAft>
                          <a:spcPts val="0"/>
                        </a:spcAft>
                        <a:buNone/>
                      </a:pPr>
                      <a:r>
                        <a:rPr lang="ja" sz="1200"/>
                        <a:t>法的に最低限の対応</a:t>
                      </a:r>
                      <a:endParaRPr sz="1200"/>
                    </a:p>
                  </a:txBody>
                  <a:tcPr marL="91425" marR="91425" marT="91425" marB="91425"/>
                </a:tc>
                <a:tc>
                  <a:txBody>
                    <a:bodyPr/>
                    <a:lstStyle/>
                    <a:p>
                      <a:pPr marL="0" lvl="0" indent="0" algn="l" rtl="0">
                        <a:spcBef>
                          <a:spcPts val="0"/>
                        </a:spcBef>
                        <a:spcAft>
                          <a:spcPts val="0"/>
                        </a:spcAft>
                        <a:buNone/>
                      </a:pPr>
                      <a:r>
                        <a:rPr lang="ja" sz="1200"/>
                        <a:t>ライセンスに従い最低限のソース開示</a:t>
                      </a:r>
                      <a:endParaRPr sz="1200"/>
                    </a:p>
                  </a:txBody>
                  <a:tcPr marL="91425" marR="91425" marT="91425" marB="91425"/>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ja" sz="1200"/>
                        <a:t>Stage 0</a:t>
                      </a:r>
                      <a:endParaRPr sz="1200"/>
                    </a:p>
                  </a:txBody>
                  <a:tcPr marL="91425" marR="91425" marT="91425" marB="91425"/>
                </a:tc>
                <a:tc>
                  <a:txBody>
                    <a:bodyPr/>
                    <a:lstStyle/>
                    <a:p>
                      <a:pPr marL="0" lvl="0" indent="0" algn="l" rtl="0">
                        <a:spcBef>
                          <a:spcPts val="0"/>
                        </a:spcBef>
                        <a:spcAft>
                          <a:spcPts val="0"/>
                        </a:spcAft>
                        <a:buNone/>
                      </a:pPr>
                      <a:r>
                        <a:rPr lang="ja" sz="1200"/>
                        <a:t>無償だから使う</a:t>
                      </a:r>
                      <a:endParaRPr sz="1200"/>
                    </a:p>
                  </a:txBody>
                  <a:tcPr marL="91425" marR="91425" marT="91425" marB="91425"/>
                </a:tc>
                <a:tc>
                  <a:txBody>
                    <a:bodyPr/>
                    <a:lstStyle/>
                    <a:p>
                      <a:pPr marL="0" lvl="0" indent="0" algn="l" rtl="0">
                        <a:spcBef>
                          <a:spcPts val="0"/>
                        </a:spcBef>
                        <a:spcAft>
                          <a:spcPts val="0"/>
                        </a:spcAft>
                        <a:buNone/>
                      </a:pPr>
                      <a:r>
                        <a:rPr lang="ja" sz="1200"/>
                        <a:t>よくわからない。見つからなければよい。</a:t>
                      </a:r>
                      <a:endParaRPr sz="1200"/>
                    </a:p>
                  </a:txBody>
                  <a:tcPr marL="91425" marR="91425" marT="91425" marB="91425"/>
                </a:tc>
                <a:tc>
                  <a:txBody>
                    <a:bodyPr/>
                    <a:lstStyle/>
                    <a:p>
                      <a:pPr marL="0" lvl="0" indent="0" algn="l" rtl="0">
                        <a:spcBef>
                          <a:spcPts val="0"/>
                        </a:spcBef>
                        <a:spcAft>
                          <a:spcPts val="0"/>
                        </a:spcAft>
                        <a:buNone/>
                      </a:pPr>
                      <a:r>
                        <a:rPr lang="ja" sz="1200"/>
                        <a:t>自分のコードを渡すのは損</a:t>
                      </a:r>
                      <a:endParaRPr sz="1200"/>
                    </a:p>
                  </a:txBody>
                  <a:tcPr marL="91425" marR="91425" marT="91425" marB="91425"/>
                </a:tc>
                <a:extLst>
                  <a:ext uri="{0D108BD9-81ED-4DB2-BD59-A6C34878D82A}">
                    <a16:rowId xmlns:a16="http://schemas.microsoft.com/office/drawing/2014/main" val="10005"/>
                  </a:ext>
                </a:extLst>
              </a:tr>
            </a:tbl>
          </a:graphicData>
        </a:graphic>
      </p:graphicFrame>
      <p:sp>
        <p:nvSpPr>
          <p:cNvPr id="191" name="Google Shape;191;p26"/>
          <p:cNvSpPr/>
          <p:nvPr/>
        </p:nvSpPr>
        <p:spPr>
          <a:xfrm>
            <a:off x="7307150" y="345875"/>
            <a:ext cx="1533000" cy="4665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ja"/>
              <a:t>2023/10/27議論</a:t>
            </a:r>
            <a:endParaRPr/>
          </a:p>
        </p:txBody>
      </p:sp>
      <p:sp>
        <p:nvSpPr>
          <p:cNvPr id="192" name="Google Shape;192;p26"/>
          <p:cNvSpPr/>
          <p:nvPr/>
        </p:nvSpPr>
        <p:spPr>
          <a:xfrm rot="5400000">
            <a:off x="7054400" y="2772175"/>
            <a:ext cx="3105000" cy="466500"/>
          </a:xfrm>
          <a:prstGeom prst="lef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ja"/>
              <a:t>コストの増加</a:t>
            </a:r>
            <a:endParaRPr/>
          </a:p>
        </p:txBody>
      </p:sp>
      <p:sp>
        <p:nvSpPr>
          <p:cNvPr id="193" name="Google Shape;193;p26"/>
          <p:cNvSpPr/>
          <p:nvPr/>
        </p:nvSpPr>
        <p:spPr>
          <a:xfrm rot="5400000">
            <a:off x="7358250" y="2598400"/>
            <a:ext cx="3105000" cy="466500"/>
          </a:xfrm>
          <a:prstGeom prst="lef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ja"/>
              <a:t>リターンの増加</a:t>
            </a:r>
            <a:endParaRPr/>
          </a:p>
        </p:txBody>
      </p:sp>
      <p:sp>
        <p:nvSpPr>
          <p:cNvPr id="194" name="Google Shape;194;p26"/>
          <p:cNvSpPr/>
          <p:nvPr/>
        </p:nvSpPr>
        <p:spPr>
          <a:xfrm>
            <a:off x="7264650" y="4557925"/>
            <a:ext cx="1679700" cy="545400"/>
          </a:xfrm>
          <a:prstGeom prst="wedgeRoundRectCallout">
            <a:avLst>
              <a:gd name="adj1" fmla="val 38690"/>
              <a:gd name="adj2" fmla="val -169692"/>
              <a:gd name="adj3" fmla="val 0"/>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ja" sz="1200"/>
              <a:t>コストとリターンのバランスポイントは企業によって異なる</a:t>
            </a:r>
            <a:endParaRPr sz="1200"/>
          </a:p>
        </p:txBody>
      </p:sp>
      <p:sp>
        <p:nvSpPr>
          <p:cNvPr id="195" name="Google Shape;195;p26"/>
          <p:cNvSpPr txBox="1">
            <a:spLocks noGrp="1"/>
          </p:cNvSpPr>
          <p:nvPr>
            <p:ph type="body" idx="1"/>
          </p:nvPr>
        </p:nvSpPr>
        <p:spPr>
          <a:xfrm>
            <a:off x="209850" y="868318"/>
            <a:ext cx="8280000" cy="3835800"/>
          </a:xfrm>
          <a:prstGeom prst="rect">
            <a:avLst/>
          </a:prstGeom>
        </p:spPr>
        <p:txBody>
          <a:bodyPr spcFirstLastPara="1" wrap="square" lIns="49625" tIns="24875" rIns="49625" bIns="24875" anchor="t" anchorCtr="0">
            <a:noAutofit/>
          </a:bodyPr>
          <a:lstStyle/>
          <a:p>
            <a:pPr marL="0" lvl="0" indent="0" algn="l" rtl="0">
              <a:spcBef>
                <a:spcPts val="0"/>
              </a:spcBef>
              <a:spcAft>
                <a:spcPts val="0"/>
              </a:spcAft>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7"/>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a:t>7/11 全体会合ブレイクアウトセッション</a:t>
            </a:r>
            <a:endParaRPr/>
          </a:p>
        </p:txBody>
      </p:sp>
      <p:sp>
        <p:nvSpPr>
          <p:cNvPr id="201" name="Google Shape;201;p27"/>
          <p:cNvSpPr txBox="1"/>
          <p:nvPr/>
        </p:nvSpPr>
        <p:spPr>
          <a:xfrm>
            <a:off x="432000" y="990300"/>
            <a:ext cx="8280000" cy="400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ja"/>
              <a:t>Q: </a:t>
            </a:r>
            <a:r>
              <a:rPr lang="ja">
                <a:solidFill>
                  <a:schemeClr val="dk1"/>
                </a:solidFill>
              </a:rPr>
              <a:t>OSPOに必要なものとは？OSPOを立ち上げるには？</a:t>
            </a:r>
            <a:endParaRPr/>
          </a:p>
        </p:txBody>
      </p:sp>
      <p:sp>
        <p:nvSpPr>
          <p:cNvPr id="202" name="Google Shape;202;p27"/>
          <p:cNvSpPr txBox="1"/>
          <p:nvPr/>
        </p:nvSpPr>
        <p:spPr>
          <a:xfrm>
            <a:off x="432000" y="1568425"/>
            <a:ext cx="8280000" cy="30870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rmAutofit/>
          </a:bodyPr>
          <a:lstStyle/>
          <a:p>
            <a:pPr marL="0" lvl="0" indent="0" algn="l" rtl="0">
              <a:spcBef>
                <a:spcPts val="0"/>
              </a:spcBef>
              <a:spcAft>
                <a:spcPts val="0"/>
              </a:spcAft>
              <a:buNone/>
            </a:pPr>
            <a:r>
              <a:rPr lang="ja"/>
              <a:t>A:  </a:t>
            </a:r>
            <a:endParaRPr/>
          </a:p>
          <a:p>
            <a:pPr marL="457200" lvl="0" indent="-317500" algn="l" rtl="0">
              <a:spcBef>
                <a:spcPts val="0"/>
              </a:spcBef>
              <a:spcAft>
                <a:spcPts val="0"/>
              </a:spcAft>
              <a:buSzPts val="1400"/>
              <a:buChar char="●"/>
            </a:pPr>
            <a:r>
              <a:rPr lang="ja"/>
              <a:t>リソース（人、お金）</a:t>
            </a:r>
            <a:endParaRPr/>
          </a:p>
          <a:p>
            <a:pPr marL="914400" lvl="1" indent="-317500" algn="l" rtl="0">
              <a:spcBef>
                <a:spcPts val="0"/>
              </a:spcBef>
              <a:spcAft>
                <a:spcPts val="0"/>
              </a:spcAft>
              <a:buSzPts val="1400"/>
              <a:buChar char="○"/>
            </a:pPr>
            <a:r>
              <a:rPr lang="ja"/>
              <a:t>OSPOで何をするかによって規模感が違う</a:t>
            </a:r>
            <a:endParaRPr/>
          </a:p>
          <a:p>
            <a:pPr marL="914400" lvl="1" indent="-317500" algn="l" rtl="0">
              <a:spcBef>
                <a:spcPts val="0"/>
              </a:spcBef>
              <a:spcAft>
                <a:spcPts val="0"/>
              </a:spcAft>
              <a:buSzPts val="1400"/>
              <a:buChar char="○"/>
            </a:pPr>
            <a:r>
              <a:rPr lang="ja"/>
              <a:t>最低限：ライセンスコンプライアンスを社内に徹底する</a:t>
            </a:r>
            <a:endParaRPr/>
          </a:p>
          <a:p>
            <a:pPr marL="914400" lvl="1" indent="-317500" algn="l" rtl="0">
              <a:spcBef>
                <a:spcPts val="0"/>
              </a:spcBef>
              <a:spcAft>
                <a:spcPts val="0"/>
              </a:spcAft>
              <a:buSzPts val="1400"/>
              <a:buChar char="○"/>
            </a:pPr>
            <a:r>
              <a:rPr lang="ja"/>
              <a:t>さらには：教育、貢献、戦略に広がるにつれて規模が大きくなる</a:t>
            </a:r>
            <a:endParaRPr/>
          </a:p>
          <a:p>
            <a:pPr marL="914400" lvl="1" indent="-317500" algn="l" rtl="0">
              <a:spcBef>
                <a:spcPts val="0"/>
              </a:spcBef>
              <a:spcAft>
                <a:spcPts val="0"/>
              </a:spcAft>
              <a:buSzPts val="1400"/>
              <a:buChar char="○"/>
            </a:pPr>
            <a:r>
              <a:rPr lang="ja"/>
              <a:t>組織の継続性を考えると必要な最低限の人数は複数名</a:t>
            </a:r>
            <a:endParaRPr/>
          </a:p>
          <a:p>
            <a:pPr marL="457200" lvl="0" indent="-317500" algn="l" rtl="0">
              <a:spcBef>
                <a:spcPts val="0"/>
              </a:spcBef>
              <a:spcAft>
                <a:spcPts val="0"/>
              </a:spcAft>
              <a:buSzPts val="1400"/>
              <a:buChar char="●"/>
            </a:pPr>
            <a:r>
              <a:rPr lang="ja"/>
              <a:t>マインドセット</a:t>
            </a:r>
            <a:endParaRPr/>
          </a:p>
          <a:p>
            <a:pPr marL="914400" lvl="1" indent="-317500" algn="l" rtl="0">
              <a:spcBef>
                <a:spcPts val="0"/>
              </a:spcBef>
              <a:spcAft>
                <a:spcPts val="0"/>
              </a:spcAft>
              <a:buSzPts val="1400"/>
              <a:buChar char="○"/>
            </a:pPr>
            <a:endParaRPr/>
          </a:p>
          <a:p>
            <a:pPr marL="457200" lvl="0" indent="-317500" algn="l" rtl="0">
              <a:spcBef>
                <a:spcPts val="0"/>
              </a:spcBef>
              <a:spcAft>
                <a:spcPts val="0"/>
              </a:spcAft>
              <a:buSzPts val="1400"/>
              <a:buChar char="●"/>
            </a:pPr>
            <a:r>
              <a:rPr lang="ja"/>
              <a:t>トップの意思</a:t>
            </a:r>
            <a:endParaRPr/>
          </a:p>
          <a:p>
            <a:pPr marL="914400" lvl="1" indent="-317500" algn="l" rtl="0">
              <a:spcBef>
                <a:spcPts val="0"/>
              </a:spcBef>
              <a:spcAft>
                <a:spcPts val="0"/>
              </a:spcAft>
              <a:buSzPts val="1400"/>
              <a:buChar char="○"/>
            </a:pPr>
            <a:r>
              <a:rPr lang="ja"/>
              <a:t>トップの考えはお金がっ付随するので、重要</a:t>
            </a:r>
            <a:endParaRPr/>
          </a:p>
          <a:p>
            <a:pPr marL="1371600" lvl="2" indent="-317500" algn="l" rtl="0">
              <a:spcBef>
                <a:spcPts val="0"/>
              </a:spcBef>
              <a:spcAft>
                <a:spcPts val="0"/>
              </a:spcAft>
              <a:buSzPts val="1400"/>
              <a:buChar char="■"/>
            </a:pPr>
            <a:r>
              <a:rPr lang="ja"/>
              <a:t>ライセンスコンプライアンスまでは必須と考えてもらえるが、それ以上に進むにはどうしたらいいか？</a:t>
            </a:r>
            <a:endParaRPr/>
          </a:p>
        </p:txBody>
      </p:sp>
      <p:sp>
        <p:nvSpPr>
          <p:cNvPr id="203" name="Google Shape;203;p27"/>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0" lvl="0" indent="0" algn="l" rtl="0">
              <a:spcBef>
                <a:spcPts val="0"/>
              </a:spcBef>
              <a:spcAft>
                <a:spcPts val="0"/>
              </a:spcAft>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8"/>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a:t>OSSを使い始めるステップ</a:t>
            </a:r>
            <a:endParaRPr/>
          </a:p>
        </p:txBody>
      </p:sp>
      <p:sp>
        <p:nvSpPr>
          <p:cNvPr id="209" name="Google Shape;209;p28"/>
          <p:cNvSpPr/>
          <p:nvPr/>
        </p:nvSpPr>
        <p:spPr>
          <a:xfrm>
            <a:off x="432000" y="1747225"/>
            <a:ext cx="2022000" cy="713400"/>
          </a:xfrm>
          <a:prstGeom prst="wedgeRectCallout">
            <a:avLst>
              <a:gd name="adj1" fmla="val 15440"/>
              <a:gd name="adj2" fmla="val 5273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ja" sz="1000"/>
              <a:t>既にあるソフトを使える（開発を楽できる）</a:t>
            </a:r>
            <a:endParaRPr sz="1000"/>
          </a:p>
          <a:p>
            <a:pPr marL="0" lvl="0" indent="0" algn="l" rtl="0">
              <a:spcBef>
                <a:spcPts val="0"/>
              </a:spcBef>
              <a:spcAft>
                <a:spcPts val="0"/>
              </a:spcAft>
              <a:buNone/>
            </a:pPr>
            <a:r>
              <a:rPr lang="ja" sz="1000"/>
              <a:t>（社内の開発工数を減らせる）</a:t>
            </a:r>
            <a:endParaRPr sz="1000"/>
          </a:p>
          <a:p>
            <a:pPr marL="0" lvl="0" indent="0" algn="l" rtl="0">
              <a:spcBef>
                <a:spcPts val="0"/>
              </a:spcBef>
              <a:spcAft>
                <a:spcPts val="0"/>
              </a:spcAft>
              <a:buNone/>
            </a:pPr>
            <a:endParaRPr sz="1000"/>
          </a:p>
        </p:txBody>
      </p:sp>
      <p:sp>
        <p:nvSpPr>
          <p:cNvPr id="210" name="Google Shape;210;p28"/>
          <p:cNvSpPr/>
          <p:nvPr/>
        </p:nvSpPr>
        <p:spPr>
          <a:xfrm>
            <a:off x="2677025" y="1616275"/>
            <a:ext cx="2022000" cy="1744800"/>
          </a:xfrm>
          <a:prstGeom prst="wedgeRectCallout">
            <a:avLst>
              <a:gd name="adj1" fmla="val 83404"/>
              <a:gd name="adj2" fmla="val 87269"/>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ja" sz="1000"/>
              <a:t>最先端のソフト（技術）を使える</a:t>
            </a:r>
            <a:endParaRPr sz="1000"/>
          </a:p>
          <a:p>
            <a:pPr marL="0" lvl="0" indent="0" algn="l" rtl="0">
              <a:spcBef>
                <a:spcPts val="0"/>
              </a:spcBef>
              <a:spcAft>
                <a:spcPts val="0"/>
              </a:spcAft>
              <a:buNone/>
            </a:pPr>
            <a:r>
              <a:rPr lang="ja" sz="1000"/>
              <a:t>多くの人が集まって作ったソフトなので、レベルが高い</a:t>
            </a:r>
            <a:endParaRPr sz="1000"/>
          </a:p>
          <a:p>
            <a:pPr marL="0" lvl="0" indent="0" algn="l" rtl="0">
              <a:spcBef>
                <a:spcPts val="0"/>
              </a:spcBef>
              <a:spcAft>
                <a:spcPts val="0"/>
              </a:spcAft>
              <a:buNone/>
            </a:pPr>
            <a:endParaRPr sz="1000"/>
          </a:p>
          <a:p>
            <a:pPr marL="0" lvl="0" indent="0" algn="l" rtl="0">
              <a:spcBef>
                <a:spcPts val="0"/>
              </a:spcBef>
              <a:spcAft>
                <a:spcPts val="0"/>
              </a:spcAft>
              <a:buNone/>
            </a:pPr>
            <a:endParaRPr sz="1000"/>
          </a:p>
        </p:txBody>
      </p:sp>
      <p:sp>
        <p:nvSpPr>
          <p:cNvPr id="211" name="Google Shape;211;p28"/>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0" lvl="0" indent="0" algn="l" rtl="0">
              <a:spcBef>
                <a:spcPts val="0"/>
              </a:spcBef>
              <a:spcAft>
                <a:spcPts val="0"/>
              </a:spcAft>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9"/>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Clr>
                <a:schemeClr val="dk1"/>
              </a:buClr>
              <a:buSzPts val="1100"/>
              <a:buFont typeface="Arial"/>
              <a:buNone/>
            </a:pPr>
            <a:r>
              <a:rPr lang="ja"/>
              <a:t>Consumer ～ Leader の Open Source 価値マップ</a:t>
            </a:r>
            <a:endParaRPr/>
          </a:p>
        </p:txBody>
      </p:sp>
      <p:pic>
        <p:nvPicPr>
          <p:cNvPr id="217" name="Google Shape;217;p29"/>
          <p:cNvPicPr preferRelativeResize="0"/>
          <p:nvPr/>
        </p:nvPicPr>
        <p:blipFill>
          <a:blip r:embed="rId3">
            <a:alphaModFix/>
          </a:blip>
          <a:stretch>
            <a:fillRect/>
          </a:stretch>
        </p:blipFill>
        <p:spPr>
          <a:xfrm>
            <a:off x="152400" y="781224"/>
            <a:ext cx="8099674" cy="4209878"/>
          </a:xfrm>
          <a:prstGeom prst="rect">
            <a:avLst/>
          </a:prstGeom>
          <a:noFill/>
          <a:ln>
            <a:noFill/>
          </a:ln>
        </p:spPr>
      </p:pic>
      <p:sp>
        <p:nvSpPr>
          <p:cNvPr id="218" name="Google Shape;218;p29"/>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0" lvl="0" indent="0" algn="l" rtl="0">
              <a:spcBef>
                <a:spcPts val="0"/>
              </a:spcBef>
              <a:spcAft>
                <a:spcPts val="0"/>
              </a:spcAft>
              <a:buNone/>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30"/>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a:t>Consumer ～ Leader の Open Source 価値マップ</a:t>
            </a:r>
            <a:endParaRPr/>
          </a:p>
        </p:txBody>
      </p:sp>
      <p:graphicFrame>
        <p:nvGraphicFramePr>
          <p:cNvPr id="224" name="Google Shape;224;p30"/>
          <p:cNvGraphicFramePr/>
          <p:nvPr/>
        </p:nvGraphicFramePr>
        <p:xfrm>
          <a:off x="74800" y="767525"/>
          <a:ext cx="3000000" cy="3000000"/>
        </p:xfrm>
        <a:graphic>
          <a:graphicData uri="http://schemas.openxmlformats.org/drawingml/2006/table">
            <a:tbl>
              <a:tblPr>
                <a:noFill/>
                <a:tableStyleId>{FA691572-F3AE-4C50-9FBC-A2B79843BC87}</a:tableStyleId>
              </a:tblPr>
              <a:tblGrid>
                <a:gridCol w="398725">
                  <a:extLst>
                    <a:ext uri="{9D8B030D-6E8A-4147-A177-3AD203B41FA5}">
                      <a16:colId xmlns:a16="http://schemas.microsoft.com/office/drawing/2014/main" val="20000"/>
                    </a:ext>
                  </a:extLst>
                </a:gridCol>
                <a:gridCol w="2145025">
                  <a:extLst>
                    <a:ext uri="{9D8B030D-6E8A-4147-A177-3AD203B41FA5}">
                      <a16:colId xmlns:a16="http://schemas.microsoft.com/office/drawing/2014/main" val="20001"/>
                    </a:ext>
                  </a:extLst>
                </a:gridCol>
                <a:gridCol w="929375">
                  <a:extLst>
                    <a:ext uri="{9D8B030D-6E8A-4147-A177-3AD203B41FA5}">
                      <a16:colId xmlns:a16="http://schemas.microsoft.com/office/drawing/2014/main" val="20002"/>
                    </a:ext>
                  </a:extLst>
                </a:gridCol>
                <a:gridCol w="1100600">
                  <a:extLst>
                    <a:ext uri="{9D8B030D-6E8A-4147-A177-3AD203B41FA5}">
                      <a16:colId xmlns:a16="http://schemas.microsoft.com/office/drawing/2014/main" val="20003"/>
                    </a:ext>
                  </a:extLst>
                </a:gridCol>
                <a:gridCol w="1100600">
                  <a:extLst>
                    <a:ext uri="{9D8B030D-6E8A-4147-A177-3AD203B41FA5}">
                      <a16:colId xmlns:a16="http://schemas.microsoft.com/office/drawing/2014/main" val="20004"/>
                    </a:ext>
                  </a:extLst>
                </a:gridCol>
                <a:gridCol w="1100600">
                  <a:extLst>
                    <a:ext uri="{9D8B030D-6E8A-4147-A177-3AD203B41FA5}">
                      <a16:colId xmlns:a16="http://schemas.microsoft.com/office/drawing/2014/main" val="20005"/>
                    </a:ext>
                  </a:extLst>
                </a:gridCol>
                <a:gridCol w="1100600">
                  <a:extLst>
                    <a:ext uri="{9D8B030D-6E8A-4147-A177-3AD203B41FA5}">
                      <a16:colId xmlns:a16="http://schemas.microsoft.com/office/drawing/2014/main" val="20006"/>
                    </a:ext>
                  </a:extLst>
                </a:gridCol>
                <a:gridCol w="1100600">
                  <a:extLst>
                    <a:ext uri="{9D8B030D-6E8A-4147-A177-3AD203B41FA5}">
                      <a16:colId xmlns:a16="http://schemas.microsoft.com/office/drawing/2014/main" val="20007"/>
                    </a:ext>
                  </a:extLst>
                </a:gridCol>
              </a:tblGrid>
              <a:tr h="405875">
                <a:tc>
                  <a:txBody>
                    <a:bodyPr/>
                    <a:lstStyle/>
                    <a:p>
                      <a:pPr marL="0" lvl="0" indent="0" algn="l" rtl="0">
                        <a:lnSpc>
                          <a:spcPct val="115000"/>
                        </a:lnSpc>
                        <a:spcBef>
                          <a:spcPts val="0"/>
                        </a:spcBef>
                        <a:spcAft>
                          <a:spcPts val="0"/>
                        </a:spcAft>
                        <a:buNone/>
                      </a:pPr>
                      <a:endParaRPr sz="1200" b="1">
                        <a:solidFill>
                          <a:srgbClr val="FFFFFF"/>
                        </a:solidFill>
                      </a:endParaRPr>
                    </a:p>
                  </a:txBody>
                  <a:tcPr marL="91425" marR="91425" marT="91425" marB="91425">
                    <a:solidFill>
                      <a:schemeClr val="accent5"/>
                    </a:solidFill>
                  </a:tcPr>
                </a:tc>
                <a:tc>
                  <a:txBody>
                    <a:bodyPr/>
                    <a:lstStyle/>
                    <a:p>
                      <a:pPr marL="0" lvl="0" indent="0" algn="l" rtl="0">
                        <a:lnSpc>
                          <a:spcPct val="115000"/>
                        </a:lnSpc>
                        <a:spcBef>
                          <a:spcPts val="0"/>
                        </a:spcBef>
                        <a:spcAft>
                          <a:spcPts val="0"/>
                        </a:spcAft>
                        <a:buNone/>
                      </a:pPr>
                      <a:r>
                        <a:rPr lang="ja" sz="1200" b="1">
                          <a:solidFill>
                            <a:srgbClr val="FFFFFF"/>
                          </a:solidFill>
                        </a:rPr>
                        <a:t>人材価値 (個人)</a:t>
                      </a:r>
                      <a:endParaRPr sz="1200" b="1">
                        <a:solidFill>
                          <a:srgbClr val="FFFFFF"/>
                        </a:solidFill>
                      </a:endParaRPr>
                    </a:p>
                  </a:txBody>
                  <a:tcPr marL="91425" marR="91425" marT="91425" marB="91425">
                    <a:solidFill>
                      <a:schemeClr val="accent5"/>
                    </a:solidFill>
                  </a:tcPr>
                </a:tc>
                <a:tc>
                  <a:txBody>
                    <a:bodyPr/>
                    <a:lstStyle/>
                    <a:p>
                      <a:pPr marL="0" lvl="0" indent="0" algn="l" rtl="0">
                        <a:lnSpc>
                          <a:spcPct val="115000"/>
                        </a:lnSpc>
                        <a:spcBef>
                          <a:spcPts val="0"/>
                        </a:spcBef>
                        <a:spcAft>
                          <a:spcPts val="0"/>
                        </a:spcAft>
                        <a:buNone/>
                      </a:pPr>
                      <a:r>
                        <a:rPr lang="ja" sz="1200" b="1">
                          <a:solidFill>
                            <a:srgbClr val="FFFFFF"/>
                          </a:solidFill>
                        </a:rPr>
                        <a:t>(会社)</a:t>
                      </a:r>
                      <a:endParaRPr sz="1200" b="1">
                        <a:solidFill>
                          <a:srgbClr val="FFFFFF"/>
                        </a:solidFill>
                      </a:endParaRPr>
                    </a:p>
                  </a:txBody>
                  <a:tcPr marL="91425" marR="91425" marT="91425" marB="91425">
                    <a:solidFill>
                      <a:schemeClr val="accent5"/>
                    </a:solidFill>
                  </a:tcPr>
                </a:tc>
                <a:tc>
                  <a:txBody>
                    <a:bodyPr/>
                    <a:lstStyle/>
                    <a:p>
                      <a:pPr marL="0" lvl="0" indent="0" algn="l" rtl="0">
                        <a:lnSpc>
                          <a:spcPct val="115000"/>
                        </a:lnSpc>
                        <a:spcBef>
                          <a:spcPts val="0"/>
                        </a:spcBef>
                        <a:spcAft>
                          <a:spcPts val="0"/>
                        </a:spcAft>
                        <a:buNone/>
                      </a:pPr>
                      <a:r>
                        <a:rPr lang="ja" sz="1200" b="1">
                          <a:solidFill>
                            <a:srgbClr val="FFFFFF"/>
                          </a:solidFill>
                        </a:rPr>
                        <a:t>技術価値</a:t>
                      </a:r>
                      <a:endParaRPr sz="1200" b="1">
                        <a:solidFill>
                          <a:srgbClr val="FFFFFF"/>
                        </a:solidFill>
                      </a:endParaRPr>
                    </a:p>
                  </a:txBody>
                  <a:tcPr marL="91425" marR="91425" marT="91425" marB="91425">
                    <a:solidFill>
                      <a:schemeClr val="accent5"/>
                    </a:solidFill>
                  </a:tcPr>
                </a:tc>
                <a:tc>
                  <a:txBody>
                    <a:bodyPr/>
                    <a:lstStyle/>
                    <a:p>
                      <a:pPr marL="0" lvl="0" indent="0" algn="l" rtl="0">
                        <a:lnSpc>
                          <a:spcPct val="115000"/>
                        </a:lnSpc>
                        <a:spcBef>
                          <a:spcPts val="0"/>
                        </a:spcBef>
                        <a:spcAft>
                          <a:spcPts val="0"/>
                        </a:spcAft>
                        <a:buNone/>
                      </a:pPr>
                      <a:r>
                        <a:rPr lang="ja" sz="1200" b="1">
                          <a:solidFill>
                            <a:srgbClr val="FFFFFF"/>
                          </a:solidFill>
                        </a:rPr>
                        <a:t>費用価値</a:t>
                      </a:r>
                      <a:endParaRPr sz="1200" b="1">
                        <a:solidFill>
                          <a:srgbClr val="FFFFFF"/>
                        </a:solidFill>
                      </a:endParaRPr>
                    </a:p>
                  </a:txBody>
                  <a:tcPr marL="91425" marR="91425" marT="91425" marB="91425">
                    <a:solidFill>
                      <a:schemeClr val="accent5"/>
                    </a:solidFill>
                  </a:tcPr>
                </a:tc>
                <a:tc>
                  <a:txBody>
                    <a:bodyPr/>
                    <a:lstStyle/>
                    <a:p>
                      <a:pPr marL="0" lvl="0" indent="0" algn="l" rtl="0">
                        <a:lnSpc>
                          <a:spcPct val="115000"/>
                        </a:lnSpc>
                        <a:spcBef>
                          <a:spcPts val="0"/>
                        </a:spcBef>
                        <a:spcAft>
                          <a:spcPts val="0"/>
                        </a:spcAft>
                        <a:buNone/>
                      </a:pPr>
                      <a:r>
                        <a:rPr lang="ja" sz="1200" b="1">
                          <a:solidFill>
                            <a:srgbClr val="FFFFFF"/>
                          </a:solidFill>
                        </a:rPr>
                        <a:t>創造価値</a:t>
                      </a:r>
                      <a:endParaRPr sz="1200" b="1">
                        <a:solidFill>
                          <a:srgbClr val="FFFFFF"/>
                        </a:solidFill>
                      </a:endParaRPr>
                    </a:p>
                  </a:txBody>
                  <a:tcPr marL="91425" marR="91425" marT="91425" marB="91425">
                    <a:solidFill>
                      <a:schemeClr val="accent5"/>
                    </a:solidFill>
                  </a:tcPr>
                </a:tc>
                <a:tc>
                  <a:txBody>
                    <a:bodyPr/>
                    <a:lstStyle/>
                    <a:p>
                      <a:pPr marL="0" lvl="0" indent="0" algn="l" rtl="0">
                        <a:lnSpc>
                          <a:spcPct val="115000"/>
                        </a:lnSpc>
                        <a:spcBef>
                          <a:spcPts val="0"/>
                        </a:spcBef>
                        <a:spcAft>
                          <a:spcPts val="0"/>
                        </a:spcAft>
                        <a:buNone/>
                      </a:pPr>
                      <a:r>
                        <a:rPr lang="ja" sz="1200" b="1">
                          <a:solidFill>
                            <a:srgbClr val="FFFFFF"/>
                          </a:solidFill>
                        </a:rPr>
                        <a:t>ブランド価値</a:t>
                      </a:r>
                      <a:endParaRPr sz="1200" b="1">
                        <a:solidFill>
                          <a:srgbClr val="FFFFFF"/>
                        </a:solidFill>
                      </a:endParaRPr>
                    </a:p>
                  </a:txBody>
                  <a:tcPr marL="91425" marR="91425" marT="91425" marB="91425">
                    <a:solidFill>
                      <a:schemeClr val="accent5"/>
                    </a:solidFill>
                  </a:tcPr>
                </a:tc>
                <a:tc>
                  <a:txBody>
                    <a:bodyPr/>
                    <a:lstStyle/>
                    <a:p>
                      <a:pPr marL="0" lvl="0" indent="0" algn="l" rtl="0">
                        <a:lnSpc>
                          <a:spcPct val="115000"/>
                        </a:lnSpc>
                        <a:spcBef>
                          <a:spcPts val="0"/>
                        </a:spcBef>
                        <a:spcAft>
                          <a:spcPts val="0"/>
                        </a:spcAft>
                        <a:buNone/>
                      </a:pPr>
                      <a:r>
                        <a:rPr lang="ja" sz="1200" b="1">
                          <a:solidFill>
                            <a:srgbClr val="FFFFFF"/>
                          </a:solidFill>
                        </a:rPr>
                        <a:t>顧客価値</a:t>
                      </a:r>
                      <a:endParaRPr sz="1200" b="1">
                        <a:solidFill>
                          <a:srgbClr val="FFFFFF"/>
                        </a:solidFill>
                      </a:endParaRPr>
                    </a:p>
                  </a:txBody>
                  <a:tcPr marL="91425" marR="91425" marT="91425" marB="91425">
                    <a:solidFill>
                      <a:schemeClr val="accent5"/>
                    </a:solidFill>
                  </a:tcPr>
                </a:tc>
                <a:extLst>
                  <a:ext uri="{0D108BD9-81ED-4DB2-BD59-A6C34878D82A}">
                    <a16:rowId xmlns:a16="http://schemas.microsoft.com/office/drawing/2014/main" val="10000"/>
                  </a:ext>
                </a:extLst>
              </a:tr>
              <a:tr h="889000">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1"/>
                  </a:ext>
                </a:extLst>
              </a:tr>
              <a:tr h="889000">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2"/>
                  </a:ext>
                </a:extLst>
              </a:tr>
              <a:tr h="889000">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3"/>
                  </a:ext>
                </a:extLst>
              </a:tr>
              <a:tr h="889000">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4"/>
                  </a:ext>
                </a:extLst>
              </a:tr>
            </a:tbl>
          </a:graphicData>
        </a:graphic>
      </p:graphicFrame>
      <p:sp>
        <p:nvSpPr>
          <p:cNvPr id="225" name="Google Shape;225;p30"/>
          <p:cNvSpPr txBox="1"/>
          <p:nvPr/>
        </p:nvSpPr>
        <p:spPr>
          <a:xfrm rot="-5400000">
            <a:off x="-183800" y="1432000"/>
            <a:ext cx="890700" cy="373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 sz="1300"/>
              <a:t>Leader</a:t>
            </a:r>
            <a:endParaRPr sz="1300"/>
          </a:p>
        </p:txBody>
      </p:sp>
      <p:sp>
        <p:nvSpPr>
          <p:cNvPr id="226" name="Google Shape;226;p30"/>
          <p:cNvSpPr txBox="1"/>
          <p:nvPr/>
        </p:nvSpPr>
        <p:spPr>
          <a:xfrm rot="-5400000">
            <a:off x="-183800" y="2321000"/>
            <a:ext cx="890700" cy="373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 sz="1100"/>
              <a:t>Contributor</a:t>
            </a:r>
            <a:endParaRPr sz="1100"/>
          </a:p>
        </p:txBody>
      </p:sp>
      <p:sp>
        <p:nvSpPr>
          <p:cNvPr id="227" name="Google Shape;227;p30"/>
          <p:cNvSpPr txBox="1"/>
          <p:nvPr/>
        </p:nvSpPr>
        <p:spPr>
          <a:xfrm rot="-5400000">
            <a:off x="-183800" y="3211700"/>
            <a:ext cx="890700" cy="373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 sz="1100"/>
              <a:t>Participant</a:t>
            </a:r>
            <a:endParaRPr sz="1100"/>
          </a:p>
        </p:txBody>
      </p:sp>
      <p:sp>
        <p:nvSpPr>
          <p:cNvPr id="228" name="Google Shape;228;p30"/>
          <p:cNvSpPr txBox="1"/>
          <p:nvPr/>
        </p:nvSpPr>
        <p:spPr>
          <a:xfrm rot="-5400000">
            <a:off x="-183800" y="4099000"/>
            <a:ext cx="890700" cy="373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 sz="1100"/>
              <a:t>Consumer</a:t>
            </a:r>
            <a:endParaRPr sz="1100"/>
          </a:p>
        </p:txBody>
      </p:sp>
      <p:sp>
        <p:nvSpPr>
          <p:cNvPr id="229" name="Google Shape;229;p30"/>
          <p:cNvSpPr txBox="1"/>
          <p:nvPr/>
        </p:nvSpPr>
        <p:spPr>
          <a:xfrm>
            <a:off x="490400" y="1191525"/>
            <a:ext cx="8560500" cy="306600"/>
          </a:xfrm>
          <a:prstGeom prst="rect">
            <a:avLst/>
          </a:prstGeom>
          <a:solidFill>
            <a:schemeClr val="lt1"/>
          </a:solid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ja"/>
              <a:t>自動的に集まる状態</a:t>
            </a:r>
            <a:endParaRPr/>
          </a:p>
        </p:txBody>
      </p:sp>
      <p:sp>
        <p:nvSpPr>
          <p:cNvPr id="230" name="Google Shape;230;p30"/>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0" lvl="0" indent="0" algn="l" rtl="0">
              <a:spcBef>
                <a:spcPts val="0"/>
              </a:spcBef>
              <a:spcAft>
                <a:spcPts val="0"/>
              </a:spcAft>
              <a:buNone/>
            </a:pP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1"/>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a:t>Qx</a:t>
            </a:r>
            <a:endParaRPr/>
          </a:p>
        </p:txBody>
      </p:sp>
      <p:sp>
        <p:nvSpPr>
          <p:cNvPr id="236" name="Google Shape;236;p31"/>
          <p:cNvSpPr txBox="1"/>
          <p:nvPr/>
        </p:nvSpPr>
        <p:spPr>
          <a:xfrm>
            <a:off x="432000" y="990300"/>
            <a:ext cx="8280000" cy="400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ja"/>
              <a:t>Q: </a:t>
            </a:r>
            <a:r>
              <a:rPr lang="ja">
                <a:solidFill>
                  <a:schemeClr val="dk1"/>
                </a:solidFill>
              </a:rPr>
              <a:t>コミュニティのリーダーシップを取るのが難しいのはなぜか？</a:t>
            </a:r>
            <a:endParaRPr/>
          </a:p>
        </p:txBody>
      </p:sp>
      <p:sp>
        <p:nvSpPr>
          <p:cNvPr id="237" name="Google Shape;237;p31"/>
          <p:cNvSpPr txBox="1"/>
          <p:nvPr/>
        </p:nvSpPr>
        <p:spPr>
          <a:xfrm>
            <a:off x="432000" y="1568425"/>
            <a:ext cx="8280000" cy="30870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rmAutofit/>
          </a:bodyPr>
          <a:lstStyle/>
          <a:p>
            <a:pPr marL="0" lvl="0" indent="0" algn="l" rtl="0">
              <a:spcBef>
                <a:spcPts val="0"/>
              </a:spcBef>
              <a:spcAft>
                <a:spcPts val="0"/>
              </a:spcAft>
              <a:buNone/>
            </a:pPr>
            <a:r>
              <a:rPr lang="ja"/>
              <a:t>A:  </a:t>
            </a:r>
            <a:endParaRPr/>
          </a:p>
          <a:p>
            <a:pPr marL="457200" lvl="0" indent="-317500" algn="l" rtl="0">
              <a:spcBef>
                <a:spcPts val="0"/>
              </a:spcBef>
              <a:spcAft>
                <a:spcPts val="0"/>
              </a:spcAft>
              <a:buSzPts val="1400"/>
              <a:buChar char="●"/>
            </a:pPr>
            <a:endParaRPr/>
          </a:p>
        </p:txBody>
      </p:sp>
      <p:sp>
        <p:nvSpPr>
          <p:cNvPr id="238" name="Google Shape;238;p31"/>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0" lvl="0" indent="0" algn="l" rtl="0">
              <a:spcBef>
                <a:spcPts val="0"/>
              </a:spcBef>
              <a:spcAft>
                <a:spcPts val="0"/>
              </a:spcAft>
              <a:buNone/>
            </a:pP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32"/>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a:t>Qx</a:t>
            </a:r>
            <a:endParaRPr/>
          </a:p>
        </p:txBody>
      </p:sp>
      <p:sp>
        <p:nvSpPr>
          <p:cNvPr id="244" name="Google Shape;244;p32"/>
          <p:cNvSpPr txBox="1"/>
          <p:nvPr/>
        </p:nvSpPr>
        <p:spPr>
          <a:xfrm>
            <a:off x="432000" y="990300"/>
            <a:ext cx="8280000" cy="400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ja"/>
              <a:t>Q: </a:t>
            </a:r>
            <a:r>
              <a:rPr lang="ja">
                <a:solidFill>
                  <a:schemeClr val="dk1"/>
                </a:solidFill>
              </a:rPr>
              <a:t>OSSの全社統一管理はなぜ必要なのですか？（なぜ今更、既にOSSは多く使われているのに）</a:t>
            </a:r>
            <a:endParaRPr/>
          </a:p>
        </p:txBody>
      </p:sp>
      <p:sp>
        <p:nvSpPr>
          <p:cNvPr id="245" name="Google Shape;245;p32"/>
          <p:cNvSpPr txBox="1"/>
          <p:nvPr/>
        </p:nvSpPr>
        <p:spPr>
          <a:xfrm>
            <a:off x="432000" y="1568425"/>
            <a:ext cx="8280000" cy="30870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r>
              <a:rPr lang="ja"/>
              <a:t>A:  </a:t>
            </a:r>
            <a:endParaRPr/>
          </a:p>
          <a:p>
            <a:pPr marL="457200" lvl="0" indent="-310832" algn="l" rtl="0">
              <a:spcBef>
                <a:spcPts val="0"/>
              </a:spcBef>
              <a:spcAft>
                <a:spcPts val="0"/>
              </a:spcAft>
              <a:buSzPct val="100000"/>
              <a:buChar char="●"/>
            </a:pPr>
            <a:r>
              <a:rPr lang="ja"/>
              <a:t>重要性</a:t>
            </a:r>
            <a:endParaRPr/>
          </a:p>
          <a:p>
            <a:pPr marL="914400" lvl="1" indent="-310832" algn="l" rtl="0">
              <a:spcBef>
                <a:spcPts val="0"/>
              </a:spcBef>
              <a:spcAft>
                <a:spcPts val="0"/>
              </a:spcAft>
              <a:buSzPct val="100000"/>
              <a:buChar char="○"/>
            </a:pPr>
            <a:r>
              <a:rPr lang="ja"/>
              <a:t>OSSのサプライチェーン管理を要求する米国大統領令：調達条件になってきたから</a:t>
            </a:r>
            <a:endParaRPr/>
          </a:p>
          <a:p>
            <a:pPr marL="1371600" lvl="2" indent="-310832" algn="l" rtl="0">
              <a:spcBef>
                <a:spcPts val="0"/>
              </a:spcBef>
              <a:spcAft>
                <a:spcPts val="0"/>
              </a:spcAft>
              <a:buSzPct val="100000"/>
              <a:buChar char="■"/>
            </a:pPr>
            <a:r>
              <a:rPr lang="ja"/>
              <a:t>セキュリティ観点でしっかり管理することが求められている</a:t>
            </a:r>
            <a:endParaRPr/>
          </a:p>
          <a:p>
            <a:pPr marL="914400" lvl="1" indent="-310832" algn="l" rtl="0">
              <a:spcBef>
                <a:spcPts val="0"/>
              </a:spcBef>
              <a:spcAft>
                <a:spcPts val="0"/>
              </a:spcAft>
              <a:buSzPct val="100000"/>
              <a:buChar char="○"/>
            </a:pPr>
            <a:r>
              <a:rPr lang="ja"/>
              <a:t>OSSが社会インフラシステムを支えるものになってきた</a:t>
            </a:r>
            <a:endParaRPr/>
          </a:p>
          <a:p>
            <a:pPr marL="1371600" lvl="2" indent="-310832" algn="l" rtl="0">
              <a:spcBef>
                <a:spcPts val="0"/>
              </a:spcBef>
              <a:spcAft>
                <a:spcPts val="0"/>
              </a:spcAft>
              <a:buSzPct val="100000"/>
              <a:buChar char="■"/>
            </a:pPr>
            <a:r>
              <a:rPr lang="ja"/>
              <a:t>含まれているOSSに問題があると大きな影響を起こす</a:t>
            </a:r>
            <a:endParaRPr/>
          </a:p>
          <a:p>
            <a:pPr marL="914400" lvl="1" indent="-310832" algn="l" rtl="0">
              <a:spcBef>
                <a:spcPts val="0"/>
              </a:spcBef>
              <a:spcAft>
                <a:spcPts val="0"/>
              </a:spcAft>
              <a:buSzPct val="100000"/>
              <a:buChar char="○"/>
            </a:pPr>
            <a:r>
              <a:rPr lang="ja"/>
              <a:t>ISO化、業界の動き（Teleco WGなど）</a:t>
            </a:r>
            <a:endParaRPr/>
          </a:p>
          <a:p>
            <a:pPr marL="457200" lvl="0" indent="-310832" algn="l" rtl="0">
              <a:spcBef>
                <a:spcPts val="0"/>
              </a:spcBef>
              <a:spcAft>
                <a:spcPts val="0"/>
              </a:spcAft>
              <a:buSzPct val="100000"/>
              <a:buChar char="●"/>
            </a:pPr>
            <a:r>
              <a:rPr lang="ja"/>
              <a:t>全社統一管理の必要性</a:t>
            </a:r>
            <a:endParaRPr/>
          </a:p>
          <a:p>
            <a:pPr marL="914400" lvl="1" indent="-310832" algn="l" rtl="0">
              <a:spcBef>
                <a:spcPts val="0"/>
              </a:spcBef>
              <a:spcAft>
                <a:spcPts val="0"/>
              </a:spcAft>
              <a:buSzPct val="100000"/>
              <a:buChar char="○"/>
            </a:pPr>
            <a:r>
              <a:rPr lang="ja"/>
              <a:t>一部の部署の対応ミスが、全社に及ぶ（他事業部のミスによる評判が自事業部の評価になる）</a:t>
            </a:r>
            <a:endParaRPr/>
          </a:p>
          <a:p>
            <a:pPr marL="914400" lvl="1" indent="-310832" algn="l" rtl="0">
              <a:spcBef>
                <a:spcPts val="0"/>
              </a:spcBef>
              <a:spcAft>
                <a:spcPts val="0"/>
              </a:spcAft>
              <a:buSzPct val="100000"/>
              <a:buChar char="○"/>
            </a:pPr>
            <a:r>
              <a:rPr lang="ja"/>
              <a:t>社内サプライチェーンでの全体のレベル向上</a:t>
            </a:r>
            <a:endParaRPr/>
          </a:p>
          <a:p>
            <a:pPr marL="914400" lvl="1" indent="-310832" algn="l" rtl="0">
              <a:spcBef>
                <a:spcPts val="0"/>
              </a:spcBef>
              <a:spcAft>
                <a:spcPts val="0"/>
              </a:spcAft>
              <a:buSzPct val="100000"/>
              <a:buChar char="○"/>
            </a:pPr>
            <a:r>
              <a:rPr lang="ja"/>
              <a:t>ソフトウェアエンジニア以外が取り扱うことが増えてきている</a:t>
            </a:r>
            <a:endParaRPr/>
          </a:p>
          <a:p>
            <a:pPr marL="1371600" lvl="2" indent="-310832" algn="l" rtl="0">
              <a:spcBef>
                <a:spcPts val="0"/>
              </a:spcBef>
              <a:spcAft>
                <a:spcPts val="0"/>
              </a:spcAft>
              <a:buSzPct val="100000"/>
              <a:buChar char="■"/>
            </a:pPr>
            <a:r>
              <a:rPr lang="ja"/>
              <a:t>外部委託のマネージメント、ハードウェアマネージャがソフトを含む製品全体を管理している、外部委託先のOSSコンプライアンス理解度がまちまち、など</a:t>
            </a:r>
            <a:endParaRPr/>
          </a:p>
          <a:p>
            <a:pPr marL="457200" lvl="0" indent="-310832" algn="l" rtl="0">
              <a:spcBef>
                <a:spcPts val="0"/>
              </a:spcBef>
              <a:spcAft>
                <a:spcPts val="0"/>
              </a:spcAft>
              <a:buSzPct val="100000"/>
              <a:buChar char="●"/>
            </a:pPr>
            <a:r>
              <a:rPr lang="ja"/>
              <a:t>　</a:t>
            </a:r>
            <a:endParaRPr/>
          </a:p>
          <a:p>
            <a:pPr marL="457200" lvl="0" indent="-310832" algn="l" rtl="0">
              <a:spcBef>
                <a:spcPts val="0"/>
              </a:spcBef>
              <a:spcAft>
                <a:spcPts val="0"/>
              </a:spcAft>
              <a:buSzPct val="100000"/>
              <a:buChar char="●"/>
            </a:pPr>
            <a:r>
              <a:rPr lang="ja"/>
              <a:t>Qの背景：</a:t>
            </a:r>
            <a:endParaRPr/>
          </a:p>
          <a:p>
            <a:pPr marL="914400" lvl="1" indent="-310832" algn="l" rtl="0">
              <a:spcBef>
                <a:spcPts val="0"/>
              </a:spcBef>
              <a:spcAft>
                <a:spcPts val="0"/>
              </a:spcAft>
              <a:buSzPct val="100000"/>
              <a:buChar char="○"/>
            </a:pPr>
            <a:r>
              <a:rPr lang="ja"/>
              <a:t>現場でやるべきと思ってやってきた自負があるのだが、今更、会社全体で取り組もうとしているのはなぜ？</a:t>
            </a:r>
            <a:endParaRPr/>
          </a:p>
          <a:p>
            <a:pPr marL="914400" lvl="1" indent="-310832" algn="l" rtl="0">
              <a:spcBef>
                <a:spcPts val="0"/>
              </a:spcBef>
              <a:spcAft>
                <a:spcPts val="0"/>
              </a:spcAft>
              <a:buSzPct val="100000"/>
              <a:buChar char="○"/>
            </a:pPr>
            <a:r>
              <a:rPr lang="ja"/>
              <a:t>問題がないのにルールを作る動き方になったことでネガティブな反応が生じている</a:t>
            </a:r>
            <a:endParaRPr/>
          </a:p>
        </p:txBody>
      </p:sp>
      <p:sp>
        <p:nvSpPr>
          <p:cNvPr id="246" name="Google Shape;246;p32"/>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0" lvl="0" indent="0" algn="l" rtl="0">
              <a:spcBef>
                <a:spcPts val="0"/>
              </a:spcBef>
              <a:spcAft>
                <a:spcPts val="0"/>
              </a:spcAft>
              <a:buNone/>
            </a:pP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33"/>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a:t>Qx</a:t>
            </a:r>
            <a:endParaRPr/>
          </a:p>
        </p:txBody>
      </p:sp>
      <p:sp>
        <p:nvSpPr>
          <p:cNvPr id="252" name="Google Shape;252;p33"/>
          <p:cNvSpPr txBox="1"/>
          <p:nvPr/>
        </p:nvSpPr>
        <p:spPr>
          <a:xfrm>
            <a:off x="432000" y="990300"/>
            <a:ext cx="8280000" cy="400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ja"/>
              <a:t>Q: </a:t>
            </a:r>
            <a:r>
              <a:rPr lang="ja">
                <a:solidFill>
                  <a:schemeClr val="dk1"/>
                </a:solidFill>
              </a:rPr>
              <a:t>OSPOをどう進めればいいですか</a:t>
            </a:r>
            <a:endParaRPr/>
          </a:p>
        </p:txBody>
      </p:sp>
      <p:sp>
        <p:nvSpPr>
          <p:cNvPr id="253" name="Google Shape;253;p33"/>
          <p:cNvSpPr txBox="1"/>
          <p:nvPr/>
        </p:nvSpPr>
        <p:spPr>
          <a:xfrm>
            <a:off x="432000" y="1568425"/>
            <a:ext cx="8280000" cy="30870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r>
              <a:rPr lang="ja"/>
              <a:t>A:  </a:t>
            </a:r>
            <a:endParaRPr/>
          </a:p>
          <a:p>
            <a:pPr marL="0" lvl="0" indent="0" algn="l" rtl="0">
              <a:spcBef>
                <a:spcPts val="0"/>
              </a:spcBef>
              <a:spcAft>
                <a:spcPts val="0"/>
              </a:spcAft>
              <a:buNone/>
            </a:pPr>
            <a:endParaRPr/>
          </a:p>
          <a:p>
            <a:pPr marL="457200" lvl="0" indent="-310832" algn="l" rtl="0">
              <a:spcBef>
                <a:spcPts val="0"/>
              </a:spcBef>
              <a:spcAft>
                <a:spcPts val="0"/>
              </a:spcAft>
              <a:buSzPct val="100000"/>
              <a:buChar char="●"/>
            </a:pPr>
            <a:r>
              <a:rPr lang="ja"/>
              <a:t>他社事例を見ながら、自社で気が付いていない課題を見つけるところから始める</a:t>
            </a:r>
            <a:endParaRPr/>
          </a:p>
          <a:p>
            <a:pPr marL="457200" lvl="0" indent="-310832" algn="l" rtl="0">
              <a:spcBef>
                <a:spcPts val="0"/>
              </a:spcBef>
              <a:spcAft>
                <a:spcPts val="0"/>
              </a:spcAft>
              <a:buSzPct val="100000"/>
              <a:buChar char="●"/>
            </a:pPr>
            <a:r>
              <a:rPr lang="ja"/>
              <a:t>どうしてOSPOを作ったのか伝えるといい</a:t>
            </a:r>
            <a:endParaRPr/>
          </a:p>
          <a:p>
            <a:pPr marL="457200" lvl="0" indent="-310832" algn="l" rtl="0">
              <a:spcBef>
                <a:spcPts val="0"/>
              </a:spcBef>
              <a:spcAft>
                <a:spcPts val="0"/>
              </a:spcAft>
              <a:buSzPct val="100000"/>
              <a:buChar char="●"/>
            </a:pPr>
            <a:r>
              <a:rPr lang="ja"/>
              <a:t>初めてOSPOを作ろうと考えている方向けに回答を用意したい</a:t>
            </a:r>
            <a:endParaRPr/>
          </a:p>
          <a:p>
            <a:pPr marL="914400" lvl="1" indent="-310832" algn="l" rtl="0">
              <a:spcBef>
                <a:spcPts val="0"/>
              </a:spcBef>
              <a:spcAft>
                <a:spcPts val="0"/>
              </a:spcAft>
              <a:buSzPct val="100000"/>
              <a:buChar char="○"/>
            </a:pPr>
            <a:r>
              <a:rPr lang="ja"/>
              <a:t>(例)社内でOSPOを作ろうとしたときに、他社事例があると社内啓蒙がしやすい</a:t>
            </a:r>
            <a:endParaRPr/>
          </a:p>
          <a:p>
            <a:pPr marL="457200" lvl="0" indent="-310832" algn="l" rtl="0">
              <a:spcBef>
                <a:spcPts val="0"/>
              </a:spcBef>
              <a:spcAft>
                <a:spcPts val="0"/>
              </a:spcAft>
              <a:buSzPct val="100000"/>
              <a:buChar char="●"/>
            </a:pPr>
            <a:r>
              <a:rPr lang="ja"/>
              <a:t>OSPOの形は、それぞれの会社で異なってよい</a:t>
            </a:r>
            <a:endParaRPr/>
          </a:p>
          <a:p>
            <a:pPr marL="914400" lvl="1" indent="-310832" algn="l" rtl="0">
              <a:spcBef>
                <a:spcPts val="0"/>
              </a:spcBef>
              <a:spcAft>
                <a:spcPts val="0"/>
              </a:spcAft>
              <a:buSzPct val="100000"/>
              <a:buChar char="○"/>
            </a:pPr>
            <a:r>
              <a:rPr lang="ja"/>
              <a:t>OSPOを作りたい理由をはっきりさせるところから始めると良い</a:t>
            </a:r>
            <a:endParaRPr/>
          </a:p>
          <a:p>
            <a:pPr marL="457200" lvl="0" indent="-310832" algn="l" rtl="0">
              <a:spcBef>
                <a:spcPts val="0"/>
              </a:spcBef>
              <a:spcAft>
                <a:spcPts val="0"/>
              </a:spcAft>
              <a:buSzPct val="100000"/>
              <a:buChar char="●"/>
            </a:pPr>
            <a:r>
              <a:rPr lang="ja"/>
              <a:t>例えば</a:t>
            </a:r>
            <a:endParaRPr/>
          </a:p>
          <a:p>
            <a:pPr marL="914400" lvl="1" indent="-310832" algn="l" rtl="0">
              <a:spcBef>
                <a:spcPts val="0"/>
              </a:spcBef>
              <a:spcAft>
                <a:spcPts val="0"/>
              </a:spcAft>
              <a:buSzPct val="100000"/>
              <a:buChar char="○"/>
            </a:pPr>
            <a:r>
              <a:rPr lang="ja"/>
              <a:t>ソフトウェアハウス型企業A:</a:t>
            </a:r>
            <a:endParaRPr/>
          </a:p>
          <a:p>
            <a:pPr marL="1371600" lvl="2" indent="-310832" algn="l" rtl="0">
              <a:spcBef>
                <a:spcPts val="0"/>
              </a:spcBef>
              <a:spcAft>
                <a:spcPts val="0"/>
              </a:spcAft>
              <a:buSzPct val="100000"/>
              <a:buChar char="■"/>
            </a:pPr>
            <a:r>
              <a:rPr lang="ja"/>
              <a:t>主体は各組織。それをサポートするのがOSPO</a:t>
            </a:r>
            <a:endParaRPr/>
          </a:p>
          <a:p>
            <a:pPr marL="1371600" lvl="2" indent="-310832" algn="l" rtl="0">
              <a:spcBef>
                <a:spcPts val="0"/>
              </a:spcBef>
              <a:spcAft>
                <a:spcPts val="0"/>
              </a:spcAft>
              <a:buSzPct val="100000"/>
              <a:buChar char="■"/>
            </a:pPr>
            <a:r>
              <a:rPr lang="ja"/>
              <a:t>各部署にOSPOのメンバーがいて、仮想的に集まった組織としてOSPOがある</a:t>
            </a:r>
            <a:endParaRPr/>
          </a:p>
          <a:p>
            <a:pPr marL="457200" lvl="0" indent="-310832" algn="l" rtl="0">
              <a:spcBef>
                <a:spcPts val="0"/>
              </a:spcBef>
              <a:spcAft>
                <a:spcPts val="0"/>
              </a:spcAft>
              <a:buSzPct val="100000"/>
              <a:buChar char="●"/>
            </a:pPr>
            <a:r>
              <a:rPr lang="ja"/>
              <a:t>（ソフトウェアハウス型企業、非ソフトウェアハウス型企業、の場合で）</a:t>
            </a:r>
            <a:endParaRPr/>
          </a:p>
          <a:p>
            <a:pPr marL="457200" lvl="0" indent="-310832" algn="l" rtl="0">
              <a:spcBef>
                <a:spcPts val="0"/>
              </a:spcBef>
              <a:spcAft>
                <a:spcPts val="0"/>
              </a:spcAft>
              <a:buSzPct val="100000"/>
              <a:buChar char="●"/>
            </a:pPr>
            <a:r>
              <a:rPr lang="ja"/>
              <a:t>参考資料</a:t>
            </a:r>
            <a:endParaRPr/>
          </a:p>
          <a:p>
            <a:pPr marL="914400" lvl="1" indent="-310832" algn="l" rtl="0">
              <a:spcBef>
                <a:spcPts val="0"/>
              </a:spcBef>
              <a:spcAft>
                <a:spcPts val="0"/>
              </a:spcAft>
              <a:buSzPct val="100000"/>
              <a:buChar char="○"/>
            </a:pPr>
            <a:r>
              <a:rPr lang="ja" u="sng">
                <a:solidFill>
                  <a:schemeClr val="hlink"/>
                </a:solidFill>
                <a:hlinkClick r:id="rId3"/>
              </a:rPr>
              <a:t>https://www.linuxfoundation.jp/publications/2022/11/a-deep-dive-into-open-source-program-offices/</a:t>
            </a:r>
            <a:endParaRPr/>
          </a:p>
          <a:p>
            <a:pPr marL="914400" lvl="1" indent="-310832" algn="l" rtl="0">
              <a:spcBef>
                <a:spcPts val="0"/>
              </a:spcBef>
              <a:spcAft>
                <a:spcPts val="0"/>
              </a:spcAft>
              <a:buSzPct val="100000"/>
              <a:buChar char="○"/>
            </a:pPr>
            <a:r>
              <a:rPr lang="ja" u="sng">
                <a:solidFill>
                  <a:schemeClr val="hlink"/>
                </a:solidFill>
                <a:hlinkClick r:id="rId4"/>
              </a:rPr>
              <a:t>https://www.linuxfoundation.jp/wp-content/uploads/2022/11/ja_LFR_LFAID_Deep_Dive_Open_Source_Program_Offices_0830.pdf</a:t>
            </a:r>
            <a:endParaRPr/>
          </a:p>
          <a:p>
            <a:pPr marL="914400" lvl="1" indent="-310832" algn="l" rtl="0">
              <a:spcBef>
                <a:spcPts val="0"/>
              </a:spcBef>
              <a:spcAft>
                <a:spcPts val="0"/>
              </a:spcAft>
              <a:buSzPct val="100000"/>
              <a:buChar char="○"/>
            </a:pPr>
            <a:endParaRPr/>
          </a:p>
        </p:txBody>
      </p:sp>
      <p:sp>
        <p:nvSpPr>
          <p:cNvPr id="254" name="Google Shape;254;p33"/>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0" lvl="0" indent="0" algn="l" rtl="0">
              <a:spcBef>
                <a:spcPts val="0"/>
              </a:spcBef>
              <a:spcAft>
                <a:spcPts val="0"/>
              </a:spcAft>
              <a:buNone/>
            </a:pP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34"/>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a:t>Qx</a:t>
            </a:r>
            <a:endParaRPr/>
          </a:p>
        </p:txBody>
      </p:sp>
      <p:sp>
        <p:nvSpPr>
          <p:cNvPr id="260" name="Google Shape;260;p34"/>
          <p:cNvSpPr txBox="1"/>
          <p:nvPr/>
        </p:nvSpPr>
        <p:spPr>
          <a:xfrm>
            <a:off x="432000" y="990300"/>
            <a:ext cx="8280000" cy="400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ja"/>
              <a:t>Q: (TO:OSPO組織</a:t>
            </a:r>
            <a:r>
              <a:rPr lang="ja">
                <a:solidFill>
                  <a:schemeClr val="dk1"/>
                </a:solidFill>
              </a:rPr>
              <a:t>を既に</a:t>
            </a:r>
            <a:r>
              <a:rPr lang="ja"/>
              <a:t>持っている企業)</a:t>
            </a:r>
            <a:r>
              <a:rPr lang="ja">
                <a:solidFill>
                  <a:schemeClr val="dk1"/>
                </a:solidFill>
              </a:rPr>
              <a:t>どうしてOSPOを作ったのですか？</a:t>
            </a:r>
            <a:endParaRPr/>
          </a:p>
        </p:txBody>
      </p:sp>
      <p:sp>
        <p:nvSpPr>
          <p:cNvPr id="261" name="Google Shape;261;p34"/>
          <p:cNvSpPr txBox="1"/>
          <p:nvPr/>
        </p:nvSpPr>
        <p:spPr>
          <a:xfrm>
            <a:off x="432000" y="1568425"/>
            <a:ext cx="8280000" cy="30870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r>
              <a:rPr lang="ja"/>
              <a:t>A:  </a:t>
            </a:r>
            <a:endParaRPr/>
          </a:p>
          <a:p>
            <a:pPr marL="0" lvl="0" indent="0" algn="l" rtl="0">
              <a:spcBef>
                <a:spcPts val="0"/>
              </a:spcBef>
              <a:spcAft>
                <a:spcPts val="0"/>
              </a:spcAft>
              <a:buNone/>
            </a:pPr>
            <a:endParaRPr/>
          </a:p>
          <a:p>
            <a:pPr marL="457200" lvl="0" indent="-310832" algn="l" rtl="0">
              <a:spcBef>
                <a:spcPts val="0"/>
              </a:spcBef>
              <a:spcAft>
                <a:spcPts val="0"/>
              </a:spcAft>
              <a:buSzPct val="100000"/>
              <a:buChar char="●"/>
            </a:pPr>
            <a:r>
              <a:rPr lang="ja"/>
              <a:t>他社事例を見ながら、自社で気が付いていない課題を見つけるところから始める</a:t>
            </a:r>
            <a:endParaRPr/>
          </a:p>
          <a:p>
            <a:pPr marL="457200" lvl="0" indent="-310832" algn="l" rtl="0">
              <a:spcBef>
                <a:spcPts val="0"/>
              </a:spcBef>
              <a:spcAft>
                <a:spcPts val="0"/>
              </a:spcAft>
              <a:buSzPct val="100000"/>
              <a:buChar char="●"/>
            </a:pPr>
            <a:r>
              <a:rPr lang="ja"/>
              <a:t>どうしてOSPOを作ったのか伝えるといい</a:t>
            </a:r>
            <a:endParaRPr/>
          </a:p>
          <a:p>
            <a:pPr marL="457200" lvl="0" indent="-310832" algn="l" rtl="0">
              <a:spcBef>
                <a:spcPts val="0"/>
              </a:spcBef>
              <a:spcAft>
                <a:spcPts val="0"/>
              </a:spcAft>
              <a:buSzPct val="100000"/>
              <a:buChar char="●"/>
            </a:pPr>
            <a:r>
              <a:rPr lang="ja"/>
              <a:t>初めてOSPOを作ろうと考えている方向けに回答を用意したい</a:t>
            </a:r>
            <a:endParaRPr/>
          </a:p>
          <a:p>
            <a:pPr marL="914400" lvl="1" indent="-310832" algn="l" rtl="0">
              <a:spcBef>
                <a:spcPts val="0"/>
              </a:spcBef>
              <a:spcAft>
                <a:spcPts val="0"/>
              </a:spcAft>
              <a:buSzPct val="100000"/>
              <a:buChar char="○"/>
            </a:pPr>
            <a:r>
              <a:rPr lang="ja"/>
              <a:t>(例)社内でOSPOを作ろうとしたときに、他社事例があると社内啓蒙がしやすい</a:t>
            </a:r>
            <a:endParaRPr/>
          </a:p>
          <a:p>
            <a:pPr marL="457200" lvl="0" indent="-310832" algn="l" rtl="0">
              <a:spcBef>
                <a:spcPts val="0"/>
              </a:spcBef>
              <a:spcAft>
                <a:spcPts val="0"/>
              </a:spcAft>
              <a:buSzPct val="100000"/>
              <a:buChar char="●"/>
            </a:pPr>
            <a:r>
              <a:rPr lang="ja"/>
              <a:t>OSPOの形は、それぞれの会社で異なってよい</a:t>
            </a:r>
            <a:endParaRPr/>
          </a:p>
          <a:p>
            <a:pPr marL="914400" lvl="1" indent="-310832" algn="l" rtl="0">
              <a:spcBef>
                <a:spcPts val="0"/>
              </a:spcBef>
              <a:spcAft>
                <a:spcPts val="0"/>
              </a:spcAft>
              <a:buSzPct val="100000"/>
              <a:buChar char="○"/>
            </a:pPr>
            <a:r>
              <a:rPr lang="ja"/>
              <a:t>OSPOを作りたい理由をはっきりさせるところから始めると良い</a:t>
            </a:r>
            <a:endParaRPr/>
          </a:p>
          <a:p>
            <a:pPr marL="457200" lvl="0" indent="-310832" algn="l" rtl="0">
              <a:spcBef>
                <a:spcPts val="0"/>
              </a:spcBef>
              <a:spcAft>
                <a:spcPts val="0"/>
              </a:spcAft>
              <a:buSzPct val="100000"/>
              <a:buChar char="●"/>
            </a:pPr>
            <a:r>
              <a:rPr lang="ja"/>
              <a:t>例えば</a:t>
            </a:r>
            <a:endParaRPr/>
          </a:p>
          <a:p>
            <a:pPr marL="914400" lvl="1" indent="-310832" algn="l" rtl="0">
              <a:spcBef>
                <a:spcPts val="0"/>
              </a:spcBef>
              <a:spcAft>
                <a:spcPts val="0"/>
              </a:spcAft>
              <a:buSzPct val="100000"/>
              <a:buChar char="○"/>
            </a:pPr>
            <a:r>
              <a:rPr lang="ja"/>
              <a:t>ソフトウェアハウス型企業A:</a:t>
            </a:r>
            <a:endParaRPr/>
          </a:p>
          <a:p>
            <a:pPr marL="1371600" lvl="2" indent="-310832" algn="l" rtl="0">
              <a:spcBef>
                <a:spcPts val="0"/>
              </a:spcBef>
              <a:spcAft>
                <a:spcPts val="0"/>
              </a:spcAft>
              <a:buSzPct val="100000"/>
              <a:buChar char="■"/>
            </a:pPr>
            <a:r>
              <a:rPr lang="ja"/>
              <a:t>主体は各組織。それをサポートするのがOSPO</a:t>
            </a:r>
            <a:endParaRPr/>
          </a:p>
          <a:p>
            <a:pPr marL="1371600" lvl="2" indent="-310832" algn="l" rtl="0">
              <a:spcBef>
                <a:spcPts val="0"/>
              </a:spcBef>
              <a:spcAft>
                <a:spcPts val="0"/>
              </a:spcAft>
              <a:buSzPct val="100000"/>
              <a:buChar char="■"/>
            </a:pPr>
            <a:r>
              <a:rPr lang="ja"/>
              <a:t>各部署にOSPOのメンバーがいて、仮想的に集まった組織としてOSPOがある</a:t>
            </a:r>
            <a:endParaRPr/>
          </a:p>
          <a:p>
            <a:pPr marL="457200" lvl="0" indent="-310832" algn="l" rtl="0">
              <a:spcBef>
                <a:spcPts val="0"/>
              </a:spcBef>
              <a:spcAft>
                <a:spcPts val="0"/>
              </a:spcAft>
              <a:buSzPct val="100000"/>
              <a:buChar char="●"/>
            </a:pPr>
            <a:r>
              <a:rPr lang="ja"/>
              <a:t>（ソフトウェアハウス型企業、非ソフトウェアハウス型企業、の場合で）</a:t>
            </a:r>
            <a:endParaRPr/>
          </a:p>
          <a:p>
            <a:pPr marL="457200" lvl="0" indent="-310832" algn="l" rtl="0">
              <a:spcBef>
                <a:spcPts val="0"/>
              </a:spcBef>
              <a:spcAft>
                <a:spcPts val="0"/>
              </a:spcAft>
              <a:buSzPct val="100000"/>
              <a:buChar char="●"/>
            </a:pPr>
            <a:r>
              <a:rPr lang="ja"/>
              <a:t>参考資料</a:t>
            </a:r>
            <a:endParaRPr/>
          </a:p>
          <a:p>
            <a:pPr marL="914400" lvl="1" indent="-310832" algn="l" rtl="0">
              <a:spcBef>
                <a:spcPts val="0"/>
              </a:spcBef>
              <a:spcAft>
                <a:spcPts val="0"/>
              </a:spcAft>
              <a:buSzPct val="100000"/>
              <a:buChar char="○"/>
            </a:pPr>
            <a:r>
              <a:rPr lang="ja" u="sng">
                <a:solidFill>
                  <a:schemeClr val="hlink"/>
                </a:solidFill>
                <a:hlinkClick r:id="rId3"/>
              </a:rPr>
              <a:t>https://www.linuxfoundation.jp/publications/2022/11/a-deep-dive-into-open-source-program-offices/</a:t>
            </a:r>
            <a:endParaRPr/>
          </a:p>
          <a:p>
            <a:pPr marL="914400" lvl="1" indent="-310832" algn="l" rtl="0">
              <a:spcBef>
                <a:spcPts val="0"/>
              </a:spcBef>
              <a:spcAft>
                <a:spcPts val="0"/>
              </a:spcAft>
              <a:buSzPct val="100000"/>
              <a:buChar char="○"/>
            </a:pPr>
            <a:r>
              <a:rPr lang="ja" u="sng">
                <a:solidFill>
                  <a:schemeClr val="hlink"/>
                </a:solidFill>
                <a:hlinkClick r:id="rId4"/>
              </a:rPr>
              <a:t>https://www.linuxfoundation.jp/wp-content/uploads/2022/11/ja_LFR_LFAID_Deep_Dive_Open_Source_Program_Offices_0830.pdf</a:t>
            </a:r>
            <a:endParaRPr/>
          </a:p>
          <a:p>
            <a:pPr marL="914400" lvl="1" indent="-310832" algn="l" rtl="0">
              <a:spcBef>
                <a:spcPts val="0"/>
              </a:spcBef>
              <a:spcAft>
                <a:spcPts val="0"/>
              </a:spcAft>
              <a:buSzPct val="100000"/>
              <a:buChar char="○"/>
            </a:pPr>
            <a:endParaRPr/>
          </a:p>
        </p:txBody>
      </p:sp>
      <p:sp>
        <p:nvSpPr>
          <p:cNvPr id="262" name="Google Shape;262;p34"/>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0" lvl="0" indent="0" algn="l" rtl="0">
              <a:spcBef>
                <a:spcPts val="0"/>
              </a:spcBef>
              <a:spcAft>
                <a:spcPts val="0"/>
              </a:spcAft>
              <a:buNone/>
            </a:pP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35"/>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a:t>Qx</a:t>
            </a:r>
            <a:endParaRPr/>
          </a:p>
        </p:txBody>
      </p:sp>
      <p:sp>
        <p:nvSpPr>
          <p:cNvPr id="268" name="Google Shape;268;p35"/>
          <p:cNvSpPr txBox="1"/>
          <p:nvPr/>
        </p:nvSpPr>
        <p:spPr>
          <a:xfrm>
            <a:off x="432000" y="990300"/>
            <a:ext cx="8280000" cy="400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ja"/>
              <a:t>Q: OSPOを作りたいのですが、何から手を付ければいいですか？</a:t>
            </a:r>
            <a:endParaRPr/>
          </a:p>
        </p:txBody>
      </p:sp>
      <p:sp>
        <p:nvSpPr>
          <p:cNvPr id="269" name="Google Shape;269;p35"/>
          <p:cNvSpPr txBox="1"/>
          <p:nvPr/>
        </p:nvSpPr>
        <p:spPr>
          <a:xfrm>
            <a:off x="432000" y="1568425"/>
            <a:ext cx="8280000" cy="30870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r>
              <a:rPr lang="ja"/>
              <a:t>A:  </a:t>
            </a:r>
            <a:endParaRPr/>
          </a:p>
          <a:p>
            <a:pPr marL="0" lvl="0" indent="0" algn="l" rtl="0">
              <a:spcBef>
                <a:spcPts val="0"/>
              </a:spcBef>
              <a:spcAft>
                <a:spcPts val="0"/>
              </a:spcAft>
              <a:buNone/>
            </a:pPr>
            <a:endParaRPr/>
          </a:p>
          <a:p>
            <a:pPr marL="457200" lvl="0" indent="-310832" algn="l" rtl="0">
              <a:spcBef>
                <a:spcPts val="0"/>
              </a:spcBef>
              <a:spcAft>
                <a:spcPts val="0"/>
              </a:spcAft>
              <a:buSzPct val="100000"/>
              <a:buChar char="●"/>
            </a:pPr>
            <a:r>
              <a:rPr lang="ja"/>
              <a:t>他社事例を見ながら、自社で気が付いていない課題を見つけるところから始める</a:t>
            </a:r>
            <a:endParaRPr/>
          </a:p>
          <a:p>
            <a:pPr marL="457200" lvl="0" indent="-310832" algn="l" rtl="0">
              <a:spcBef>
                <a:spcPts val="0"/>
              </a:spcBef>
              <a:spcAft>
                <a:spcPts val="0"/>
              </a:spcAft>
              <a:buSzPct val="100000"/>
              <a:buChar char="●"/>
            </a:pPr>
            <a:r>
              <a:rPr lang="ja"/>
              <a:t>どうしてOSPOを作ったのか伝えるといい</a:t>
            </a:r>
            <a:endParaRPr/>
          </a:p>
          <a:p>
            <a:pPr marL="457200" lvl="0" indent="-310832" algn="l" rtl="0">
              <a:spcBef>
                <a:spcPts val="0"/>
              </a:spcBef>
              <a:spcAft>
                <a:spcPts val="0"/>
              </a:spcAft>
              <a:buSzPct val="100000"/>
              <a:buChar char="●"/>
            </a:pPr>
            <a:r>
              <a:rPr lang="ja"/>
              <a:t>初めてOSPOを作ろうと考えている方向けに回答を用意したい</a:t>
            </a:r>
            <a:endParaRPr/>
          </a:p>
          <a:p>
            <a:pPr marL="914400" lvl="1" indent="-310832" algn="l" rtl="0">
              <a:spcBef>
                <a:spcPts val="0"/>
              </a:spcBef>
              <a:spcAft>
                <a:spcPts val="0"/>
              </a:spcAft>
              <a:buSzPct val="100000"/>
              <a:buChar char="○"/>
            </a:pPr>
            <a:r>
              <a:rPr lang="ja"/>
              <a:t>(例)社内でOSPOを作ろうとしたときに、他社事例があると社内啓蒙がしやすい</a:t>
            </a:r>
            <a:endParaRPr/>
          </a:p>
          <a:p>
            <a:pPr marL="457200" lvl="0" indent="-310832" algn="l" rtl="0">
              <a:spcBef>
                <a:spcPts val="0"/>
              </a:spcBef>
              <a:spcAft>
                <a:spcPts val="0"/>
              </a:spcAft>
              <a:buSzPct val="100000"/>
              <a:buChar char="●"/>
            </a:pPr>
            <a:r>
              <a:rPr lang="ja"/>
              <a:t>OSPOの形は、それぞれの会社で異なってよい</a:t>
            </a:r>
            <a:endParaRPr/>
          </a:p>
          <a:p>
            <a:pPr marL="914400" lvl="1" indent="-310832" algn="l" rtl="0">
              <a:spcBef>
                <a:spcPts val="0"/>
              </a:spcBef>
              <a:spcAft>
                <a:spcPts val="0"/>
              </a:spcAft>
              <a:buSzPct val="100000"/>
              <a:buChar char="○"/>
            </a:pPr>
            <a:r>
              <a:rPr lang="ja"/>
              <a:t>OSPOを作りたい理由をはっきりさせるところから始めると良い</a:t>
            </a:r>
            <a:endParaRPr/>
          </a:p>
          <a:p>
            <a:pPr marL="457200" lvl="0" indent="-310832" algn="l" rtl="0">
              <a:spcBef>
                <a:spcPts val="0"/>
              </a:spcBef>
              <a:spcAft>
                <a:spcPts val="0"/>
              </a:spcAft>
              <a:buSzPct val="100000"/>
              <a:buChar char="●"/>
            </a:pPr>
            <a:r>
              <a:rPr lang="ja"/>
              <a:t>例えば</a:t>
            </a:r>
            <a:endParaRPr/>
          </a:p>
          <a:p>
            <a:pPr marL="914400" lvl="1" indent="-310832" algn="l" rtl="0">
              <a:spcBef>
                <a:spcPts val="0"/>
              </a:spcBef>
              <a:spcAft>
                <a:spcPts val="0"/>
              </a:spcAft>
              <a:buSzPct val="100000"/>
              <a:buChar char="○"/>
            </a:pPr>
            <a:r>
              <a:rPr lang="ja"/>
              <a:t>ソフトウェアハウス型企業A:</a:t>
            </a:r>
            <a:endParaRPr/>
          </a:p>
          <a:p>
            <a:pPr marL="1371600" lvl="2" indent="-310832" algn="l" rtl="0">
              <a:spcBef>
                <a:spcPts val="0"/>
              </a:spcBef>
              <a:spcAft>
                <a:spcPts val="0"/>
              </a:spcAft>
              <a:buSzPct val="100000"/>
              <a:buChar char="■"/>
            </a:pPr>
            <a:r>
              <a:rPr lang="ja"/>
              <a:t>主体は各組織。それをサポートするのがOSPO</a:t>
            </a:r>
            <a:endParaRPr/>
          </a:p>
          <a:p>
            <a:pPr marL="1371600" lvl="2" indent="-310832" algn="l" rtl="0">
              <a:spcBef>
                <a:spcPts val="0"/>
              </a:spcBef>
              <a:spcAft>
                <a:spcPts val="0"/>
              </a:spcAft>
              <a:buSzPct val="100000"/>
              <a:buChar char="■"/>
            </a:pPr>
            <a:r>
              <a:rPr lang="ja"/>
              <a:t>各部署にOSPOのメンバーがいて、仮想的に集まった組織としてOSPOがある</a:t>
            </a:r>
            <a:endParaRPr/>
          </a:p>
          <a:p>
            <a:pPr marL="457200" lvl="0" indent="-310832" algn="l" rtl="0">
              <a:spcBef>
                <a:spcPts val="0"/>
              </a:spcBef>
              <a:spcAft>
                <a:spcPts val="0"/>
              </a:spcAft>
              <a:buSzPct val="100000"/>
              <a:buChar char="●"/>
            </a:pPr>
            <a:r>
              <a:rPr lang="ja"/>
              <a:t>（ソフトウェアハウス型企業、非ソフトウェアハウス型企業、の場合で）</a:t>
            </a:r>
            <a:endParaRPr/>
          </a:p>
          <a:p>
            <a:pPr marL="457200" lvl="0" indent="-310832" algn="l" rtl="0">
              <a:spcBef>
                <a:spcPts val="0"/>
              </a:spcBef>
              <a:spcAft>
                <a:spcPts val="0"/>
              </a:spcAft>
              <a:buSzPct val="100000"/>
              <a:buChar char="●"/>
            </a:pPr>
            <a:r>
              <a:rPr lang="ja"/>
              <a:t>参考資料</a:t>
            </a:r>
            <a:endParaRPr/>
          </a:p>
          <a:p>
            <a:pPr marL="914400" lvl="1" indent="-310832" algn="l" rtl="0">
              <a:spcBef>
                <a:spcPts val="0"/>
              </a:spcBef>
              <a:spcAft>
                <a:spcPts val="0"/>
              </a:spcAft>
              <a:buSzPct val="100000"/>
              <a:buChar char="○"/>
            </a:pPr>
            <a:r>
              <a:rPr lang="ja" u="sng">
                <a:solidFill>
                  <a:schemeClr val="hlink"/>
                </a:solidFill>
                <a:hlinkClick r:id="rId3"/>
              </a:rPr>
              <a:t>https://www.linuxfoundation.jp/publications/2022/11/a-deep-dive-into-open-source-program-offices/</a:t>
            </a:r>
            <a:endParaRPr/>
          </a:p>
          <a:p>
            <a:pPr marL="914400" lvl="1" indent="-310832" algn="l" rtl="0">
              <a:spcBef>
                <a:spcPts val="0"/>
              </a:spcBef>
              <a:spcAft>
                <a:spcPts val="0"/>
              </a:spcAft>
              <a:buSzPct val="100000"/>
              <a:buChar char="○"/>
            </a:pPr>
            <a:r>
              <a:rPr lang="ja" u="sng">
                <a:solidFill>
                  <a:schemeClr val="hlink"/>
                </a:solidFill>
                <a:hlinkClick r:id="rId4"/>
              </a:rPr>
              <a:t>https://www.linuxfoundation.jp/wp-content/uploads/2022/11/ja_LFR_LFAID_Deep_Dive_Open_Source_Program_Offices_0830.pdf</a:t>
            </a:r>
            <a:endParaRPr/>
          </a:p>
          <a:p>
            <a:pPr marL="914400" lvl="1" indent="-310832" algn="l" rtl="0">
              <a:spcBef>
                <a:spcPts val="0"/>
              </a:spcBef>
              <a:spcAft>
                <a:spcPts val="0"/>
              </a:spcAft>
              <a:buSzPct val="100000"/>
              <a:buChar char="○"/>
            </a:pPr>
            <a:endParaRPr/>
          </a:p>
        </p:txBody>
      </p:sp>
      <p:sp>
        <p:nvSpPr>
          <p:cNvPr id="270" name="Google Shape;270;p35"/>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0" lvl="0" indent="0" algn="l" rtl="0">
              <a:spcBef>
                <a:spcPts val="0"/>
              </a:spcBef>
              <a:spcAft>
                <a:spcPts val="0"/>
              </a:spcAft>
              <a:buNone/>
            </a:pP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36"/>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a:t>Q1</a:t>
            </a:r>
            <a:endParaRPr/>
          </a:p>
        </p:txBody>
      </p:sp>
      <p:sp>
        <p:nvSpPr>
          <p:cNvPr id="276" name="Google Shape;276;p36"/>
          <p:cNvSpPr txBox="1"/>
          <p:nvPr/>
        </p:nvSpPr>
        <p:spPr>
          <a:xfrm>
            <a:off x="432000" y="990300"/>
            <a:ext cx="8280000" cy="400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ja"/>
              <a:t>Q: OSPOの組織構成やメンバ構成は？</a:t>
            </a:r>
            <a:endParaRPr/>
          </a:p>
        </p:txBody>
      </p:sp>
      <p:sp>
        <p:nvSpPr>
          <p:cNvPr id="277" name="Google Shape;277;p36"/>
          <p:cNvSpPr txBox="1"/>
          <p:nvPr/>
        </p:nvSpPr>
        <p:spPr>
          <a:xfrm>
            <a:off x="432000" y="1568425"/>
            <a:ext cx="8280000" cy="30870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rmAutofit lnSpcReduction="20000"/>
          </a:bodyPr>
          <a:lstStyle/>
          <a:p>
            <a:pPr marL="0" lvl="0" indent="0" algn="l" rtl="0">
              <a:spcBef>
                <a:spcPts val="0"/>
              </a:spcBef>
              <a:spcAft>
                <a:spcPts val="0"/>
              </a:spcAft>
              <a:buNone/>
            </a:pPr>
            <a:r>
              <a:rPr lang="ja"/>
              <a:t>A:  </a:t>
            </a:r>
            <a:endParaRPr/>
          </a:p>
          <a:p>
            <a:pPr marL="0" lvl="0" indent="0" algn="l" rtl="0">
              <a:spcBef>
                <a:spcPts val="0"/>
              </a:spcBef>
              <a:spcAft>
                <a:spcPts val="0"/>
              </a:spcAft>
              <a:buNone/>
            </a:pPr>
            <a:endParaRPr/>
          </a:p>
          <a:p>
            <a:pPr marL="457200" lvl="0" indent="-317500" algn="l" rtl="0">
              <a:spcBef>
                <a:spcPts val="0"/>
              </a:spcBef>
              <a:spcAft>
                <a:spcPts val="0"/>
              </a:spcAft>
              <a:buSzPts val="1400"/>
              <a:buChar char="●"/>
            </a:pPr>
            <a:r>
              <a:rPr lang="ja"/>
              <a:t>初めてOSPOを作ろうと考えている方向けに回答を用意したい</a:t>
            </a:r>
            <a:endParaRPr/>
          </a:p>
          <a:p>
            <a:pPr marL="914400" lvl="1" indent="-317500" algn="l" rtl="0">
              <a:spcBef>
                <a:spcPts val="0"/>
              </a:spcBef>
              <a:spcAft>
                <a:spcPts val="0"/>
              </a:spcAft>
              <a:buSzPts val="1400"/>
              <a:buChar char="○"/>
            </a:pPr>
            <a:r>
              <a:rPr lang="ja"/>
              <a:t>(例)社内でOSPOを作ろうとしたときに、他社事例があると社内啓蒙がしやすい</a:t>
            </a:r>
            <a:endParaRPr/>
          </a:p>
          <a:p>
            <a:pPr marL="457200" lvl="0" indent="-317500" algn="l" rtl="0">
              <a:spcBef>
                <a:spcPts val="0"/>
              </a:spcBef>
              <a:spcAft>
                <a:spcPts val="0"/>
              </a:spcAft>
              <a:buSzPts val="1400"/>
              <a:buChar char="●"/>
            </a:pPr>
            <a:r>
              <a:rPr lang="ja"/>
              <a:t>OSPOの形は、それぞれの会社で異なってよい</a:t>
            </a:r>
            <a:endParaRPr/>
          </a:p>
          <a:p>
            <a:pPr marL="914400" lvl="1" indent="-317500" algn="l" rtl="0">
              <a:spcBef>
                <a:spcPts val="0"/>
              </a:spcBef>
              <a:spcAft>
                <a:spcPts val="0"/>
              </a:spcAft>
              <a:buSzPts val="1400"/>
              <a:buChar char="○"/>
            </a:pPr>
            <a:r>
              <a:rPr lang="ja"/>
              <a:t>OSPOを作りたい理由をはっきりさせるところから始めると良い</a:t>
            </a:r>
            <a:endParaRPr/>
          </a:p>
          <a:p>
            <a:pPr marL="457200" lvl="0" indent="-317500" algn="l" rtl="0">
              <a:spcBef>
                <a:spcPts val="0"/>
              </a:spcBef>
              <a:spcAft>
                <a:spcPts val="0"/>
              </a:spcAft>
              <a:buSzPts val="1400"/>
              <a:buChar char="●"/>
            </a:pPr>
            <a:r>
              <a:rPr lang="ja"/>
              <a:t>例えば</a:t>
            </a:r>
            <a:endParaRPr/>
          </a:p>
          <a:p>
            <a:pPr marL="914400" lvl="1" indent="-317500" algn="l" rtl="0">
              <a:spcBef>
                <a:spcPts val="0"/>
              </a:spcBef>
              <a:spcAft>
                <a:spcPts val="0"/>
              </a:spcAft>
              <a:buSzPts val="1400"/>
              <a:buChar char="○"/>
            </a:pPr>
            <a:r>
              <a:rPr lang="ja"/>
              <a:t>ソフトウェアハウス型企業A:</a:t>
            </a:r>
            <a:endParaRPr/>
          </a:p>
          <a:p>
            <a:pPr marL="1371600" lvl="2" indent="-317500" algn="l" rtl="0">
              <a:spcBef>
                <a:spcPts val="0"/>
              </a:spcBef>
              <a:spcAft>
                <a:spcPts val="0"/>
              </a:spcAft>
              <a:buSzPts val="1400"/>
              <a:buChar char="■"/>
            </a:pPr>
            <a:r>
              <a:rPr lang="ja"/>
              <a:t>主体は各組織。それをサポートするのがOSPO</a:t>
            </a:r>
            <a:endParaRPr/>
          </a:p>
          <a:p>
            <a:pPr marL="1371600" lvl="2" indent="-317500" algn="l" rtl="0">
              <a:spcBef>
                <a:spcPts val="0"/>
              </a:spcBef>
              <a:spcAft>
                <a:spcPts val="0"/>
              </a:spcAft>
              <a:buSzPts val="1400"/>
              <a:buChar char="■"/>
            </a:pPr>
            <a:r>
              <a:rPr lang="ja"/>
              <a:t>各部署にOSPOのメンバーがいて、仮想的に集まった組織としてOSPOがある</a:t>
            </a:r>
            <a:endParaRPr/>
          </a:p>
          <a:p>
            <a:pPr marL="457200" lvl="0" indent="-317500" algn="l" rtl="0">
              <a:spcBef>
                <a:spcPts val="0"/>
              </a:spcBef>
              <a:spcAft>
                <a:spcPts val="0"/>
              </a:spcAft>
              <a:buSzPts val="1400"/>
              <a:buChar char="●"/>
            </a:pPr>
            <a:r>
              <a:rPr lang="ja"/>
              <a:t>（ソフトウェアハウス型企業、非ソフトウェアハウス型企業、の場合で）</a:t>
            </a:r>
            <a:endParaRPr/>
          </a:p>
          <a:p>
            <a:pPr marL="457200" lvl="0" indent="-317500" algn="l" rtl="0">
              <a:spcBef>
                <a:spcPts val="0"/>
              </a:spcBef>
              <a:spcAft>
                <a:spcPts val="0"/>
              </a:spcAft>
              <a:buSzPts val="1400"/>
              <a:buChar char="●"/>
            </a:pPr>
            <a:r>
              <a:rPr lang="ja"/>
              <a:t>参考資料</a:t>
            </a:r>
            <a:endParaRPr/>
          </a:p>
          <a:p>
            <a:pPr marL="914400" lvl="1" indent="-317500" algn="l" rtl="0">
              <a:spcBef>
                <a:spcPts val="0"/>
              </a:spcBef>
              <a:spcAft>
                <a:spcPts val="0"/>
              </a:spcAft>
              <a:buSzPts val="1400"/>
              <a:buChar char="○"/>
            </a:pPr>
            <a:r>
              <a:rPr lang="ja" u="sng">
                <a:solidFill>
                  <a:schemeClr val="hlink"/>
                </a:solidFill>
                <a:hlinkClick r:id="rId3"/>
              </a:rPr>
              <a:t>https://www.linuxfoundation.jp/publications/2022/11/a-deep-dive-into-open-source-program-offices/</a:t>
            </a:r>
            <a:endParaRPr/>
          </a:p>
          <a:p>
            <a:pPr marL="914400" lvl="1" indent="-317500" algn="l" rtl="0">
              <a:spcBef>
                <a:spcPts val="0"/>
              </a:spcBef>
              <a:spcAft>
                <a:spcPts val="0"/>
              </a:spcAft>
              <a:buSzPts val="1400"/>
              <a:buChar char="○"/>
            </a:pPr>
            <a:r>
              <a:rPr lang="ja" u="sng">
                <a:solidFill>
                  <a:schemeClr val="hlink"/>
                </a:solidFill>
                <a:hlinkClick r:id="rId4"/>
              </a:rPr>
              <a:t>https://www.linuxfoundation.jp/wp-content/uploads/2022/11/ja_LFR_LFAID_Deep_Dive_Open_Source_Program_Offices_0830.pdf</a:t>
            </a:r>
            <a:endParaRPr/>
          </a:p>
          <a:p>
            <a:pPr marL="914400" lvl="1" indent="-317500" algn="l" rtl="0">
              <a:spcBef>
                <a:spcPts val="0"/>
              </a:spcBef>
              <a:spcAft>
                <a:spcPts val="0"/>
              </a:spcAft>
              <a:buSzPts val="1400"/>
              <a:buChar char="○"/>
            </a:pPr>
            <a:endParaRPr/>
          </a:p>
        </p:txBody>
      </p:sp>
      <p:sp>
        <p:nvSpPr>
          <p:cNvPr id="278" name="Google Shape;278;p36"/>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0" lvl="0" indent="0" algn="l" rtl="0">
              <a:spcBef>
                <a:spcPts val="0"/>
              </a:spcBef>
              <a:spcAft>
                <a:spcPts val="0"/>
              </a:spcAft>
              <a:buNone/>
            </a:pP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37"/>
          <p:cNvSpPr txBox="1">
            <a:spLocks noGrp="1"/>
          </p:cNvSpPr>
          <p:nvPr>
            <p:ph type="title"/>
          </p:nvPr>
        </p:nvSpPr>
        <p:spPr>
          <a:xfrm>
            <a:off x="311700" y="445025"/>
            <a:ext cx="85206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ja"/>
              <a:t>Q1の参考リンク</a:t>
            </a:r>
            <a:endParaRPr/>
          </a:p>
        </p:txBody>
      </p:sp>
      <p:sp>
        <p:nvSpPr>
          <p:cNvPr id="284" name="Google Shape;284;p3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ja"/>
              <a:t>A Deep Dive into Open Source Program Offices: Structure, Roles, Responsibilities, and Challenges</a:t>
            </a:r>
            <a:endParaRPr/>
          </a:p>
          <a:p>
            <a:pPr marL="914400" lvl="1" indent="-317500" algn="l" rtl="0">
              <a:spcBef>
                <a:spcPts val="0"/>
              </a:spcBef>
              <a:spcAft>
                <a:spcPts val="0"/>
              </a:spcAft>
              <a:buSzPts val="1400"/>
              <a:buChar char="○"/>
            </a:pPr>
            <a:r>
              <a:rPr lang="ja" u="sng">
                <a:solidFill>
                  <a:schemeClr val="hlink"/>
                </a:solidFill>
                <a:hlinkClick r:id="rId3"/>
              </a:rPr>
              <a:t>https://www.linuxfoundation.org/research/a-deep-dive-into-open-source-program-offices</a:t>
            </a:r>
            <a:endParaRPr/>
          </a:p>
          <a:p>
            <a:pPr marL="457200" lvl="0" indent="-317500" algn="l" rtl="0">
              <a:spcBef>
                <a:spcPts val="0"/>
              </a:spcBef>
              <a:spcAft>
                <a:spcPts val="0"/>
              </a:spcAft>
              <a:buSzPts val="1400"/>
              <a:buChar char="●"/>
            </a:pPr>
            <a:r>
              <a:rPr lang="ja"/>
              <a:t>深層考察：『オープンソース プログラム オフィス』組織構成、役割、責務、および課題</a:t>
            </a:r>
            <a:endParaRPr/>
          </a:p>
          <a:p>
            <a:pPr marL="914400" lvl="1" indent="-317500" algn="l" rtl="0">
              <a:spcBef>
                <a:spcPts val="0"/>
              </a:spcBef>
              <a:spcAft>
                <a:spcPts val="0"/>
              </a:spcAft>
              <a:buSzPts val="1400"/>
              <a:buChar char="○"/>
            </a:pPr>
            <a:r>
              <a:rPr lang="ja" u="sng">
                <a:solidFill>
                  <a:schemeClr val="hlink"/>
                </a:solidFill>
                <a:hlinkClick r:id="rId4"/>
              </a:rPr>
              <a:t>https://www.linuxfoundation.jp/blog/2022/11/japanese-version-of-a-deep-dive-into-open-source-program-offices-launch/</a:t>
            </a:r>
            <a:endParaRPr/>
          </a:p>
          <a:p>
            <a:pPr marL="457200" lvl="0" indent="-317500" algn="l" rtl="0">
              <a:spcBef>
                <a:spcPts val="0"/>
              </a:spcBef>
              <a:spcAft>
                <a:spcPts val="0"/>
              </a:spcAft>
              <a:buSzPts val="1400"/>
              <a:buChar char="●"/>
            </a:pPr>
            <a:r>
              <a:rPr lang="ja"/>
              <a:t>Creating an Open Source Program</a:t>
            </a:r>
            <a:endParaRPr/>
          </a:p>
          <a:p>
            <a:pPr marL="914400" lvl="1" indent="-317500" algn="l" rtl="0">
              <a:spcBef>
                <a:spcPts val="0"/>
              </a:spcBef>
              <a:spcAft>
                <a:spcPts val="0"/>
              </a:spcAft>
              <a:buSzPts val="1400"/>
              <a:buChar char="○"/>
            </a:pPr>
            <a:r>
              <a:rPr lang="ja" u="sng">
                <a:solidFill>
                  <a:schemeClr val="hlink"/>
                </a:solidFill>
                <a:hlinkClick r:id="rId5"/>
              </a:rPr>
              <a:t>https://www.linuxfoundation.org/resources/open-source-guides/creating-an-open-source-program?hsLang=en</a:t>
            </a:r>
            <a:endParaRPr/>
          </a:p>
          <a:p>
            <a:pPr marL="457200" lvl="0" indent="-317500" algn="l" rtl="0">
              <a:spcBef>
                <a:spcPts val="0"/>
              </a:spcBef>
              <a:spcAft>
                <a:spcPts val="0"/>
              </a:spcAft>
              <a:buClr>
                <a:schemeClr val="dk1"/>
              </a:buClr>
              <a:buSzPts val="1400"/>
              <a:buChar char="●"/>
            </a:pPr>
            <a:r>
              <a:rPr lang="ja">
                <a:solidFill>
                  <a:schemeClr val="dk1"/>
                </a:solidFill>
              </a:rPr>
              <a:t>オープンソースプログラムの作成</a:t>
            </a:r>
            <a:endParaRPr>
              <a:solidFill>
                <a:schemeClr val="dk1"/>
              </a:solidFill>
            </a:endParaRPr>
          </a:p>
          <a:p>
            <a:pPr marL="914400" lvl="1" indent="-317500" algn="l" rtl="0">
              <a:spcBef>
                <a:spcPts val="0"/>
              </a:spcBef>
              <a:spcAft>
                <a:spcPts val="0"/>
              </a:spcAft>
              <a:buClr>
                <a:schemeClr val="dk1"/>
              </a:buClr>
              <a:buSzPts val="1400"/>
              <a:buChar char="○"/>
            </a:pPr>
            <a:r>
              <a:rPr lang="ja" u="sng">
                <a:solidFill>
                  <a:schemeClr val="hlink"/>
                </a:solidFill>
                <a:hlinkClick r:id="rId6"/>
              </a:rPr>
              <a:t>https://www.linuxfoundation.jp/resources/open-source-guides/creating-an-open-source-program/</a:t>
            </a:r>
            <a:endParaRPr/>
          </a:p>
          <a:p>
            <a:pPr marL="457200" lvl="0" indent="-317500" algn="l" rtl="0">
              <a:spcBef>
                <a:spcPts val="0"/>
              </a:spcBef>
              <a:spcAft>
                <a:spcPts val="0"/>
              </a:spcAft>
              <a:buSzPts val="1400"/>
              <a:buChar char="●"/>
            </a:pPr>
            <a:r>
              <a:rPr lang="ja"/>
              <a:t>OSPO 101 Training Modules</a:t>
            </a:r>
            <a:endParaRPr/>
          </a:p>
          <a:p>
            <a:pPr marL="914400" lvl="1" indent="-317500" algn="l" rtl="0">
              <a:spcBef>
                <a:spcPts val="0"/>
              </a:spcBef>
              <a:spcAft>
                <a:spcPts val="0"/>
              </a:spcAft>
              <a:buSzPts val="1400"/>
              <a:buChar char="○"/>
            </a:pPr>
            <a:r>
              <a:rPr lang="ja" u="sng">
                <a:solidFill>
                  <a:schemeClr val="hlink"/>
                </a:solidFill>
                <a:hlinkClick r:id="rId7"/>
              </a:rPr>
              <a:t>https://github.com/todogroup/ospo-career-path/tree/main/OSPO-101</a:t>
            </a:r>
            <a:endParaRPr/>
          </a:p>
          <a:p>
            <a:pPr marL="457200" lvl="0" indent="-317500" algn="l" rtl="0">
              <a:spcBef>
                <a:spcPts val="0"/>
              </a:spcBef>
              <a:spcAft>
                <a:spcPts val="0"/>
              </a:spcAft>
              <a:buSzPts val="1400"/>
              <a:buChar char="●"/>
            </a:pPr>
            <a:r>
              <a:rPr lang="ja"/>
              <a:t>Open Source Program Office （OSPO）の進化</a:t>
            </a:r>
            <a:endParaRPr/>
          </a:p>
          <a:p>
            <a:pPr marL="914400" lvl="1" indent="-317500" algn="l" rtl="0">
              <a:spcBef>
                <a:spcPts val="0"/>
              </a:spcBef>
              <a:spcAft>
                <a:spcPts val="0"/>
              </a:spcAft>
              <a:buSzPts val="1400"/>
              <a:buChar char="○"/>
            </a:pPr>
            <a:r>
              <a:rPr lang="ja" u="sng">
                <a:solidFill>
                  <a:schemeClr val="hlink"/>
                </a:solidFill>
                <a:hlinkClick r:id="rId8"/>
              </a:rPr>
              <a:t>https://www.linuxfoundation.jp/wp-content/uploads//2022/08/LFResearch_OSPO_Report-jp.pdf</a:t>
            </a:r>
            <a:endParaRPr/>
          </a:p>
          <a:p>
            <a:pPr marL="457200" lvl="0" indent="0" algn="l" rtl="0">
              <a:spcBef>
                <a:spcPts val="0"/>
              </a:spcBef>
              <a:spcAft>
                <a:spcPts val="0"/>
              </a:spcAft>
              <a:buNone/>
            </a:pP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38"/>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a:t>Question 候補（青字はMTG中に追記したもの）</a:t>
            </a:r>
            <a:endParaRPr/>
          </a:p>
        </p:txBody>
      </p:sp>
      <p:sp>
        <p:nvSpPr>
          <p:cNvPr id="290" name="Google Shape;290;p38"/>
          <p:cNvSpPr txBox="1"/>
          <p:nvPr/>
        </p:nvSpPr>
        <p:spPr>
          <a:xfrm>
            <a:off x="432100" y="918350"/>
            <a:ext cx="8280000" cy="3897900"/>
          </a:xfrm>
          <a:prstGeom prst="rect">
            <a:avLst/>
          </a:prstGeom>
          <a:noFill/>
          <a:ln>
            <a:noFill/>
          </a:ln>
        </p:spPr>
        <p:txBody>
          <a:bodyPr spcFirstLastPara="1" wrap="square" lIns="91425" tIns="91425" rIns="91425" bIns="91425" anchor="t" anchorCtr="0">
            <a:normAutofit fontScale="70000" lnSpcReduction="20000"/>
          </a:bodyPr>
          <a:lstStyle/>
          <a:p>
            <a:pPr marL="457200" lvl="0" indent="-290830" algn="l" rtl="0">
              <a:lnSpc>
                <a:spcPct val="110000"/>
              </a:lnSpc>
              <a:spcBef>
                <a:spcPts val="0"/>
              </a:spcBef>
              <a:spcAft>
                <a:spcPts val="0"/>
              </a:spcAft>
              <a:buClr>
                <a:srgbClr val="0000FF"/>
              </a:buClr>
              <a:buSzPct val="100000"/>
              <a:buAutoNum type="arabicPeriod"/>
            </a:pPr>
            <a:r>
              <a:rPr lang="ja">
                <a:solidFill>
                  <a:srgbClr val="0000FF"/>
                </a:solidFill>
              </a:rPr>
              <a:t>OSSの管理はなぜ必要なのですか？（なぜ今更、既にOSSは多く使われているのに）</a:t>
            </a:r>
            <a:r>
              <a:rPr lang="ja" u="sng">
                <a:solidFill>
                  <a:schemeClr val="hlink"/>
                </a:solidFill>
                <a:hlinkClick r:id="rId3" action="ppaction://hlinksldjump"/>
              </a:rPr>
              <a:t>スライドリンク</a:t>
            </a:r>
            <a:endParaRPr>
              <a:solidFill>
                <a:srgbClr val="0000FF"/>
              </a:solidFill>
            </a:endParaRPr>
          </a:p>
          <a:p>
            <a:pPr marL="457200" lvl="0" indent="-290830" algn="l" rtl="0">
              <a:lnSpc>
                <a:spcPct val="110000"/>
              </a:lnSpc>
              <a:spcBef>
                <a:spcPts val="0"/>
              </a:spcBef>
              <a:spcAft>
                <a:spcPts val="0"/>
              </a:spcAft>
              <a:buClr>
                <a:srgbClr val="0000FF"/>
              </a:buClr>
              <a:buSzPct val="100000"/>
              <a:buAutoNum type="arabicPeriod"/>
            </a:pPr>
            <a:r>
              <a:rPr lang="ja">
                <a:solidFill>
                  <a:srgbClr val="0000FF"/>
                </a:solidFill>
              </a:rPr>
              <a:t>OSPOって何ですか？</a:t>
            </a:r>
            <a:endParaRPr>
              <a:solidFill>
                <a:srgbClr val="0000FF"/>
              </a:solidFill>
            </a:endParaRPr>
          </a:p>
          <a:p>
            <a:pPr marL="457200" lvl="0" indent="-290830" algn="l" rtl="0">
              <a:lnSpc>
                <a:spcPct val="110000"/>
              </a:lnSpc>
              <a:spcBef>
                <a:spcPts val="0"/>
              </a:spcBef>
              <a:spcAft>
                <a:spcPts val="0"/>
              </a:spcAft>
              <a:buClr>
                <a:srgbClr val="0000FF"/>
              </a:buClr>
              <a:buSzPct val="100000"/>
              <a:buAutoNum type="arabicPeriod"/>
            </a:pPr>
            <a:r>
              <a:rPr lang="ja">
                <a:solidFill>
                  <a:srgbClr val="0000FF"/>
                </a:solidFill>
              </a:rPr>
              <a:t>(TO:OSPO組織を既に持っている企業)どうしてOSPOを作ったのですか？</a:t>
            </a:r>
            <a:endParaRPr>
              <a:solidFill>
                <a:srgbClr val="0000FF"/>
              </a:solidFill>
            </a:endParaRPr>
          </a:p>
          <a:p>
            <a:pPr marL="457200" lvl="0" indent="-290830" algn="l" rtl="0">
              <a:spcBef>
                <a:spcPts val="0"/>
              </a:spcBef>
              <a:spcAft>
                <a:spcPts val="0"/>
              </a:spcAft>
              <a:buClr>
                <a:srgbClr val="0000FF"/>
              </a:buClr>
              <a:buSzPct val="100000"/>
              <a:buAutoNum type="arabicPeriod"/>
            </a:pPr>
            <a:r>
              <a:rPr lang="ja">
                <a:solidFill>
                  <a:srgbClr val="0000FF"/>
                </a:solidFill>
              </a:rPr>
              <a:t>OSPOを作りたいのですが、何から手を付ければいいですか？</a:t>
            </a:r>
            <a:endParaRPr>
              <a:solidFill>
                <a:srgbClr val="0000FF"/>
              </a:solidFill>
            </a:endParaRPr>
          </a:p>
          <a:p>
            <a:pPr marL="457200" lvl="0" indent="-290830" algn="l" rtl="0">
              <a:lnSpc>
                <a:spcPct val="110000"/>
              </a:lnSpc>
              <a:spcBef>
                <a:spcPts val="0"/>
              </a:spcBef>
              <a:spcAft>
                <a:spcPts val="0"/>
              </a:spcAft>
              <a:buSzPct val="100000"/>
              <a:buAutoNum type="arabicPeriod"/>
            </a:pPr>
            <a:r>
              <a:rPr lang="ja"/>
              <a:t>OSPOの組織構成やメンバ構成は？ </a:t>
            </a:r>
            <a:endParaRPr/>
          </a:p>
          <a:p>
            <a:pPr marL="914400" lvl="1" indent="-290830" algn="l" rtl="0">
              <a:lnSpc>
                <a:spcPct val="110000"/>
              </a:lnSpc>
              <a:spcBef>
                <a:spcPts val="0"/>
              </a:spcBef>
              <a:spcAft>
                <a:spcPts val="0"/>
              </a:spcAft>
              <a:buSzPct val="100000"/>
              <a:buAutoNum type="alphaLcPeriod"/>
            </a:pPr>
            <a:r>
              <a:rPr lang="ja"/>
              <a:t>（ソフトウェアハウス型企業、非ソフトウェアハウス型企業、の場合で）  </a:t>
            </a:r>
            <a:endParaRPr/>
          </a:p>
          <a:p>
            <a:pPr marL="457200" lvl="0" indent="-290830" algn="l" rtl="0">
              <a:lnSpc>
                <a:spcPct val="110000"/>
              </a:lnSpc>
              <a:spcBef>
                <a:spcPts val="0"/>
              </a:spcBef>
              <a:spcAft>
                <a:spcPts val="0"/>
              </a:spcAft>
              <a:buSzPct val="100000"/>
              <a:buAutoNum type="arabicPeriod"/>
            </a:pPr>
            <a:r>
              <a:rPr lang="ja"/>
              <a:t>OSPOの組織や権限はどうなっている？ </a:t>
            </a:r>
            <a:endParaRPr/>
          </a:p>
          <a:p>
            <a:pPr marL="914400" lvl="1" indent="-290830" algn="l" rtl="0">
              <a:lnSpc>
                <a:spcPct val="110000"/>
              </a:lnSpc>
              <a:spcBef>
                <a:spcPts val="0"/>
              </a:spcBef>
              <a:spcAft>
                <a:spcPts val="0"/>
              </a:spcAft>
              <a:buSzPct val="100000"/>
              <a:buAutoNum type="alphaLcPeriod"/>
            </a:pPr>
            <a:r>
              <a:rPr lang="ja"/>
              <a:t>（OSPO予算、OSPOレポートライン、OSPO既定の社内ルール違反時の対応、など） </a:t>
            </a:r>
            <a:endParaRPr/>
          </a:p>
          <a:p>
            <a:pPr marL="457200" lvl="0" indent="-290830" algn="l" rtl="0">
              <a:lnSpc>
                <a:spcPct val="110000"/>
              </a:lnSpc>
              <a:spcBef>
                <a:spcPts val="0"/>
              </a:spcBef>
              <a:spcAft>
                <a:spcPts val="0"/>
              </a:spcAft>
              <a:buSzPct val="100000"/>
              <a:buAutoNum type="arabicPeriod"/>
            </a:pPr>
            <a:r>
              <a:rPr lang="ja"/>
              <a:t>SBOMをソフトウェア納入者に要求している？ </a:t>
            </a:r>
            <a:endParaRPr/>
          </a:p>
          <a:p>
            <a:pPr marL="914400" lvl="1" indent="-290830" algn="l" rtl="0">
              <a:lnSpc>
                <a:spcPct val="110000"/>
              </a:lnSpc>
              <a:spcBef>
                <a:spcPts val="0"/>
              </a:spcBef>
              <a:spcAft>
                <a:spcPts val="0"/>
              </a:spcAft>
              <a:buSzPct val="100000"/>
              <a:buAutoNum type="alphaLcPeriod"/>
            </a:pPr>
            <a:r>
              <a:rPr lang="ja"/>
              <a:t>（タイミングは？ フォーマットは？ 内容確認は？ 更新頻度は？ 更新を要求してる？） </a:t>
            </a:r>
            <a:endParaRPr/>
          </a:p>
          <a:p>
            <a:pPr marL="457200" lvl="0" indent="-290830" algn="l" rtl="0">
              <a:lnSpc>
                <a:spcPct val="110000"/>
              </a:lnSpc>
              <a:spcBef>
                <a:spcPts val="0"/>
              </a:spcBef>
              <a:spcAft>
                <a:spcPts val="0"/>
              </a:spcAft>
              <a:buSzPct val="100000"/>
              <a:buAutoNum type="arabicPeriod"/>
            </a:pPr>
            <a:r>
              <a:rPr lang="ja"/>
              <a:t>SBOM管理のツールは足りてる？</a:t>
            </a:r>
            <a:endParaRPr/>
          </a:p>
          <a:p>
            <a:pPr marL="914400" lvl="1" indent="-290830" algn="l" rtl="0">
              <a:lnSpc>
                <a:spcPct val="110000"/>
              </a:lnSpc>
              <a:spcBef>
                <a:spcPts val="0"/>
              </a:spcBef>
              <a:spcAft>
                <a:spcPts val="0"/>
              </a:spcAft>
              <a:buSzPct val="100000"/>
              <a:buAutoNum type="alphaLcPeriod"/>
            </a:pPr>
            <a:r>
              <a:rPr lang="ja"/>
              <a:t>（SBOMの中身をどうやって見てる？ SBOMの品質判断/品質基準は？ SBOM差分は見れる？）  </a:t>
            </a:r>
            <a:endParaRPr/>
          </a:p>
          <a:p>
            <a:pPr marL="457200" lvl="0" indent="-290830" algn="l" rtl="0">
              <a:lnSpc>
                <a:spcPct val="110000"/>
              </a:lnSpc>
              <a:spcBef>
                <a:spcPts val="0"/>
              </a:spcBef>
              <a:spcAft>
                <a:spcPts val="0"/>
              </a:spcAft>
              <a:buSzPct val="100000"/>
              <a:buAutoNum type="arabicPeriod"/>
            </a:pPr>
            <a:r>
              <a:rPr lang="ja"/>
              <a:t>OSSの著作権は？</a:t>
            </a:r>
            <a:endParaRPr/>
          </a:p>
          <a:p>
            <a:pPr marL="914400" lvl="1" indent="-290830" algn="l" rtl="0">
              <a:lnSpc>
                <a:spcPct val="110000"/>
              </a:lnSpc>
              <a:spcBef>
                <a:spcPts val="0"/>
              </a:spcBef>
              <a:spcAft>
                <a:spcPts val="0"/>
              </a:spcAft>
              <a:buSzPct val="100000"/>
              <a:buAutoNum type="alphaLcPeriod"/>
            </a:pPr>
            <a:r>
              <a:rPr lang="ja"/>
              <a:t>（著作権法の通り？ 社内規定がある？ コミュニティ活動は業務？ 入社前開発の個人OSSの場合は？）</a:t>
            </a:r>
            <a:endParaRPr/>
          </a:p>
          <a:p>
            <a:pPr marL="457200" lvl="0" indent="-290830" algn="l" rtl="0">
              <a:lnSpc>
                <a:spcPct val="110000"/>
              </a:lnSpc>
              <a:spcBef>
                <a:spcPts val="0"/>
              </a:spcBef>
              <a:spcAft>
                <a:spcPts val="0"/>
              </a:spcAft>
              <a:buSzPct val="100000"/>
              <a:buAutoNum type="arabicPeriod"/>
            </a:pPr>
            <a:r>
              <a:rPr lang="ja"/>
              <a:t> OSSでOSSを管理している？</a:t>
            </a:r>
            <a:endParaRPr/>
          </a:p>
          <a:p>
            <a:pPr marL="914400" lvl="1" indent="-290830" algn="l" rtl="0">
              <a:lnSpc>
                <a:spcPct val="110000"/>
              </a:lnSpc>
              <a:spcBef>
                <a:spcPts val="0"/>
              </a:spcBef>
              <a:spcAft>
                <a:spcPts val="0"/>
              </a:spcAft>
              <a:buSzPct val="100000"/>
              <a:buAutoNum type="alphaLcPeriod"/>
            </a:pPr>
            <a:r>
              <a:rPr lang="ja"/>
              <a:t>（注意点は？ OSSを管理するOSSの無担保/無保証に対する考え方は？ 社内説明ロジックは？）</a:t>
            </a:r>
            <a:endParaRPr/>
          </a:p>
          <a:p>
            <a:pPr marL="457200" lvl="0" indent="-290830" algn="l" rtl="0">
              <a:lnSpc>
                <a:spcPct val="110000"/>
              </a:lnSpc>
              <a:spcBef>
                <a:spcPts val="0"/>
              </a:spcBef>
              <a:spcAft>
                <a:spcPts val="0"/>
              </a:spcAft>
              <a:buSzPct val="100000"/>
              <a:buAutoNum type="arabicPeriod"/>
            </a:pPr>
            <a:r>
              <a:rPr lang="ja"/>
              <a:t> 社内開発部門からのOSS活用したソフトウェアの利用申請は実施してる？</a:t>
            </a:r>
            <a:endParaRPr/>
          </a:p>
          <a:p>
            <a:pPr marL="914400" lvl="1" indent="-290830" algn="l" rtl="0">
              <a:lnSpc>
                <a:spcPct val="110000"/>
              </a:lnSpc>
              <a:spcBef>
                <a:spcPts val="0"/>
              </a:spcBef>
              <a:spcAft>
                <a:spcPts val="0"/>
              </a:spcAft>
              <a:buSzPct val="100000"/>
              <a:buAutoNum type="alphaLcPeriod"/>
            </a:pPr>
            <a:r>
              <a:rPr lang="ja"/>
              <a:t>（申請書内容は？ 申請違反があったら？ 申請承認後の申請違反チェックは？）</a:t>
            </a:r>
            <a:endParaRPr/>
          </a:p>
          <a:p>
            <a:pPr marL="457200" lvl="0" indent="-290830" algn="l" rtl="0">
              <a:lnSpc>
                <a:spcPct val="110000"/>
              </a:lnSpc>
              <a:spcBef>
                <a:spcPts val="0"/>
              </a:spcBef>
              <a:spcAft>
                <a:spcPts val="0"/>
              </a:spcAft>
              <a:buSzPct val="100000"/>
              <a:buAutoNum type="arabicPeriod"/>
            </a:pPr>
            <a:r>
              <a:rPr lang="ja"/>
              <a:t>【2/10提起】法務部や知財部からのOSPOへのコントリビューションは？</a:t>
            </a:r>
            <a:endParaRPr/>
          </a:p>
          <a:p>
            <a:pPr marL="914400" lvl="1" indent="-290830" algn="l" rtl="0">
              <a:lnSpc>
                <a:spcPct val="110000"/>
              </a:lnSpc>
              <a:spcBef>
                <a:spcPts val="0"/>
              </a:spcBef>
              <a:spcAft>
                <a:spcPts val="0"/>
              </a:spcAft>
              <a:buSzPct val="100000"/>
              <a:buAutoNum type="alphaLcPeriod"/>
            </a:pPr>
            <a:r>
              <a:rPr lang="ja"/>
              <a:t>法的判断の責任は？）</a:t>
            </a:r>
            <a:endParaRPr/>
          </a:p>
          <a:p>
            <a:pPr marL="457200" lvl="0" indent="-290830" algn="l" rtl="0">
              <a:lnSpc>
                <a:spcPct val="110000"/>
              </a:lnSpc>
              <a:spcBef>
                <a:spcPts val="0"/>
              </a:spcBef>
              <a:spcAft>
                <a:spcPts val="0"/>
              </a:spcAft>
              <a:buSzPct val="100000"/>
              <a:buAutoNum type="arabicPeriod"/>
            </a:pPr>
            <a:r>
              <a:rPr lang="ja"/>
              <a:t>【2/10提起】調達時のSBOM要求の責任は？</a:t>
            </a:r>
            <a:endParaRPr/>
          </a:p>
          <a:p>
            <a:pPr marL="914400" lvl="1" indent="-290830" algn="l" rtl="0">
              <a:lnSpc>
                <a:spcPct val="110000"/>
              </a:lnSpc>
              <a:spcBef>
                <a:spcPts val="0"/>
              </a:spcBef>
              <a:spcAft>
                <a:spcPts val="0"/>
              </a:spcAft>
              <a:buSzPct val="100000"/>
              <a:buAutoNum type="alphaLcPeriod"/>
            </a:pPr>
            <a:r>
              <a:rPr lang="ja"/>
              <a:t>（内容、契約、SBOM未提出時、の責任は？）</a:t>
            </a:r>
            <a:endParaRPr/>
          </a:p>
          <a:p>
            <a:pPr marL="457200" lvl="0" indent="-290830" algn="l" rtl="0">
              <a:lnSpc>
                <a:spcPct val="110000"/>
              </a:lnSpc>
              <a:spcBef>
                <a:spcPts val="0"/>
              </a:spcBef>
              <a:spcAft>
                <a:spcPts val="0"/>
              </a:spcAft>
              <a:buClr>
                <a:srgbClr val="0000FF"/>
              </a:buClr>
              <a:buSzPct val="100000"/>
              <a:buAutoNum type="arabicPeriod"/>
            </a:pPr>
            <a:r>
              <a:rPr lang="ja">
                <a:solidFill>
                  <a:srgbClr val="0000FF"/>
                </a:solidFill>
              </a:rPr>
              <a:t>OSPOが扱う課題はなんですか？</a:t>
            </a:r>
            <a:endParaRPr>
              <a:solidFill>
                <a:srgbClr val="0000FF"/>
              </a:solidFill>
            </a:endParaRPr>
          </a:p>
          <a:p>
            <a:pPr marL="457200" lvl="0" indent="-290830" algn="l" rtl="0">
              <a:lnSpc>
                <a:spcPct val="110000"/>
              </a:lnSpc>
              <a:spcBef>
                <a:spcPts val="0"/>
              </a:spcBef>
              <a:spcAft>
                <a:spcPts val="0"/>
              </a:spcAft>
              <a:buClr>
                <a:srgbClr val="0000FF"/>
              </a:buClr>
              <a:buSzPct val="100000"/>
              <a:buAutoNum type="arabicPeriod"/>
            </a:pPr>
            <a:r>
              <a:rPr lang="ja">
                <a:solidFill>
                  <a:srgbClr val="0000FF"/>
                </a:solidFill>
              </a:rPr>
              <a:t>OpenChainの活動はなぜ必要なのか</a:t>
            </a:r>
            <a:endParaRPr>
              <a:solidFill>
                <a:srgbClr val="0000FF"/>
              </a:solidFill>
            </a:endParaRPr>
          </a:p>
          <a:p>
            <a:pPr marL="457200" lvl="0" indent="-290830" algn="l" rtl="0">
              <a:lnSpc>
                <a:spcPct val="110000"/>
              </a:lnSpc>
              <a:spcBef>
                <a:spcPts val="0"/>
              </a:spcBef>
              <a:spcAft>
                <a:spcPts val="0"/>
              </a:spcAft>
              <a:buClr>
                <a:srgbClr val="0000FF"/>
              </a:buClr>
              <a:buSzPct val="100000"/>
              <a:buAutoNum type="arabicPeriod"/>
            </a:pPr>
            <a:r>
              <a:rPr lang="ja">
                <a:solidFill>
                  <a:srgbClr val="0000FF"/>
                </a:solidFill>
              </a:rPr>
              <a:t>OSSの脆弱性をどうやって見つければいいですか</a:t>
            </a:r>
            <a:endParaRPr>
              <a:solidFill>
                <a:srgbClr val="0000FF"/>
              </a:solidFill>
            </a:endParaRPr>
          </a:p>
          <a:p>
            <a:pPr marL="457200" lvl="0" indent="-290830" algn="l" rtl="0">
              <a:lnSpc>
                <a:spcPct val="110000"/>
              </a:lnSpc>
              <a:spcBef>
                <a:spcPts val="0"/>
              </a:spcBef>
              <a:spcAft>
                <a:spcPts val="0"/>
              </a:spcAft>
              <a:buClr>
                <a:srgbClr val="0000FF"/>
              </a:buClr>
              <a:buSzPct val="100000"/>
              <a:buAutoNum type="arabicPeriod"/>
            </a:pPr>
            <a:r>
              <a:rPr lang="ja">
                <a:solidFill>
                  <a:srgbClr val="0000FF"/>
                </a:solidFill>
              </a:rPr>
              <a:t>コミュニティとの付き合い方はどうしたらいいでしょうか</a:t>
            </a:r>
            <a:endParaRPr>
              <a:solidFill>
                <a:srgbClr val="0000FF"/>
              </a:solidFill>
            </a:endParaRPr>
          </a:p>
        </p:txBody>
      </p:sp>
      <p:sp>
        <p:nvSpPr>
          <p:cNvPr id="291" name="Google Shape;291;p38"/>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0" lvl="0" indent="0" algn="l" rtl="0">
              <a:spcBef>
                <a:spcPts val="0"/>
              </a:spcBef>
              <a:spcAft>
                <a:spcPts val="0"/>
              </a:spcAft>
              <a:buNone/>
            </a:pP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39"/>
          <p:cNvSpPr txBox="1">
            <a:spLocks noGrp="1"/>
          </p:cNvSpPr>
          <p:nvPr>
            <p:ph type="title"/>
          </p:nvPr>
        </p:nvSpPr>
        <p:spPr>
          <a:xfrm>
            <a:off x="311700" y="445025"/>
            <a:ext cx="85206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ja"/>
              <a:t>2023/3/24  会合のチャット</a:t>
            </a:r>
            <a:endParaRPr/>
          </a:p>
        </p:txBody>
      </p:sp>
      <p:sp>
        <p:nvSpPr>
          <p:cNvPr id="297" name="Google Shape;297;p39"/>
          <p:cNvSpPr txBox="1">
            <a:spLocks noGrp="1"/>
          </p:cNvSpPr>
          <p:nvPr>
            <p:ph type="body" idx="1"/>
          </p:nvPr>
        </p:nvSpPr>
        <p:spPr>
          <a:xfrm>
            <a:off x="311700" y="1152475"/>
            <a:ext cx="4157400" cy="3416400"/>
          </a:xfrm>
          <a:prstGeom prst="rect">
            <a:avLst/>
          </a:prstGeom>
        </p:spPr>
        <p:txBody>
          <a:bodyPr spcFirstLastPara="1" wrap="square" lIns="91425" tIns="91425" rIns="91425" bIns="91425" anchor="t" anchorCtr="0">
            <a:normAutofit fontScale="40000" lnSpcReduction="10000"/>
          </a:bodyPr>
          <a:lstStyle/>
          <a:p>
            <a:pPr marL="457200" lvl="0" indent="-264160" algn="l" rtl="0">
              <a:spcBef>
                <a:spcPts val="0"/>
              </a:spcBef>
              <a:spcAft>
                <a:spcPts val="0"/>
              </a:spcAft>
              <a:buSzPct val="100000"/>
              <a:buChar char="●"/>
            </a:pPr>
            <a:r>
              <a:rPr lang="ja"/>
              <a:t>15:06:12 </a:t>
            </a:r>
            <a:endParaRPr/>
          </a:p>
          <a:p>
            <a:pPr marL="457200" lvl="0" indent="-264160" algn="l" rtl="0">
              <a:spcBef>
                <a:spcPts val="0"/>
              </a:spcBef>
              <a:spcAft>
                <a:spcPts val="0"/>
              </a:spcAft>
              <a:buSzPct val="100000"/>
              <a:buChar char="●"/>
            </a:pPr>
            <a:r>
              <a:rPr lang="ja"/>
              <a:t>	そもそもOSPOとは、という問いがありそうな。</a:t>
            </a:r>
            <a:endParaRPr/>
          </a:p>
          <a:p>
            <a:pPr marL="457200" lvl="0" indent="-264160" algn="l" rtl="0">
              <a:spcBef>
                <a:spcPts val="0"/>
              </a:spcBef>
              <a:spcAft>
                <a:spcPts val="0"/>
              </a:spcAft>
              <a:buSzPct val="100000"/>
              <a:buChar char="●"/>
            </a:pPr>
            <a:r>
              <a:rPr lang="ja"/>
              <a:t>15:07:11 </a:t>
            </a:r>
            <a:endParaRPr/>
          </a:p>
          <a:p>
            <a:pPr marL="457200" lvl="0" indent="-264160" algn="l" rtl="0">
              <a:spcBef>
                <a:spcPts val="0"/>
              </a:spcBef>
              <a:spcAft>
                <a:spcPts val="0"/>
              </a:spcAft>
              <a:buSzPct val="100000"/>
              <a:buChar char="●"/>
            </a:pPr>
            <a:r>
              <a:rPr lang="ja"/>
              <a:t>	"そもそもOSPOとは、..." に対して ?? で対応しました</a:t>
            </a:r>
            <a:endParaRPr/>
          </a:p>
          <a:p>
            <a:pPr marL="457200" lvl="0" indent="-264160" algn="l" rtl="0">
              <a:spcBef>
                <a:spcPts val="0"/>
              </a:spcBef>
              <a:spcAft>
                <a:spcPts val="0"/>
              </a:spcAft>
              <a:buSzPct val="100000"/>
              <a:buChar char="●"/>
            </a:pPr>
            <a:r>
              <a:rPr lang="ja"/>
              <a:t>15:07:45 </a:t>
            </a:r>
            <a:endParaRPr/>
          </a:p>
          <a:p>
            <a:pPr marL="457200" lvl="0" indent="-264160" algn="l" rtl="0">
              <a:spcBef>
                <a:spcPts val="0"/>
              </a:spcBef>
              <a:spcAft>
                <a:spcPts val="0"/>
              </a:spcAft>
              <a:buSzPct val="100000"/>
              <a:buChar char="●"/>
            </a:pPr>
            <a:r>
              <a:rPr lang="ja"/>
              <a:t>	TODOに組織構成が掲載されているホワイトペーパです。</a:t>
            </a:r>
            <a:endParaRPr/>
          </a:p>
          <a:p>
            <a:pPr marL="457200" lvl="0" indent="-264160" algn="l" rtl="0">
              <a:spcBef>
                <a:spcPts val="0"/>
              </a:spcBef>
              <a:spcAft>
                <a:spcPts val="0"/>
              </a:spcAft>
              <a:buSzPct val="100000"/>
              <a:buChar char="●"/>
            </a:pPr>
            <a:r>
              <a:rPr lang="ja"/>
              <a:t>	https://www.linuxfoundation.org/research/a-deep-dive-into-open-source-program-offices</a:t>
            </a:r>
            <a:endParaRPr/>
          </a:p>
          <a:p>
            <a:pPr marL="457200" lvl="0" indent="-264160" algn="l" rtl="0">
              <a:spcBef>
                <a:spcPts val="0"/>
              </a:spcBef>
              <a:spcAft>
                <a:spcPts val="0"/>
              </a:spcAft>
              <a:buSzPct val="100000"/>
              <a:buChar char="●"/>
            </a:pPr>
            <a:r>
              <a:rPr lang="ja"/>
              <a:t>15:07:47 </a:t>
            </a:r>
            <a:endParaRPr/>
          </a:p>
          <a:p>
            <a:pPr marL="457200" lvl="0" indent="-264160" algn="l" rtl="0">
              <a:spcBef>
                <a:spcPts val="0"/>
              </a:spcBef>
              <a:spcAft>
                <a:spcPts val="0"/>
              </a:spcAft>
              <a:buSzPct val="100000"/>
              <a:buChar char="●"/>
            </a:pPr>
            <a:r>
              <a:rPr lang="ja"/>
              <a:t>	以前見たことある資料は、こちらがありました</a:t>
            </a:r>
            <a:endParaRPr/>
          </a:p>
          <a:p>
            <a:pPr marL="457200" lvl="0" indent="-264160" algn="l" rtl="0">
              <a:spcBef>
                <a:spcPts val="0"/>
              </a:spcBef>
              <a:spcAft>
                <a:spcPts val="0"/>
              </a:spcAft>
              <a:buSzPct val="100000"/>
              <a:buChar char="●"/>
            </a:pPr>
            <a:r>
              <a:rPr lang="ja"/>
              <a:t>	深層考察：『オープンソース プログラム オフィス』組織構成、役割、責務、および課題 By Linux Foundation Japan11月 29, 2022</a:t>
            </a:r>
            <a:endParaRPr/>
          </a:p>
          <a:p>
            <a:pPr marL="457200" lvl="0" indent="-264160" algn="l" rtl="0">
              <a:spcBef>
                <a:spcPts val="0"/>
              </a:spcBef>
              <a:spcAft>
                <a:spcPts val="0"/>
              </a:spcAft>
              <a:buSzPct val="100000"/>
              <a:buChar char="●"/>
            </a:pPr>
            <a:r>
              <a:rPr lang="ja"/>
              <a:t>	https://www.linuxfoundation.jp/blog/2022/11/japanese-version-of-a-deep-dive-into-open-source-program-offices-launch/</a:t>
            </a:r>
            <a:endParaRPr/>
          </a:p>
          <a:p>
            <a:pPr marL="457200" lvl="0" indent="-264160" algn="l" rtl="0">
              <a:spcBef>
                <a:spcPts val="0"/>
              </a:spcBef>
              <a:spcAft>
                <a:spcPts val="0"/>
              </a:spcAft>
              <a:buSzPct val="100000"/>
              <a:buChar char="●"/>
            </a:pPr>
            <a:r>
              <a:rPr lang="ja"/>
              <a:t>15:10:42 </a:t>
            </a:r>
            <a:endParaRPr/>
          </a:p>
          <a:p>
            <a:pPr marL="457200" lvl="0" indent="-264160" algn="l" rtl="0">
              <a:spcBef>
                <a:spcPts val="0"/>
              </a:spcBef>
              <a:spcAft>
                <a:spcPts val="0"/>
              </a:spcAft>
              <a:buSzPct val="100000"/>
              <a:buChar char="●"/>
            </a:pPr>
            <a:r>
              <a:rPr lang="ja"/>
              <a:t>	昔見たことあるドキュメントが無くなっちゃってるかも・・・？</a:t>
            </a:r>
            <a:endParaRPr/>
          </a:p>
          <a:p>
            <a:pPr marL="457200" lvl="0" indent="-264160" algn="l" rtl="0">
              <a:spcBef>
                <a:spcPts val="0"/>
              </a:spcBef>
              <a:spcAft>
                <a:spcPts val="0"/>
              </a:spcAft>
              <a:buSzPct val="100000"/>
              <a:buChar char="●"/>
            </a:pPr>
            <a:r>
              <a:rPr lang="ja"/>
              <a:t>	https://www.linuxfoundation.org/resources/open-source-guides/creating-an-open-source-program?hsLang=en</a:t>
            </a:r>
            <a:endParaRPr/>
          </a:p>
          <a:p>
            <a:pPr marL="457200" lvl="0" indent="-264160" algn="l" rtl="0">
              <a:spcBef>
                <a:spcPts val="0"/>
              </a:spcBef>
              <a:spcAft>
                <a:spcPts val="0"/>
              </a:spcAft>
              <a:buSzPct val="100000"/>
              <a:buChar char="●"/>
            </a:pPr>
            <a:r>
              <a:rPr lang="ja"/>
              <a:t>15:13:07 </a:t>
            </a:r>
            <a:endParaRPr/>
          </a:p>
          <a:p>
            <a:pPr marL="457200" lvl="0" indent="-264160" algn="l" rtl="0">
              <a:spcBef>
                <a:spcPts val="0"/>
              </a:spcBef>
              <a:spcAft>
                <a:spcPts val="0"/>
              </a:spcAft>
              <a:buSzPct val="100000"/>
              <a:buChar char="●"/>
            </a:pPr>
            <a:r>
              <a:rPr lang="ja"/>
              <a:t>	こちらに記載あります</a:t>
            </a:r>
            <a:endParaRPr/>
          </a:p>
          <a:p>
            <a:pPr marL="457200" lvl="0" indent="-264160" algn="l" rtl="0">
              <a:spcBef>
                <a:spcPts val="0"/>
              </a:spcBef>
              <a:spcAft>
                <a:spcPts val="0"/>
              </a:spcAft>
              <a:buSzPct val="100000"/>
              <a:buChar char="●"/>
            </a:pPr>
            <a:r>
              <a:rPr lang="ja"/>
              <a:t>15:13:09 </a:t>
            </a:r>
            <a:endParaRPr/>
          </a:p>
          <a:p>
            <a:pPr marL="457200" lvl="0" indent="-264160" algn="l" rtl="0">
              <a:spcBef>
                <a:spcPts val="0"/>
              </a:spcBef>
              <a:spcAft>
                <a:spcPts val="0"/>
              </a:spcAft>
              <a:buSzPct val="100000"/>
              <a:buChar char="●"/>
            </a:pPr>
            <a:r>
              <a:rPr lang="ja"/>
              <a:t>	https://github.com/todogroup/ospo-career-path/blob/main/module3/README.md</a:t>
            </a:r>
            <a:endParaRPr/>
          </a:p>
          <a:p>
            <a:pPr marL="457200" lvl="0" indent="-264160" algn="l" rtl="0">
              <a:spcBef>
                <a:spcPts val="0"/>
              </a:spcBef>
              <a:spcAft>
                <a:spcPts val="0"/>
              </a:spcAft>
              <a:buSzPct val="100000"/>
              <a:buChar char="●"/>
            </a:pPr>
            <a:r>
              <a:rPr lang="ja"/>
              <a:t>15:13:57 </a:t>
            </a:r>
            <a:endParaRPr/>
          </a:p>
          <a:p>
            <a:pPr marL="457200" lvl="0" indent="-264160" algn="l" rtl="0">
              <a:spcBef>
                <a:spcPts val="0"/>
              </a:spcBef>
              <a:spcAft>
                <a:spcPts val="0"/>
              </a:spcAft>
              <a:buSzPct val="100000"/>
              <a:buChar char="●"/>
            </a:pPr>
            <a:r>
              <a:rPr lang="ja"/>
              <a:t>	https://github.com/todogroup/ospo-career-path/blob/main/OSPO-101/module3/README.md</a:t>
            </a:r>
            <a:endParaRPr/>
          </a:p>
          <a:p>
            <a:pPr marL="457200" lvl="0" indent="-264160" algn="l" rtl="0">
              <a:spcBef>
                <a:spcPts val="0"/>
              </a:spcBef>
              <a:spcAft>
                <a:spcPts val="0"/>
              </a:spcAft>
              <a:buSzPct val="100000"/>
              <a:buChar char="●"/>
            </a:pPr>
            <a:r>
              <a:rPr lang="ja"/>
              <a:t>15:14:15 </a:t>
            </a:r>
            <a:endParaRPr/>
          </a:p>
          <a:p>
            <a:pPr marL="457200" lvl="0" indent="-264160" algn="l" rtl="0">
              <a:spcBef>
                <a:spcPts val="0"/>
              </a:spcBef>
              <a:spcAft>
                <a:spcPts val="0"/>
              </a:spcAft>
              <a:buSzPct val="100000"/>
              <a:buChar char="●"/>
            </a:pPr>
            <a:r>
              <a:rPr lang="ja"/>
              <a:t>	これですかね？</a:t>
            </a:r>
            <a:endParaRPr/>
          </a:p>
          <a:p>
            <a:pPr marL="457200" lvl="0" indent="-264160" algn="l" rtl="0">
              <a:spcBef>
                <a:spcPts val="0"/>
              </a:spcBef>
              <a:spcAft>
                <a:spcPts val="0"/>
              </a:spcAft>
              <a:buSzPct val="100000"/>
              <a:buChar char="●"/>
            </a:pPr>
            <a:r>
              <a:rPr lang="ja"/>
              <a:t>15:14:16 </a:t>
            </a:r>
            <a:endParaRPr/>
          </a:p>
          <a:p>
            <a:pPr marL="457200" lvl="0" indent="-264160" algn="l" rtl="0">
              <a:spcBef>
                <a:spcPts val="0"/>
              </a:spcBef>
              <a:spcAft>
                <a:spcPts val="0"/>
              </a:spcAft>
              <a:buSzPct val="100000"/>
              <a:buChar char="●"/>
            </a:pPr>
            <a:r>
              <a:rPr lang="ja"/>
              <a:t>	https://github.com/todogroup/ospo-career-path</a:t>
            </a:r>
            <a:endParaRPr/>
          </a:p>
          <a:p>
            <a:pPr marL="457200" lvl="0" indent="-264160" algn="l" rtl="0">
              <a:spcBef>
                <a:spcPts val="0"/>
              </a:spcBef>
              <a:spcAft>
                <a:spcPts val="0"/>
              </a:spcAft>
              <a:buSzPct val="100000"/>
              <a:buChar char="●"/>
            </a:pPr>
            <a:r>
              <a:rPr lang="ja"/>
              <a:t>15:15:09 </a:t>
            </a:r>
            <a:endParaRPr/>
          </a:p>
          <a:p>
            <a:pPr marL="457200" lvl="0" indent="-264160" algn="l" rtl="0">
              <a:spcBef>
                <a:spcPts val="0"/>
              </a:spcBef>
              <a:spcAft>
                <a:spcPts val="0"/>
              </a:spcAft>
              <a:buSzPct val="100000"/>
              <a:buChar char="●"/>
            </a:pPr>
            <a:r>
              <a:rPr lang="ja"/>
              <a:t>	https://www.linuxfoundation.jp/resources/open-source-guides/creating-an-open-source-program/#4</a:t>
            </a:r>
            <a:endParaRPr/>
          </a:p>
          <a:p>
            <a:pPr marL="457200" lvl="0" indent="-264160" algn="l" rtl="0">
              <a:spcBef>
                <a:spcPts val="0"/>
              </a:spcBef>
              <a:spcAft>
                <a:spcPts val="0"/>
              </a:spcAft>
              <a:buSzPct val="100000"/>
              <a:buChar char="●"/>
            </a:pPr>
            <a:r>
              <a:rPr lang="ja"/>
              <a:t>15:15:14 </a:t>
            </a:r>
            <a:endParaRPr/>
          </a:p>
          <a:p>
            <a:pPr marL="457200" lvl="0" indent="-264160" algn="l" rtl="0">
              <a:spcBef>
                <a:spcPts val="0"/>
              </a:spcBef>
              <a:spcAft>
                <a:spcPts val="0"/>
              </a:spcAft>
              <a:buSzPct val="100000"/>
              <a:buChar char="●"/>
            </a:pPr>
            <a:r>
              <a:rPr lang="ja"/>
              <a:t>	皆さんが共有してくれた情報を整理してリスト化するのも重要そうですね。</a:t>
            </a:r>
            <a:endParaRPr/>
          </a:p>
          <a:p>
            <a:pPr marL="457200" lvl="0" indent="-264160" algn="l" rtl="0">
              <a:spcBef>
                <a:spcPts val="0"/>
              </a:spcBef>
              <a:spcAft>
                <a:spcPts val="0"/>
              </a:spcAft>
              <a:buSzPct val="100000"/>
              <a:buChar char="●"/>
            </a:pPr>
            <a:r>
              <a:rPr lang="ja"/>
              <a:t>15:20:09 </a:t>
            </a:r>
            <a:endParaRPr/>
          </a:p>
          <a:p>
            <a:pPr marL="457200" lvl="0" indent="-264160" algn="l" rtl="0">
              <a:spcBef>
                <a:spcPts val="0"/>
              </a:spcBef>
              <a:spcAft>
                <a:spcPts val="0"/>
              </a:spcAft>
              <a:buSzPct val="100000"/>
              <a:buChar char="●"/>
            </a:pPr>
            <a:r>
              <a:rPr lang="ja"/>
              <a:t>	https://www.linuxfoundation.jp/resources/open-source-guides/creating-an-open-source-program/</a:t>
            </a:r>
            <a:endParaRPr/>
          </a:p>
          <a:p>
            <a:pPr marL="457200" lvl="0" indent="-264160" algn="l" rtl="0">
              <a:spcBef>
                <a:spcPts val="0"/>
              </a:spcBef>
              <a:spcAft>
                <a:spcPts val="0"/>
              </a:spcAft>
              <a:buSzPct val="100000"/>
              <a:buChar char="●"/>
            </a:pPr>
            <a:r>
              <a:rPr lang="ja"/>
              <a:t>	これだ。。。</a:t>
            </a:r>
            <a:endParaRPr/>
          </a:p>
          <a:p>
            <a:pPr marL="457200" lvl="0" indent="-264160" algn="l" rtl="0">
              <a:spcBef>
                <a:spcPts val="0"/>
              </a:spcBef>
              <a:spcAft>
                <a:spcPts val="0"/>
              </a:spcAft>
              <a:buSzPct val="100000"/>
              <a:buChar char="●"/>
            </a:pPr>
            <a:r>
              <a:rPr lang="ja"/>
              <a:t>15:22:13 </a:t>
            </a:r>
            <a:endParaRPr/>
          </a:p>
          <a:p>
            <a:pPr marL="457200" lvl="0" indent="-264160" algn="l" rtl="0">
              <a:spcBef>
                <a:spcPts val="0"/>
              </a:spcBef>
              <a:spcAft>
                <a:spcPts val="0"/>
              </a:spcAft>
              <a:buSzPct val="100000"/>
              <a:buChar char="●"/>
            </a:pPr>
            <a:r>
              <a:rPr lang="ja"/>
              <a:t>	OSS推進、ですかね</a:t>
            </a:r>
            <a:endParaRPr/>
          </a:p>
          <a:p>
            <a:pPr marL="457200" lvl="0" indent="-264160" algn="l" rtl="0">
              <a:spcBef>
                <a:spcPts val="0"/>
              </a:spcBef>
              <a:spcAft>
                <a:spcPts val="0"/>
              </a:spcAft>
              <a:buSzPct val="100000"/>
              <a:buChar char="●"/>
            </a:pPr>
            <a:r>
              <a:rPr lang="ja"/>
              <a:t>15:23:10</a:t>
            </a:r>
            <a:endParaRPr/>
          </a:p>
          <a:p>
            <a:pPr marL="457200" lvl="0" indent="-264160" algn="l" rtl="0">
              <a:spcBef>
                <a:spcPts val="0"/>
              </a:spcBef>
              <a:spcAft>
                <a:spcPts val="0"/>
              </a:spcAft>
              <a:buSzPct val="100000"/>
              <a:buChar char="●"/>
            </a:pPr>
            <a:r>
              <a:rPr lang="ja"/>
              <a:t>	Reacted to "OSS推進、ですかね" with ??</a:t>
            </a:r>
            <a:endParaRPr/>
          </a:p>
          <a:p>
            <a:pPr marL="457200" lvl="0" indent="-264160" algn="l" rtl="0">
              <a:spcBef>
                <a:spcPts val="0"/>
              </a:spcBef>
              <a:spcAft>
                <a:spcPts val="0"/>
              </a:spcAft>
              <a:buSzPct val="100000"/>
              <a:buChar char="●"/>
            </a:pPr>
            <a:endParaRPr/>
          </a:p>
        </p:txBody>
      </p:sp>
      <p:sp>
        <p:nvSpPr>
          <p:cNvPr id="298" name="Google Shape;298;p39"/>
          <p:cNvSpPr txBox="1">
            <a:spLocks noGrp="1"/>
          </p:cNvSpPr>
          <p:nvPr>
            <p:ph type="body" idx="1"/>
          </p:nvPr>
        </p:nvSpPr>
        <p:spPr>
          <a:xfrm>
            <a:off x="4674900" y="1017725"/>
            <a:ext cx="4157400" cy="3416400"/>
          </a:xfrm>
          <a:prstGeom prst="rect">
            <a:avLst/>
          </a:prstGeom>
        </p:spPr>
        <p:txBody>
          <a:bodyPr spcFirstLastPara="1" wrap="square" lIns="91425" tIns="91425" rIns="91425" bIns="91425" anchor="t" anchorCtr="0">
            <a:normAutofit fontScale="40000" lnSpcReduction="10000"/>
          </a:bodyPr>
          <a:lstStyle/>
          <a:p>
            <a:pPr marL="457200" lvl="0" indent="-264160" algn="l" rtl="0">
              <a:spcBef>
                <a:spcPts val="0"/>
              </a:spcBef>
              <a:spcAft>
                <a:spcPts val="0"/>
              </a:spcAft>
              <a:buClr>
                <a:schemeClr val="dk1"/>
              </a:buClr>
              <a:buSzPct val="100000"/>
              <a:buChar char="●"/>
            </a:pPr>
            <a:r>
              <a:rPr lang="ja">
                <a:solidFill>
                  <a:schemeClr val="dk1"/>
                </a:solidFill>
              </a:rPr>
              <a:t>15:38:26</a:t>
            </a:r>
            <a:endParaRPr>
              <a:solidFill>
                <a:schemeClr val="dk1"/>
              </a:solidFill>
            </a:endParaRPr>
          </a:p>
          <a:p>
            <a:pPr marL="457200" lvl="0" indent="-264160" algn="l" rtl="0">
              <a:spcBef>
                <a:spcPts val="0"/>
              </a:spcBef>
              <a:spcAft>
                <a:spcPts val="0"/>
              </a:spcAft>
              <a:buClr>
                <a:schemeClr val="dk1"/>
              </a:buClr>
              <a:buSzPct val="100000"/>
              <a:buChar char="●"/>
            </a:pPr>
            <a:r>
              <a:rPr lang="ja">
                <a:solidFill>
                  <a:schemeClr val="dk1"/>
                </a:solidFill>
              </a:rPr>
              <a:t>	whyが先に来るほうがわかりやすいかなと思いました。</a:t>
            </a:r>
            <a:endParaRPr>
              <a:solidFill>
                <a:schemeClr val="dk1"/>
              </a:solidFill>
            </a:endParaRPr>
          </a:p>
          <a:p>
            <a:pPr marL="457200" lvl="0" indent="-264160" algn="l" rtl="0">
              <a:spcBef>
                <a:spcPts val="0"/>
              </a:spcBef>
              <a:spcAft>
                <a:spcPts val="0"/>
              </a:spcAft>
              <a:buSzPct val="100000"/>
              <a:buChar char="●"/>
            </a:pPr>
            <a:r>
              <a:rPr lang="ja"/>
              <a:t>15:42:19</a:t>
            </a:r>
            <a:endParaRPr/>
          </a:p>
          <a:p>
            <a:pPr marL="457200" lvl="0" indent="-264160" algn="l" rtl="0">
              <a:spcBef>
                <a:spcPts val="0"/>
              </a:spcBef>
              <a:spcAft>
                <a:spcPts val="0"/>
              </a:spcAft>
              <a:buSzPct val="100000"/>
              <a:buChar char="●"/>
            </a:pPr>
            <a:r>
              <a:rPr lang="ja"/>
              <a:t>	OSPOの成熟度ステージがあるといいのかも。</a:t>
            </a:r>
            <a:endParaRPr/>
          </a:p>
          <a:p>
            <a:pPr marL="457200" lvl="0" indent="-264160" algn="l" rtl="0">
              <a:spcBef>
                <a:spcPts val="0"/>
              </a:spcBef>
              <a:spcAft>
                <a:spcPts val="0"/>
              </a:spcAft>
              <a:buSzPct val="100000"/>
              <a:buChar char="●"/>
            </a:pPr>
            <a:r>
              <a:rPr lang="ja"/>
              <a:t>15:46:44</a:t>
            </a:r>
            <a:endParaRPr/>
          </a:p>
          <a:p>
            <a:pPr marL="457200" lvl="0" indent="-264160" algn="l" rtl="0">
              <a:spcBef>
                <a:spcPts val="0"/>
              </a:spcBef>
              <a:spcAft>
                <a:spcPts val="0"/>
              </a:spcAft>
              <a:buSzPct val="100000"/>
              <a:buChar char="●"/>
            </a:pPr>
            <a:r>
              <a:rPr lang="ja"/>
              <a:t>	https://www.linuxfoundation.jp/resources/open-source-guides/creating-an-open-source-program/#2</a:t>
            </a:r>
            <a:endParaRPr/>
          </a:p>
          <a:p>
            <a:pPr marL="457200" lvl="0" indent="-264160" algn="l" rtl="0">
              <a:spcBef>
                <a:spcPts val="0"/>
              </a:spcBef>
              <a:spcAft>
                <a:spcPts val="0"/>
              </a:spcAft>
              <a:buSzPct val="100000"/>
              <a:buChar char="●"/>
            </a:pPr>
            <a:r>
              <a:rPr lang="ja"/>
              <a:t>	この役割の中では 一番下からスタートするところは確かに多そう。</a:t>
            </a:r>
            <a:endParaRPr/>
          </a:p>
          <a:p>
            <a:pPr marL="457200" lvl="0" indent="-264160" algn="l" rtl="0">
              <a:spcBef>
                <a:spcPts val="0"/>
              </a:spcBef>
              <a:spcAft>
                <a:spcPts val="0"/>
              </a:spcAft>
              <a:buSzPct val="100000"/>
              <a:buChar char="●"/>
            </a:pPr>
            <a:r>
              <a:rPr lang="ja"/>
              <a:t>15:48:13</a:t>
            </a:r>
            <a:endParaRPr/>
          </a:p>
          <a:p>
            <a:pPr marL="457200" lvl="0" indent="-264160" algn="l" rtl="0">
              <a:spcBef>
                <a:spcPts val="0"/>
              </a:spcBef>
              <a:spcAft>
                <a:spcPts val="0"/>
              </a:spcAft>
              <a:buSzPct val="100000"/>
              <a:buChar char="●"/>
            </a:pPr>
            <a:r>
              <a:rPr lang="ja"/>
              <a:t>	チャットは最後に「チャットを保存」してテキスト化して議事録と一緒に保管しましょう～</a:t>
            </a:r>
            <a:endParaRPr/>
          </a:p>
          <a:p>
            <a:pPr marL="457200" lvl="0" indent="-264160" algn="l" rtl="0">
              <a:spcBef>
                <a:spcPts val="0"/>
              </a:spcBef>
              <a:spcAft>
                <a:spcPts val="0"/>
              </a:spcAft>
              <a:buSzPct val="100000"/>
              <a:buChar char="●"/>
            </a:pPr>
            <a:r>
              <a:rPr lang="ja"/>
              <a:t>15:48:36</a:t>
            </a:r>
            <a:endParaRPr/>
          </a:p>
          <a:p>
            <a:pPr marL="457200" lvl="0" indent="-264160" algn="l" rtl="0">
              <a:spcBef>
                <a:spcPts val="0"/>
              </a:spcBef>
              <a:spcAft>
                <a:spcPts val="0"/>
              </a:spcAft>
              <a:buSzPct val="100000"/>
              <a:buChar char="●"/>
            </a:pPr>
            <a:r>
              <a:rPr lang="ja"/>
              <a:t>	Reacted to "チャットは最後に「チャットを保存」してテ..." with ??</a:t>
            </a:r>
            <a:endParaRPr/>
          </a:p>
          <a:p>
            <a:pPr marL="457200" lvl="0" indent="-264160" algn="l" rtl="0">
              <a:spcBef>
                <a:spcPts val="0"/>
              </a:spcBef>
              <a:spcAft>
                <a:spcPts val="0"/>
              </a:spcAft>
              <a:buSzPct val="100000"/>
              <a:buChar char="●"/>
            </a:pPr>
            <a:r>
              <a:rPr lang="ja"/>
              <a:t>15:50:44</a:t>
            </a:r>
            <a:endParaRPr/>
          </a:p>
          <a:p>
            <a:pPr marL="457200" lvl="0" indent="-264160" algn="l" rtl="0">
              <a:spcBef>
                <a:spcPts val="0"/>
              </a:spcBef>
              <a:spcAft>
                <a:spcPts val="0"/>
              </a:spcAft>
              <a:buSzPct val="100000"/>
              <a:buChar char="●"/>
            </a:pPr>
            <a:r>
              <a:rPr lang="ja"/>
              <a:t>	リーフレットの内容はどうでしょうか。</a:t>
            </a:r>
            <a:endParaRPr/>
          </a:p>
          <a:p>
            <a:pPr marL="457200" lvl="0" indent="-264160" algn="l" rtl="0">
              <a:spcBef>
                <a:spcPts val="0"/>
              </a:spcBef>
              <a:spcAft>
                <a:spcPts val="0"/>
              </a:spcAft>
              <a:buSzPct val="100000"/>
              <a:buChar char="●"/>
            </a:pPr>
            <a:r>
              <a:rPr lang="ja"/>
              <a:t>15:50:55</a:t>
            </a:r>
            <a:endParaRPr/>
          </a:p>
          <a:p>
            <a:pPr marL="457200" lvl="0" indent="-264160" algn="l" rtl="0">
              <a:spcBef>
                <a:spcPts val="0"/>
              </a:spcBef>
              <a:spcAft>
                <a:spcPts val="0"/>
              </a:spcAft>
              <a:buSzPct val="100000"/>
              <a:buChar char="●"/>
            </a:pPr>
            <a:r>
              <a:rPr lang="ja"/>
              <a:t>	Reacted to "リーフレットの内容はどうでしょうか。" with ??</a:t>
            </a:r>
            <a:endParaRPr/>
          </a:p>
          <a:p>
            <a:pPr marL="457200" lvl="0" indent="-264160" algn="l" rtl="0">
              <a:spcBef>
                <a:spcPts val="0"/>
              </a:spcBef>
              <a:spcAft>
                <a:spcPts val="0"/>
              </a:spcAft>
              <a:buSzPct val="100000"/>
              <a:buChar char="●"/>
            </a:pPr>
            <a:r>
              <a:rPr lang="ja"/>
              <a:t>15:52:37</a:t>
            </a:r>
            <a:endParaRPr/>
          </a:p>
          <a:p>
            <a:pPr marL="457200" lvl="0" indent="-264160" algn="l" rtl="0">
              <a:spcBef>
                <a:spcPts val="0"/>
              </a:spcBef>
              <a:spcAft>
                <a:spcPts val="0"/>
              </a:spcAft>
              <a:buSzPct val="100000"/>
              <a:buChar char="●"/>
            </a:pPr>
            <a:r>
              <a:rPr lang="ja"/>
              <a:t>	"リーフレットの内容..." に対して ?? で対応しました</a:t>
            </a:r>
            <a:endParaRPr/>
          </a:p>
          <a:p>
            <a:pPr marL="457200" lvl="0" indent="-264160" algn="l" rtl="0">
              <a:spcBef>
                <a:spcPts val="0"/>
              </a:spcBef>
              <a:spcAft>
                <a:spcPts val="0"/>
              </a:spcAft>
              <a:buSzPct val="100000"/>
              <a:buChar char="●"/>
            </a:pPr>
            <a:r>
              <a:rPr lang="ja"/>
              <a:t>15:52:53</a:t>
            </a:r>
            <a:endParaRPr/>
          </a:p>
          <a:p>
            <a:pPr marL="457200" lvl="0" indent="-264160" algn="l" rtl="0">
              <a:spcBef>
                <a:spcPts val="0"/>
              </a:spcBef>
              <a:spcAft>
                <a:spcPts val="0"/>
              </a:spcAft>
              <a:buSzPct val="100000"/>
              <a:buChar char="●"/>
            </a:pPr>
            <a:r>
              <a:rPr lang="ja"/>
              <a:t>	リテラシーみたいな感じですかね</a:t>
            </a:r>
            <a:endParaRPr/>
          </a:p>
          <a:p>
            <a:pPr marL="457200" lvl="0" indent="-264160" algn="l" rtl="0">
              <a:spcBef>
                <a:spcPts val="0"/>
              </a:spcBef>
              <a:spcAft>
                <a:spcPts val="0"/>
              </a:spcAft>
              <a:buSzPct val="100000"/>
              <a:buChar char="●"/>
            </a:pPr>
            <a:r>
              <a:rPr lang="ja"/>
              <a:t>15:54:14</a:t>
            </a:r>
            <a:endParaRPr/>
          </a:p>
          <a:p>
            <a:pPr marL="457200" lvl="0" indent="-264160" algn="l" rtl="0">
              <a:spcBef>
                <a:spcPts val="0"/>
              </a:spcBef>
              <a:spcAft>
                <a:spcPts val="0"/>
              </a:spcAft>
              <a:buSzPct val="100000"/>
              <a:buChar char="●"/>
            </a:pPr>
            <a:r>
              <a:rPr lang="ja"/>
              <a:t>	以前は「どろぼうになってしまいますよ」と説明したことも。</a:t>
            </a:r>
            <a:endParaRPr/>
          </a:p>
          <a:p>
            <a:pPr marL="457200" lvl="0" indent="-264160" algn="l" rtl="0">
              <a:spcBef>
                <a:spcPts val="0"/>
              </a:spcBef>
              <a:spcAft>
                <a:spcPts val="0"/>
              </a:spcAft>
              <a:buSzPct val="100000"/>
              <a:buChar char="●"/>
            </a:pPr>
            <a:r>
              <a:rPr lang="ja"/>
              <a:t>15:55:53</a:t>
            </a:r>
            <a:endParaRPr/>
          </a:p>
          <a:p>
            <a:pPr marL="457200" lvl="0" indent="-264160" algn="l" rtl="0">
              <a:spcBef>
                <a:spcPts val="0"/>
              </a:spcBef>
              <a:spcAft>
                <a:spcPts val="0"/>
              </a:spcAft>
              <a:buSzPct val="100000"/>
              <a:buChar char="●"/>
            </a:pPr>
            <a:r>
              <a:rPr lang="ja"/>
              <a:t>	「大統領令」というのはもう一段ブレイクダウンして、「OSSのサプライチェーン管理を要求する大統領令」くらい書く方がいいかと。</a:t>
            </a:r>
            <a:endParaRPr/>
          </a:p>
          <a:p>
            <a:pPr marL="457200" lvl="0" indent="-264160" algn="l" rtl="0">
              <a:spcBef>
                <a:spcPts val="0"/>
              </a:spcBef>
              <a:spcAft>
                <a:spcPts val="0"/>
              </a:spcAft>
              <a:buSzPct val="100000"/>
              <a:buChar char="●"/>
            </a:pPr>
            <a:r>
              <a:rPr lang="ja"/>
              <a:t>15:56:58</a:t>
            </a:r>
            <a:endParaRPr/>
          </a:p>
          <a:p>
            <a:pPr marL="457200" lvl="0" indent="-264160" algn="l" rtl="0">
              <a:spcBef>
                <a:spcPts val="0"/>
              </a:spcBef>
              <a:spcAft>
                <a:spcPts val="0"/>
              </a:spcAft>
              <a:buSzPct val="100000"/>
              <a:buChar char="●"/>
            </a:pPr>
            <a:r>
              <a:rPr lang="ja"/>
              <a:t>	「No More OSS泥棒」（映画泥棒的に）って言ったことはあるなぁ</a:t>
            </a:r>
            <a:endParaRPr/>
          </a:p>
          <a:p>
            <a:pPr marL="457200" lvl="0" indent="-264160" algn="l" rtl="0">
              <a:spcBef>
                <a:spcPts val="0"/>
              </a:spcBef>
              <a:spcAft>
                <a:spcPts val="0"/>
              </a:spcAft>
              <a:buSzPct val="100000"/>
              <a:buChar char="●"/>
            </a:pPr>
            <a:r>
              <a:rPr lang="ja"/>
              <a:t>15:57:19</a:t>
            </a:r>
            <a:endParaRPr/>
          </a:p>
          <a:p>
            <a:pPr marL="457200" lvl="0" indent="-264160" algn="l" rtl="0">
              <a:spcBef>
                <a:spcPts val="0"/>
              </a:spcBef>
              <a:spcAft>
                <a:spcPts val="0"/>
              </a:spcAft>
              <a:buSzPct val="100000"/>
              <a:buChar char="●"/>
            </a:pPr>
            <a:r>
              <a:rPr lang="ja"/>
              <a:t>	大統領令の方はライセンス管理の観点よりもセキュリティ観点なんですよね。</a:t>
            </a:r>
            <a:endParaRPr/>
          </a:p>
          <a:p>
            <a:pPr marL="457200" lvl="0" indent="-264160" algn="l" rtl="0">
              <a:spcBef>
                <a:spcPts val="0"/>
              </a:spcBef>
              <a:spcAft>
                <a:spcPts val="0"/>
              </a:spcAft>
              <a:buSzPct val="100000"/>
              <a:buChar char="●"/>
            </a:pPr>
            <a:r>
              <a:rPr lang="ja"/>
              <a:t>15:57:27</a:t>
            </a:r>
            <a:endParaRPr/>
          </a:p>
          <a:p>
            <a:pPr marL="457200" lvl="0" indent="-264160" algn="l" rtl="0">
              <a:spcBef>
                <a:spcPts val="0"/>
              </a:spcBef>
              <a:spcAft>
                <a:spcPts val="0"/>
              </a:spcAft>
              <a:buSzPct val="100000"/>
              <a:buChar char="●"/>
            </a:pPr>
            <a:r>
              <a:rPr lang="ja"/>
              <a:t>	Reacted to "大統領令の方はライセンス管理の観点よりも..." with ??</a:t>
            </a:r>
            <a:endParaRPr/>
          </a:p>
          <a:p>
            <a:pPr marL="457200" lvl="0" indent="-264160" algn="l" rtl="0">
              <a:spcBef>
                <a:spcPts val="0"/>
              </a:spcBef>
              <a:spcAft>
                <a:spcPts val="0"/>
              </a:spcAft>
              <a:buSzPct val="100000"/>
              <a:buChar char="●"/>
            </a:pPr>
            <a:r>
              <a:rPr lang="ja"/>
              <a:t>15:57:52</a:t>
            </a:r>
            <a:endParaRPr/>
          </a:p>
          <a:p>
            <a:pPr marL="457200" lvl="0" indent="-264160" algn="l" rtl="0">
              <a:spcBef>
                <a:spcPts val="0"/>
              </a:spcBef>
              <a:spcAft>
                <a:spcPts val="0"/>
              </a:spcAft>
              <a:buSzPct val="100000"/>
              <a:buChar char="●"/>
            </a:pPr>
            <a:r>
              <a:rPr lang="ja"/>
              <a:t>	Reacted to "「No More OSS泥棒」（映画泥棒..." with ??</a:t>
            </a:r>
            <a:endParaRPr/>
          </a:p>
          <a:p>
            <a:pPr marL="457200" lvl="0" indent="-264160" algn="l" rtl="0">
              <a:spcBef>
                <a:spcPts val="0"/>
              </a:spcBef>
              <a:spcAft>
                <a:spcPts val="0"/>
              </a:spcAft>
              <a:buSzPct val="100000"/>
              <a:buChar char="●"/>
            </a:pPr>
            <a:r>
              <a:rPr lang="ja"/>
              <a:t>15:59:26</a:t>
            </a:r>
            <a:endParaRPr/>
          </a:p>
          <a:p>
            <a:pPr marL="457200" lvl="0" indent="-264160" algn="l" rtl="0">
              <a:spcBef>
                <a:spcPts val="0"/>
              </a:spcBef>
              <a:spcAft>
                <a:spcPts val="0"/>
              </a:spcAft>
              <a:buSzPct val="100000"/>
              <a:buChar char="●"/>
            </a:pPr>
            <a:r>
              <a:rPr lang="ja"/>
              <a:t>	東京五輪のロゴ盗用問題を引き合いに出したこともある…</a:t>
            </a:r>
            <a:endParaRPr/>
          </a:p>
          <a:p>
            <a:pPr marL="457200" lvl="0" indent="-264160" algn="l" rtl="0">
              <a:spcBef>
                <a:spcPts val="0"/>
              </a:spcBef>
              <a:spcAft>
                <a:spcPts val="0"/>
              </a:spcAft>
              <a:buSzPct val="100000"/>
              <a:buChar char="●"/>
            </a:pPr>
            <a:r>
              <a:rPr lang="ja"/>
              <a:t>16:00:17 </a:t>
            </a:r>
            <a:endParaRPr/>
          </a:p>
          <a:p>
            <a:pPr marL="457200" lvl="0" indent="-264160" algn="l" rtl="0">
              <a:spcBef>
                <a:spcPts val="0"/>
              </a:spcBef>
              <a:spcAft>
                <a:spcPts val="0"/>
              </a:spcAft>
              <a:buSzPct val="100000"/>
              <a:buChar char="●"/>
            </a:pPr>
            <a:r>
              <a:rPr lang="ja"/>
              <a:t>	Reacted to "東京五輪のロゴ盗用問題を引き合いに出した..." with ??</a:t>
            </a:r>
            <a:endParaRPr/>
          </a:p>
          <a:p>
            <a:pPr marL="457200" lvl="0" indent="-264160" algn="l" rtl="0">
              <a:spcBef>
                <a:spcPts val="0"/>
              </a:spcBef>
              <a:spcAft>
                <a:spcPts val="0"/>
              </a:spcAft>
              <a:buSzPct val="100000"/>
              <a:buChar char="●"/>
            </a:pP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40"/>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Clr>
                <a:schemeClr val="dk1"/>
              </a:buClr>
              <a:buSzPts val="1100"/>
              <a:buFont typeface="Arial"/>
              <a:buNone/>
            </a:pPr>
            <a:r>
              <a:rPr lang="ja"/>
              <a:t>OSSのメリット・OSPOの役割とOSSの理解度の関係</a:t>
            </a:r>
            <a:endParaRPr/>
          </a:p>
        </p:txBody>
      </p:sp>
      <p:sp>
        <p:nvSpPr>
          <p:cNvPr id="304" name="Google Shape;304;p40"/>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rmAutofit fontScale="77500" lnSpcReduction="10000"/>
          </a:bodyPr>
          <a:lstStyle/>
          <a:p>
            <a:pPr marL="457200" lvl="0" indent="-317182" algn="l" rtl="0">
              <a:spcBef>
                <a:spcPts val="0"/>
              </a:spcBef>
              <a:spcAft>
                <a:spcPts val="0"/>
              </a:spcAft>
              <a:buSzPct val="100000"/>
              <a:buChar char="•"/>
            </a:pPr>
            <a:r>
              <a:rPr lang="ja"/>
              <a:t>OSSやコミュニティの理解が深まるとOSSのメリットの見え方が変化する</a:t>
            </a:r>
            <a:endParaRPr/>
          </a:p>
          <a:p>
            <a:pPr marL="457200" lvl="0" indent="-317182" algn="l" rtl="0">
              <a:spcBef>
                <a:spcPts val="0"/>
              </a:spcBef>
              <a:spcAft>
                <a:spcPts val="0"/>
              </a:spcAft>
              <a:buSzPct val="100000"/>
              <a:buChar char="•"/>
            </a:pPr>
            <a:r>
              <a:rPr lang="ja"/>
              <a:t>OSSやコミュニティの理解が深まるとOSPOの役割が変化する</a:t>
            </a:r>
            <a:endParaRPr/>
          </a:p>
          <a:p>
            <a:pPr marL="457200" lvl="0" indent="-317182" algn="l" rtl="0">
              <a:spcBef>
                <a:spcPts val="0"/>
              </a:spcBef>
              <a:spcAft>
                <a:spcPts val="0"/>
              </a:spcAft>
              <a:buSzPct val="100000"/>
              <a:buChar char="•"/>
            </a:pPr>
            <a:r>
              <a:rPr lang="ja"/>
              <a:t>OSSの理解の深まりのステップ</a:t>
            </a:r>
            <a:endParaRPr/>
          </a:p>
          <a:p>
            <a:pPr marL="914400" lvl="0" indent="-317182" algn="l" rtl="0">
              <a:spcBef>
                <a:spcPts val="0"/>
              </a:spcBef>
              <a:spcAft>
                <a:spcPts val="0"/>
              </a:spcAft>
              <a:buSzPct val="100000"/>
              <a:buAutoNum type="arabicPeriod"/>
            </a:pPr>
            <a:r>
              <a:rPr lang="ja"/>
              <a:t>OSS ＝ ソースコードが開示され、自由な複製、改変、配布が許諾されているソフトウェア</a:t>
            </a:r>
            <a:endParaRPr/>
          </a:p>
          <a:p>
            <a:pPr marL="1371600" lvl="1" indent="-302418" algn="l" rtl="0">
              <a:spcBef>
                <a:spcPts val="0"/>
              </a:spcBef>
              <a:spcAft>
                <a:spcPts val="0"/>
              </a:spcAft>
              <a:buSzPct val="100000"/>
              <a:buChar char="•"/>
            </a:pPr>
            <a:r>
              <a:rPr lang="ja"/>
              <a:t>「無料なので得」</a:t>
            </a:r>
            <a:endParaRPr/>
          </a:p>
          <a:p>
            <a:pPr marL="914400" lvl="0" indent="-317182" algn="l" rtl="0">
              <a:spcBef>
                <a:spcPts val="0"/>
              </a:spcBef>
              <a:spcAft>
                <a:spcPts val="0"/>
              </a:spcAft>
              <a:buSzPct val="100000"/>
              <a:buAutoNum type="arabicPeriod"/>
            </a:pPr>
            <a:r>
              <a:rPr lang="ja"/>
              <a:t>Copyright表記やライセンス提示等のライセンス条件に従わないといけない</a:t>
            </a:r>
            <a:endParaRPr/>
          </a:p>
          <a:p>
            <a:pPr marL="1371600" lvl="1" indent="-302418" algn="l" rtl="0">
              <a:spcBef>
                <a:spcPts val="0"/>
              </a:spcBef>
              <a:spcAft>
                <a:spcPts val="0"/>
              </a:spcAft>
              <a:buSzPct val="100000"/>
              <a:buChar char="•"/>
            </a:pPr>
            <a:r>
              <a:rPr lang="ja"/>
              <a:t>「ライセンスをしっかり理解して確実に対応すべき」</a:t>
            </a:r>
            <a:endParaRPr/>
          </a:p>
          <a:p>
            <a:pPr marL="914400" lvl="0" indent="-317182" algn="l" rtl="0">
              <a:spcBef>
                <a:spcPts val="0"/>
              </a:spcBef>
              <a:spcAft>
                <a:spcPts val="0"/>
              </a:spcAft>
              <a:buSzPct val="100000"/>
              <a:buAutoNum type="arabicPeriod"/>
            </a:pPr>
            <a:r>
              <a:rPr lang="ja"/>
              <a:t>品質は高いが保証がない</a:t>
            </a:r>
            <a:endParaRPr/>
          </a:p>
          <a:p>
            <a:pPr marL="1371600" lvl="1" indent="-302418" algn="l" rtl="0">
              <a:spcBef>
                <a:spcPts val="0"/>
              </a:spcBef>
              <a:spcAft>
                <a:spcPts val="0"/>
              </a:spcAft>
              <a:buSzPct val="100000"/>
              <a:buChar char="•"/>
            </a:pPr>
            <a:r>
              <a:rPr lang="ja"/>
              <a:t>「商用保証は自社で行う必要がある」</a:t>
            </a:r>
            <a:endParaRPr/>
          </a:p>
          <a:p>
            <a:pPr marL="914400" lvl="0" indent="-317182" algn="l" rtl="0">
              <a:spcBef>
                <a:spcPts val="0"/>
              </a:spcBef>
              <a:spcAft>
                <a:spcPts val="0"/>
              </a:spcAft>
              <a:buSzPct val="100000"/>
              <a:buAutoNum type="arabicPeriod"/>
            </a:pPr>
            <a:r>
              <a:rPr lang="ja"/>
              <a:t>品質が高いのは多くの技術者が開発や利用（検証）に関わっているから</a:t>
            </a:r>
            <a:endParaRPr/>
          </a:p>
          <a:p>
            <a:pPr marL="1371600" lvl="1" indent="-302418" algn="l" rtl="0">
              <a:spcBef>
                <a:spcPts val="0"/>
              </a:spcBef>
              <a:spcAft>
                <a:spcPts val="0"/>
              </a:spcAft>
              <a:buSzPct val="100000"/>
              <a:buChar char="•"/>
            </a:pPr>
            <a:r>
              <a:rPr lang="ja"/>
              <a:t>どれだけの人が関わっているかによって品質にばらつきがある</a:t>
            </a:r>
            <a:endParaRPr/>
          </a:p>
          <a:p>
            <a:pPr marL="1371600" lvl="1" indent="-302418" algn="l" rtl="0">
              <a:spcBef>
                <a:spcPts val="0"/>
              </a:spcBef>
              <a:spcAft>
                <a:spcPts val="0"/>
              </a:spcAft>
              <a:buSzPct val="100000"/>
              <a:buChar char="•"/>
            </a:pPr>
            <a:r>
              <a:rPr lang="ja"/>
              <a:t>「開発コミュニティについて知っておくべき」</a:t>
            </a:r>
            <a:endParaRPr/>
          </a:p>
          <a:p>
            <a:pPr marL="914400" lvl="0" indent="-317182" algn="l" rtl="0">
              <a:spcBef>
                <a:spcPts val="0"/>
              </a:spcBef>
              <a:spcAft>
                <a:spcPts val="0"/>
              </a:spcAft>
              <a:buSzPct val="100000"/>
              <a:buAutoNum type="arabicPeriod"/>
            </a:pPr>
            <a:r>
              <a:rPr lang="ja"/>
              <a:t>自社修正をコミュニティに提供しないと製品をサポートできなくなる</a:t>
            </a:r>
            <a:endParaRPr/>
          </a:p>
          <a:p>
            <a:pPr marL="1371600" lvl="1" indent="-302418" algn="l" rtl="0">
              <a:spcBef>
                <a:spcPts val="0"/>
              </a:spcBef>
              <a:spcAft>
                <a:spcPts val="0"/>
              </a:spcAft>
              <a:buSzPct val="100000"/>
              <a:buChar char="•"/>
            </a:pPr>
            <a:r>
              <a:rPr lang="ja"/>
              <a:t>修正を自社にとどめると、自社で最初から開発するよりコストがかかる</a:t>
            </a:r>
            <a:endParaRPr/>
          </a:p>
          <a:p>
            <a:pPr marL="1828800" lvl="2" indent="-287655" algn="l" rtl="0">
              <a:spcBef>
                <a:spcPts val="0"/>
              </a:spcBef>
              <a:spcAft>
                <a:spcPts val="0"/>
              </a:spcAft>
              <a:buSzPct val="100000"/>
              <a:buChar char="•"/>
            </a:pPr>
            <a:r>
              <a:rPr lang="ja"/>
              <a:t>OSSのバージョンアップにキャッチアップしてゆくために、自社でバックポートすることになる</a:t>
            </a:r>
            <a:endParaRPr/>
          </a:p>
          <a:p>
            <a:pPr marL="1828800" lvl="2" indent="-287655" algn="l" rtl="0">
              <a:spcBef>
                <a:spcPts val="0"/>
              </a:spcBef>
              <a:spcAft>
                <a:spcPts val="0"/>
              </a:spcAft>
              <a:buSzPct val="100000"/>
              <a:buChar char="•"/>
            </a:pPr>
            <a:r>
              <a:rPr lang="ja"/>
              <a:t>バックポートをあきらめると、自社修正OSSに結合しているOSSのバージョンアップもできなくなる</a:t>
            </a:r>
            <a:endParaRPr/>
          </a:p>
          <a:p>
            <a:pPr marL="914400" lvl="0" indent="-317182" algn="l" rtl="0">
              <a:spcBef>
                <a:spcPts val="0"/>
              </a:spcBef>
              <a:spcAft>
                <a:spcPts val="0"/>
              </a:spcAft>
              <a:buSzPct val="100000"/>
              <a:buAutoNum type="arabicPeriod"/>
            </a:pPr>
            <a:r>
              <a:rPr lang="ja"/>
              <a:t>コミュニティの中で共同で修正する方がよい結果が得られる</a:t>
            </a:r>
            <a:endParaRPr/>
          </a:p>
          <a:p>
            <a:pPr marL="914400" lvl="0" indent="-317182" algn="l" rtl="0">
              <a:spcBef>
                <a:spcPts val="0"/>
              </a:spcBef>
              <a:spcAft>
                <a:spcPts val="0"/>
              </a:spcAft>
              <a:buSzPct val="100000"/>
              <a:buAutoNum type="arabicPeriod"/>
            </a:pPr>
            <a:r>
              <a:rPr lang="ja"/>
              <a:t>貢献することで、コミュニティが活発化・安定化することで、製品保証がしやすくなる</a:t>
            </a:r>
            <a:endParaRPr/>
          </a:p>
          <a:p>
            <a:pPr marL="914400" lvl="0" indent="-317182" algn="l" rtl="0">
              <a:spcBef>
                <a:spcPts val="0"/>
              </a:spcBef>
              <a:spcAft>
                <a:spcPts val="0"/>
              </a:spcAft>
              <a:buSzPct val="100000"/>
              <a:buAutoNum type="arabicPeriod"/>
            </a:pPr>
            <a:r>
              <a:rPr lang="ja"/>
              <a:t>製品に重要なOSSのコミュニティを自社が中心となって運営することで、製品の差異化を図れる</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41"/>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a:t>Q: OSSを活用する、OSS活動のメリットは何ですか</a:t>
            </a:r>
            <a:endParaRPr/>
          </a:p>
        </p:txBody>
      </p:sp>
      <p:pic>
        <p:nvPicPr>
          <p:cNvPr id="310" name="Google Shape;310;p41"/>
          <p:cNvPicPr preferRelativeResize="0"/>
          <p:nvPr/>
        </p:nvPicPr>
        <p:blipFill rotWithShape="1">
          <a:blip r:embed="rId3">
            <a:alphaModFix/>
          </a:blip>
          <a:srcRect l="13179" t="-1800" r="-13179" b="1800"/>
          <a:stretch/>
        </p:blipFill>
        <p:spPr>
          <a:xfrm>
            <a:off x="220526" y="1680322"/>
            <a:ext cx="8569399" cy="3036700"/>
          </a:xfrm>
          <a:prstGeom prst="rect">
            <a:avLst/>
          </a:prstGeom>
          <a:noFill/>
          <a:ln>
            <a:noFill/>
          </a:ln>
        </p:spPr>
      </p:pic>
      <p:sp>
        <p:nvSpPr>
          <p:cNvPr id="311" name="Google Shape;311;p41"/>
          <p:cNvSpPr txBox="1"/>
          <p:nvPr/>
        </p:nvSpPr>
        <p:spPr>
          <a:xfrm>
            <a:off x="4832625" y="4422950"/>
            <a:ext cx="4209300" cy="664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ja" sz="700" u="sng">
                <a:solidFill>
                  <a:schemeClr val="hlink"/>
                </a:solidFill>
                <a:hlinkClick r:id="rId4"/>
              </a:rPr>
              <a:t>https://www.linuxfoundation.jp/wp-content/uploads/2022/11/ja_LFR_LFAID_Deep_Dive_Open_Source_Program_Offices_0830.pdf</a:t>
            </a:r>
            <a:endParaRPr sz="700" u="sng">
              <a:solidFill>
                <a:schemeClr val="hlink"/>
              </a:solidFill>
            </a:endParaRPr>
          </a:p>
          <a:p>
            <a:pPr marL="0" lvl="0" indent="0" algn="l" rtl="0">
              <a:lnSpc>
                <a:spcPct val="115000"/>
              </a:lnSpc>
              <a:spcBef>
                <a:spcPts val="0"/>
              </a:spcBef>
              <a:spcAft>
                <a:spcPts val="0"/>
              </a:spcAft>
              <a:buClr>
                <a:schemeClr val="dk1"/>
              </a:buClr>
              <a:buSzPts val="1100"/>
              <a:buFont typeface="Arial"/>
              <a:buNone/>
            </a:pPr>
            <a:r>
              <a:rPr lang="ja" sz="700">
                <a:solidFill>
                  <a:schemeClr val="dk1"/>
                </a:solidFill>
              </a:rPr>
              <a:t>Ibrahim Haddad, “</a:t>
            </a:r>
            <a:r>
              <a:rPr lang="ja" sz="700" b="1">
                <a:solidFill>
                  <a:schemeClr val="dk1"/>
                </a:solidFill>
              </a:rPr>
              <a:t>A Deep Dive Into Open Source Program Offices:</a:t>
            </a:r>
            <a:endParaRPr sz="700" b="1">
              <a:solidFill>
                <a:schemeClr val="dk1"/>
              </a:solidFill>
            </a:endParaRPr>
          </a:p>
          <a:p>
            <a:pPr marL="0" lvl="0" indent="0" algn="l" rtl="0">
              <a:lnSpc>
                <a:spcPct val="115000"/>
              </a:lnSpc>
              <a:spcBef>
                <a:spcPts val="0"/>
              </a:spcBef>
              <a:spcAft>
                <a:spcPts val="0"/>
              </a:spcAft>
              <a:buNone/>
            </a:pPr>
            <a:r>
              <a:rPr lang="ja" sz="700" b="1">
                <a:solidFill>
                  <a:schemeClr val="dk1"/>
                </a:solidFill>
              </a:rPr>
              <a:t>Structure, Roles, Responsibilities, and Challenges </a:t>
            </a:r>
            <a:r>
              <a:rPr lang="ja" sz="700">
                <a:solidFill>
                  <a:schemeClr val="dk1"/>
                </a:solidFill>
              </a:rPr>
              <a:t>“ foreword by Chris Aniszczyk, August, 2022</a:t>
            </a:r>
            <a:endParaRPr sz="800"/>
          </a:p>
        </p:txBody>
      </p:sp>
      <p:grpSp>
        <p:nvGrpSpPr>
          <p:cNvPr id="312" name="Google Shape;312;p41"/>
          <p:cNvGrpSpPr/>
          <p:nvPr/>
        </p:nvGrpSpPr>
        <p:grpSpPr>
          <a:xfrm>
            <a:off x="874325" y="1899650"/>
            <a:ext cx="5919925" cy="2446800"/>
            <a:chOff x="874325" y="1899650"/>
            <a:chExt cx="5919925" cy="2446800"/>
          </a:xfrm>
        </p:grpSpPr>
        <p:sp>
          <p:nvSpPr>
            <p:cNvPr id="313" name="Google Shape;313;p41"/>
            <p:cNvSpPr/>
            <p:nvPr/>
          </p:nvSpPr>
          <p:spPr>
            <a:xfrm>
              <a:off x="4572000" y="3026025"/>
              <a:ext cx="1984500" cy="1278300"/>
            </a:xfrm>
            <a:prstGeom prst="wedgeRectCallout">
              <a:avLst>
                <a:gd name="adj1" fmla="val -49565"/>
                <a:gd name="adj2" fmla="val -16530"/>
              </a:avLst>
            </a:prstGeom>
            <a:solidFill>
              <a:srgbClr val="FF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SzPts val="1000"/>
                <a:buChar char="●"/>
              </a:pPr>
              <a:r>
                <a:rPr lang="ja" sz="1000"/>
                <a:t>リーダーシップ</a:t>
              </a:r>
              <a:endParaRPr sz="1000"/>
            </a:p>
            <a:p>
              <a:pPr marL="269999" lvl="1" indent="-168275" algn="l" rtl="0">
                <a:spcBef>
                  <a:spcPts val="0"/>
                </a:spcBef>
                <a:spcAft>
                  <a:spcPts val="0"/>
                </a:spcAft>
                <a:buSzPts val="1000"/>
                <a:buChar char="○"/>
              </a:pPr>
              <a:r>
                <a:rPr lang="ja" sz="1000"/>
                <a:t>コミュニティのリーダーとして意思決定の中心メンバー</a:t>
              </a:r>
              <a:endParaRPr sz="1000"/>
            </a:p>
            <a:p>
              <a:pPr marL="89999" lvl="0" indent="-158750" algn="l" rtl="0">
                <a:spcBef>
                  <a:spcPts val="0"/>
                </a:spcBef>
                <a:spcAft>
                  <a:spcPts val="0"/>
                </a:spcAft>
                <a:buSzPts val="1000"/>
                <a:buChar char="●"/>
              </a:pPr>
              <a:r>
                <a:rPr lang="ja" sz="1000"/>
                <a:t>エンゲージメント</a:t>
              </a:r>
              <a:endParaRPr sz="1000"/>
            </a:p>
            <a:p>
              <a:pPr marL="269999" lvl="1" indent="-168275" algn="l" rtl="0">
                <a:spcBef>
                  <a:spcPts val="0"/>
                </a:spcBef>
                <a:spcAft>
                  <a:spcPts val="0"/>
                </a:spcAft>
                <a:buSzPts val="1000"/>
                <a:buChar char="○"/>
              </a:pPr>
              <a:r>
                <a:rPr lang="ja" sz="1000"/>
                <a:t>意思決定会議参加者</a:t>
              </a:r>
              <a:endParaRPr sz="1000"/>
            </a:p>
            <a:p>
              <a:pPr marL="89999" lvl="0" indent="-158750" algn="l" rtl="0">
                <a:spcBef>
                  <a:spcPts val="0"/>
                </a:spcBef>
                <a:spcAft>
                  <a:spcPts val="0"/>
                </a:spcAft>
                <a:buSzPts val="1000"/>
                <a:buChar char="●"/>
              </a:pPr>
              <a:r>
                <a:rPr lang="ja" sz="1000"/>
                <a:t>コミュニティ教育</a:t>
              </a:r>
              <a:endParaRPr sz="1000"/>
            </a:p>
            <a:p>
              <a:pPr marL="269999" lvl="1" indent="-168275" algn="l" rtl="0">
                <a:spcBef>
                  <a:spcPts val="0"/>
                </a:spcBef>
                <a:spcAft>
                  <a:spcPts val="0"/>
                </a:spcAft>
                <a:buSzPts val="1000"/>
                <a:buChar char="○"/>
              </a:pPr>
              <a:r>
                <a:rPr lang="ja" sz="1000"/>
                <a:t>初期の貢献者</a:t>
              </a:r>
              <a:endParaRPr sz="1000"/>
            </a:p>
          </p:txBody>
        </p:sp>
        <p:sp>
          <p:nvSpPr>
            <p:cNvPr id="314" name="Google Shape;314;p41"/>
            <p:cNvSpPr/>
            <p:nvPr/>
          </p:nvSpPr>
          <p:spPr>
            <a:xfrm>
              <a:off x="874325" y="3236925"/>
              <a:ext cx="1234200" cy="1109400"/>
            </a:xfrm>
            <a:prstGeom prst="donut">
              <a:avLst>
                <a:gd name="adj" fmla="val 3730"/>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5" name="Google Shape;315;p41"/>
            <p:cNvSpPr/>
            <p:nvPr/>
          </p:nvSpPr>
          <p:spPr>
            <a:xfrm>
              <a:off x="2083350" y="1899650"/>
              <a:ext cx="4710900" cy="24468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6" name="Google Shape;316;p41"/>
            <p:cNvSpPr/>
            <p:nvPr/>
          </p:nvSpPr>
          <p:spPr>
            <a:xfrm>
              <a:off x="2042775" y="3943625"/>
              <a:ext cx="117300" cy="3606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7" name="Google Shape;317;p41"/>
            <p:cNvSpPr/>
            <p:nvPr/>
          </p:nvSpPr>
          <p:spPr>
            <a:xfrm>
              <a:off x="2013750" y="4037325"/>
              <a:ext cx="117300" cy="2670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8" name="Google Shape;318;p41"/>
            <p:cNvSpPr/>
            <p:nvPr/>
          </p:nvSpPr>
          <p:spPr>
            <a:xfrm>
              <a:off x="1976725" y="4079325"/>
              <a:ext cx="117300" cy="2250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9" name="Google Shape;319;p41"/>
            <p:cNvSpPr/>
            <p:nvPr/>
          </p:nvSpPr>
          <p:spPr>
            <a:xfrm>
              <a:off x="1940875" y="4135675"/>
              <a:ext cx="117300" cy="183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0" name="Google Shape;320;p41"/>
            <p:cNvSpPr/>
            <p:nvPr/>
          </p:nvSpPr>
          <p:spPr>
            <a:xfrm>
              <a:off x="1896450" y="4162425"/>
              <a:ext cx="117300" cy="14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1" name="Google Shape;321;p41"/>
            <p:cNvSpPr/>
            <p:nvPr/>
          </p:nvSpPr>
          <p:spPr>
            <a:xfrm>
              <a:off x="1835425" y="4204425"/>
              <a:ext cx="117300" cy="1152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2" name="Google Shape;322;p41"/>
            <p:cNvSpPr/>
            <p:nvPr/>
          </p:nvSpPr>
          <p:spPr>
            <a:xfrm>
              <a:off x="1779150" y="4252400"/>
              <a:ext cx="1173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3" name="Google Shape;323;p41"/>
            <p:cNvSpPr/>
            <p:nvPr/>
          </p:nvSpPr>
          <p:spPr>
            <a:xfrm>
              <a:off x="1127225" y="4252400"/>
              <a:ext cx="1173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4" name="Google Shape;324;p41"/>
            <p:cNvSpPr/>
            <p:nvPr/>
          </p:nvSpPr>
          <p:spPr>
            <a:xfrm>
              <a:off x="1718125" y="4267725"/>
              <a:ext cx="1173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5" name="Google Shape;325;p41"/>
            <p:cNvSpPr/>
            <p:nvPr/>
          </p:nvSpPr>
          <p:spPr>
            <a:xfrm>
              <a:off x="2058175" y="3450300"/>
              <a:ext cx="117300" cy="183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6" name="Google Shape;326;p41"/>
            <p:cNvSpPr/>
            <p:nvPr/>
          </p:nvSpPr>
          <p:spPr>
            <a:xfrm>
              <a:off x="1985889" y="3330550"/>
              <a:ext cx="117300" cy="183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7" name="Google Shape;327;p41"/>
            <p:cNvSpPr/>
            <p:nvPr/>
          </p:nvSpPr>
          <p:spPr>
            <a:xfrm>
              <a:off x="2026239" y="3389575"/>
              <a:ext cx="117300" cy="183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328" name="Google Shape;328;p41"/>
          <p:cNvSpPr/>
          <p:nvPr/>
        </p:nvSpPr>
        <p:spPr>
          <a:xfrm>
            <a:off x="39275" y="2375625"/>
            <a:ext cx="2293200" cy="861300"/>
          </a:xfrm>
          <a:prstGeom prst="wedgeRectCallout">
            <a:avLst>
              <a:gd name="adj1" fmla="val 7120"/>
              <a:gd name="adj2" fmla="val 130152"/>
            </a:avLst>
          </a:prstGeom>
          <a:solidFill>
            <a:schemeClr val="l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89999" lvl="0" indent="-149225" algn="l" rtl="0">
              <a:spcBef>
                <a:spcPts val="0"/>
              </a:spcBef>
              <a:spcAft>
                <a:spcPts val="0"/>
              </a:spcAft>
              <a:buSzPts val="1000"/>
              <a:buChar char="●"/>
            </a:pPr>
            <a:r>
              <a:rPr lang="ja" sz="1000"/>
              <a:t>既にあるソフトを使える（開発を楽できる）</a:t>
            </a:r>
            <a:endParaRPr sz="1000"/>
          </a:p>
          <a:p>
            <a:pPr marL="89999" lvl="0" indent="-149225" algn="l" rtl="0">
              <a:spcBef>
                <a:spcPts val="0"/>
              </a:spcBef>
              <a:spcAft>
                <a:spcPts val="0"/>
              </a:spcAft>
              <a:buSzPts val="1000"/>
              <a:buChar char="●"/>
            </a:pPr>
            <a:r>
              <a:rPr lang="ja" sz="1000"/>
              <a:t>最先端のソフト（技術）を使える</a:t>
            </a:r>
            <a:endParaRPr sz="1000"/>
          </a:p>
          <a:p>
            <a:pPr marL="89999" lvl="0" indent="-149225" algn="l" rtl="0">
              <a:spcBef>
                <a:spcPts val="0"/>
              </a:spcBef>
              <a:spcAft>
                <a:spcPts val="0"/>
              </a:spcAft>
              <a:buSzPts val="1000"/>
              <a:buChar char="●"/>
            </a:pPr>
            <a:r>
              <a:rPr lang="ja" sz="1000"/>
              <a:t>多くの人が集まって作ったソフトなので、レベルが高い</a:t>
            </a:r>
            <a:endParaRPr sz="1000"/>
          </a:p>
        </p:txBody>
      </p:sp>
      <p:sp>
        <p:nvSpPr>
          <p:cNvPr id="329" name="Google Shape;329;p41"/>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0" lvl="0" indent="0" algn="l" rtl="0">
              <a:spcBef>
                <a:spcPts val="0"/>
              </a:spcBef>
              <a:spcAft>
                <a:spcPts val="0"/>
              </a:spcAft>
              <a:buNone/>
            </a:pP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42"/>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a:t>Q: OSSを活用する、OSS活動のメリットは何ですか</a:t>
            </a:r>
            <a:endParaRPr/>
          </a:p>
        </p:txBody>
      </p:sp>
      <p:pic>
        <p:nvPicPr>
          <p:cNvPr id="335" name="Google Shape;335;p42"/>
          <p:cNvPicPr preferRelativeResize="0"/>
          <p:nvPr/>
        </p:nvPicPr>
        <p:blipFill rotWithShape="1">
          <a:blip r:embed="rId3">
            <a:alphaModFix/>
          </a:blip>
          <a:srcRect l="13179" t="-1800" r="-13179" b="1800"/>
          <a:stretch/>
        </p:blipFill>
        <p:spPr>
          <a:xfrm>
            <a:off x="220526" y="1680322"/>
            <a:ext cx="8569399" cy="3036700"/>
          </a:xfrm>
          <a:prstGeom prst="rect">
            <a:avLst/>
          </a:prstGeom>
          <a:noFill/>
          <a:ln>
            <a:noFill/>
          </a:ln>
        </p:spPr>
      </p:pic>
      <p:sp>
        <p:nvSpPr>
          <p:cNvPr id="336" name="Google Shape;336;p42"/>
          <p:cNvSpPr txBox="1"/>
          <p:nvPr/>
        </p:nvSpPr>
        <p:spPr>
          <a:xfrm>
            <a:off x="4832625" y="4422950"/>
            <a:ext cx="4209300" cy="664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ja" sz="700" u="sng">
                <a:solidFill>
                  <a:schemeClr val="hlink"/>
                </a:solidFill>
                <a:hlinkClick r:id="rId4"/>
              </a:rPr>
              <a:t>https://www.linuxfoundation.jp/wp-content/uploads/2022/11/ja_LFR_LFAID_Deep_Dive_Open_Source_Program_Offices_0830.pdf</a:t>
            </a:r>
            <a:endParaRPr sz="700" u="sng">
              <a:solidFill>
                <a:schemeClr val="hlink"/>
              </a:solidFill>
            </a:endParaRPr>
          </a:p>
          <a:p>
            <a:pPr marL="0" lvl="0" indent="0" algn="l" rtl="0">
              <a:lnSpc>
                <a:spcPct val="115000"/>
              </a:lnSpc>
              <a:spcBef>
                <a:spcPts val="0"/>
              </a:spcBef>
              <a:spcAft>
                <a:spcPts val="0"/>
              </a:spcAft>
              <a:buClr>
                <a:schemeClr val="dk1"/>
              </a:buClr>
              <a:buSzPts val="1100"/>
              <a:buFont typeface="Arial"/>
              <a:buNone/>
            </a:pPr>
            <a:r>
              <a:rPr lang="ja" sz="700">
                <a:solidFill>
                  <a:schemeClr val="dk1"/>
                </a:solidFill>
              </a:rPr>
              <a:t>Ibrahim Haddad, “</a:t>
            </a:r>
            <a:r>
              <a:rPr lang="ja" sz="700" b="1">
                <a:solidFill>
                  <a:schemeClr val="dk1"/>
                </a:solidFill>
              </a:rPr>
              <a:t>A Deep Dive Into Open Source Program Offices:</a:t>
            </a:r>
            <a:endParaRPr sz="700" b="1">
              <a:solidFill>
                <a:schemeClr val="dk1"/>
              </a:solidFill>
            </a:endParaRPr>
          </a:p>
          <a:p>
            <a:pPr marL="0" lvl="0" indent="0" algn="l" rtl="0">
              <a:lnSpc>
                <a:spcPct val="115000"/>
              </a:lnSpc>
              <a:spcBef>
                <a:spcPts val="0"/>
              </a:spcBef>
              <a:spcAft>
                <a:spcPts val="0"/>
              </a:spcAft>
              <a:buNone/>
            </a:pPr>
            <a:r>
              <a:rPr lang="ja" sz="700" b="1">
                <a:solidFill>
                  <a:schemeClr val="dk1"/>
                </a:solidFill>
              </a:rPr>
              <a:t>Structure, Roles, Responsibilities, and Challenges </a:t>
            </a:r>
            <a:r>
              <a:rPr lang="ja" sz="700">
                <a:solidFill>
                  <a:schemeClr val="dk1"/>
                </a:solidFill>
              </a:rPr>
              <a:t>“ foreword by Chris Aniszczyk, August, 2022</a:t>
            </a:r>
            <a:endParaRPr sz="800"/>
          </a:p>
        </p:txBody>
      </p:sp>
      <p:grpSp>
        <p:nvGrpSpPr>
          <p:cNvPr id="337" name="Google Shape;337;p42"/>
          <p:cNvGrpSpPr/>
          <p:nvPr/>
        </p:nvGrpSpPr>
        <p:grpSpPr>
          <a:xfrm>
            <a:off x="874325" y="1899650"/>
            <a:ext cx="5920000" cy="2446800"/>
            <a:chOff x="874325" y="1899650"/>
            <a:chExt cx="5920000" cy="2446800"/>
          </a:xfrm>
        </p:grpSpPr>
        <p:sp>
          <p:nvSpPr>
            <p:cNvPr id="338" name="Google Shape;338;p42"/>
            <p:cNvSpPr/>
            <p:nvPr/>
          </p:nvSpPr>
          <p:spPr>
            <a:xfrm>
              <a:off x="4572000" y="3026025"/>
              <a:ext cx="1984500" cy="1278300"/>
            </a:xfrm>
            <a:prstGeom prst="wedgeRectCallout">
              <a:avLst>
                <a:gd name="adj1" fmla="val -49565"/>
                <a:gd name="adj2" fmla="val -16530"/>
              </a:avLst>
            </a:prstGeom>
            <a:solidFill>
              <a:srgbClr val="FF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SzPts val="1000"/>
                <a:buChar char="●"/>
              </a:pPr>
              <a:r>
                <a:rPr lang="ja" sz="1000"/>
                <a:t>リーダーシップ</a:t>
              </a:r>
              <a:endParaRPr sz="1000"/>
            </a:p>
            <a:p>
              <a:pPr marL="269999" lvl="1" indent="-168275" algn="l" rtl="0">
                <a:spcBef>
                  <a:spcPts val="0"/>
                </a:spcBef>
                <a:spcAft>
                  <a:spcPts val="0"/>
                </a:spcAft>
                <a:buSzPts val="1000"/>
                <a:buChar char="○"/>
              </a:pPr>
              <a:r>
                <a:rPr lang="ja" sz="1000"/>
                <a:t>コミュニティのリーダーとして意思決定の中心メンバー</a:t>
              </a:r>
              <a:endParaRPr sz="1000"/>
            </a:p>
            <a:p>
              <a:pPr marL="89999" lvl="0" indent="-158750" algn="l" rtl="0">
                <a:spcBef>
                  <a:spcPts val="0"/>
                </a:spcBef>
                <a:spcAft>
                  <a:spcPts val="0"/>
                </a:spcAft>
                <a:buSzPts val="1000"/>
                <a:buChar char="●"/>
              </a:pPr>
              <a:r>
                <a:rPr lang="ja" sz="1000"/>
                <a:t>エンゲージメント</a:t>
              </a:r>
              <a:endParaRPr sz="1000"/>
            </a:p>
            <a:p>
              <a:pPr marL="269999" lvl="1" indent="-168275" algn="l" rtl="0">
                <a:spcBef>
                  <a:spcPts val="0"/>
                </a:spcBef>
                <a:spcAft>
                  <a:spcPts val="0"/>
                </a:spcAft>
                <a:buSzPts val="1000"/>
                <a:buChar char="○"/>
              </a:pPr>
              <a:r>
                <a:rPr lang="ja" sz="1000"/>
                <a:t>意思決定会議参加者</a:t>
              </a:r>
              <a:endParaRPr sz="1000"/>
            </a:p>
            <a:p>
              <a:pPr marL="89999" lvl="0" indent="-158750" algn="l" rtl="0">
                <a:spcBef>
                  <a:spcPts val="0"/>
                </a:spcBef>
                <a:spcAft>
                  <a:spcPts val="0"/>
                </a:spcAft>
                <a:buSzPts val="1000"/>
                <a:buChar char="●"/>
              </a:pPr>
              <a:r>
                <a:rPr lang="ja" sz="1000"/>
                <a:t>コミュニティ教育</a:t>
              </a:r>
              <a:endParaRPr sz="1000"/>
            </a:p>
            <a:p>
              <a:pPr marL="269999" lvl="1" indent="-168275" algn="l" rtl="0">
                <a:spcBef>
                  <a:spcPts val="0"/>
                </a:spcBef>
                <a:spcAft>
                  <a:spcPts val="0"/>
                </a:spcAft>
                <a:buSzPts val="1000"/>
                <a:buChar char="○"/>
              </a:pPr>
              <a:r>
                <a:rPr lang="ja" sz="1000"/>
                <a:t>初期の貢献者</a:t>
              </a:r>
              <a:endParaRPr sz="1000"/>
            </a:p>
          </p:txBody>
        </p:sp>
        <p:sp>
          <p:nvSpPr>
            <p:cNvPr id="339" name="Google Shape;339;p42"/>
            <p:cNvSpPr/>
            <p:nvPr/>
          </p:nvSpPr>
          <p:spPr>
            <a:xfrm>
              <a:off x="874325" y="3029925"/>
              <a:ext cx="2476200" cy="1316400"/>
            </a:xfrm>
            <a:prstGeom prst="donut">
              <a:avLst>
                <a:gd name="adj" fmla="val 3730"/>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0" name="Google Shape;340;p42"/>
            <p:cNvSpPr/>
            <p:nvPr/>
          </p:nvSpPr>
          <p:spPr>
            <a:xfrm>
              <a:off x="3308025" y="1899650"/>
              <a:ext cx="3486300" cy="24468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1" name="Google Shape;341;p42"/>
            <p:cNvSpPr/>
            <p:nvPr/>
          </p:nvSpPr>
          <p:spPr>
            <a:xfrm>
              <a:off x="3197807" y="3943625"/>
              <a:ext cx="117300" cy="3606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2" name="Google Shape;342;p42"/>
            <p:cNvSpPr/>
            <p:nvPr/>
          </p:nvSpPr>
          <p:spPr>
            <a:xfrm>
              <a:off x="3097321" y="4037325"/>
              <a:ext cx="188700" cy="2670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3" name="Google Shape;343;p42"/>
            <p:cNvSpPr/>
            <p:nvPr/>
          </p:nvSpPr>
          <p:spPr>
            <a:xfrm>
              <a:off x="3023119" y="4079325"/>
              <a:ext cx="225900" cy="2250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4" name="Google Shape;344;p42"/>
            <p:cNvSpPr/>
            <p:nvPr/>
          </p:nvSpPr>
          <p:spPr>
            <a:xfrm>
              <a:off x="2966968" y="4135675"/>
              <a:ext cx="246300" cy="183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5" name="Google Shape;345;p42"/>
            <p:cNvSpPr/>
            <p:nvPr/>
          </p:nvSpPr>
          <p:spPr>
            <a:xfrm>
              <a:off x="2884766" y="4162425"/>
              <a:ext cx="284100" cy="14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6" name="Google Shape;346;p42"/>
            <p:cNvSpPr/>
            <p:nvPr/>
          </p:nvSpPr>
          <p:spPr>
            <a:xfrm>
              <a:off x="2756412" y="4204425"/>
              <a:ext cx="351300" cy="1152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7" name="Google Shape;347;p42"/>
            <p:cNvSpPr/>
            <p:nvPr/>
          </p:nvSpPr>
          <p:spPr>
            <a:xfrm>
              <a:off x="2579955" y="4252400"/>
              <a:ext cx="4716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8" name="Google Shape;348;p42"/>
            <p:cNvSpPr/>
            <p:nvPr/>
          </p:nvSpPr>
          <p:spPr>
            <a:xfrm>
              <a:off x="1147275" y="4268000"/>
              <a:ext cx="511800" cy="363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9" name="Google Shape;349;p42"/>
            <p:cNvSpPr/>
            <p:nvPr/>
          </p:nvSpPr>
          <p:spPr>
            <a:xfrm>
              <a:off x="3153875" y="4001125"/>
              <a:ext cx="1173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0" name="Google Shape;350;p42"/>
            <p:cNvSpPr/>
            <p:nvPr/>
          </p:nvSpPr>
          <p:spPr>
            <a:xfrm>
              <a:off x="3286025" y="3844725"/>
              <a:ext cx="117300" cy="1152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1" name="Google Shape;351;p42"/>
            <p:cNvSpPr/>
            <p:nvPr/>
          </p:nvSpPr>
          <p:spPr>
            <a:xfrm>
              <a:off x="3249025" y="3885925"/>
              <a:ext cx="117300" cy="1152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2" name="Google Shape;352;p42"/>
            <p:cNvSpPr/>
            <p:nvPr/>
          </p:nvSpPr>
          <p:spPr>
            <a:xfrm>
              <a:off x="3261050" y="3410700"/>
              <a:ext cx="117300" cy="1152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3" name="Google Shape;353;p42"/>
            <p:cNvSpPr/>
            <p:nvPr/>
          </p:nvSpPr>
          <p:spPr>
            <a:xfrm>
              <a:off x="1161850" y="4228275"/>
              <a:ext cx="3750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4" name="Google Shape;354;p42"/>
            <p:cNvSpPr/>
            <p:nvPr/>
          </p:nvSpPr>
          <p:spPr>
            <a:xfrm>
              <a:off x="1134450" y="4192175"/>
              <a:ext cx="2841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5" name="Google Shape;355;p42"/>
            <p:cNvSpPr/>
            <p:nvPr/>
          </p:nvSpPr>
          <p:spPr>
            <a:xfrm>
              <a:off x="1117725" y="4144875"/>
              <a:ext cx="2103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6" name="Google Shape;356;p42"/>
            <p:cNvSpPr/>
            <p:nvPr/>
          </p:nvSpPr>
          <p:spPr>
            <a:xfrm>
              <a:off x="1035500" y="4116350"/>
              <a:ext cx="2103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7" name="Google Shape;357;p42"/>
            <p:cNvSpPr/>
            <p:nvPr/>
          </p:nvSpPr>
          <p:spPr>
            <a:xfrm>
              <a:off x="2510100" y="2232975"/>
              <a:ext cx="246300" cy="9216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358" name="Google Shape;358;p42"/>
          <p:cNvSpPr/>
          <p:nvPr/>
        </p:nvSpPr>
        <p:spPr>
          <a:xfrm>
            <a:off x="39275" y="2375625"/>
            <a:ext cx="2293200" cy="861300"/>
          </a:xfrm>
          <a:prstGeom prst="wedgeRectCallout">
            <a:avLst>
              <a:gd name="adj1" fmla="val 7120"/>
              <a:gd name="adj2" fmla="val 130152"/>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49225" algn="l" rtl="0">
              <a:spcBef>
                <a:spcPts val="0"/>
              </a:spcBef>
              <a:spcAft>
                <a:spcPts val="0"/>
              </a:spcAft>
              <a:buSzPts val="1000"/>
              <a:buChar char="●"/>
            </a:pPr>
            <a:r>
              <a:rPr lang="ja" sz="1000"/>
              <a:t>既にあるソフトを使える（開発を楽できる）</a:t>
            </a:r>
            <a:endParaRPr sz="1000"/>
          </a:p>
          <a:p>
            <a:pPr marL="89999" lvl="0" indent="-149225" algn="l" rtl="0">
              <a:spcBef>
                <a:spcPts val="0"/>
              </a:spcBef>
              <a:spcAft>
                <a:spcPts val="0"/>
              </a:spcAft>
              <a:buSzPts val="1000"/>
              <a:buChar char="●"/>
            </a:pPr>
            <a:r>
              <a:rPr lang="ja" sz="1000"/>
              <a:t>最先端のソフト（技術）を使える</a:t>
            </a:r>
            <a:endParaRPr sz="1000"/>
          </a:p>
          <a:p>
            <a:pPr marL="89999" lvl="0" indent="-149225" algn="l" rtl="0">
              <a:spcBef>
                <a:spcPts val="0"/>
              </a:spcBef>
              <a:spcAft>
                <a:spcPts val="0"/>
              </a:spcAft>
              <a:buSzPts val="1000"/>
              <a:buChar char="●"/>
            </a:pPr>
            <a:r>
              <a:rPr lang="ja" sz="1000"/>
              <a:t>多くの人が集まって作ったソフトなので、レベルが高い</a:t>
            </a:r>
            <a:endParaRPr sz="1000"/>
          </a:p>
        </p:txBody>
      </p:sp>
      <p:sp>
        <p:nvSpPr>
          <p:cNvPr id="359" name="Google Shape;359;p42"/>
          <p:cNvSpPr/>
          <p:nvPr/>
        </p:nvSpPr>
        <p:spPr>
          <a:xfrm>
            <a:off x="1940875" y="1390500"/>
            <a:ext cx="2181900" cy="1005900"/>
          </a:xfrm>
          <a:prstGeom prst="wedgeRectCallout">
            <a:avLst>
              <a:gd name="adj1" fmla="val 1319"/>
              <a:gd name="adj2" fmla="val 159653"/>
            </a:avLst>
          </a:prstGeom>
          <a:solidFill>
            <a:schemeClr val="l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SzPts val="1000"/>
              <a:buChar char="●"/>
            </a:pPr>
            <a:r>
              <a:rPr lang="ja" sz="1000"/>
              <a:t>OSSをビジネスでちゃんと安心して使える</a:t>
            </a:r>
            <a:endParaRPr sz="1000"/>
          </a:p>
          <a:p>
            <a:pPr marL="89999" lvl="0" indent="-158750" algn="l" rtl="0">
              <a:spcBef>
                <a:spcPts val="0"/>
              </a:spcBef>
              <a:spcAft>
                <a:spcPts val="0"/>
              </a:spcAft>
              <a:buSzPts val="1000"/>
              <a:buChar char="●"/>
            </a:pPr>
            <a:r>
              <a:rPr lang="ja" sz="1000"/>
              <a:t>OSSを企業間取引をする上で必要な本来の姿でOSSを使える</a:t>
            </a:r>
            <a:endParaRPr sz="1000"/>
          </a:p>
          <a:p>
            <a:pPr marL="89999" lvl="0" indent="-158750" algn="l" rtl="0">
              <a:spcBef>
                <a:spcPts val="0"/>
              </a:spcBef>
              <a:spcAft>
                <a:spcPts val="0"/>
              </a:spcAft>
              <a:buSzPts val="1000"/>
              <a:buChar char="●"/>
            </a:pPr>
            <a:r>
              <a:rPr lang="ja" sz="1000"/>
              <a:t>サプライチェーン全体でのOSS利用のリスクコントロール</a:t>
            </a:r>
            <a:endParaRPr sz="1000"/>
          </a:p>
        </p:txBody>
      </p:sp>
      <p:sp>
        <p:nvSpPr>
          <p:cNvPr id="360" name="Google Shape;360;p42"/>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0" lvl="0" indent="0" algn="l" rtl="0">
              <a:spcBef>
                <a:spcPts val="0"/>
              </a:spcBef>
              <a:spcAft>
                <a:spcPts val="0"/>
              </a:spcAft>
              <a:buNone/>
            </a:pP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43"/>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a:t>Q: OSSを活用する、OSS活動のメリットは何ですか</a:t>
            </a:r>
            <a:endParaRPr/>
          </a:p>
        </p:txBody>
      </p:sp>
      <p:pic>
        <p:nvPicPr>
          <p:cNvPr id="366" name="Google Shape;366;p43"/>
          <p:cNvPicPr preferRelativeResize="0"/>
          <p:nvPr/>
        </p:nvPicPr>
        <p:blipFill rotWithShape="1">
          <a:blip r:embed="rId3">
            <a:alphaModFix/>
          </a:blip>
          <a:srcRect l="13179" t="-1800" r="-13179" b="1800"/>
          <a:stretch/>
        </p:blipFill>
        <p:spPr>
          <a:xfrm>
            <a:off x="220526" y="1680322"/>
            <a:ext cx="8569399" cy="3036700"/>
          </a:xfrm>
          <a:prstGeom prst="rect">
            <a:avLst/>
          </a:prstGeom>
          <a:noFill/>
          <a:ln>
            <a:noFill/>
          </a:ln>
        </p:spPr>
      </p:pic>
      <p:sp>
        <p:nvSpPr>
          <p:cNvPr id="367" name="Google Shape;367;p43"/>
          <p:cNvSpPr txBox="1"/>
          <p:nvPr/>
        </p:nvSpPr>
        <p:spPr>
          <a:xfrm>
            <a:off x="4832625" y="4422950"/>
            <a:ext cx="4209300" cy="664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ja" sz="700" u="sng">
                <a:solidFill>
                  <a:schemeClr val="hlink"/>
                </a:solidFill>
                <a:hlinkClick r:id="rId4"/>
              </a:rPr>
              <a:t>https://www.linuxfoundation.jp/wp-content/uploads/2022/11/ja_LFR_LFAID_Deep_Dive_Open_Source_Program_Offices_0830.pdf</a:t>
            </a:r>
            <a:endParaRPr sz="700" u="sng">
              <a:solidFill>
                <a:schemeClr val="hlink"/>
              </a:solidFill>
            </a:endParaRPr>
          </a:p>
          <a:p>
            <a:pPr marL="0" lvl="0" indent="0" algn="l" rtl="0">
              <a:lnSpc>
                <a:spcPct val="115000"/>
              </a:lnSpc>
              <a:spcBef>
                <a:spcPts val="0"/>
              </a:spcBef>
              <a:spcAft>
                <a:spcPts val="0"/>
              </a:spcAft>
              <a:buClr>
                <a:schemeClr val="dk1"/>
              </a:buClr>
              <a:buSzPts val="1100"/>
              <a:buFont typeface="Arial"/>
              <a:buNone/>
            </a:pPr>
            <a:r>
              <a:rPr lang="ja" sz="700">
                <a:solidFill>
                  <a:schemeClr val="dk1"/>
                </a:solidFill>
              </a:rPr>
              <a:t>Ibrahim Haddad, “</a:t>
            </a:r>
            <a:r>
              <a:rPr lang="ja" sz="700" b="1">
                <a:solidFill>
                  <a:schemeClr val="dk1"/>
                </a:solidFill>
              </a:rPr>
              <a:t>A Deep Dive Into Open Source Program Offices:</a:t>
            </a:r>
            <a:endParaRPr sz="700" b="1">
              <a:solidFill>
                <a:schemeClr val="dk1"/>
              </a:solidFill>
            </a:endParaRPr>
          </a:p>
          <a:p>
            <a:pPr marL="0" lvl="0" indent="0" algn="l" rtl="0">
              <a:lnSpc>
                <a:spcPct val="115000"/>
              </a:lnSpc>
              <a:spcBef>
                <a:spcPts val="0"/>
              </a:spcBef>
              <a:spcAft>
                <a:spcPts val="0"/>
              </a:spcAft>
              <a:buNone/>
            </a:pPr>
            <a:r>
              <a:rPr lang="ja" sz="700" b="1">
                <a:solidFill>
                  <a:schemeClr val="dk1"/>
                </a:solidFill>
              </a:rPr>
              <a:t>Structure, Roles, Responsibilities, and Challenges </a:t>
            </a:r>
            <a:r>
              <a:rPr lang="ja" sz="700">
                <a:solidFill>
                  <a:schemeClr val="dk1"/>
                </a:solidFill>
              </a:rPr>
              <a:t>“ foreword by Chris Aniszczyk, August, 2022</a:t>
            </a:r>
            <a:endParaRPr sz="800"/>
          </a:p>
        </p:txBody>
      </p:sp>
      <p:grpSp>
        <p:nvGrpSpPr>
          <p:cNvPr id="368" name="Google Shape;368;p43"/>
          <p:cNvGrpSpPr/>
          <p:nvPr/>
        </p:nvGrpSpPr>
        <p:grpSpPr>
          <a:xfrm>
            <a:off x="496725" y="1899650"/>
            <a:ext cx="6297594" cy="2446800"/>
            <a:chOff x="496725" y="1899650"/>
            <a:chExt cx="6297594" cy="2446800"/>
          </a:xfrm>
        </p:grpSpPr>
        <p:sp>
          <p:nvSpPr>
            <p:cNvPr id="369" name="Google Shape;369;p43"/>
            <p:cNvSpPr/>
            <p:nvPr/>
          </p:nvSpPr>
          <p:spPr>
            <a:xfrm>
              <a:off x="496725" y="2571750"/>
              <a:ext cx="4707300" cy="1774500"/>
            </a:xfrm>
            <a:prstGeom prst="donut">
              <a:avLst>
                <a:gd name="adj" fmla="val 4256"/>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0" name="Google Shape;370;p43"/>
            <p:cNvSpPr/>
            <p:nvPr/>
          </p:nvSpPr>
          <p:spPr>
            <a:xfrm>
              <a:off x="5123319" y="1899650"/>
              <a:ext cx="1671000" cy="24468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1" name="Google Shape;371;p43"/>
            <p:cNvSpPr/>
            <p:nvPr/>
          </p:nvSpPr>
          <p:spPr>
            <a:xfrm>
              <a:off x="5026607" y="3715025"/>
              <a:ext cx="117300" cy="3606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2" name="Google Shape;372;p43"/>
            <p:cNvSpPr/>
            <p:nvPr/>
          </p:nvSpPr>
          <p:spPr>
            <a:xfrm>
              <a:off x="4536775" y="4037325"/>
              <a:ext cx="596400" cy="2670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3" name="Google Shape;373;p43"/>
            <p:cNvSpPr/>
            <p:nvPr/>
          </p:nvSpPr>
          <p:spPr>
            <a:xfrm>
              <a:off x="4386726" y="4079325"/>
              <a:ext cx="766500" cy="2250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4" name="Google Shape;374;p43"/>
            <p:cNvSpPr/>
            <p:nvPr/>
          </p:nvSpPr>
          <p:spPr>
            <a:xfrm>
              <a:off x="4257625" y="4116350"/>
              <a:ext cx="784500" cy="2031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5" name="Google Shape;375;p43"/>
            <p:cNvSpPr/>
            <p:nvPr/>
          </p:nvSpPr>
          <p:spPr>
            <a:xfrm>
              <a:off x="4104570" y="4162425"/>
              <a:ext cx="893100" cy="14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6" name="Google Shape;376;p43"/>
            <p:cNvSpPr/>
            <p:nvPr/>
          </p:nvSpPr>
          <p:spPr>
            <a:xfrm>
              <a:off x="3904427" y="4204425"/>
              <a:ext cx="1032000" cy="1152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7" name="Google Shape;377;p43"/>
            <p:cNvSpPr/>
            <p:nvPr/>
          </p:nvSpPr>
          <p:spPr>
            <a:xfrm>
              <a:off x="3596291" y="4252400"/>
              <a:ext cx="12840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8" name="Google Shape;378;p43"/>
            <p:cNvSpPr/>
            <p:nvPr/>
          </p:nvSpPr>
          <p:spPr>
            <a:xfrm>
              <a:off x="1147275" y="4268000"/>
              <a:ext cx="965700" cy="363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9" name="Google Shape;379;p43"/>
            <p:cNvSpPr/>
            <p:nvPr/>
          </p:nvSpPr>
          <p:spPr>
            <a:xfrm>
              <a:off x="4604975" y="4001125"/>
              <a:ext cx="4950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0" name="Google Shape;380;p43"/>
            <p:cNvSpPr/>
            <p:nvPr/>
          </p:nvSpPr>
          <p:spPr>
            <a:xfrm>
              <a:off x="5114825" y="3616125"/>
              <a:ext cx="117300" cy="1152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1" name="Google Shape;381;p43"/>
            <p:cNvSpPr/>
            <p:nvPr/>
          </p:nvSpPr>
          <p:spPr>
            <a:xfrm>
              <a:off x="5077825" y="3657325"/>
              <a:ext cx="117300" cy="1152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2" name="Google Shape;382;p43"/>
            <p:cNvSpPr/>
            <p:nvPr/>
          </p:nvSpPr>
          <p:spPr>
            <a:xfrm>
              <a:off x="5064075" y="3172875"/>
              <a:ext cx="117300" cy="63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3" name="Google Shape;383;p43"/>
            <p:cNvSpPr/>
            <p:nvPr/>
          </p:nvSpPr>
          <p:spPr>
            <a:xfrm>
              <a:off x="1161850" y="4228275"/>
              <a:ext cx="7335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4" name="Google Shape;384;p43"/>
            <p:cNvSpPr/>
            <p:nvPr/>
          </p:nvSpPr>
          <p:spPr>
            <a:xfrm>
              <a:off x="1134450" y="4192175"/>
              <a:ext cx="5481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5" name="Google Shape;385;p43"/>
            <p:cNvSpPr/>
            <p:nvPr/>
          </p:nvSpPr>
          <p:spPr>
            <a:xfrm>
              <a:off x="1117725" y="4144875"/>
              <a:ext cx="4176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6" name="Google Shape;386;p43"/>
            <p:cNvSpPr/>
            <p:nvPr/>
          </p:nvSpPr>
          <p:spPr>
            <a:xfrm>
              <a:off x="1035500" y="4116350"/>
              <a:ext cx="3348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7" name="Google Shape;387;p43"/>
            <p:cNvSpPr/>
            <p:nvPr/>
          </p:nvSpPr>
          <p:spPr>
            <a:xfrm>
              <a:off x="2510100" y="2232975"/>
              <a:ext cx="246300" cy="9216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8" name="Google Shape;388;p43"/>
            <p:cNvSpPr/>
            <p:nvPr/>
          </p:nvSpPr>
          <p:spPr>
            <a:xfrm>
              <a:off x="1006400" y="4079325"/>
              <a:ext cx="3348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9" name="Google Shape;389;p43"/>
            <p:cNvSpPr/>
            <p:nvPr/>
          </p:nvSpPr>
          <p:spPr>
            <a:xfrm>
              <a:off x="4689350" y="3941275"/>
              <a:ext cx="361800" cy="732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0" name="Google Shape;390;p43"/>
            <p:cNvSpPr/>
            <p:nvPr/>
          </p:nvSpPr>
          <p:spPr>
            <a:xfrm>
              <a:off x="4817725" y="3887250"/>
              <a:ext cx="233400" cy="732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1" name="Google Shape;391;p43"/>
            <p:cNvSpPr/>
            <p:nvPr/>
          </p:nvSpPr>
          <p:spPr>
            <a:xfrm>
              <a:off x="4910500" y="3845225"/>
              <a:ext cx="204300" cy="732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2" name="Google Shape;392;p43"/>
            <p:cNvSpPr/>
            <p:nvPr/>
          </p:nvSpPr>
          <p:spPr>
            <a:xfrm>
              <a:off x="4962525" y="3793288"/>
              <a:ext cx="204300" cy="732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3" name="Google Shape;393;p43"/>
            <p:cNvSpPr/>
            <p:nvPr/>
          </p:nvSpPr>
          <p:spPr>
            <a:xfrm>
              <a:off x="5015875" y="3118213"/>
              <a:ext cx="117300" cy="63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4" name="Google Shape;394;p43"/>
            <p:cNvSpPr/>
            <p:nvPr/>
          </p:nvSpPr>
          <p:spPr>
            <a:xfrm>
              <a:off x="4936425" y="3060600"/>
              <a:ext cx="204300" cy="63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5" name="Google Shape;395;p43"/>
            <p:cNvSpPr/>
            <p:nvPr/>
          </p:nvSpPr>
          <p:spPr>
            <a:xfrm>
              <a:off x="4859775" y="3003675"/>
              <a:ext cx="273300" cy="63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6" name="Google Shape;396;p43"/>
            <p:cNvSpPr/>
            <p:nvPr/>
          </p:nvSpPr>
          <p:spPr>
            <a:xfrm>
              <a:off x="4797775" y="2956700"/>
              <a:ext cx="334800" cy="63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7" name="Google Shape;397;p43"/>
            <p:cNvSpPr/>
            <p:nvPr/>
          </p:nvSpPr>
          <p:spPr>
            <a:xfrm>
              <a:off x="4729275" y="2558550"/>
              <a:ext cx="437700" cy="4143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398" name="Google Shape;398;p43"/>
          <p:cNvSpPr/>
          <p:nvPr/>
        </p:nvSpPr>
        <p:spPr>
          <a:xfrm>
            <a:off x="4257600" y="812375"/>
            <a:ext cx="2476200" cy="1371600"/>
          </a:xfrm>
          <a:prstGeom prst="wedgeRectCallout">
            <a:avLst>
              <a:gd name="adj1" fmla="val -44299"/>
              <a:gd name="adj2" fmla="val 109493"/>
            </a:avLst>
          </a:prstGeom>
          <a:solidFill>
            <a:schemeClr val="l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Clr>
                <a:schemeClr val="dk1"/>
              </a:buClr>
              <a:buSzPts val="1000"/>
              <a:buChar char="●"/>
            </a:pPr>
            <a:r>
              <a:rPr lang="ja" sz="1000">
                <a:solidFill>
                  <a:schemeClr val="dk1"/>
                </a:solidFill>
              </a:rPr>
              <a:t>自社だけで対応するよりも、多くの技術者によって、バグが見つかりやすく、修正も的確で早い</a:t>
            </a:r>
            <a:endParaRPr sz="1000"/>
          </a:p>
          <a:p>
            <a:pPr marL="89999" lvl="0" indent="-158750" algn="l" rtl="0">
              <a:spcBef>
                <a:spcPts val="0"/>
              </a:spcBef>
              <a:spcAft>
                <a:spcPts val="0"/>
              </a:spcAft>
              <a:buSzPts val="1000"/>
              <a:buChar char="●"/>
            </a:pPr>
            <a:r>
              <a:rPr lang="ja" sz="1000"/>
              <a:t>コミュニティでの協力による開発リソース効率化</a:t>
            </a:r>
            <a:endParaRPr sz="1000"/>
          </a:p>
          <a:p>
            <a:pPr marL="89999" lvl="0" indent="-158750" algn="l" rtl="0">
              <a:spcBef>
                <a:spcPts val="0"/>
              </a:spcBef>
              <a:spcAft>
                <a:spcPts val="0"/>
              </a:spcAft>
              <a:buSzPts val="1000"/>
              <a:buChar char="●"/>
            </a:pPr>
            <a:r>
              <a:rPr lang="ja" sz="1000">
                <a:solidFill>
                  <a:schemeClr val="dk1"/>
                </a:solidFill>
              </a:rPr>
              <a:t>人材育成の場・</a:t>
            </a:r>
            <a:r>
              <a:rPr lang="ja" sz="1000"/>
              <a:t>人材維持／獲得</a:t>
            </a:r>
            <a:endParaRPr sz="1000"/>
          </a:p>
          <a:p>
            <a:pPr marL="89999" lvl="0" indent="-158750" algn="l" rtl="0">
              <a:spcBef>
                <a:spcPts val="0"/>
              </a:spcBef>
              <a:spcAft>
                <a:spcPts val="0"/>
              </a:spcAft>
              <a:buSzPts val="1000"/>
              <a:buChar char="●"/>
            </a:pPr>
            <a:r>
              <a:rPr lang="ja" sz="1000"/>
              <a:t>技術者への、市場価値向上、活動の場の提供による人材の誘因力</a:t>
            </a:r>
            <a:endParaRPr sz="1000"/>
          </a:p>
        </p:txBody>
      </p:sp>
      <p:sp>
        <p:nvSpPr>
          <p:cNvPr id="399" name="Google Shape;399;p43"/>
          <p:cNvSpPr/>
          <p:nvPr/>
        </p:nvSpPr>
        <p:spPr>
          <a:xfrm>
            <a:off x="39275" y="2375625"/>
            <a:ext cx="2293200" cy="861300"/>
          </a:xfrm>
          <a:prstGeom prst="wedgeRectCallout">
            <a:avLst>
              <a:gd name="adj1" fmla="val 7120"/>
              <a:gd name="adj2" fmla="val 130152"/>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49225" algn="l" rtl="0">
              <a:spcBef>
                <a:spcPts val="0"/>
              </a:spcBef>
              <a:spcAft>
                <a:spcPts val="0"/>
              </a:spcAft>
              <a:buSzPts val="1000"/>
              <a:buChar char="●"/>
            </a:pPr>
            <a:r>
              <a:rPr lang="ja" sz="1000"/>
              <a:t>既にあるソフトを使える（開発を楽できる）</a:t>
            </a:r>
            <a:endParaRPr sz="1000"/>
          </a:p>
          <a:p>
            <a:pPr marL="89999" lvl="0" indent="-149225" algn="l" rtl="0">
              <a:spcBef>
                <a:spcPts val="0"/>
              </a:spcBef>
              <a:spcAft>
                <a:spcPts val="0"/>
              </a:spcAft>
              <a:buSzPts val="1000"/>
              <a:buChar char="●"/>
            </a:pPr>
            <a:r>
              <a:rPr lang="ja" sz="1000"/>
              <a:t>最先端のソフト（技術）を使える</a:t>
            </a:r>
            <a:endParaRPr sz="1000"/>
          </a:p>
          <a:p>
            <a:pPr marL="89999" lvl="0" indent="-149225" algn="l" rtl="0">
              <a:spcBef>
                <a:spcPts val="0"/>
              </a:spcBef>
              <a:spcAft>
                <a:spcPts val="0"/>
              </a:spcAft>
              <a:buSzPts val="1000"/>
              <a:buChar char="●"/>
            </a:pPr>
            <a:r>
              <a:rPr lang="ja" sz="1000"/>
              <a:t>多くの人が集まって作ったソフトなので、レベルが高い</a:t>
            </a:r>
            <a:endParaRPr sz="1000"/>
          </a:p>
        </p:txBody>
      </p:sp>
      <p:sp>
        <p:nvSpPr>
          <p:cNvPr id="400" name="Google Shape;400;p43"/>
          <p:cNvSpPr/>
          <p:nvPr/>
        </p:nvSpPr>
        <p:spPr>
          <a:xfrm>
            <a:off x="1940875" y="1390500"/>
            <a:ext cx="2181900" cy="1005900"/>
          </a:xfrm>
          <a:prstGeom prst="wedgeRectCallout">
            <a:avLst>
              <a:gd name="adj1" fmla="val 1319"/>
              <a:gd name="adj2" fmla="val 159653"/>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SzPts val="1000"/>
              <a:buChar char="●"/>
            </a:pPr>
            <a:r>
              <a:rPr lang="ja" sz="1000"/>
              <a:t>OSSをビジネスでちゃんと安心して使える</a:t>
            </a:r>
            <a:endParaRPr sz="1000"/>
          </a:p>
          <a:p>
            <a:pPr marL="89999" lvl="0" indent="-158750" algn="l" rtl="0">
              <a:spcBef>
                <a:spcPts val="0"/>
              </a:spcBef>
              <a:spcAft>
                <a:spcPts val="0"/>
              </a:spcAft>
              <a:buSzPts val="1000"/>
              <a:buChar char="●"/>
            </a:pPr>
            <a:r>
              <a:rPr lang="ja" sz="1000"/>
              <a:t>OSSを企業間取引をする上で必要な本来の姿でOSSを使える</a:t>
            </a:r>
            <a:endParaRPr sz="1000"/>
          </a:p>
          <a:p>
            <a:pPr marL="89999" lvl="0" indent="-158750" algn="l" rtl="0">
              <a:spcBef>
                <a:spcPts val="0"/>
              </a:spcBef>
              <a:spcAft>
                <a:spcPts val="0"/>
              </a:spcAft>
              <a:buSzPts val="1000"/>
              <a:buChar char="●"/>
            </a:pPr>
            <a:r>
              <a:rPr lang="ja" sz="1000"/>
              <a:t>サプライチェーン全体でのOSS利用のリスクコントロール</a:t>
            </a:r>
            <a:endParaRPr sz="1000"/>
          </a:p>
        </p:txBody>
      </p:sp>
      <p:sp>
        <p:nvSpPr>
          <p:cNvPr id="401" name="Google Shape;401;p43"/>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0" lvl="0" indent="0" algn="l" rtl="0">
              <a:spcBef>
                <a:spcPts val="0"/>
              </a:spcBef>
              <a:spcAft>
                <a:spcPts val="0"/>
              </a:spcAft>
              <a:buNone/>
            </a:pP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p44"/>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a:t>Q: OSSを活用する、OSS活動のメリットは何ですか</a:t>
            </a:r>
            <a:endParaRPr/>
          </a:p>
        </p:txBody>
      </p:sp>
      <p:pic>
        <p:nvPicPr>
          <p:cNvPr id="407" name="Google Shape;407;p44"/>
          <p:cNvPicPr preferRelativeResize="0"/>
          <p:nvPr/>
        </p:nvPicPr>
        <p:blipFill rotWithShape="1">
          <a:blip r:embed="rId3">
            <a:alphaModFix/>
          </a:blip>
          <a:srcRect l="13179" t="-1800" r="-13179" b="1800"/>
          <a:stretch/>
        </p:blipFill>
        <p:spPr>
          <a:xfrm>
            <a:off x="220526" y="1680322"/>
            <a:ext cx="8569399" cy="3036700"/>
          </a:xfrm>
          <a:prstGeom prst="rect">
            <a:avLst/>
          </a:prstGeom>
          <a:noFill/>
          <a:ln>
            <a:noFill/>
          </a:ln>
        </p:spPr>
      </p:pic>
      <p:grpSp>
        <p:nvGrpSpPr>
          <p:cNvPr id="408" name="Google Shape;408;p44"/>
          <p:cNvGrpSpPr/>
          <p:nvPr/>
        </p:nvGrpSpPr>
        <p:grpSpPr>
          <a:xfrm>
            <a:off x="220525" y="2139963"/>
            <a:ext cx="6938400" cy="2206438"/>
            <a:chOff x="220525" y="2139963"/>
            <a:chExt cx="6938400" cy="2206438"/>
          </a:xfrm>
        </p:grpSpPr>
        <p:sp>
          <p:nvSpPr>
            <p:cNvPr id="409" name="Google Shape;409;p44"/>
            <p:cNvSpPr/>
            <p:nvPr/>
          </p:nvSpPr>
          <p:spPr>
            <a:xfrm>
              <a:off x="220525" y="2306700"/>
              <a:ext cx="6938400" cy="2039700"/>
            </a:xfrm>
            <a:prstGeom prst="donut">
              <a:avLst>
                <a:gd name="adj" fmla="val 4256"/>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0" name="Google Shape;410;p44"/>
            <p:cNvSpPr/>
            <p:nvPr/>
          </p:nvSpPr>
          <p:spPr>
            <a:xfrm>
              <a:off x="6283125" y="3943625"/>
              <a:ext cx="537000" cy="936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1" name="Google Shape;411;p44"/>
            <p:cNvSpPr/>
            <p:nvPr/>
          </p:nvSpPr>
          <p:spPr>
            <a:xfrm>
              <a:off x="6022224" y="4037325"/>
              <a:ext cx="768900" cy="2670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2" name="Google Shape;412;p44"/>
            <p:cNvSpPr/>
            <p:nvPr/>
          </p:nvSpPr>
          <p:spPr>
            <a:xfrm>
              <a:off x="5797325" y="4079325"/>
              <a:ext cx="957000" cy="2250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3" name="Google Shape;413;p44"/>
            <p:cNvSpPr/>
            <p:nvPr/>
          </p:nvSpPr>
          <p:spPr>
            <a:xfrm>
              <a:off x="5668000" y="4135675"/>
              <a:ext cx="1050600" cy="183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4" name="Google Shape;414;p44"/>
            <p:cNvSpPr/>
            <p:nvPr/>
          </p:nvSpPr>
          <p:spPr>
            <a:xfrm>
              <a:off x="5442625" y="4162425"/>
              <a:ext cx="1231500" cy="14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5" name="Google Shape;415;p44"/>
            <p:cNvSpPr/>
            <p:nvPr/>
          </p:nvSpPr>
          <p:spPr>
            <a:xfrm>
              <a:off x="5135626" y="4204425"/>
              <a:ext cx="1477200" cy="1152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6" name="Google Shape;416;p44"/>
            <p:cNvSpPr/>
            <p:nvPr/>
          </p:nvSpPr>
          <p:spPr>
            <a:xfrm>
              <a:off x="4709424" y="4252400"/>
              <a:ext cx="18474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7" name="Google Shape;417;p44"/>
            <p:cNvSpPr/>
            <p:nvPr/>
          </p:nvSpPr>
          <p:spPr>
            <a:xfrm>
              <a:off x="1147275" y="4268000"/>
              <a:ext cx="1734000" cy="363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8" name="Google Shape;418;p44"/>
            <p:cNvSpPr/>
            <p:nvPr/>
          </p:nvSpPr>
          <p:spPr>
            <a:xfrm>
              <a:off x="6172925" y="4001125"/>
              <a:ext cx="6036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9" name="Google Shape;419;p44"/>
            <p:cNvSpPr/>
            <p:nvPr/>
          </p:nvSpPr>
          <p:spPr>
            <a:xfrm>
              <a:off x="6791225" y="3844725"/>
              <a:ext cx="117300" cy="1152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0" name="Google Shape;420;p44"/>
            <p:cNvSpPr/>
            <p:nvPr/>
          </p:nvSpPr>
          <p:spPr>
            <a:xfrm>
              <a:off x="6445075" y="3885925"/>
              <a:ext cx="357600" cy="741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1" name="Google Shape;421;p44"/>
            <p:cNvSpPr/>
            <p:nvPr/>
          </p:nvSpPr>
          <p:spPr>
            <a:xfrm>
              <a:off x="5748125" y="2139963"/>
              <a:ext cx="1072200" cy="4317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2" name="Google Shape;422;p44"/>
            <p:cNvSpPr/>
            <p:nvPr/>
          </p:nvSpPr>
          <p:spPr>
            <a:xfrm>
              <a:off x="1161850" y="4228275"/>
              <a:ext cx="14373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3" name="Google Shape;423;p44"/>
            <p:cNvSpPr/>
            <p:nvPr/>
          </p:nvSpPr>
          <p:spPr>
            <a:xfrm>
              <a:off x="1134450" y="4192175"/>
              <a:ext cx="12114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4" name="Google Shape;424;p44"/>
            <p:cNvSpPr/>
            <p:nvPr/>
          </p:nvSpPr>
          <p:spPr>
            <a:xfrm>
              <a:off x="1117725" y="4144875"/>
              <a:ext cx="9714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5" name="Google Shape;425;p44"/>
            <p:cNvSpPr/>
            <p:nvPr/>
          </p:nvSpPr>
          <p:spPr>
            <a:xfrm>
              <a:off x="1035500" y="4116350"/>
              <a:ext cx="8436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6" name="Google Shape;426;p44"/>
            <p:cNvSpPr/>
            <p:nvPr/>
          </p:nvSpPr>
          <p:spPr>
            <a:xfrm>
              <a:off x="2510100" y="2232975"/>
              <a:ext cx="246300" cy="9216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7" name="Google Shape;427;p44"/>
            <p:cNvSpPr/>
            <p:nvPr/>
          </p:nvSpPr>
          <p:spPr>
            <a:xfrm>
              <a:off x="6585625" y="3827425"/>
              <a:ext cx="217200" cy="741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8" name="Google Shape;428;p44"/>
            <p:cNvSpPr/>
            <p:nvPr/>
          </p:nvSpPr>
          <p:spPr>
            <a:xfrm>
              <a:off x="6705600" y="3784225"/>
              <a:ext cx="85500" cy="741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9" name="Google Shape;429;p44"/>
            <p:cNvSpPr/>
            <p:nvPr/>
          </p:nvSpPr>
          <p:spPr>
            <a:xfrm>
              <a:off x="1156400" y="4044000"/>
              <a:ext cx="376800" cy="873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0" name="Google Shape;430;p44"/>
            <p:cNvSpPr/>
            <p:nvPr/>
          </p:nvSpPr>
          <p:spPr>
            <a:xfrm>
              <a:off x="1156400" y="3982225"/>
              <a:ext cx="117300" cy="741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1" name="Google Shape;431;p44"/>
            <p:cNvSpPr/>
            <p:nvPr/>
          </p:nvSpPr>
          <p:spPr>
            <a:xfrm>
              <a:off x="6017525" y="2524947"/>
              <a:ext cx="773700" cy="936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2" name="Google Shape;432;p44"/>
            <p:cNvSpPr/>
            <p:nvPr/>
          </p:nvSpPr>
          <p:spPr>
            <a:xfrm>
              <a:off x="6177525" y="2589300"/>
              <a:ext cx="625200" cy="936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3" name="Google Shape;433;p44"/>
            <p:cNvSpPr/>
            <p:nvPr/>
          </p:nvSpPr>
          <p:spPr>
            <a:xfrm>
              <a:off x="6361950" y="2646975"/>
              <a:ext cx="441000" cy="936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4" name="Google Shape;434;p44"/>
            <p:cNvSpPr/>
            <p:nvPr/>
          </p:nvSpPr>
          <p:spPr>
            <a:xfrm>
              <a:off x="6514350" y="2713350"/>
              <a:ext cx="306000" cy="936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5" name="Google Shape;435;p44"/>
            <p:cNvSpPr/>
            <p:nvPr/>
          </p:nvSpPr>
          <p:spPr>
            <a:xfrm>
              <a:off x="6674125" y="2769000"/>
              <a:ext cx="177900" cy="936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436" name="Google Shape;436;p44"/>
          <p:cNvSpPr/>
          <p:nvPr/>
        </p:nvSpPr>
        <p:spPr>
          <a:xfrm>
            <a:off x="39275" y="2375625"/>
            <a:ext cx="2293200" cy="861300"/>
          </a:xfrm>
          <a:prstGeom prst="wedgeRectCallout">
            <a:avLst>
              <a:gd name="adj1" fmla="val 7120"/>
              <a:gd name="adj2" fmla="val 130152"/>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49225" algn="l" rtl="0">
              <a:spcBef>
                <a:spcPts val="0"/>
              </a:spcBef>
              <a:spcAft>
                <a:spcPts val="0"/>
              </a:spcAft>
              <a:buSzPts val="1000"/>
              <a:buChar char="●"/>
            </a:pPr>
            <a:r>
              <a:rPr lang="ja" sz="1000"/>
              <a:t>既にあるソフトを使える（開発を楽できる）</a:t>
            </a:r>
            <a:endParaRPr sz="1000"/>
          </a:p>
          <a:p>
            <a:pPr marL="89999" lvl="0" indent="-149225" algn="l" rtl="0">
              <a:spcBef>
                <a:spcPts val="0"/>
              </a:spcBef>
              <a:spcAft>
                <a:spcPts val="0"/>
              </a:spcAft>
              <a:buSzPts val="1000"/>
              <a:buChar char="●"/>
            </a:pPr>
            <a:r>
              <a:rPr lang="ja" sz="1000"/>
              <a:t>最先端のソフト（技術）を使える</a:t>
            </a:r>
            <a:endParaRPr sz="1000"/>
          </a:p>
          <a:p>
            <a:pPr marL="89999" lvl="0" indent="-149225" algn="l" rtl="0">
              <a:spcBef>
                <a:spcPts val="0"/>
              </a:spcBef>
              <a:spcAft>
                <a:spcPts val="0"/>
              </a:spcAft>
              <a:buSzPts val="1000"/>
              <a:buChar char="●"/>
            </a:pPr>
            <a:r>
              <a:rPr lang="ja" sz="1000"/>
              <a:t>多くの人が集まって作ったソフトなので、レベルが高い</a:t>
            </a:r>
            <a:endParaRPr sz="1000"/>
          </a:p>
        </p:txBody>
      </p:sp>
      <p:sp>
        <p:nvSpPr>
          <p:cNvPr id="437" name="Google Shape;437;p44"/>
          <p:cNvSpPr/>
          <p:nvPr/>
        </p:nvSpPr>
        <p:spPr>
          <a:xfrm>
            <a:off x="1940875" y="1390500"/>
            <a:ext cx="2181900" cy="1005900"/>
          </a:xfrm>
          <a:prstGeom prst="wedgeRectCallout">
            <a:avLst>
              <a:gd name="adj1" fmla="val 1319"/>
              <a:gd name="adj2" fmla="val 159653"/>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SzPts val="1000"/>
              <a:buChar char="●"/>
            </a:pPr>
            <a:r>
              <a:rPr lang="ja" sz="1000"/>
              <a:t>OSSをビジネスでちゃんと安心して使える</a:t>
            </a:r>
            <a:endParaRPr sz="1000"/>
          </a:p>
          <a:p>
            <a:pPr marL="89999" lvl="0" indent="-158750" algn="l" rtl="0">
              <a:spcBef>
                <a:spcPts val="0"/>
              </a:spcBef>
              <a:spcAft>
                <a:spcPts val="0"/>
              </a:spcAft>
              <a:buSzPts val="1000"/>
              <a:buChar char="●"/>
            </a:pPr>
            <a:r>
              <a:rPr lang="ja" sz="1000"/>
              <a:t>OSSを企業間取引をする上で必要な本来の姿でOSSを使える</a:t>
            </a:r>
            <a:endParaRPr sz="1000"/>
          </a:p>
          <a:p>
            <a:pPr marL="89999" lvl="0" indent="-158750" algn="l" rtl="0">
              <a:spcBef>
                <a:spcPts val="0"/>
              </a:spcBef>
              <a:spcAft>
                <a:spcPts val="0"/>
              </a:spcAft>
              <a:buSzPts val="1000"/>
              <a:buChar char="●"/>
            </a:pPr>
            <a:r>
              <a:rPr lang="ja" sz="1000"/>
              <a:t>サプライチェーン全体でのOSS利用のリスクコントロール</a:t>
            </a:r>
            <a:endParaRPr sz="1000"/>
          </a:p>
        </p:txBody>
      </p:sp>
      <p:sp>
        <p:nvSpPr>
          <p:cNvPr id="438" name="Google Shape;438;p44"/>
          <p:cNvSpPr/>
          <p:nvPr/>
        </p:nvSpPr>
        <p:spPr>
          <a:xfrm>
            <a:off x="4257600" y="812375"/>
            <a:ext cx="2476200" cy="1371600"/>
          </a:xfrm>
          <a:prstGeom prst="wedgeRectCallout">
            <a:avLst>
              <a:gd name="adj1" fmla="val -44299"/>
              <a:gd name="adj2" fmla="val 109493"/>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Clr>
                <a:schemeClr val="dk1"/>
              </a:buClr>
              <a:buSzPts val="1000"/>
              <a:buChar char="●"/>
            </a:pPr>
            <a:r>
              <a:rPr lang="ja" sz="1000">
                <a:solidFill>
                  <a:schemeClr val="dk1"/>
                </a:solidFill>
              </a:rPr>
              <a:t>自社だけで対応するよりも、多くの技術者によって、バグが見つかりやすく、修正も的確で早い</a:t>
            </a:r>
            <a:endParaRPr sz="1000"/>
          </a:p>
          <a:p>
            <a:pPr marL="89999" lvl="0" indent="-158750" algn="l" rtl="0">
              <a:spcBef>
                <a:spcPts val="0"/>
              </a:spcBef>
              <a:spcAft>
                <a:spcPts val="0"/>
              </a:spcAft>
              <a:buSzPts val="1000"/>
              <a:buChar char="●"/>
            </a:pPr>
            <a:r>
              <a:rPr lang="ja" sz="1000"/>
              <a:t>コミュニティでの協力による開発リソース効率化</a:t>
            </a:r>
            <a:endParaRPr sz="1000"/>
          </a:p>
          <a:p>
            <a:pPr marL="89999" lvl="0" indent="-158750" algn="l" rtl="0">
              <a:spcBef>
                <a:spcPts val="0"/>
              </a:spcBef>
              <a:spcAft>
                <a:spcPts val="0"/>
              </a:spcAft>
              <a:buSzPts val="1000"/>
              <a:buChar char="●"/>
            </a:pPr>
            <a:r>
              <a:rPr lang="ja" sz="1000">
                <a:solidFill>
                  <a:schemeClr val="dk1"/>
                </a:solidFill>
              </a:rPr>
              <a:t>人材育成の場・</a:t>
            </a:r>
            <a:r>
              <a:rPr lang="ja" sz="1000"/>
              <a:t>人材維持／獲得</a:t>
            </a:r>
            <a:endParaRPr sz="1000"/>
          </a:p>
          <a:p>
            <a:pPr marL="89999" lvl="0" indent="-158750" algn="l" rtl="0">
              <a:spcBef>
                <a:spcPts val="0"/>
              </a:spcBef>
              <a:spcAft>
                <a:spcPts val="0"/>
              </a:spcAft>
              <a:buSzPts val="1000"/>
              <a:buChar char="●"/>
            </a:pPr>
            <a:r>
              <a:rPr lang="ja" sz="1000"/>
              <a:t>技術者への、市場価値向上、活動の場の提供による人材の誘因力</a:t>
            </a:r>
            <a:endParaRPr sz="1000"/>
          </a:p>
        </p:txBody>
      </p:sp>
      <p:pic>
        <p:nvPicPr>
          <p:cNvPr id="439" name="Google Shape;439;p44"/>
          <p:cNvPicPr preferRelativeResize="0"/>
          <p:nvPr/>
        </p:nvPicPr>
        <p:blipFill rotWithShape="1">
          <a:blip r:embed="rId3">
            <a:alphaModFix/>
          </a:blip>
          <a:srcRect l="90101" t="-1800" r="1428" b="1800"/>
          <a:stretch/>
        </p:blipFill>
        <p:spPr>
          <a:xfrm>
            <a:off x="6812125" y="1680325"/>
            <a:ext cx="725826" cy="3036700"/>
          </a:xfrm>
          <a:prstGeom prst="rect">
            <a:avLst/>
          </a:prstGeom>
          <a:noFill/>
          <a:ln>
            <a:noFill/>
          </a:ln>
        </p:spPr>
      </p:pic>
      <p:sp>
        <p:nvSpPr>
          <p:cNvPr id="440" name="Google Shape;440;p44"/>
          <p:cNvSpPr txBox="1"/>
          <p:nvPr/>
        </p:nvSpPr>
        <p:spPr>
          <a:xfrm>
            <a:off x="4832625" y="4422950"/>
            <a:ext cx="4209300" cy="664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ja" sz="700" u="sng">
                <a:solidFill>
                  <a:schemeClr val="hlink"/>
                </a:solidFill>
                <a:hlinkClick r:id="rId4"/>
              </a:rPr>
              <a:t>https://www.linuxfoundation.jp/wp-content/uploads/2022/11/ja_LFR_LFAID_Deep_Dive_Open_Source_Program_Offices_0830.pdf</a:t>
            </a:r>
            <a:endParaRPr sz="700" u="sng">
              <a:solidFill>
                <a:schemeClr val="hlink"/>
              </a:solidFill>
            </a:endParaRPr>
          </a:p>
          <a:p>
            <a:pPr marL="0" lvl="0" indent="0" algn="l" rtl="0">
              <a:lnSpc>
                <a:spcPct val="115000"/>
              </a:lnSpc>
              <a:spcBef>
                <a:spcPts val="0"/>
              </a:spcBef>
              <a:spcAft>
                <a:spcPts val="0"/>
              </a:spcAft>
              <a:buClr>
                <a:schemeClr val="dk1"/>
              </a:buClr>
              <a:buSzPts val="1100"/>
              <a:buFont typeface="Arial"/>
              <a:buNone/>
            </a:pPr>
            <a:r>
              <a:rPr lang="ja" sz="700">
                <a:solidFill>
                  <a:schemeClr val="dk1"/>
                </a:solidFill>
              </a:rPr>
              <a:t>Ibrahim Haddad, “</a:t>
            </a:r>
            <a:r>
              <a:rPr lang="ja" sz="700" b="1">
                <a:solidFill>
                  <a:schemeClr val="dk1"/>
                </a:solidFill>
              </a:rPr>
              <a:t>A Deep Dive Into Open Source Program Offices:</a:t>
            </a:r>
            <a:endParaRPr sz="700" b="1">
              <a:solidFill>
                <a:schemeClr val="dk1"/>
              </a:solidFill>
            </a:endParaRPr>
          </a:p>
          <a:p>
            <a:pPr marL="0" lvl="0" indent="0" algn="l" rtl="0">
              <a:lnSpc>
                <a:spcPct val="115000"/>
              </a:lnSpc>
              <a:spcBef>
                <a:spcPts val="0"/>
              </a:spcBef>
              <a:spcAft>
                <a:spcPts val="0"/>
              </a:spcAft>
              <a:buNone/>
            </a:pPr>
            <a:r>
              <a:rPr lang="ja" sz="700" b="1">
                <a:solidFill>
                  <a:schemeClr val="dk1"/>
                </a:solidFill>
              </a:rPr>
              <a:t>Structure, Roles, Responsibilities, and Challenges </a:t>
            </a:r>
            <a:r>
              <a:rPr lang="ja" sz="700">
                <a:solidFill>
                  <a:schemeClr val="dk1"/>
                </a:solidFill>
              </a:rPr>
              <a:t>“ foreword by Chris Aniszczyk, August, 2022</a:t>
            </a:r>
            <a:endParaRPr sz="800"/>
          </a:p>
        </p:txBody>
      </p:sp>
      <p:sp>
        <p:nvSpPr>
          <p:cNvPr id="441" name="Google Shape;441;p44"/>
          <p:cNvSpPr/>
          <p:nvPr/>
        </p:nvSpPr>
        <p:spPr>
          <a:xfrm>
            <a:off x="6868625" y="2541525"/>
            <a:ext cx="2127600" cy="921600"/>
          </a:xfrm>
          <a:prstGeom prst="wedgeRectCallout">
            <a:avLst>
              <a:gd name="adj1" fmla="val -56599"/>
              <a:gd name="adj2" fmla="val -18187"/>
            </a:avLst>
          </a:prstGeom>
          <a:solidFill>
            <a:schemeClr val="l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SzPts val="1000"/>
              <a:buChar char="●"/>
            </a:pPr>
            <a:r>
              <a:rPr lang="ja" sz="1000"/>
              <a:t>コミュニティを通じた企業としての期待とコミュニティの動きの整合</a:t>
            </a:r>
            <a:endParaRPr sz="1000"/>
          </a:p>
          <a:p>
            <a:pPr marL="269999" lvl="1" indent="-168275" algn="l" rtl="0">
              <a:spcBef>
                <a:spcPts val="0"/>
              </a:spcBef>
              <a:spcAft>
                <a:spcPts val="0"/>
              </a:spcAft>
              <a:buSzPts val="1000"/>
              <a:buChar char="○"/>
            </a:pPr>
            <a:r>
              <a:rPr lang="ja" sz="1000"/>
              <a:t>開発方向性への関与</a:t>
            </a:r>
            <a:endParaRPr sz="1000"/>
          </a:p>
          <a:p>
            <a:pPr marL="89999" lvl="0" indent="-158750" algn="l" rtl="0">
              <a:spcBef>
                <a:spcPts val="0"/>
              </a:spcBef>
              <a:spcAft>
                <a:spcPts val="0"/>
              </a:spcAft>
              <a:buSzPts val="1000"/>
              <a:buChar char="●"/>
            </a:pPr>
            <a:r>
              <a:rPr lang="ja" sz="1000"/>
              <a:t>技術者のモチベーション向上</a:t>
            </a:r>
            <a:endParaRPr sz="1000"/>
          </a:p>
        </p:txBody>
      </p:sp>
      <p:sp>
        <p:nvSpPr>
          <p:cNvPr id="442" name="Google Shape;442;p44"/>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0" lvl="0" indent="0" algn="l" rtl="0">
              <a:spcBef>
                <a:spcPts val="0"/>
              </a:spcBef>
              <a:spcAft>
                <a:spcPts val="0"/>
              </a:spcAft>
              <a:buNone/>
            </a:pP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45"/>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a:t>Q: OSSを活用する、OSS活動のメリットは何ですか</a:t>
            </a:r>
            <a:endParaRPr/>
          </a:p>
        </p:txBody>
      </p:sp>
      <p:pic>
        <p:nvPicPr>
          <p:cNvPr id="448" name="Google Shape;448;p45"/>
          <p:cNvPicPr preferRelativeResize="0"/>
          <p:nvPr/>
        </p:nvPicPr>
        <p:blipFill rotWithShape="1">
          <a:blip r:embed="rId3">
            <a:alphaModFix/>
          </a:blip>
          <a:srcRect l="13179" t="-1800" r="-13179" b="1800"/>
          <a:stretch/>
        </p:blipFill>
        <p:spPr>
          <a:xfrm>
            <a:off x="220526" y="1680322"/>
            <a:ext cx="8569399" cy="3036700"/>
          </a:xfrm>
          <a:prstGeom prst="rect">
            <a:avLst/>
          </a:prstGeom>
          <a:noFill/>
          <a:ln>
            <a:noFill/>
          </a:ln>
        </p:spPr>
      </p:pic>
      <p:sp>
        <p:nvSpPr>
          <p:cNvPr id="449" name="Google Shape;449;p45"/>
          <p:cNvSpPr txBox="1"/>
          <p:nvPr/>
        </p:nvSpPr>
        <p:spPr>
          <a:xfrm>
            <a:off x="4832625" y="4422950"/>
            <a:ext cx="4209300" cy="664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ja" sz="700" u="sng">
                <a:solidFill>
                  <a:schemeClr val="hlink"/>
                </a:solidFill>
                <a:hlinkClick r:id="rId4"/>
              </a:rPr>
              <a:t>https://www.linuxfoundation.jp/wp-content/uploads/2022/11/ja_LFR_LFAID_Deep_Dive_Open_Source_Program_Offices_0830.pdf</a:t>
            </a:r>
            <a:endParaRPr sz="700" u="sng">
              <a:solidFill>
                <a:schemeClr val="hlink"/>
              </a:solidFill>
            </a:endParaRPr>
          </a:p>
          <a:p>
            <a:pPr marL="0" lvl="0" indent="0" algn="l" rtl="0">
              <a:lnSpc>
                <a:spcPct val="115000"/>
              </a:lnSpc>
              <a:spcBef>
                <a:spcPts val="0"/>
              </a:spcBef>
              <a:spcAft>
                <a:spcPts val="0"/>
              </a:spcAft>
              <a:buClr>
                <a:schemeClr val="dk1"/>
              </a:buClr>
              <a:buSzPts val="1100"/>
              <a:buFont typeface="Arial"/>
              <a:buNone/>
            </a:pPr>
            <a:r>
              <a:rPr lang="ja" sz="700">
                <a:solidFill>
                  <a:schemeClr val="dk1"/>
                </a:solidFill>
              </a:rPr>
              <a:t>Ibrahim Haddad, “</a:t>
            </a:r>
            <a:r>
              <a:rPr lang="ja" sz="700" b="1">
                <a:solidFill>
                  <a:schemeClr val="dk1"/>
                </a:solidFill>
              </a:rPr>
              <a:t>A Deep Dive Into Open Source Program Offices:</a:t>
            </a:r>
            <a:endParaRPr sz="700" b="1">
              <a:solidFill>
                <a:schemeClr val="dk1"/>
              </a:solidFill>
            </a:endParaRPr>
          </a:p>
          <a:p>
            <a:pPr marL="0" lvl="0" indent="0" algn="l" rtl="0">
              <a:lnSpc>
                <a:spcPct val="115000"/>
              </a:lnSpc>
              <a:spcBef>
                <a:spcPts val="0"/>
              </a:spcBef>
              <a:spcAft>
                <a:spcPts val="0"/>
              </a:spcAft>
              <a:buNone/>
            </a:pPr>
            <a:r>
              <a:rPr lang="ja" sz="700" b="1">
                <a:solidFill>
                  <a:schemeClr val="dk1"/>
                </a:solidFill>
              </a:rPr>
              <a:t>Structure, Roles, Responsibilities, and Challenges </a:t>
            </a:r>
            <a:r>
              <a:rPr lang="ja" sz="700">
                <a:solidFill>
                  <a:schemeClr val="dk1"/>
                </a:solidFill>
              </a:rPr>
              <a:t>“ foreword by Chris Aniszczyk, August, 2022</a:t>
            </a:r>
            <a:endParaRPr sz="800"/>
          </a:p>
        </p:txBody>
      </p:sp>
      <p:sp>
        <p:nvSpPr>
          <p:cNvPr id="450" name="Google Shape;450;p45"/>
          <p:cNvSpPr/>
          <p:nvPr/>
        </p:nvSpPr>
        <p:spPr>
          <a:xfrm>
            <a:off x="39275" y="2375625"/>
            <a:ext cx="2293200" cy="861300"/>
          </a:xfrm>
          <a:prstGeom prst="wedgeRectCallout">
            <a:avLst>
              <a:gd name="adj1" fmla="val 7120"/>
              <a:gd name="adj2" fmla="val 130152"/>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49225" algn="l" rtl="0">
              <a:spcBef>
                <a:spcPts val="0"/>
              </a:spcBef>
              <a:spcAft>
                <a:spcPts val="0"/>
              </a:spcAft>
              <a:buSzPts val="1000"/>
              <a:buChar char="●"/>
            </a:pPr>
            <a:r>
              <a:rPr lang="ja" sz="1000"/>
              <a:t>既にあるソフトを使える（開発を楽できる）</a:t>
            </a:r>
            <a:endParaRPr sz="1000"/>
          </a:p>
          <a:p>
            <a:pPr marL="89999" lvl="0" indent="-149225" algn="l" rtl="0">
              <a:spcBef>
                <a:spcPts val="0"/>
              </a:spcBef>
              <a:spcAft>
                <a:spcPts val="0"/>
              </a:spcAft>
              <a:buSzPts val="1000"/>
              <a:buChar char="●"/>
            </a:pPr>
            <a:r>
              <a:rPr lang="ja" sz="1000"/>
              <a:t>最先端のソフト（技術）を使える</a:t>
            </a:r>
            <a:endParaRPr sz="1000"/>
          </a:p>
          <a:p>
            <a:pPr marL="89999" lvl="0" indent="-149225" algn="l" rtl="0">
              <a:spcBef>
                <a:spcPts val="0"/>
              </a:spcBef>
              <a:spcAft>
                <a:spcPts val="0"/>
              </a:spcAft>
              <a:buSzPts val="1000"/>
              <a:buChar char="●"/>
            </a:pPr>
            <a:r>
              <a:rPr lang="ja" sz="1000"/>
              <a:t>多くの人が集まって作ったソフトなので、レベルが高い</a:t>
            </a:r>
            <a:endParaRPr sz="1000"/>
          </a:p>
        </p:txBody>
      </p:sp>
      <p:sp>
        <p:nvSpPr>
          <p:cNvPr id="451" name="Google Shape;451;p45"/>
          <p:cNvSpPr/>
          <p:nvPr/>
        </p:nvSpPr>
        <p:spPr>
          <a:xfrm>
            <a:off x="1940875" y="1390500"/>
            <a:ext cx="2181900" cy="1005900"/>
          </a:xfrm>
          <a:prstGeom prst="wedgeRectCallout">
            <a:avLst>
              <a:gd name="adj1" fmla="val 1319"/>
              <a:gd name="adj2" fmla="val 159653"/>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SzPts val="1000"/>
              <a:buChar char="●"/>
            </a:pPr>
            <a:r>
              <a:rPr lang="ja" sz="1000"/>
              <a:t>OSSをビジネスでちゃんと安心して使える</a:t>
            </a:r>
            <a:endParaRPr sz="1000"/>
          </a:p>
          <a:p>
            <a:pPr marL="89999" lvl="0" indent="-158750" algn="l" rtl="0">
              <a:spcBef>
                <a:spcPts val="0"/>
              </a:spcBef>
              <a:spcAft>
                <a:spcPts val="0"/>
              </a:spcAft>
              <a:buSzPts val="1000"/>
              <a:buChar char="●"/>
            </a:pPr>
            <a:r>
              <a:rPr lang="ja" sz="1000"/>
              <a:t>OSSを企業間取引をする上で必要な本来の姿でOSSを使える</a:t>
            </a:r>
            <a:endParaRPr sz="1000"/>
          </a:p>
          <a:p>
            <a:pPr marL="89999" lvl="0" indent="-158750" algn="l" rtl="0">
              <a:spcBef>
                <a:spcPts val="0"/>
              </a:spcBef>
              <a:spcAft>
                <a:spcPts val="0"/>
              </a:spcAft>
              <a:buSzPts val="1000"/>
              <a:buChar char="●"/>
            </a:pPr>
            <a:r>
              <a:rPr lang="ja" sz="1000"/>
              <a:t>サプライチェーン全体でのOSS利用のリスクコントロール</a:t>
            </a:r>
            <a:endParaRPr sz="1000"/>
          </a:p>
        </p:txBody>
      </p:sp>
      <p:sp>
        <p:nvSpPr>
          <p:cNvPr id="452" name="Google Shape;452;p45"/>
          <p:cNvSpPr/>
          <p:nvPr/>
        </p:nvSpPr>
        <p:spPr>
          <a:xfrm>
            <a:off x="4257600" y="812375"/>
            <a:ext cx="2476200" cy="1371600"/>
          </a:xfrm>
          <a:prstGeom prst="wedgeRectCallout">
            <a:avLst>
              <a:gd name="adj1" fmla="val -44299"/>
              <a:gd name="adj2" fmla="val 109493"/>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Clr>
                <a:schemeClr val="dk1"/>
              </a:buClr>
              <a:buSzPts val="1000"/>
              <a:buChar char="●"/>
            </a:pPr>
            <a:r>
              <a:rPr lang="ja" sz="1000">
                <a:solidFill>
                  <a:schemeClr val="dk1"/>
                </a:solidFill>
              </a:rPr>
              <a:t>自社だけで対応するよりも、多くの技術者によって、バグが見つかりやすく、修正も的確で早い</a:t>
            </a:r>
            <a:endParaRPr sz="1000"/>
          </a:p>
          <a:p>
            <a:pPr marL="89999" lvl="0" indent="-158750" algn="l" rtl="0">
              <a:spcBef>
                <a:spcPts val="0"/>
              </a:spcBef>
              <a:spcAft>
                <a:spcPts val="0"/>
              </a:spcAft>
              <a:buSzPts val="1000"/>
              <a:buChar char="●"/>
            </a:pPr>
            <a:r>
              <a:rPr lang="ja" sz="1000"/>
              <a:t>コミュニティでの協力による開発リソース効率化</a:t>
            </a:r>
            <a:endParaRPr sz="1000"/>
          </a:p>
          <a:p>
            <a:pPr marL="89999" lvl="0" indent="-158750" algn="l" rtl="0">
              <a:spcBef>
                <a:spcPts val="0"/>
              </a:spcBef>
              <a:spcAft>
                <a:spcPts val="0"/>
              </a:spcAft>
              <a:buSzPts val="1000"/>
              <a:buChar char="●"/>
            </a:pPr>
            <a:r>
              <a:rPr lang="ja" sz="1000">
                <a:solidFill>
                  <a:schemeClr val="dk1"/>
                </a:solidFill>
              </a:rPr>
              <a:t>人材育成の場・</a:t>
            </a:r>
            <a:r>
              <a:rPr lang="ja" sz="1000"/>
              <a:t>人材維持／獲得</a:t>
            </a:r>
            <a:endParaRPr sz="1000"/>
          </a:p>
          <a:p>
            <a:pPr marL="89999" lvl="0" indent="-158750" algn="l" rtl="0">
              <a:spcBef>
                <a:spcPts val="0"/>
              </a:spcBef>
              <a:spcAft>
                <a:spcPts val="0"/>
              </a:spcAft>
              <a:buSzPts val="1000"/>
              <a:buChar char="●"/>
            </a:pPr>
            <a:r>
              <a:rPr lang="ja" sz="1000"/>
              <a:t>技術者への、市場価値向上、活動の場の提供による人材の誘因力</a:t>
            </a:r>
            <a:endParaRPr sz="1000"/>
          </a:p>
        </p:txBody>
      </p:sp>
      <p:sp>
        <p:nvSpPr>
          <p:cNvPr id="453" name="Google Shape;453;p45"/>
          <p:cNvSpPr/>
          <p:nvPr/>
        </p:nvSpPr>
        <p:spPr>
          <a:xfrm>
            <a:off x="6868625" y="2541525"/>
            <a:ext cx="2127600" cy="921600"/>
          </a:xfrm>
          <a:prstGeom prst="wedgeRectCallout">
            <a:avLst>
              <a:gd name="adj1" fmla="val -56599"/>
              <a:gd name="adj2" fmla="val -1818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SzPts val="1000"/>
              <a:buChar char="●"/>
            </a:pPr>
            <a:r>
              <a:rPr lang="ja" sz="1000"/>
              <a:t>コミュニティを通じた企業としての期待とコミュニティの動きの整合</a:t>
            </a:r>
            <a:endParaRPr sz="1000"/>
          </a:p>
          <a:p>
            <a:pPr marL="269999" lvl="1" indent="-168275" algn="l" rtl="0">
              <a:spcBef>
                <a:spcPts val="0"/>
              </a:spcBef>
              <a:spcAft>
                <a:spcPts val="0"/>
              </a:spcAft>
              <a:buSzPts val="1000"/>
              <a:buChar char="○"/>
            </a:pPr>
            <a:r>
              <a:rPr lang="ja" sz="1000"/>
              <a:t>開発方向性への関与</a:t>
            </a:r>
            <a:endParaRPr sz="1000"/>
          </a:p>
          <a:p>
            <a:pPr marL="89999" lvl="0" indent="-158750" algn="l" rtl="0">
              <a:spcBef>
                <a:spcPts val="0"/>
              </a:spcBef>
              <a:spcAft>
                <a:spcPts val="0"/>
              </a:spcAft>
              <a:buSzPts val="1000"/>
              <a:buChar char="●"/>
            </a:pPr>
            <a:r>
              <a:rPr lang="ja" sz="1000"/>
              <a:t>技術者のモチベーション向上</a:t>
            </a:r>
            <a:endParaRPr sz="1000"/>
          </a:p>
        </p:txBody>
      </p:sp>
      <p:sp>
        <p:nvSpPr>
          <p:cNvPr id="454" name="Google Shape;454;p45"/>
          <p:cNvSpPr/>
          <p:nvPr/>
        </p:nvSpPr>
        <p:spPr>
          <a:xfrm>
            <a:off x="6868625" y="990300"/>
            <a:ext cx="2127600" cy="1316400"/>
          </a:xfrm>
          <a:prstGeom prst="wedgeRectCallout">
            <a:avLst>
              <a:gd name="adj1" fmla="val -54408"/>
              <a:gd name="adj2" fmla="val 48627"/>
            </a:avLst>
          </a:prstGeom>
          <a:solidFill>
            <a:schemeClr val="l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Clr>
                <a:schemeClr val="dk1"/>
              </a:buClr>
              <a:buSzPts val="1000"/>
              <a:buChar char="●"/>
            </a:pPr>
            <a:r>
              <a:rPr lang="ja" sz="1000">
                <a:solidFill>
                  <a:schemeClr val="dk1"/>
                </a:solidFill>
              </a:rPr>
              <a:t>OSS活用ビジネスの創造</a:t>
            </a:r>
            <a:endParaRPr sz="1000">
              <a:solidFill>
                <a:schemeClr val="dk1"/>
              </a:solidFill>
            </a:endParaRPr>
          </a:p>
          <a:p>
            <a:pPr marL="179999" lvl="1" indent="-168275" algn="l" rtl="0">
              <a:spcBef>
                <a:spcPts val="0"/>
              </a:spcBef>
              <a:spcAft>
                <a:spcPts val="0"/>
              </a:spcAft>
              <a:buClr>
                <a:schemeClr val="dk1"/>
              </a:buClr>
              <a:buSzPts val="1000"/>
              <a:buChar char="○"/>
            </a:pPr>
            <a:r>
              <a:rPr lang="ja" sz="1000">
                <a:solidFill>
                  <a:schemeClr val="dk1"/>
                </a:solidFill>
              </a:rPr>
              <a:t>市場・潜在顧客層の拡大</a:t>
            </a:r>
            <a:endParaRPr sz="1000">
              <a:solidFill>
                <a:schemeClr val="dk1"/>
              </a:solidFill>
            </a:endParaRPr>
          </a:p>
          <a:p>
            <a:pPr marL="179999" lvl="1" indent="-168275" algn="l" rtl="0">
              <a:spcBef>
                <a:spcPts val="0"/>
              </a:spcBef>
              <a:spcAft>
                <a:spcPts val="0"/>
              </a:spcAft>
              <a:buClr>
                <a:schemeClr val="dk1"/>
              </a:buClr>
              <a:buSzPts val="1000"/>
              <a:buChar char="○"/>
            </a:pPr>
            <a:r>
              <a:rPr lang="ja" sz="1000">
                <a:solidFill>
                  <a:schemeClr val="dk1"/>
                </a:solidFill>
              </a:rPr>
              <a:t>デファクトスタンダードの確立・普及</a:t>
            </a:r>
            <a:endParaRPr sz="1000">
              <a:solidFill>
                <a:schemeClr val="dk1"/>
              </a:solidFill>
            </a:endParaRPr>
          </a:p>
          <a:p>
            <a:pPr marL="179999" lvl="1" indent="-168275" algn="l" rtl="0">
              <a:spcBef>
                <a:spcPts val="0"/>
              </a:spcBef>
              <a:spcAft>
                <a:spcPts val="0"/>
              </a:spcAft>
              <a:buClr>
                <a:schemeClr val="dk1"/>
              </a:buClr>
              <a:buSzPts val="1000"/>
              <a:buChar char="○"/>
            </a:pPr>
            <a:r>
              <a:rPr lang="ja" sz="1000">
                <a:solidFill>
                  <a:schemeClr val="dk1"/>
                </a:solidFill>
              </a:rPr>
              <a:t>エコシステムの構築</a:t>
            </a:r>
            <a:endParaRPr sz="1000">
              <a:solidFill>
                <a:schemeClr val="dk1"/>
              </a:solidFill>
            </a:endParaRPr>
          </a:p>
          <a:p>
            <a:pPr marL="179999" lvl="1" indent="-168275" algn="l" rtl="0">
              <a:spcBef>
                <a:spcPts val="0"/>
              </a:spcBef>
              <a:spcAft>
                <a:spcPts val="0"/>
              </a:spcAft>
              <a:buClr>
                <a:schemeClr val="dk1"/>
              </a:buClr>
              <a:buSzPts val="1000"/>
              <a:buChar char="○"/>
            </a:pPr>
            <a:r>
              <a:rPr lang="ja" sz="1000">
                <a:solidFill>
                  <a:schemeClr val="dk1"/>
                </a:solidFill>
              </a:rPr>
              <a:t>活動の正統性を手に入れる</a:t>
            </a:r>
            <a:endParaRPr sz="1000">
              <a:solidFill>
                <a:schemeClr val="dk1"/>
              </a:solidFill>
            </a:endParaRPr>
          </a:p>
          <a:p>
            <a:pPr marL="360000" lvl="2" indent="-177800" algn="l" rtl="0">
              <a:spcBef>
                <a:spcPts val="0"/>
              </a:spcBef>
              <a:spcAft>
                <a:spcPts val="0"/>
              </a:spcAft>
              <a:buClr>
                <a:schemeClr val="dk1"/>
              </a:buClr>
              <a:buSzPts val="1000"/>
              <a:buChar char="■"/>
            </a:pPr>
            <a:r>
              <a:rPr lang="ja" sz="1000">
                <a:solidFill>
                  <a:schemeClr val="dk1"/>
                </a:solidFill>
              </a:rPr>
              <a:t>コミュニティ参加者からエンドースを得られる</a:t>
            </a:r>
            <a:endParaRPr sz="10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59" name="Google Shape;459;p46"/>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a:t>Qx</a:t>
            </a:r>
            <a:endParaRPr/>
          </a:p>
        </p:txBody>
      </p:sp>
      <p:pic>
        <p:nvPicPr>
          <p:cNvPr id="460" name="Google Shape;460;p46"/>
          <p:cNvPicPr preferRelativeResize="0"/>
          <p:nvPr/>
        </p:nvPicPr>
        <p:blipFill rotWithShape="1">
          <a:blip r:embed="rId3">
            <a:alphaModFix/>
          </a:blip>
          <a:srcRect l="13179" t="-1800" r="-13179" b="1800"/>
          <a:stretch/>
        </p:blipFill>
        <p:spPr>
          <a:xfrm>
            <a:off x="220526" y="1680322"/>
            <a:ext cx="8569399" cy="3036700"/>
          </a:xfrm>
          <a:prstGeom prst="rect">
            <a:avLst/>
          </a:prstGeom>
          <a:noFill/>
          <a:ln>
            <a:noFill/>
          </a:ln>
        </p:spPr>
      </p:pic>
      <p:sp>
        <p:nvSpPr>
          <p:cNvPr id="461" name="Google Shape;461;p46"/>
          <p:cNvSpPr/>
          <p:nvPr/>
        </p:nvSpPr>
        <p:spPr>
          <a:xfrm>
            <a:off x="4572000" y="3026025"/>
            <a:ext cx="1984500" cy="1278300"/>
          </a:xfrm>
          <a:prstGeom prst="wedgeRectCallout">
            <a:avLst>
              <a:gd name="adj1" fmla="val -49565"/>
              <a:gd name="adj2" fmla="val -16530"/>
            </a:avLst>
          </a:prstGeom>
          <a:solidFill>
            <a:srgbClr val="FF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SzPts val="1000"/>
              <a:buChar char="●"/>
            </a:pPr>
            <a:r>
              <a:rPr lang="ja" sz="1000"/>
              <a:t>リーダーシップ</a:t>
            </a:r>
            <a:endParaRPr sz="1000"/>
          </a:p>
          <a:p>
            <a:pPr marL="269999" lvl="1" indent="-168275" algn="l" rtl="0">
              <a:spcBef>
                <a:spcPts val="0"/>
              </a:spcBef>
              <a:spcAft>
                <a:spcPts val="0"/>
              </a:spcAft>
              <a:buSzPts val="1000"/>
              <a:buChar char="○"/>
            </a:pPr>
            <a:r>
              <a:rPr lang="ja" sz="1000"/>
              <a:t>コミュニティのリーダーとして意思決定の中心メンバー</a:t>
            </a:r>
            <a:endParaRPr sz="1000"/>
          </a:p>
          <a:p>
            <a:pPr marL="89999" lvl="0" indent="-158750" algn="l" rtl="0">
              <a:spcBef>
                <a:spcPts val="0"/>
              </a:spcBef>
              <a:spcAft>
                <a:spcPts val="0"/>
              </a:spcAft>
              <a:buSzPts val="1000"/>
              <a:buChar char="●"/>
            </a:pPr>
            <a:r>
              <a:rPr lang="ja" sz="1000"/>
              <a:t>エンゲージメント</a:t>
            </a:r>
            <a:endParaRPr sz="1000"/>
          </a:p>
          <a:p>
            <a:pPr marL="269999" lvl="1" indent="-168275" algn="l" rtl="0">
              <a:spcBef>
                <a:spcPts val="0"/>
              </a:spcBef>
              <a:spcAft>
                <a:spcPts val="0"/>
              </a:spcAft>
              <a:buSzPts val="1000"/>
              <a:buChar char="○"/>
            </a:pPr>
            <a:r>
              <a:rPr lang="ja" sz="1000"/>
              <a:t>意思決定会議参加者</a:t>
            </a:r>
            <a:endParaRPr sz="1000"/>
          </a:p>
          <a:p>
            <a:pPr marL="89999" lvl="0" indent="-158750" algn="l" rtl="0">
              <a:spcBef>
                <a:spcPts val="0"/>
              </a:spcBef>
              <a:spcAft>
                <a:spcPts val="0"/>
              </a:spcAft>
              <a:buSzPts val="1000"/>
              <a:buChar char="●"/>
            </a:pPr>
            <a:r>
              <a:rPr lang="ja" sz="1000"/>
              <a:t>コミュニティ教育</a:t>
            </a:r>
            <a:endParaRPr sz="1000"/>
          </a:p>
          <a:p>
            <a:pPr marL="269999" lvl="1" indent="-168275" algn="l" rtl="0">
              <a:spcBef>
                <a:spcPts val="0"/>
              </a:spcBef>
              <a:spcAft>
                <a:spcPts val="0"/>
              </a:spcAft>
              <a:buSzPts val="1000"/>
              <a:buChar char="○"/>
            </a:pPr>
            <a:r>
              <a:rPr lang="ja" sz="1000"/>
              <a:t>初期の貢献者</a:t>
            </a:r>
            <a:endParaRPr sz="1000"/>
          </a:p>
        </p:txBody>
      </p:sp>
      <p:sp>
        <p:nvSpPr>
          <p:cNvPr id="462" name="Google Shape;462;p46"/>
          <p:cNvSpPr txBox="1"/>
          <p:nvPr/>
        </p:nvSpPr>
        <p:spPr>
          <a:xfrm>
            <a:off x="846000" y="34525"/>
            <a:ext cx="6737400" cy="59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ja">
                <a:solidFill>
                  <a:schemeClr val="dk1"/>
                </a:solidFill>
              </a:rPr>
              <a:t>OSPOってなんですか</a:t>
            </a:r>
            <a:endParaRPr>
              <a:solidFill>
                <a:schemeClr val="dk1"/>
              </a:solidFill>
            </a:endParaRPr>
          </a:p>
          <a:p>
            <a:pPr marL="0" lvl="0" indent="0" algn="l" rtl="0">
              <a:spcBef>
                <a:spcPts val="0"/>
              </a:spcBef>
              <a:spcAft>
                <a:spcPts val="0"/>
              </a:spcAft>
              <a:buNone/>
            </a:pPr>
            <a:r>
              <a:rPr lang="ja"/>
              <a:t>それぞれのStageにある会社においてOSPOがやることをまとめてみた</a:t>
            </a:r>
            <a:endParaRPr/>
          </a:p>
        </p:txBody>
      </p:sp>
      <p:sp>
        <p:nvSpPr>
          <p:cNvPr id="463" name="Google Shape;463;p46"/>
          <p:cNvSpPr txBox="1"/>
          <p:nvPr/>
        </p:nvSpPr>
        <p:spPr>
          <a:xfrm>
            <a:off x="4832625" y="4422950"/>
            <a:ext cx="4209300" cy="664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ja" sz="700" u="sng">
                <a:solidFill>
                  <a:schemeClr val="hlink"/>
                </a:solidFill>
                <a:hlinkClick r:id="rId4"/>
              </a:rPr>
              <a:t>https://www.linuxfoundation.jp/wp-content/uploads/2022/11/ja_LFR_LFAID_Deep_Dive_Open_Source_Program_Offices_0830.pdf</a:t>
            </a:r>
            <a:endParaRPr sz="700" u="sng">
              <a:solidFill>
                <a:schemeClr val="hlink"/>
              </a:solidFill>
            </a:endParaRPr>
          </a:p>
          <a:p>
            <a:pPr marL="0" lvl="0" indent="0" algn="l" rtl="0">
              <a:lnSpc>
                <a:spcPct val="115000"/>
              </a:lnSpc>
              <a:spcBef>
                <a:spcPts val="0"/>
              </a:spcBef>
              <a:spcAft>
                <a:spcPts val="0"/>
              </a:spcAft>
              <a:buNone/>
            </a:pPr>
            <a:r>
              <a:rPr lang="ja" sz="700">
                <a:solidFill>
                  <a:schemeClr val="dk1"/>
                </a:solidFill>
              </a:rPr>
              <a:t>Ibrahim Haddad, “</a:t>
            </a:r>
            <a:r>
              <a:rPr lang="ja" sz="700" b="1">
                <a:solidFill>
                  <a:schemeClr val="dk1"/>
                </a:solidFill>
              </a:rPr>
              <a:t>A Deep Dive Into Open Source Program Offices:</a:t>
            </a:r>
            <a:endParaRPr sz="700" b="1">
              <a:solidFill>
                <a:schemeClr val="dk1"/>
              </a:solidFill>
            </a:endParaRPr>
          </a:p>
          <a:p>
            <a:pPr marL="0" lvl="0" indent="0" algn="l" rtl="0">
              <a:lnSpc>
                <a:spcPct val="115000"/>
              </a:lnSpc>
              <a:spcBef>
                <a:spcPts val="0"/>
              </a:spcBef>
              <a:spcAft>
                <a:spcPts val="0"/>
              </a:spcAft>
              <a:buNone/>
            </a:pPr>
            <a:r>
              <a:rPr lang="ja" sz="700" b="1">
                <a:solidFill>
                  <a:schemeClr val="dk1"/>
                </a:solidFill>
              </a:rPr>
              <a:t>Structure, Roles, Responsibilities, and Challenges </a:t>
            </a:r>
            <a:r>
              <a:rPr lang="ja" sz="700">
                <a:solidFill>
                  <a:schemeClr val="dk1"/>
                </a:solidFill>
              </a:rPr>
              <a:t>“ foreword by Chris Aniszczyk, August, 2022</a:t>
            </a:r>
            <a:endParaRPr sz="800"/>
          </a:p>
        </p:txBody>
      </p:sp>
      <p:grpSp>
        <p:nvGrpSpPr>
          <p:cNvPr id="464" name="Google Shape;464;p46"/>
          <p:cNvGrpSpPr/>
          <p:nvPr/>
        </p:nvGrpSpPr>
        <p:grpSpPr>
          <a:xfrm>
            <a:off x="874325" y="1899650"/>
            <a:ext cx="5919925" cy="2446800"/>
            <a:chOff x="874325" y="1899650"/>
            <a:chExt cx="5919925" cy="2446800"/>
          </a:xfrm>
        </p:grpSpPr>
        <p:sp>
          <p:nvSpPr>
            <p:cNvPr id="465" name="Google Shape;465;p46"/>
            <p:cNvSpPr/>
            <p:nvPr/>
          </p:nvSpPr>
          <p:spPr>
            <a:xfrm>
              <a:off x="4572000" y="3026025"/>
              <a:ext cx="1984500" cy="1278300"/>
            </a:xfrm>
            <a:prstGeom prst="wedgeRectCallout">
              <a:avLst>
                <a:gd name="adj1" fmla="val -49565"/>
                <a:gd name="adj2" fmla="val -16530"/>
              </a:avLst>
            </a:prstGeom>
            <a:solidFill>
              <a:srgbClr val="FF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SzPts val="1000"/>
                <a:buChar char="●"/>
              </a:pPr>
              <a:r>
                <a:rPr lang="ja" sz="1000"/>
                <a:t>リーダーシップ</a:t>
              </a:r>
              <a:endParaRPr sz="1000"/>
            </a:p>
            <a:p>
              <a:pPr marL="269999" lvl="1" indent="-168275" algn="l" rtl="0">
                <a:spcBef>
                  <a:spcPts val="0"/>
                </a:spcBef>
                <a:spcAft>
                  <a:spcPts val="0"/>
                </a:spcAft>
                <a:buSzPts val="1000"/>
                <a:buChar char="○"/>
              </a:pPr>
              <a:r>
                <a:rPr lang="ja" sz="1000"/>
                <a:t>コミュニティのリーダーとして意思決定の中心メンバー</a:t>
              </a:r>
              <a:endParaRPr sz="1000"/>
            </a:p>
            <a:p>
              <a:pPr marL="89999" lvl="0" indent="-158750" algn="l" rtl="0">
                <a:spcBef>
                  <a:spcPts val="0"/>
                </a:spcBef>
                <a:spcAft>
                  <a:spcPts val="0"/>
                </a:spcAft>
                <a:buSzPts val="1000"/>
                <a:buChar char="●"/>
              </a:pPr>
              <a:r>
                <a:rPr lang="ja" sz="1000"/>
                <a:t>エンゲージメント</a:t>
              </a:r>
              <a:endParaRPr sz="1000"/>
            </a:p>
            <a:p>
              <a:pPr marL="269999" lvl="1" indent="-168275" algn="l" rtl="0">
                <a:spcBef>
                  <a:spcPts val="0"/>
                </a:spcBef>
                <a:spcAft>
                  <a:spcPts val="0"/>
                </a:spcAft>
                <a:buSzPts val="1000"/>
                <a:buChar char="○"/>
              </a:pPr>
              <a:r>
                <a:rPr lang="ja" sz="1000"/>
                <a:t>意思決定会議参加者</a:t>
              </a:r>
              <a:endParaRPr sz="1000"/>
            </a:p>
            <a:p>
              <a:pPr marL="89999" lvl="0" indent="-158750" algn="l" rtl="0">
                <a:spcBef>
                  <a:spcPts val="0"/>
                </a:spcBef>
                <a:spcAft>
                  <a:spcPts val="0"/>
                </a:spcAft>
                <a:buSzPts val="1000"/>
                <a:buChar char="●"/>
              </a:pPr>
              <a:r>
                <a:rPr lang="ja" sz="1000"/>
                <a:t>コミュニティ教育</a:t>
              </a:r>
              <a:endParaRPr sz="1000"/>
            </a:p>
            <a:p>
              <a:pPr marL="269999" lvl="1" indent="-168275" algn="l" rtl="0">
                <a:spcBef>
                  <a:spcPts val="0"/>
                </a:spcBef>
                <a:spcAft>
                  <a:spcPts val="0"/>
                </a:spcAft>
                <a:buSzPts val="1000"/>
                <a:buChar char="○"/>
              </a:pPr>
              <a:r>
                <a:rPr lang="ja" sz="1000"/>
                <a:t>初期の貢献者</a:t>
              </a:r>
              <a:endParaRPr sz="1000"/>
            </a:p>
          </p:txBody>
        </p:sp>
        <p:sp>
          <p:nvSpPr>
            <p:cNvPr id="466" name="Google Shape;466;p46"/>
            <p:cNvSpPr/>
            <p:nvPr/>
          </p:nvSpPr>
          <p:spPr>
            <a:xfrm>
              <a:off x="874325" y="3236925"/>
              <a:ext cx="1234200" cy="1109400"/>
            </a:xfrm>
            <a:prstGeom prst="donut">
              <a:avLst>
                <a:gd name="adj" fmla="val 3730"/>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7" name="Google Shape;467;p46"/>
            <p:cNvSpPr/>
            <p:nvPr/>
          </p:nvSpPr>
          <p:spPr>
            <a:xfrm>
              <a:off x="2083350" y="1899650"/>
              <a:ext cx="4710900" cy="24468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8" name="Google Shape;468;p46"/>
            <p:cNvSpPr/>
            <p:nvPr/>
          </p:nvSpPr>
          <p:spPr>
            <a:xfrm>
              <a:off x="2042775" y="3943625"/>
              <a:ext cx="117300" cy="3606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9" name="Google Shape;469;p46"/>
            <p:cNvSpPr/>
            <p:nvPr/>
          </p:nvSpPr>
          <p:spPr>
            <a:xfrm>
              <a:off x="2013750" y="4037325"/>
              <a:ext cx="117300" cy="2670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0" name="Google Shape;470;p46"/>
            <p:cNvSpPr/>
            <p:nvPr/>
          </p:nvSpPr>
          <p:spPr>
            <a:xfrm>
              <a:off x="1976725" y="4079325"/>
              <a:ext cx="117300" cy="2250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1" name="Google Shape;471;p46"/>
            <p:cNvSpPr/>
            <p:nvPr/>
          </p:nvSpPr>
          <p:spPr>
            <a:xfrm>
              <a:off x="1940875" y="4135675"/>
              <a:ext cx="117300" cy="183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2" name="Google Shape;472;p46"/>
            <p:cNvSpPr/>
            <p:nvPr/>
          </p:nvSpPr>
          <p:spPr>
            <a:xfrm>
              <a:off x="1896450" y="4162425"/>
              <a:ext cx="117300" cy="14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3" name="Google Shape;473;p46"/>
            <p:cNvSpPr/>
            <p:nvPr/>
          </p:nvSpPr>
          <p:spPr>
            <a:xfrm>
              <a:off x="1835425" y="4204425"/>
              <a:ext cx="117300" cy="1152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4" name="Google Shape;474;p46"/>
            <p:cNvSpPr/>
            <p:nvPr/>
          </p:nvSpPr>
          <p:spPr>
            <a:xfrm>
              <a:off x="1779150" y="4252400"/>
              <a:ext cx="1173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5" name="Google Shape;475;p46"/>
            <p:cNvSpPr/>
            <p:nvPr/>
          </p:nvSpPr>
          <p:spPr>
            <a:xfrm>
              <a:off x="1127225" y="4252400"/>
              <a:ext cx="1173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6" name="Google Shape;476;p46"/>
            <p:cNvSpPr/>
            <p:nvPr/>
          </p:nvSpPr>
          <p:spPr>
            <a:xfrm>
              <a:off x="1718125" y="4267725"/>
              <a:ext cx="1173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7" name="Google Shape;477;p46"/>
            <p:cNvSpPr/>
            <p:nvPr/>
          </p:nvSpPr>
          <p:spPr>
            <a:xfrm>
              <a:off x="2058175" y="3450300"/>
              <a:ext cx="117300" cy="183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8" name="Google Shape;478;p46"/>
            <p:cNvSpPr/>
            <p:nvPr/>
          </p:nvSpPr>
          <p:spPr>
            <a:xfrm>
              <a:off x="1985889" y="3330550"/>
              <a:ext cx="117300" cy="183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9" name="Google Shape;479;p46"/>
            <p:cNvSpPr/>
            <p:nvPr/>
          </p:nvSpPr>
          <p:spPr>
            <a:xfrm>
              <a:off x="2026239" y="3389575"/>
              <a:ext cx="117300" cy="183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480" name="Google Shape;480;p46"/>
          <p:cNvSpPr/>
          <p:nvPr/>
        </p:nvSpPr>
        <p:spPr>
          <a:xfrm>
            <a:off x="39275" y="2375625"/>
            <a:ext cx="2293200" cy="861300"/>
          </a:xfrm>
          <a:prstGeom prst="wedgeRectCallout">
            <a:avLst>
              <a:gd name="adj1" fmla="val 7667"/>
              <a:gd name="adj2" fmla="val 123406"/>
            </a:avLst>
          </a:prstGeom>
          <a:solidFill>
            <a:schemeClr val="l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89999" lvl="0" indent="-149225" algn="l" rtl="0">
              <a:spcBef>
                <a:spcPts val="0"/>
              </a:spcBef>
              <a:spcAft>
                <a:spcPts val="0"/>
              </a:spcAft>
              <a:buSzPts val="1000"/>
              <a:buChar char="●"/>
            </a:pPr>
            <a:r>
              <a:rPr lang="ja" sz="1000"/>
              <a:t>ライセンスを啓発して浸透させる役割を持つ</a:t>
            </a:r>
            <a:endParaRPr sz="1000"/>
          </a:p>
          <a:p>
            <a:pPr marL="89999" lvl="0" indent="-149225" algn="l" rtl="0">
              <a:spcBef>
                <a:spcPts val="0"/>
              </a:spcBef>
              <a:spcAft>
                <a:spcPts val="0"/>
              </a:spcAft>
              <a:buSzPts val="1000"/>
              <a:buChar char="●"/>
            </a:pPr>
            <a:r>
              <a:rPr lang="ja" sz="1000"/>
              <a:t>  OSSは重要とか、ライセンスは守りましょうとか、を伝道する活動</a:t>
            </a:r>
            <a:endParaRPr sz="1000"/>
          </a:p>
        </p:txBody>
      </p:sp>
      <p:sp>
        <p:nvSpPr>
          <p:cNvPr id="481" name="Google Shape;481;p46"/>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0" lvl="0" indent="0" algn="l" rtl="0">
              <a:spcBef>
                <a:spcPts val="0"/>
              </a:spcBef>
              <a:spcAft>
                <a:spcPts val="0"/>
              </a:spcAft>
              <a:buNone/>
            </a:pP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85"/>
        <p:cNvGrpSpPr/>
        <p:nvPr/>
      </p:nvGrpSpPr>
      <p:grpSpPr>
        <a:xfrm>
          <a:off x="0" y="0"/>
          <a:ext cx="0" cy="0"/>
          <a:chOff x="0" y="0"/>
          <a:chExt cx="0" cy="0"/>
        </a:xfrm>
      </p:grpSpPr>
      <p:sp>
        <p:nvSpPr>
          <p:cNvPr id="486" name="Google Shape;486;p47"/>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a:t>Qx</a:t>
            </a:r>
            <a:endParaRPr/>
          </a:p>
        </p:txBody>
      </p:sp>
      <p:pic>
        <p:nvPicPr>
          <p:cNvPr id="487" name="Google Shape;487;p47"/>
          <p:cNvPicPr preferRelativeResize="0"/>
          <p:nvPr/>
        </p:nvPicPr>
        <p:blipFill rotWithShape="1">
          <a:blip r:embed="rId3">
            <a:alphaModFix/>
          </a:blip>
          <a:srcRect l="13179" t="-1800" r="-13179" b="1800"/>
          <a:stretch/>
        </p:blipFill>
        <p:spPr>
          <a:xfrm>
            <a:off x="220526" y="1680322"/>
            <a:ext cx="8569399" cy="3036700"/>
          </a:xfrm>
          <a:prstGeom prst="rect">
            <a:avLst/>
          </a:prstGeom>
          <a:noFill/>
          <a:ln>
            <a:noFill/>
          </a:ln>
        </p:spPr>
      </p:pic>
      <p:sp>
        <p:nvSpPr>
          <p:cNvPr id="488" name="Google Shape;488;p47"/>
          <p:cNvSpPr/>
          <p:nvPr/>
        </p:nvSpPr>
        <p:spPr>
          <a:xfrm>
            <a:off x="4572000" y="3026025"/>
            <a:ext cx="1984500" cy="1278300"/>
          </a:xfrm>
          <a:prstGeom prst="wedgeRectCallout">
            <a:avLst>
              <a:gd name="adj1" fmla="val -49565"/>
              <a:gd name="adj2" fmla="val -16530"/>
            </a:avLst>
          </a:prstGeom>
          <a:solidFill>
            <a:srgbClr val="FF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SzPts val="1000"/>
              <a:buChar char="●"/>
            </a:pPr>
            <a:r>
              <a:rPr lang="ja" sz="1000"/>
              <a:t>リーダーシップ</a:t>
            </a:r>
            <a:endParaRPr sz="1000"/>
          </a:p>
          <a:p>
            <a:pPr marL="269999" lvl="1" indent="-168275" algn="l" rtl="0">
              <a:spcBef>
                <a:spcPts val="0"/>
              </a:spcBef>
              <a:spcAft>
                <a:spcPts val="0"/>
              </a:spcAft>
              <a:buSzPts val="1000"/>
              <a:buChar char="○"/>
            </a:pPr>
            <a:r>
              <a:rPr lang="ja" sz="1000"/>
              <a:t>コミュニティのリーダーとして意思決定の中心メンバー</a:t>
            </a:r>
            <a:endParaRPr sz="1000"/>
          </a:p>
          <a:p>
            <a:pPr marL="89999" lvl="0" indent="-158750" algn="l" rtl="0">
              <a:spcBef>
                <a:spcPts val="0"/>
              </a:spcBef>
              <a:spcAft>
                <a:spcPts val="0"/>
              </a:spcAft>
              <a:buSzPts val="1000"/>
              <a:buChar char="●"/>
            </a:pPr>
            <a:r>
              <a:rPr lang="ja" sz="1000"/>
              <a:t>エンゲージメント</a:t>
            </a:r>
            <a:endParaRPr sz="1000"/>
          </a:p>
          <a:p>
            <a:pPr marL="269999" lvl="1" indent="-168275" algn="l" rtl="0">
              <a:spcBef>
                <a:spcPts val="0"/>
              </a:spcBef>
              <a:spcAft>
                <a:spcPts val="0"/>
              </a:spcAft>
              <a:buSzPts val="1000"/>
              <a:buChar char="○"/>
            </a:pPr>
            <a:r>
              <a:rPr lang="ja" sz="1000"/>
              <a:t>意思決定会議参加者</a:t>
            </a:r>
            <a:endParaRPr sz="1000"/>
          </a:p>
          <a:p>
            <a:pPr marL="89999" lvl="0" indent="-158750" algn="l" rtl="0">
              <a:spcBef>
                <a:spcPts val="0"/>
              </a:spcBef>
              <a:spcAft>
                <a:spcPts val="0"/>
              </a:spcAft>
              <a:buSzPts val="1000"/>
              <a:buChar char="●"/>
            </a:pPr>
            <a:r>
              <a:rPr lang="ja" sz="1000"/>
              <a:t>コミュニティ教育</a:t>
            </a:r>
            <a:endParaRPr sz="1000"/>
          </a:p>
          <a:p>
            <a:pPr marL="269999" lvl="1" indent="-168275" algn="l" rtl="0">
              <a:spcBef>
                <a:spcPts val="0"/>
              </a:spcBef>
              <a:spcAft>
                <a:spcPts val="0"/>
              </a:spcAft>
              <a:buSzPts val="1000"/>
              <a:buChar char="○"/>
            </a:pPr>
            <a:r>
              <a:rPr lang="ja" sz="1000"/>
              <a:t>初期の貢献者</a:t>
            </a:r>
            <a:endParaRPr sz="1000"/>
          </a:p>
        </p:txBody>
      </p:sp>
      <p:sp>
        <p:nvSpPr>
          <p:cNvPr id="489" name="Google Shape;489;p47"/>
          <p:cNvSpPr txBox="1"/>
          <p:nvPr/>
        </p:nvSpPr>
        <p:spPr>
          <a:xfrm>
            <a:off x="846000" y="34525"/>
            <a:ext cx="6737400" cy="59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ja">
                <a:solidFill>
                  <a:schemeClr val="dk1"/>
                </a:solidFill>
              </a:rPr>
              <a:t>OSPOってなんですか</a:t>
            </a:r>
            <a:endParaRPr>
              <a:solidFill>
                <a:schemeClr val="dk1"/>
              </a:solidFill>
            </a:endParaRPr>
          </a:p>
          <a:p>
            <a:pPr marL="0" lvl="0" indent="0" algn="l" rtl="0">
              <a:spcBef>
                <a:spcPts val="0"/>
              </a:spcBef>
              <a:spcAft>
                <a:spcPts val="0"/>
              </a:spcAft>
              <a:buNone/>
            </a:pPr>
            <a:r>
              <a:rPr lang="ja"/>
              <a:t>それぞれのStageにある会社においてOSPOがやることをまとめてみた</a:t>
            </a:r>
            <a:endParaRPr/>
          </a:p>
        </p:txBody>
      </p:sp>
      <p:sp>
        <p:nvSpPr>
          <p:cNvPr id="490" name="Google Shape;490;p47"/>
          <p:cNvSpPr txBox="1"/>
          <p:nvPr/>
        </p:nvSpPr>
        <p:spPr>
          <a:xfrm>
            <a:off x="4832625" y="4422950"/>
            <a:ext cx="4209300" cy="664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ja" sz="700" u="sng">
                <a:solidFill>
                  <a:schemeClr val="hlink"/>
                </a:solidFill>
                <a:hlinkClick r:id="rId4"/>
              </a:rPr>
              <a:t>https://www.linuxfoundation.jp/wp-content/uploads/2022/11/ja_LFR_LFAID_Deep_Dive_Open_Source_Program_Offices_0830.pdf</a:t>
            </a:r>
            <a:endParaRPr sz="700" u="sng">
              <a:solidFill>
                <a:schemeClr val="hlink"/>
              </a:solidFill>
            </a:endParaRPr>
          </a:p>
          <a:p>
            <a:pPr marL="0" lvl="0" indent="0" algn="l" rtl="0">
              <a:lnSpc>
                <a:spcPct val="115000"/>
              </a:lnSpc>
              <a:spcBef>
                <a:spcPts val="0"/>
              </a:spcBef>
              <a:spcAft>
                <a:spcPts val="0"/>
              </a:spcAft>
              <a:buNone/>
            </a:pPr>
            <a:r>
              <a:rPr lang="ja" sz="700">
                <a:solidFill>
                  <a:schemeClr val="dk1"/>
                </a:solidFill>
              </a:rPr>
              <a:t>Ibrahim Haddad, “</a:t>
            </a:r>
            <a:r>
              <a:rPr lang="ja" sz="700" b="1">
                <a:solidFill>
                  <a:schemeClr val="dk1"/>
                </a:solidFill>
              </a:rPr>
              <a:t>A Deep Dive Into Open Source Program Offices:</a:t>
            </a:r>
            <a:endParaRPr sz="700" b="1">
              <a:solidFill>
                <a:schemeClr val="dk1"/>
              </a:solidFill>
            </a:endParaRPr>
          </a:p>
          <a:p>
            <a:pPr marL="0" lvl="0" indent="0" algn="l" rtl="0">
              <a:lnSpc>
                <a:spcPct val="115000"/>
              </a:lnSpc>
              <a:spcBef>
                <a:spcPts val="0"/>
              </a:spcBef>
              <a:spcAft>
                <a:spcPts val="0"/>
              </a:spcAft>
              <a:buNone/>
            </a:pPr>
            <a:r>
              <a:rPr lang="ja" sz="700" b="1">
                <a:solidFill>
                  <a:schemeClr val="dk1"/>
                </a:solidFill>
              </a:rPr>
              <a:t>Structure, Roles, Responsibilities, and Challenges </a:t>
            </a:r>
            <a:r>
              <a:rPr lang="ja" sz="700">
                <a:solidFill>
                  <a:schemeClr val="dk1"/>
                </a:solidFill>
              </a:rPr>
              <a:t>“ foreword by Chris Aniszczyk, August, 2022</a:t>
            </a:r>
            <a:endParaRPr sz="800"/>
          </a:p>
        </p:txBody>
      </p:sp>
      <p:grpSp>
        <p:nvGrpSpPr>
          <p:cNvPr id="491" name="Google Shape;491;p47"/>
          <p:cNvGrpSpPr/>
          <p:nvPr/>
        </p:nvGrpSpPr>
        <p:grpSpPr>
          <a:xfrm>
            <a:off x="874325" y="1899650"/>
            <a:ext cx="5920000" cy="2446800"/>
            <a:chOff x="874325" y="1899650"/>
            <a:chExt cx="5920000" cy="2446800"/>
          </a:xfrm>
        </p:grpSpPr>
        <p:sp>
          <p:nvSpPr>
            <p:cNvPr id="492" name="Google Shape;492;p47"/>
            <p:cNvSpPr/>
            <p:nvPr/>
          </p:nvSpPr>
          <p:spPr>
            <a:xfrm>
              <a:off x="4572000" y="3026025"/>
              <a:ext cx="1984500" cy="1278300"/>
            </a:xfrm>
            <a:prstGeom prst="wedgeRectCallout">
              <a:avLst>
                <a:gd name="adj1" fmla="val -49565"/>
                <a:gd name="adj2" fmla="val -16530"/>
              </a:avLst>
            </a:prstGeom>
            <a:solidFill>
              <a:srgbClr val="FF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SzPts val="1000"/>
                <a:buChar char="●"/>
              </a:pPr>
              <a:r>
                <a:rPr lang="ja" sz="1000"/>
                <a:t>リーダーシップ</a:t>
              </a:r>
              <a:endParaRPr sz="1000"/>
            </a:p>
            <a:p>
              <a:pPr marL="269999" lvl="1" indent="-168275" algn="l" rtl="0">
                <a:spcBef>
                  <a:spcPts val="0"/>
                </a:spcBef>
                <a:spcAft>
                  <a:spcPts val="0"/>
                </a:spcAft>
                <a:buSzPts val="1000"/>
                <a:buChar char="○"/>
              </a:pPr>
              <a:r>
                <a:rPr lang="ja" sz="1000"/>
                <a:t>コミュニティのリーダーとして意思決定の中心メンバー</a:t>
              </a:r>
              <a:endParaRPr sz="1000"/>
            </a:p>
            <a:p>
              <a:pPr marL="89999" lvl="0" indent="-158750" algn="l" rtl="0">
                <a:spcBef>
                  <a:spcPts val="0"/>
                </a:spcBef>
                <a:spcAft>
                  <a:spcPts val="0"/>
                </a:spcAft>
                <a:buSzPts val="1000"/>
                <a:buChar char="●"/>
              </a:pPr>
              <a:r>
                <a:rPr lang="ja" sz="1000"/>
                <a:t>エンゲージメント</a:t>
              </a:r>
              <a:endParaRPr sz="1000"/>
            </a:p>
            <a:p>
              <a:pPr marL="269999" lvl="1" indent="-168275" algn="l" rtl="0">
                <a:spcBef>
                  <a:spcPts val="0"/>
                </a:spcBef>
                <a:spcAft>
                  <a:spcPts val="0"/>
                </a:spcAft>
                <a:buSzPts val="1000"/>
                <a:buChar char="○"/>
              </a:pPr>
              <a:r>
                <a:rPr lang="ja" sz="1000"/>
                <a:t>意思決定会議参加者</a:t>
              </a:r>
              <a:endParaRPr sz="1000"/>
            </a:p>
            <a:p>
              <a:pPr marL="89999" lvl="0" indent="-158750" algn="l" rtl="0">
                <a:spcBef>
                  <a:spcPts val="0"/>
                </a:spcBef>
                <a:spcAft>
                  <a:spcPts val="0"/>
                </a:spcAft>
                <a:buSzPts val="1000"/>
                <a:buChar char="●"/>
              </a:pPr>
              <a:r>
                <a:rPr lang="ja" sz="1000"/>
                <a:t>コミュニティ教育</a:t>
              </a:r>
              <a:endParaRPr sz="1000"/>
            </a:p>
            <a:p>
              <a:pPr marL="269999" lvl="1" indent="-168275" algn="l" rtl="0">
                <a:spcBef>
                  <a:spcPts val="0"/>
                </a:spcBef>
                <a:spcAft>
                  <a:spcPts val="0"/>
                </a:spcAft>
                <a:buSzPts val="1000"/>
                <a:buChar char="○"/>
              </a:pPr>
              <a:r>
                <a:rPr lang="ja" sz="1000"/>
                <a:t>初期の貢献者</a:t>
              </a:r>
              <a:endParaRPr sz="1000"/>
            </a:p>
          </p:txBody>
        </p:sp>
        <p:sp>
          <p:nvSpPr>
            <p:cNvPr id="493" name="Google Shape;493;p47"/>
            <p:cNvSpPr/>
            <p:nvPr/>
          </p:nvSpPr>
          <p:spPr>
            <a:xfrm>
              <a:off x="874325" y="3029925"/>
              <a:ext cx="2476200" cy="1316400"/>
            </a:xfrm>
            <a:prstGeom prst="donut">
              <a:avLst>
                <a:gd name="adj" fmla="val 3730"/>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4" name="Google Shape;494;p47"/>
            <p:cNvSpPr/>
            <p:nvPr/>
          </p:nvSpPr>
          <p:spPr>
            <a:xfrm>
              <a:off x="3308025" y="1899650"/>
              <a:ext cx="3486300" cy="24468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5" name="Google Shape;495;p47"/>
            <p:cNvSpPr/>
            <p:nvPr/>
          </p:nvSpPr>
          <p:spPr>
            <a:xfrm>
              <a:off x="3197807" y="3943625"/>
              <a:ext cx="117300" cy="3606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6" name="Google Shape;496;p47"/>
            <p:cNvSpPr/>
            <p:nvPr/>
          </p:nvSpPr>
          <p:spPr>
            <a:xfrm>
              <a:off x="3097321" y="4037325"/>
              <a:ext cx="188700" cy="2670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7" name="Google Shape;497;p47"/>
            <p:cNvSpPr/>
            <p:nvPr/>
          </p:nvSpPr>
          <p:spPr>
            <a:xfrm>
              <a:off x="3023119" y="4079325"/>
              <a:ext cx="225900" cy="2250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8" name="Google Shape;498;p47"/>
            <p:cNvSpPr/>
            <p:nvPr/>
          </p:nvSpPr>
          <p:spPr>
            <a:xfrm>
              <a:off x="2966968" y="4135675"/>
              <a:ext cx="246300" cy="183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9" name="Google Shape;499;p47"/>
            <p:cNvSpPr/>
            <p:nvPr/>
          </p:nvSpPr>
          <p:spPr>
            <a:xfrm>
              <a:off x="2884766" y="4162425"/>
              <a:ext cx="284100" cy="14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0" name="Google Shape;500;p47"/>
            <p:cNvSpPr/>
            <p:nvPr/>
          </p:nvSpPr>
          <p:spPr>
            <a:xfrm>
              <a:off x="2756412" y="4204425"/>
              <a:ext cx="351300" cy="1152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1" name="Google Shape;501;p47"/>
            <p:cNvSpPr/>
            <p:nvPr/>
          </p:nvSpPr>
          <p:spPr>
            <a:xfrm>
              <a:off x="2579955" y="4252400"/>
              <a:ext cx="4716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2" name="Google Shape;502;p47"/>
            <p:cNvSpPr/>
            <p:nvPr/>
          </p:nvSpPr>
          <p:spPr>
            <a:xfrm>
              <a:off x="1147275" y="4268000"/>
              <a:ext cx="511800" cy="363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3" name="Google Shape;503;p47"/>
            <p:cNvSpPr/>
            <p:nvPr/>
          </p:nvSpPr>
          <p:spPr>
            <a:xfrm>
              <a:off x="3153875" y="4001125"/>
              <a:ext cx="1173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4" name="Google Shape;504;p47"/>
            <p:cNvSpPr/>
            <p:nvPr/>
          </p:nvSpPr>
          <p:spPr>
            <a:xfrm>
              <a:off x="3286025" y="3844725"/>
              <a:ext cx="117300" cy="1152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5" name="Google Shape;505;p47"/>
            <p:cNvSpPr/>
            <p:nvPr/>
          </p:nvSpPr>
          <p:spPr>
            <a:xfrm>
              <a:off x="3249025" y="3885925"/>
              <a:ext cx="117300" cy="1152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6" name="Google Shape;506;p47"/>
            <p:cNvSpPr/>
            <p:nvPr/>
          </p:nvSpPr>
          <p:spPr>
            <a:xfrm>
              <a:off x="3261050" y="3410700"/>
              <a:ext cx="117300" cy="1152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7" name="Google Shape;507;p47"/>
            <p:cNvSpPr/>
            <p:nvPr/>
          </p:nvSpPr>
          <p:spPr>
            <a:xfrm>
              <a:off x="1161850" y="4228275"/>
              <a:ext cx="3750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8" name="Google Shape;508;p47"/>
            <p:cNvSpPr/>
            <p:nvPr/>
          </p:nvSpPr>
          <p:spPr>
            <a:xfrm>
              <a:off x="1134450" y="4192175"/>
              <a:ext cx="2841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9" name="Google Shape;509;p47"/>
            <p:cNvSpPr/>
            <p:nvPr/>
          </p:nvSpPr>
          <p:spPr>
            <a:xfrm>
              <a:off x="1117725" y="4144875"/>
              <a:ext cx="2103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0" name="Google Shape;510;p47"/>
            <p:cNvSpPr/>
            <p:nvPr/>
          </p:nvSpPr>
          <p:spPr>
            <a:xfrm>
              <a:off x="1035500" y="4116350"/>
              <a:ext cx="2103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1" name="Google Shape;511;p47"/>
            <p:cNvSpPr/>
            <p:nvPr/>
          </p:nvSpPr>
          <p:spPr>
            <a:xfrm>
              <a:off x="2510100" y="2232975"/>
              <a:ext cx="246300" cy="9216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512" name="Google Shape;512;p47"/>
          <p:cNvSpPr/>
          <p:nvPr/>
        </p:nvSpPr>
        <p:spPr>
          <a:xfrm>
            <a:off x="39275" y="2375625"/>
            <a:ext cx="2293200" cy="861300"/>
          </a:xfrm>
          <a:prstGeom prst="wedgeRectCallout">
            <a:avLst>
              <a:gd name="adj1" fmla="val 7667"/>
              <a:gd name="adj2" fmla="val 123406"/>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49225" algn="l" rtl="0">
              <a:spcBef>
                <a:spcPts val="0"/>
              </a:spcBef>
              <a:spcAft>
                <a:spcPts val="0"/>
              </a:spcAft>
              <a:buSzPts val="1000"/>
              <a:buChar char="●"/>
            </a:pPr>
            <a:r>
              <a:rPr lang="ja" sz="1000"/>
              <a:t>ライセンスを啓発して浸透させる役割を持つ</a:t>
            </a:r>
            <a:endParaRPr sz="1000"/>
          </a:p>
          <a:p>
            <a:pPr marL="89999" lvl="0" indent="-149225" algn="l" rtl="0">
              <a:spcBef>
                <a:spcPts val="0"/>
              </a:spcBef>
              <a:spcAft>
                <a:spcPts val="0"/>
              </a:spcAft>
              <a:buSzPts val="1000"/>
              <a:buChar char="●"/>
            </a:pPr>
            <a:r>
              <a:rPr lang="ja" sz="1000"/>
              <a:t>  OSSは重要とか、ライセンスは守りましょうとか、を伝道する活動</a:t>
            </a:r>
            <a:endParaRPr sz="1000"/>
          </a:p>
        </p:txBody>
      </p:sp>
      <p:sp>
        <p:nvSpPr>
          <p:cNvPr id="513" name="Google Shape;513;p47"/>
          <p:cNvSpPr/>
          <p:nvPr/>
        </p:nvSpPr>
        <p:spPr>
          <a:xfrm>
            <a:off x="1283575" y="877325"/>
            <a:ext cx="2798700" cy="1453500"/>
          </a:xfrm>
          <a:prstGeom prst="wedgeRectCallout">
            <a:avLst>
              <a:gd name="adj1" fmla="val 6634"/>
              <a:gd name="adj2" fmla="val 131447"/>
            </a:avLst>
          </a:prstGeom>
          <a:solidFill>
            <a:schemeClr val="l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SzPts val="1000"/>
              <a:buChar char="●"/>
            </a:pPr>
            <a:r>
              <a:rPr lang="ja" sz="1000"/>
              <a:t>会社全体でライセンス遵守を徹底するために推進する役割を担う</a:t>
            </a:r>
            <a:endParaRPr sz="1000"/>
          </a:p>
          <a:p>
            <a:pPr marL="89999" lvl="0" indent="-158750" algn="l" rtl="0">
              <a:spcBef>
                <a:spcPts val="0"/>
              </a:spcBef>
              <a:spcAft>
                <a:spcPts val="0"/>
              </a:spcAft>
              <a:buSzPts val="1000"/>
              <a:buChar char="●"/>
            </a:pPr>
            <a:r>
              <a:rPr lang="ja" sz="1000"/>
              <a:t>OSSコミュニティを利活用するために、その文化を理解し社内で適切に行動できるようになるための準備室</a:t>
            </a:r>
            <a:endParaRPr sz="1000"/>
          </a:p>
          <a:p>
            <a:pPr marL="89999" lvl="0" indent="-158750" algn="l" rtl="0">
              <a:spcBef>
                <a:spcPts val="0"/>
              </a:spcBef>
              <a:spcAft>
                <a:spcPts val="0"/>
              </a:spcAft>
              <a:buSzPts val="1000"/>
              <a:buChar char="●"/>
            </a:pPr>
            <a:r>
              <a:rPr lang="ja" sz="1000"/>
              <a:t>ゆくゆくは、社外のOSSコミュニティに貢献できるように、まずは社内でのOSS情報共有をする、社内のOSSコミュニティを築いて交流を活発にする</a:t>
            </a:r>
            <a:endParaRPr sz="1000"/>
          </a:p>
        </p:txBody>
      </p:sp>
      <p:sp>
        <p:nvSpPr>
          <p:cNvPr id="514" name="Google Shape;514;p47"/>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0" lvl="0" indent="0" algn="l" rtl="0">
              <a:spcBef>
                <a:spcPts val="0"/>
              </a:spcBef>
              <a:spcAft>
                <a:spcPts val="0"/>
              </a:spcAft>
              <a:buNone/>
            </a:pP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48"/>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a:t>Qx</a:t>
            </a:r>
            <a:endParaRPr/>
          </a:p>
        </p:txBody>
      </p:sp>
      <p:pic>
        <p:nvPicPr>
          <p:cNvPr id="520" name="Google Shape;520;p48"/>
          <p:cNvPicPr preferRelativeResize="0"/>
          <p:nvPr/>
        </p:nvPicPr>
        <p:blipFill rotWithShape="1">
          <a:blip r:embed="rId3">
            <a:alphaModFix/>
          </a:blip>
          <a:srcRect l="13179" t="-1800" r="-13179" b="1800"/>
          <a:stretch/>
        </p:blipFill>
        <p:spPr>
          <a:xfrm>
            <a:off x="220526" y="1680322"/>
            <a:ext cx="8569399" cy="3036700"/>
          </a:xfrm>
          <a:prstGeom prst="rect">
            <a:avLst/>
          </a:prstGeom>
          <a:noFill/>
          <a:ln>
            <a:noFill/>
          </a:ln>
        </p:spPr>
      </p:pic>
      <p:sp>
        <p:nvSpPr>
          <p:cNvPr id="521" name="Google Shape;521;p48"/>
          <p:cNvSpPr txBox="1"/>
          <p:nvPr/>
        </p:nvSpPr>
        <p:spPr>
          <a:xfrm>
            <a:off x="846000" y="34525"/>
            <a:ext cx="6737400" cy="59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ja">
                <a:solidFill>
                  <a:schemeClr val="dk1"/>
                </a:solidFill>
              </a:rPr>
              <a:t>OSPOってなんですか</a:t>
            </a:r>
            <a:endParaRPr>
              <a:solidFill>
                <a:schemeClr val="dk1"/>
              </a:solidFill>
            </a:endParaRPr>
          </a:p>
          <a:p>
            <a:pPr marL="0" lvl="0" indent="0" algn="l" rtl="0">
              <a:spcBef>
                <a:spcPts val="0"/>
              </a:spcBef>
              <a:spcAft>
                <a:spcPts val="0"/>
              </a:spcAft>
              <a:buNone/>
            </a:pPr>
            <a:r>
              <a:rPr lang="ja"/>
              <a:t>それぞれのStageにある会社においてOSPOがやることをまとめてみた</a:t>
            </a:r>
            <a:endParaRPr/>
          </a:p>
        </p:txBody>
      </p:sp>
      <p:sp>
        <p:nvSpPr>
          <p:cNvPr id="522" name="Google Shape;522;p48"/>
          <p:cNvSpPr txBox="1"/>
          <p:nvPr/>
        </p:nvSpPr>
        <p:spPr>
          <a:xfrm>
            <a:off x="4832625" y="4422950"/>
            <a:ext cx="4209300" cy="664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ja" sz="700" u="sng">
                <a:solidFill>
                  <a:schemeClr val="hlink"/>
                </a:solidFill>
                <a:hlinkClick r:id="rId4"/>
              </a:rPr>
              <a:t>https://www.linuxfoundation.jp/wp-content/uploads/2022/11/ja_LFR_LFAID_Deep_Dive_Open_Source_Program_Offices_0830.pdf</a:t>
            </a:r>
            <a:endParaRPr sz="700" u="sng">
              <a:solidFill>
                <a:schemeClr val="hlink"/>
              </a:solidFill>
            </a:endParaRPr>
          </a:p>
          <a:p>
            <a:pPr marL="0" lvl="0" indent="0" algn="l" rtl="0">
              <a:lnSpc>
                <a:spcPct val="115000"/>
              </a:lnSpc>
              <a:spcBef>
                <a:spcPts val="0"/>
              </a:spcBef>
              <a:spcAft>
                <a:spcPts val="0"/>
              </a:spcAft>
              <a:buNone/>
            </a:pPr>
            <a:r>
              <a:rPr lang="ja" sz="700">
                <a:solidFill>
                  <a:schemeClr val="dk1"/>
                </a:solidFill>
              </a:rPr>
              <a:t>Ibrahim Haddad, “</a:t>
            </a:r>
            <a:r>
              <a:rPr lang="ja" sz="700" b="1">
                <a:solidFill>
                  <a:schemeClr val="dk1"/>
                </a:solidFill>
              </a:rPr>
              <a:t>A Deep Dive Into Open Source Program Offices:</a:t>
            </a:r>
            <a:endParaRPr sz="700" b="1">
              <a:solidFill>
                <a:schemeClr val="dk1"/>
              </a:solidFill>
            </a:endParaRPr>
          </a:p>
          <a:p>
            <a:pPr marL="0" lvl="0" indent="0" algn="l" rtl="0">
              <a:lnSpc>
                <a:spcPct val="115000"/>
              </a:lnSpc>
              <a:spcBef>
                <a:spcPts val="0"/>
              </a:spcBef>
              <a:spcAft>
                <a:spcPts val="0"/>
              </a:spcAft>
              <a:buNone/>
            </a:pPr>
            <a:r>
              <a:rPr lang="ja" sz="700" b="1">
                <a:solidFill>
                  <a:schemeClr val="dk1"/>
                </a:solidFill>
              </a:rPr>
              <a:t>Structure, Roles, Responsibilities, and Challenges </a:t>
            </a:r>
            <a:r>
              <a:rPr lang="ja" sz="700">
                <a:solidFill>
                  <a:schemeClr val="dk1"/>
                </a:solidFill>
              </a:rPr>
              <a:t>“ foreword by Chris Aniszczyk, August, 2022</a:t>
            </a:r>
            <a:endParaRPr sz="800"/>
          </a:p>
        </p:txBody>
      </p:sp>
      <p:grpSp>
        <p:nvGrpSpPr>
          <p:cNvPr id="523" name="Google Shape;523;p48"/>
          <p:cNvGrpSpPr/>
          <p:nvPr/>
        </p:nvGrpSpPr>
        <p:grpSpPr>
          <a:xfrm>
            <a:off x="496725" y="1899650"/>
            <a:ext cx="6297594" cy="2446800"/>
            <a:chOff x="496725" y="1899650"/>
            <a:chExt cx="6297594" cy="2446800"/>
          </a:xfrm>
        </p:grpSpPr>
        <p:sp>
          <p:nvSpPr>
            <p:cNvPr id="524" name="Google Shape;524;p48"/>
            <p:cNvSpPr/>
            <p:nvPr/>
          </p:nvSpPr>
          <p:spPr>
            <a:xfrm>
              <a:off x="496725" y="2571750"/>
              <a:ext cx="4707300" cy="1774500"/>
            </a:xfrm>
            <a:prstGeom prst="donut">
              <a:avLst>
                <a:gd name="adj" fmla="val 4256"/>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5" name="Google Shape;525;p48"/>
            <p:cNvSpPr/>
            <p:nvPr/>
          </p:nvSpPr>
          <p:spPr>
            <a:xfrm>
              <a:off x="5123319" y="1899650"/>
              <a:ext cx="1671000" cy="24468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6" name="Google Shape;526;p48"/>
            <p:cNvSpPr/>
            <p:nvPr/>
          </p:nvSpPr>
          <p:spPr>
            <a:xfrm>
              <a:off x="5026607" y="3715025"/>
              <a:ext cx="117300" cy="3606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7" name="Google Shape;527;p48"/>
            <p:cNvSpPr/>
            <p:nvPr/>
          </p:nvSpPr>
          <p:spPr>
            <a:xfrm>
              <a:off x="4536775" y="4037325"/>
              <a:ext cx="596400" cy="2670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8" name="Google Shape;528;p48"/>
            <p:cNvSpPr/>
            <p:nvPr/>
          </p:nvSpPr>
          <p:spPr>
            <a:xfrm>
              <a:off x="4386726" y="4079325"/>
              <a:ext cx="766500" cy="2250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9" name="Google Shape;529;p48"/>
            <p:cNvSpPr/>
            <p:nvPr/>
          </p:nvSpPr>
          <p:spPr>
            <a:xfrm>
              <a:off x="4257625" y="4116350"/>
              <a:ext cx="784500" cy="2031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0" name="Google Shape;530;p48"/>
            <p:cNvSpPr/>
            <p:nvPr/>
          </p:nvSpPr>
          <p:spPr>
            <a:xfrm>
              <a:off x="4104570" y="4162425"/>
              <a:ext cx="893100" cy="14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1" name="Google Shape;531;p48"/>
            <p:cNvSpPr/>
            <p:nvPr/>
          </p:nvSpPr>
          <p:spPr>
            <a:xfrm>
              <a:off x="3904427" y="4204425"/>
              <a:ext cx="1032000" cy="1152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2" name="Google Shape;532;p48"/>
            <p:cNvSpPr/>
            <p:nvPr/>
          </p:nvSpPr>
          <p:spPr>
            <a:xfrm>
              <a:off x="3596291" y="4252400"/>
              <a:ext cx="12840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3" name="Google Shape;533;p48"/>
            <p:cNvSpPr/>
            <p:nvPr/>
          </p:nvSpPr>
          <p:spPr>
            <a:xfrm>
              <a:off x="1147275" y="4268000"/>
              <a:ext cx="965700" cy="363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4" name="Google Shape;534;p48"/>
            <p:cNvSpPr/>
            <p:nvPr/>
          </p:nvSpPr>
          <p:spPr>
            <a:xfrm>
              <a:off x="4604975" y="4001125"/>
              <a:ext cx="4950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5" name="Google Shape;535;p48"/>
            <p:cNvSpPr/>
            <p:nvPr/>
          </p:nvSpPr>
          <p:spPr>
            <a:xfrm>
              <a:off x="5114825" y="3616125"/>
              <a:ext cx="117300" cy="1152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6" name="Google Shape;536;p48"/>
            <p:cNvSpPr/>
            <p:nvPr/>
          </p:nvSpPr>
          <p:spPr>
            <a:xfrm>
              <a:off x="5077825" y="3657325"/>
              <a:ext cx="117300" cy="1152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7" name="Google Shape;537;p48"/>
            <p:cNvSpPr/>
            <p:nvPr/>
          </p:nvSpPr>
          <p:spPr>
            <a:xfrm>
              <a:off x="5064075" y="3172875"/>
              <a:ext cx="117300" cy="63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8" name="Google Shape;538;p48"/>
            <p:cNvSpPr/>
            <p:nvPr/>
          </p:nvSpPr>
          <p:spPr>
            <a:xfrm>
              <a:off x="1161850" y="4228275"/>
              <a:ext cx="7335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9" name="Google Shape;539;p48"/>
            <p:cNvSpPr/>
            <p:nvPr/>
          </p:nvSpPr>
          <p:spPr>
            <a:xfrm>
              <a:off x="1134450" y="4192175"/>
              <a:ext cx="5481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0" name="Google Shape;540;p48"/>
            <p:cNvSpPr/>
            <p:nvPr/>
          </p:nvSpPr>
          <p:spPr>
            <a:xfrm>
              <a:off x="1117725" y="4144875"/>
              <a:ext cx="4176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1" name="Google Shape;541;p48"/>
            <p:cNvSpPr/>
            <p:nvPr/>
          </p:nvSpPr>
          <p:spPr>
            <a:xfrm>
              <a:off x="1035500" y="4116350"/>
              <a:ext cx="3348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2" name="Google Shape;542;p48"/>
            <p:cNvSpPr/>
            <p:nvPr/>
          </p:nvSpPr>
          <p:spPr>
            <a:xfrm>
              <a:off x="2510100" y="2232975"/>
              <a:ext cx="246300" cy="9216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3" name="Google Shape;543;p48"/>
            <p:cNvSpPr/>
            <p:nvPr/>
          </p:nvSpPr>
          <p:spPr>
            <a:xfrm>
              <a:off x="1006400" y="4079325"/>
              <a:ext cx="3348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4" name="Google Shape;544;p48"/>
            <p:cNvSpPr/>
            <p:nvPr/>
          </p:nvSpPr>
          <p:spPr>
            <a:xfrm>
              <a:off x="4689350" y="3941275"/>
              <a:ext cx="361800" cy="732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5" name="Google Shape;545;p48"/>
            <p:cNvSpPr/>
            <p:nvPr/>
          </p:nvSpPr>
          <p:spPr>
            <a:xfrm>
              <a:off x="4817725" y="3887250"/>
              <a:ext cx="233400" cy="732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6" name="Google Shape;546;p48"/>
            <p:cNvSpPr/>
            <p:nvPr/>
          </p:nvSpPr>
          <p:spPr>
            <a:xfrm>
              <a:off x="4910500" y="3845225"/>
              <a:ext cx="204300" cy="732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7" name="Google Shape;547;p48"/>
            <p:cNvSpPr/>
            <p:nvPr/>
          </p:nvSpPr>
          <p:spPr>
            <a:xfrm>
              <a:off x="4962525" y="3793288"/>
              <a:ext cx="204300" cy="732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8" name="Google Shape;548;p48"/>
            <p:cNvSpPr/>
            <p:nvPr/>
          </p:nvSpPr>
          <p:spPr>
            <a:xfrm>
              <a:off x="5015875" y="3118213"/>
              <a:ext cx="117300" cy="63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9" name="Google Shape;549;p48"/>
            <p:cNvSpPr/>
            <p:nvPr/>
          </p:nvSpPr>
          <p:spPr>
            <a:xfrm>
              <a:off x="4936425" y="3060600"/>
              <a:ext cx="204300" cy="63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50" name="Google Shape;550;p48"/>
            <p:cNvSpPr/>
            <p:nvPr/>
          </p:nvSpPr>
          <p:spPr>
            <a:xfrm>
              <a:off x="4859775" y="3003675"/>
              <a:ext cx="273300" cy="63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51" name="Google Shape;551;p48"/>
            <p:cNvSpPr/>
            <p:nvPr/>
          </p:nvSpPr>
          <p:spPr>
            <a:xfrm>
              <a:off x="4797775" y="2956700"/>
              <a:ext cx="334800" cy="63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52" name="Google Shape;552;p48"/>
            <p:cNvSpPr/>
            <p:nvPr/>
          </p:nvSpPr>
          <p:spPr>
            <a:xfrm>
              <a:off x="4729275" y="2558550"/>
              <a:ext cx="437700" cy="4143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553" name="Google Shape;553;p48"/>
          <p:cNvSpPr/>
          <p:nvPr/>
        </p:nvSpPr>
        <p:spPr>
          <a:xfrm>
            <a:off x="39275" y="2375625"/>
            <a:ext cx="2293200" cy="861300"/>
          </a:xfrm>
          <a:prstGeom prst="wedgeRectCallout">
            <a:avLst>
              <a:gd name="adj1" fmla="val 7667"/>
              <a:gd name="adj2" fmla="val 123406"/>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49225" algn="l" rtl="0">
              <a:spcBef>
                <a:spcPts val="0"/>
              </a:spcBef>
              <a:spcAft>
                <a:spcPts val="0"/>
              </a:spcAft>
              <a:buSzPts val="1000"/>
              <a:buChar char="●"/>
            </a:pPr>
            <a:r>
              <a:rPr lang="ja" sz="1000"/>
              <a:t>ライセンスを啓発して浸透させる役割を持つ</a:t>
            </a:r>
            <a:endParaRPr sz="1000"/>
          </a:p>
          <a:p>
            <a:pPr marL="89999" lvl="0" indent="-149225" algn="l" rtl="0">
              <a:spcBef>
                <a:spcPts val="0"/>
              </a:spcBef>
              <a:spcAft>
                <a:spcPts val="0"/>
              </a:spcAft>
              <a:buSzPts val="1000"/>
              <a:buChar char="●"/>
            </a:pPr>
            <a:r>
              <a:rPr lang="ja" sz="1000"/>
              <a:t>  OSSは重要とか、ライセンスは守りましょうとか、を伝道する活動</a:t>
            </a:r>
            <a:endParaRPr sz="1000"/>
          </a:p>
        </p:txBody>
      </p:sp>
      <p:sp>
        <p:nvSpPr>
          <p:cNvPr id="554" name="Google Shape;554;p48"/>
          <p:cNvSpPr/>
          <p:nvPr/>
        </p:nvSpPr>
        <p:spPr>
          <a:xfrm>
            <a:off x="4274375" y="668225"/>
            <a:ext cx="2476200" cy="1453500"/>
          </a:xfrm>
          <a:prstGeom prst="wedgeRectCallout">
            <a:avLst>
              <a:gd name="adj1" fmla="val -43620"/>
              <a:gd name="adj2" fmla="val 114071"/>
            </a:avLst>
          </a:prstGeom>
          <a:solidFill>
            <a:schemeClr val="l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SzPts val="1000"/>
              <a:buChar char="●"/>
            </a:pPr>
            <a:r>
              <a:rPr lang="ja" sz="1000"/>
              <a:t>Open Sourceという異なる文化に対して会社が協調してゆくための橋渡しをして、スムーズに利活用するフレームワークがOSPOである</a:t>
            </a:r>
            <a:endParaRPr sz="1000"/>
          </a:p>
          <a:p>
            <a:pPr marL="89999" lvl="0" indent="-158750" algn="l" rtl="0">
              <a:spcBef>
                <a:spcPts val="0"/>
              </a:spcBef>
              <a:spcAft>
                <a:spcPts val="0"/>
              </a:spcAft>
              <a:buSzPts val="1000"/>
              <a:buChar char="●"/>
            </a:pPr>
            <a:r>
              <a:rPr lang="ja" sz="1000"/>
              <a:t>Open Sourceという異なる文化を持つOSSコミュニティと団体、組織との協調を実現し、その活動がコミュニティの動きの中に自然に組込まれること目指す組織がOSPOである</a:t>
            </a:r>
            <a:endParaRPr sz="1000"/>
          </a:p>
        </p:txBody>
      </p:sp>
      <p:sp>
        <p:nvSpPr>
          <p:cNvPr id="555" name="Google Shape;555;p48"/>
          <p:cNvSpPr/>
          <p:nvPr/>
        </p:nvSpPr>
        <p:spPr>
          <a:xfrm>
            <a:off x="1283575" y="877325"/>
            <a:ext cx="2798700" cy="1453500"/>
          </a:xfrm>
          <a:prstGeom prst="wedgeRectCallout">
            <a:avLst>
              <a:gd name="adj1" fmla="val 6634"/>
              <a:gd name="adj2" fmla="val 13144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SzPts val="1000"/>
              <a:buChar char="●"/>
            </a:pPr>
            <a:r>
              <a:rPr lang="ja" sz="1000"/>
              <a:t>会社全体でライセンス遵守を徹底するために推進する役割を担う</a:t>
            </a:r>
            <a:endParaRPr sz="1000"/>
          </a:p>
          <a:p>
            <a:pPr marL="89999" lvl="0" indent="-158750" algn="l" rtl="0">
              <a:spcBef>
                <a:spcPts val="0"/>
              </a:spcBef>
              <a:spcAft>
                <a:spcPts val="0"/>
              </a:spcAft>
              <a:buSzPts val="1000"/>
              <a:buChar char="●"/>
            </a:pPr>
            <a:r>
              <a:rPr lang="ja" sz="1000"/>
              <a:t>OSSコミュニティを利活用するために、その文化を理解し社内で適切に行動できるようになるための準備室</a:t>
            </a:r>
            <a:endParaRPr sz="1000"/>
          </a:p>
          <a:p>
            <a:pPr marL="89999" lvl="0" indent="-158750" algn="l" rtl="0">
              <a:spcBef>
                <a:spcPts val="0"/>
              </a:spcBef>
              <a:spcAft>
                <a:spcPts val="0"/>
              </a:spcAft>
              <a:buSzPts val="1000"/>
              <a:buChar char="●"/>
            </a:pPr>
            <a:r>
              <a:rPr lang="ja" sz="1000"/>
              <a:t>ゆくゆくは、社外のOSSコミュニティに貢献できるように、まずは社内でのOSS情報共有をする、社内のOSSコミュニティを築いて交流を活発にする</a:t>
            </a:r>
            <a:endParaRPr sz="1000"/>
          </a:p>
        </p:txBody>
      </p:sp>
      <p:sp>
        <p:nvSpPr>
          <p:cNvPr id="556" name="Google Shape;556;p48"/>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0" lvl="0" indent="0" algn="l" rtl="0">
              <a:spcBef>
                <a:spcPts val="0"/>
              </a:spcBef>
              <a:spcAft>
                <a:spcPts val="0"/>
              </a:spcAft>
              <a:buNone/>
            </a:pP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60"/>
        <p:cNvGrpSpPr/>
        <p:nvPr/>
      </p:nvGrpSpPr>
      <p:grpSpPr>
        <a:xfrm>
          <a:off x="0" y="0"/>
          <a:ext cx="0" cy="0"/>
          <a:chOff x="0" y="0"/>
          <a:chExt cx="0" cy="0"/>
        </a:xfrm>
      </p:grpSpPr>
      <p:sp>
        <p:nvSpPr>
          <p:cNvPr id="561" name="Google Shape;561;p49"/>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a:t>Qx</a:t>
            </a:r>
            <a:endParaRPr/>
          </a:p>
        </p:txBody>
      </p:sp>
      <p:pic>
        <p:nvPicPr>
          <p:cNvPr id="562" name="Google Shape;562;p49"/>
          <p:cNvPicPr preferRelativeResize="0"/>
          <p:nvPr/>
        </p:nvPicPr>
        <p:blipFill rotWithShape="1">
          <a:blip r:embed="rId3">
            <a:alphaModFix/>
          </a:blip>
          <a:srcRect l="13179" t="-1800" r="-13179" b="1800"/>
          <a:stretch/>
        </p:blipFill>
        <p:spPr>
          <a:xfrm>
            <a:off x="220526" y="1680322"/>
            <a:ext cx="8569399" cy="3036700"/>
          </a:xfrm>
          <a:prstGeom prst="rect">
            <a:avLst/>
          </a:prstGeom>
          <a:noFill/>
          <a:ln>
            <a:noFill/>
          </a:ln>
        </p:spPr>
      </p:pic>
      <p:sp>
        <p:nvSpPr>
          <p:cNvPr id="563" name="Google Shape;563;p49"/>
          <p:cNvSpPr txBox="1"/>
          <p:nvPr/>
        </p:nvSpPr>
        <p:spPr>
          <a:xfrm>
            <a:off x="846000" y="34525"/>
            <a:ext cx="6737400" cy="59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ja">
                <a:solidFill>
                  <a:schemeClr val="dk1"/>
                </a:solidFill>
              </a:rPr>
              <a:t>OSPOってなんですか</a:t>
            </a:r>
            <a:endParaRPr>
              <a:solidFill>
                <a:schemeClr val="dk1"/>
              </a:solidFill>
            </a:endParaRPr>
          </a:p>
          <a:p>
            <a:pPr marL="0" lvl="0" indent="0" algn="l" rtl="0">
              <a:spcBef>
                <a:spcPts val="0"/>
              </a:spcBef>
              <a:spcAft>
                <a:spcPts val="0"/>
              </a:spcAft>
              <a:buNone/>
            </a:pPr>
            <a:r>
              <a:rPr lang="ja"/>
              <a:t>それぞれのStageにある会社においてOSPOがやることをまとめてみた</a:t>
            </a:r>
            <a:endParaRPr/>
          </a:p>
        </p:txBody>
      </p:sp>
      <p:sp>
        <p:nvSpPr>
          <p:cNvPr id="564" name="Google Shape;564;p49"/>
          <p:cNvSpPr txBox="1"/>
          <p:nvPr/>
        </p:nvSpPr>
        <p:spPr>
          <a:xfrm>
            <a:off x="4832625" y="4422950"/>
            <a:ext cx="4209300" cy="664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ja" sz="700" u="sng">
                <a:solidFill>
                  <a:schemeClr val="hlink"/>
                </a:solidFill>
                <a:hlinkClick r:id="rId4"/>
              </a:rPr>
              <a:t>https://www.linuxfoundation.jp/wp-content/uploads/2022/11/ja_LFR_LFAID_Deep_Dive_Open_Source_Program_Offices_0830.pdf</a:t>
            </a:r>
            <a:endParaRPr sz="700" u="sng">
              <a:solidFill>
                <a:schemeClr val="hlink"/>
              </a:solidFill>
            </a:endParaRPr>
          </a:p>
          <a:p>
            <a:pPr marL="0" lvl="0" indent="0" algn="l" rtl="0">
              <a:lnSpc>
                <a:spcPct val="115000"/>
              </a:lnSpc>
              <a:spcBef>
                <a:spcPts val="0"/>
              </a:spcBef>
              <a:spcAft>
                <a:spcPts val="0"/>
              </a:spcAft>
              <a:buNone/>
            </a:pPr>
            <a:r>
              <a:rPr lang="ja" sz="700">
                <a:solidFill>
                  <a:schemeClr val="dk1"/>
                </a:solidFill>
              </a:rPr>
              <a:t>Ibrahim Haddad, “</a:t>
            </a:r>
            <a:r>
              <a:rPr lang="ja" sz="700" b="1">
                <a:solidFill>
                  <a:schemeClr val="dk1"/>
                </a:solidFill>
              </a:rPr>
              <a:t>A Deep Dive Into Open Source Program Offices:</a:t>
            </a:r>
            <a:endParaRPr sz="700" b="1">
              <a:solidFill>
                <a:schemeClr val="dk1"/>
              </a:solidFill>
            </a:endParaRPr>
          </a:p>
          <a:p>
            <a:pPr marL="0" lvl="0" indent="0" algn="l" rtl="0">
              <a:lnSpc>
                <a:spcPct val="115000"/>
              </a:lnSpc>
              <a:spcBef>
                <a:spcPts val="0"/>
              </a:spcBef>
              <a:spcAft>
                <a:spcPts val="0"/>
              </a:spcAft>
              <a:buNone/>
            </a:pPr>
            <a:r>
              <a:rPr lang="ja" sz="700" b="1">
                <a:solidFill>
                  <a:schemeClr val="dk1"/>
                </a:solidFill>
              </a:rPr>
              <a:t>Structure, Roles, Responsibilities, and Challenges </a:t>
            </a:r>
            <a:r>
              <a:rPr lang="ja" sz="700">
                <a:solidFill>
                  <a:schemeClr val="dk1"/>
                </a:solidFill>
              </a:rPr>
              <a:t>“ foreword by Chris Aniszczyk, August, 2022</a:t>
            </a:r>
            <a:endParaRPr sz="800"/>
          </a:p>
        </p:txBody>
      </p:sp>
      <p:grpSp>
        <p:nvGrpSpPr>
          <p:cNvPr id="565" name="Google Shape;565;p49"/>
          <p:cNvGrpSpPr/>
          <p:nvPr/>
        </p:nvGrpSpPr>
        <p:grpSpPr>
          <a:xfrm>
            <a:off x="220525" y="2139963"/>
            <a:ext cx="6938400" cy="2206438"/>
            <a:chOff x="220525" y="2139963"/>
            <a:chExt cx="6938400" cy="2206438"/>
          </a:xfrm>
        </p:grpSpPr>
        <p:sp>
          <p:nvSpPr>
            <p:cNvPr id="566" name="Google Shape;566;p49"/>
            <p:cNvSpPr/>
            <p:nvPr/>
          </p:nvSpPr>
          <p:spPr>
            <a:xfrm>
              <a:off x="220525" y="2306700"/>
              <a:ext cx="6938400" cy="2039700"/>
            </a:xfrm>
            <a:prstGeom prst="donut">
              <a:avLst>
                <a:gd name="adj" fmla="val 4256"/>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67" name="Google Shape;567;p49"/>
            <p:cNvSpPr/>
            <p:nvPr/>
          </p:nvSpPr>
          <p:spPr>
            <a:xfrm>
              <a:off x="6283125" y="3943625"/>
              <a:ext cx="537000" cy="936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68" name="Google Shape;568;p49"/>
            <p:cNvSpPr/>
            <p:nvPr/>
          </p:nvSpPr>
          <p:spPr>
            <a:xfrm>
              <a:off x="6022224" y="4037325"/>
              <a:ext cx="768900" cy="2670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69" name="Google Shape;569;p49"/>
            <p:cNvSpPr/>
            <p:nvPr/>
          </p:nvSpPr>
          <p:spPr>
            <a:xfrm>
              <a:off x="5797325" y="4079325"/>
              <a:ext cx="957000" cy="2250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70" name="Google Shape;570;p49"/>
            <p:cNvSpPr/>
            <p:nvPr/>
          </p:nvSpPr>
          <p:spPr>
            <a:xfrm>
              <a:off x="5668000" y="4135675"/>
              <a:ext cx="1050600" cy="183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71" name="Google Shape;571;p49"/>
            <p:cNvSpPr/>
            <p:nvPr/>
          </p:nvSpPr>
          <p:spPr>
            <a:xfrm>
              <a:off x="5442625" y="4162425"/>
              <a:ext cx="1231500" cy="14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72" name="Google Shape;572;p49"/>
            <p:cNvSpPr/>
            <p:nvPr/>
          </p:nvSpPr>
          <p:spPr>
            <a:xfrm>
              <a:off x="5135626" y="4204425"/>
              <a:ext cx="1477200" cy="1152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73" name="Google Shape;573;p49"/>
            <p:cNvSpPr/>
            <p:nvPr/>
          </p:nvSpPr>
          <p:spPr>
            <a:xfrm>
              <a:off x="4709424" y="4252400"/>
              <a:ext cx="18474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74" name="Google Shape;574;p49"/>
            <p:cNvSpPr/>
            <p:nvPr/>
          </p:nvSpPr>
          <p:spPr>
            <a:xfrm>
              <a:off x="1147275" y="4268000"/>
              <a:ext cx="1734000" cy="363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75" name="Google Shape;575;p49"/>
            <p:cNvSpPr/>
            <p:nvPr/>
          </p:nvSpPr>
          <p:spPr>
            <a:xfrm>
              <a:off x="6172925" y="4001125"/>
              <a:ext cx="6036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76" name="Google Shape;576;p49"/>
            <p:cNvSpPr/>
            <p:nvPr/>
          </p:nvSpPr>
          <p:spPr>
            <a:xfrm>
              <a:off x="6791225" y="3844725"/>
              <a:ext cx="117300" cy="1152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77" name="Google Shape;577;p49"/>
            <p:cNvSpPr/>
            <p:nvPr/>
          </p:nvSpPr>
          <p:spPr>
            <a:xfrm>
              <a:off x="6445075" y="3885925"/>
              <a:ext cx="357600" cy="741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78" name="Google Shape;578;p49"/>
            <p:cNvSpPr/>
            <p:nvPr/>
          </p:nvSpPr>
          <p:spPr>
            <a:xfrm>
              <a:off x="5748125" y="2139963"/>
              <a:ext cx="1072200" cy="4317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79" name="Google Shape;579;p49"/>
            <p:cNvSpPr/>
            <p:nvPr/>
          </p:nvSpPr>
          <p:spPr>
            <a:xfrm>
              <a:off x="1161850" y="4228275"/>
              <a:ext cx="14373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80" name="Google Shape;580;p49"/>
            <p:cNvSpPr/>
            <p:nvPr/>
          </p:nvSpPr>
          <p:spPr>
            <a:xfrm>
              <a:off x="1134450" y="4192175"/>
              <a:ext cx="12114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81" name="Google Shape;581;p49"/>
            <p:cNvSpPr/>
            <p:nvPr/>
          </p:nvSpPr>
          <p:spPr>
            <a:xfrm>
              <a:off x="1117725" y="4144875"/>
              <a:ext cx="9714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82" name="Google Shape;582;p49"/>
            <p:cNvSpPr/>
            <p:nvPr/>
          </p:nvSpPr>
          <p:spPr>
            <a:xfrm>
              <a:off x="1035500" y="4116350"/>
              <a:ext cx="843600" cy="519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83" name="Google Shape;583;p49"/>
            <p:cNvSpPr/>
            <p:nvPr/>
          </p:nvSpPr>
          <p:spPr>
            <a:xfrm>
              <a:off x="2510100" y="2232975"/>
              <a:ext cx="246300" cy="9216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84" name="Google Shape;584;p49"/>
            <p:cNvSpPr/>
            <p:nvPr/>
          </p:nvSpPr>
          <p:spPr>
            <a:xfrm>
              <a:off x="6585625" y="3827425"/>
              <a:ext cx="217200" cy="741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85" name="Google Shape;585;p49"/>
            <p:cNvSpPr/>
            <p:nvPr/>
          </p:nvSpPr>
          <p:spPr>
            <a:xfrm>
              <a:off x="6705600" y="3784225"/>
              <a:ext cx="85500" cy="741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86" name="Google Shape;586;p49"/>
            <p:cNvSpPr/>
            <p:nvPr/>
          </p:nvSpPr>
          <p:spPr>
            <a:xfrm>
              <a:off x="1156400" y="4044000"/>
              <a:ext cx="376800" cy="873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87" name="Google Shape;587;p49"/>
            <p:cNvSpPr/>
            <p:nvPr/>
          </p:nvSpPr>
          <p:spPr>
            <a:xfrm>
              <a:off x="1156400" y="3982225"/>
              <a:ext cx="117300" cy="741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88" name="Google Shape;588;p49"/>
            <p:cNvSpPr/>
            <p:nvPr/>
          </p:nvSpPr>
          <p:spPr>
            <a:xfrm>
              <a:off x="6017525" y="2524947"/>
              <a:ext cx="773700" cy="936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89" name="Google Shape;589;p49"/>
            <p:cNvSpPr/>
            <p:nvPr/>
          </p:nvSpPr>
          <p:spPr>
            <a:xfrm>
              <a:off x="6177525" y="2589300"/>
              <a:ext cx="625200" cy="936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90" name="Google Shape;590;p49"/>
            <p:cNvSpPr/>
            <p:nvPr/>
          </p:nvSpPr>
          <p:spPr>
            <a:xfrm>
              <a:off x="6361950" y="2646975"/>
              <a:ext cx="441000" cy="936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91" name="Google Shape;591;p49"/>
            <p:cNvSpPr/>
            <p:nvPr/>
          </p:nvSpPr>
          <p:spPr>
            <a:xfrm>
              <a:off x="6514350" y="2713350"/>
              <a:ext cx="306000" cy="936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92" name="Google Shape;592;p49"/>
            <p:cNvSpPr/>
            <p:nvPr/>
          </p:nvSpPr>
          <p:spPr>
            <a:xfrm>
              <a:off x="6674125" y="2769000"/>
              <a:ext cx="177900" cy="93600"/>
            </a:xfrm>
            <a:prstGeom prst="rect">
              <a:avLst/>
            </a:prstGeom>
            <a:solidFill>
              <a:srgbClr val="F2F2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593" name="Google Shape;593;p49"/>
          <p:cNvSpPr/>
          <p:nvPr/>
        </p:nvSpPr>
        <p:spPr>
          <a:xfrm>
            <a:off x="39275" y="2375625"/>
            <a:ext cx="2293200" cy="861300"/>
          </a:xfrm>
          <a:prstGeom prst="wedgeRectCallout">
            <a:avLst>
              <a:gd name="adj1" fmla="val 7667"/>
              <a:gd name="adj2" fmla="val 123406"/>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49225" algn="l" rtl="0">
              <a:spcBef>
                <a:spcPts val="0"/>
              </a:spcBef>
              <a:spcAft>
                <a:spcPts val="0"/>
              </a:spcAft>
              <a:buSzPts val="1000"/>
              <a:buChar char="●"/>
            </a:pPr>
            <a:r>
              <a:rPr lang="ja" sz="1000"/>
              <a:t>ライセンスを啓発して浸透させる役割を持つ</a:t>
            </a:r>
            <a:endParaRPr sz="1000"/>
          </a:p>
          <a:p>
            <a:pPr marL="89999" lvl="0" indent="-149225" algn="l" rtl="0">
              <a:spcBef>
                <a:spcPts val="0"/>
              </a:spcBef>
              <a:spcAft>
                <a:spcPts val="0"/>
              </a:spcAft>
              <a:buSzPts val="1000"/>
              <a:buChar char="●"/>
            </a:pPr>
            <a:r>
              <a:rPr lang="ja" sz="1000"/>
              <a:t>  OSSは重要とか、ライセンスは守りましょうとか、を伝道する活動</a:t>
            </a:r>
            <a:endParaRPr sz="1000"/>
          </a:p>
        </p:txBody>
      </p:sp>
      <p:sp>
        <p:nvSpPr>
          <p:cNvPr id="594" name="Google Shape;594;p49"/>
          <p:cNvSpPr/>
          <p:nvPr/>
        </p:nvSpPr>
        <p:spPr>
          <a:xfrm>
            <a:off x="4274375" y="668225"/>
            <a:ext cx="2476200" cy="1453500"/>
          </a:xfrm>
          <a:prstGeom prst="wedgeRectCallout">
            <a:avLst>
              <a:gd name="adj1" fmla="val -43620"/>
              <a:gd name="adj2" fmla="val 114071"/>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SzPts val="1000"/>
              <a:buChar char="●"/>
            </a:pPr>
            <a:r>
              <a:rPr lang="ja" sz="1000"/>
              <a:t>Open Sourceという異なる文化に対して会社が協調してゆくための橋渡しをして、スムーズに利活用するフレームワークがOSPOである</a:t>
            </a:r>
            <a:endParaRPr sz="1000"/>
          </a:p>
          <a:p>
            <a:pPr marL="89999" lvl="0" indent="-158750" algn="l" rtl="0">
              <a:spcBef>
                <a:spcPts val="0"/>
              </a:spcBef>
              <a:spcAft>
                <a:spcPts val="0"/>
              </a:spcAft>
              <a:buSzPts val="1000"/>
              <a:buChar char="●"/>
            </a:pPr>
            <a:r>
              <a:rPr lang="ja" sz="1000"/>
              <a:t>Open Sourceという異なる文化を持つOSSコミュニティと団体、組織との協調を実現し、その活動がコミュニティの動きの中に自然に組込まれること目指す組織がOSPOである</a:t>
            </a:r>
            <a:endParaRPr sz="1000"/>
          </a:p>
        </p:txBody>
      </p:sp>
      <p:sp>
        <p:nvSpPr>
          <p:cNvPr id="595" name="Google Shape;595;p49"/>
          <p:cNvSpPr/>
          <p:nvPr/>
        </p:nvSpPr>
        <p:spPr>
          <a:xfrm>
            <a:off x="1283575" y="877325"/>
            <a:ext cx="2798700" cy="1453500"/>
          </a:xfrm>
          <a:prstGeom prst="wedgeRectCallout">
            <a:avLst>
              <a:gd name="adj1" fmla="val 6634"/>
              <a:gd name="adj2" fmla="val 13144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SzPts val="1000"/>
              <a:buChar char="●"/>
            </a:pPr>
            <a:r>
              <a:rPr lang="ja" sz="1000"/>
              <a:t>会社全体でライセンス遵守を徹底するために推進する役割を担う</a:t>
            </a:r>
            <a:endParaRPr sz="1000"/>
          </a:p>
          <a:p>
            <a:pPr marL="89999" lvl="0" indent="-158750" algn="l" rtl="0">
              <a:spcBef>
                <a:spcPts val="0"/>
              </a:spcBef>
              <a:spcAft>
                <a:spcPts val="0"/>
              </a:spcAft>
              <a:buSzPts val="1000"/>
              <a:buChar char="●"/>
            </a:pPr>
            <a:r>
              <a:rPr lang="ja" sz="1000"/>
              <a:t>OSSコミュニティを利活用するために、その文化を理解し社内で適切に行動できるようになるための準備室</a:t>
            </a:r>
            <a:endParaRPr sz="1000"/>
          </a:p>
          <a:p>
            <a:pPr marL="89999" lvl="0" indent="-158750" algn="l" rtl="0">
              <a:spcBef>
                <a:spcPts val="0"/>
              </a:spcBef>
              <a:spcAft>
                <a:spcPts val="0"/>
              </a:spcAft>
              <a:buSzPts val="1000"/>
              <a:buChar char="●"/>
            </a:pPr>
            <a:r>
              <a:rPr lang="ja" sz="1000"/>
              <a:t>ゆくゆくは、社外のOSSコミュニティに貢献できるように、まずは社内でのOSS情報共有をする、社内のOSSコミュニティを築いて交流を活発にする</a:t>
            </a:r>
            <a:endParaRPr sz="1000"/>
          </a:p>
        </p:txBody>
      </p:sp>
      <p:sp>
        <p:nvSpPr>
          <p:cNvPr id="596" name="Google Shape;596;p49"/>
          <p:cNvSpPr/>
          <p:nvPr/>
        </p:nvSpPr>
        <p:spPr>
          <a:xfrm>
            <a:off x="6868625" y="2245325"/>
            <a:ext cx="2127600" cy="1217700"/>
          </a:xfrm>
          <a:prstGeom prst="wedgeRectCallout">
            <a:avLst>
              <a:gd name="adj1" fmla="val -56599"/>
              <a:gd name="adj2" fmla="val -18187"/>
            </a:avLst>
          </a:prstGeom>
          <a:solidFill>
            <a:schemeClr val="lt2"/>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SzPts val="1000"/>
              <a:buChar char="●"/>
            </a:pPr>
            <a:r>
              <a:rPr lang="ja" sz="1000"/>
              <a:t>「コミュニティ貢献＝会社の成功」を実現するのがOSPOの一つの姿</a:t>
            </a:r>
            <a:endParaRPr sz="1000"/>
          </a:p>
          <a:p>
            <a:pPr marL="89999" lvl="0" indent="-158750" algn="l" rtl="0">
              <a:spcBef>
                <a:spcPts val="0"/>
              </a:spcBef>
              <a:spcAft>
                <a:spcPts val="0"/>
              </a:spcAft>
              <a:buSzPts val="1000"/>
              <a:buChar char="●"/>
            </a:pPr>
            <a:r>
              <a:rPr lang="ja" sz="1000"/>
              <a:t>業界の文化とトレンドの変化をキャッチして、社内の文化のアップデートを行うのがOSPOの役割</a:t>
            </a:r>
            <a:endParaRPr sz="1000"/>
          </a:p>
        </p:txBody>
      </p:sp>
      <p:sp>
        <p:nvSpPr>
          <p:cNvPr id="597" name="Google Shape;597;p49"/>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0" lvl="0" indent="0" algn="l" rtl="0">
              <a:spcBef>
                <a:spcPts val="0"/>
              </a:spcBef>
              <a:spcAft>
                <a:spcPts val="0"/>
              </a:spcAft>
              <a:buNone/>
            </a:pP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601"/>
        <p:cNvGrpSpPr/>
        <p:nvPr/>
      </p:nvGrpSpPr>
      <p:grpSpPr>
        <a:xfrm>
          <a:off x="0" y="0"/>
          <a:ext cx="0" cy="0"/>
          <a:chOff x="0" y="0"/>
          <a:chExt cx="0" cy="0"/>
        </a:xfrm>
      </p:grpSpPr>
      <p:sp>
        <p:nvSpPr>
          <p:cNvPr id="602" name="Google Shape;602;p50"/>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a:t>Qx</a:t>
            </a:r>
            <a:endParaRPr/>
          </a:p>
        </p:txBody>
      </p:sp>
      <p:pic>
        <p:nvPicPr>
          <p:cNvPr id="603" name="Google Shape;603;p50"/>
          <p:cNvPicPr preferRelativeResize="0"/>
          <p:nvPr/>
        </p:nvPicPr>
        <p:blipFill rotWithShape="1">
          <a:blip r:embed="rId3">
            <a:alphaModFix/>
          </a:blip>
          <a:srcRect l="13179" t="-1800" r="-13179" b="1800"/>
          <a:stretch/>
        </p:blipFill>
        <p:spPr>
          <a:xfrm>
            <a:off x="220526" y="1680322"/>
            <a:ext cx="8569399" cy="3036700"/>
          </a:xfrm>
          <a:prstGeom prst="rect">
            <a:avLst/>
          </a:prstGeom>
          <a:noFill/>
          <a:ln>
            <a:noFill/>
          </a:ln>
        </p:spPr>
      </p:pic>
      <p:sp>
        <p:nvSpPr>
          <p:cNvPr id="604" name="Google Shape;604;p50"/>
          <p:cNvSpPr/>
          <p:nvPr/>
        </p:nvSpPr>
        <p:spPr>
          <a:xfrm>
            <a:off x="39275" y="2375625"/>
            <a:ext cx="2293200" cy="861300"/>
          </a:xfrm>
          <a:prstGeom prst="wedgeRectCallout">
            <a:avLst>
              <a:gd name="adj1" fmla="val 7667"/>
              <a:gd name="adj2" fmla="val 123406"/>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49225" algn="l" rtl="0">
              <a:spcBef>
                <a:spcPts val="0"/>
              </a:spcBef>
              <a:spcAft>
                <a:spcPts val="0"/>
              </a:spcAft>
              <a:buSzPts val="1000"/>
              <a:buChar char="●"/>
            </a:pPr>
            <a:r>
              <a:rPr lang="ja" sz="1000"/>
              <a:t>ライセンスを啓発して浸透させる役割を持つ</a:t>
            </a:r>
            <a:endParaRPr sz="1000"/>
          </a:p>
          <a:p>
            <a:pPr marL="89999" lvl="0" indent="-149225" algn="l" rtl="0">
              <a:spcBef>
                <a:spcPts val="0"/>
              </a:spcBef>
              <a:spcAft>
                <a:spcPts val="0"/>
              </a:spcAft>
              <a:buSzPts val="1000"/>
              <a:buChar char="●"/>
            </a:pPr>
            <a:r>
              <a:rPr lang="ja" sz="1000"/>
              <a:t>  OSSは重要とか、ライセンスは守りましょうとか、を伝道する活動</a:t>
            </a:r>
            <a:endParaRPr sz="1000"/>
          </a:p>
        </p:txBody>
      </p:sp>
      <p:sp>
        <p:nvSpPr>
          <p:cNvPr id="605" name="Google Shape;605;p50"/>
          <p:cNvSpPr/>
          <p:nvPr/>
        </p:nvSpPr>
        <p:spPr>
          <a:xfrm>
            <a:off x="4274375" y="668225"/>
            <a:ext cx="2476200" cy="1453500"/>
          </a:xfrm>
          <a:prstGeom prst="wedgeRectCallout">
            <a:avLst>
              <a:gd name="adj1" fmla="val -43620"/>
              <a:gd name="adj2" fmla="val 114071"/>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SzPts val="1000"/>
              <a:buChar char="●"/>
            </a:pPr>
            <a:r>
              <a:rPr lang="ja" sz="1000"/>
              <a:t>Open Sourceという異なる文化に対して会社が協調してゆくための橋渡しをして、スムーズに利活用するフレームワークがOSPOである</a:t>
            </a:r>
            <a:endParaRPr sz="1000"/>
          </a:p>
          <a:p>
            <a:pPr marL="89999" lvl="0" indent="-158750" algn="l" rtl="0">
              <a:spcBef>
                <a:spcPts val="0"/>
              </a:spcBef>
              <a:spcAft>
                <a:spcPts val="0"/>
              </a:spcAft>
              <a:buSzPts val="1000"/>
              <a:buChar char="●"/>
            </a:pPr>
            <a:r>
              <a:rPr lang="ja" sz="1000"/>
              <a:t>Open Sourceという異なる文化を持つOSSコミュニティと団体、組織との協調を実現し、その活動がコミュニティの動きの中に自然に組込まれること目指す組織がOSPOである</a:t>
            </a:r>
            <a:endParaRPr sz="1000"/>
          </a:p>
        </p:txBody>
      </p:sp>
      <p:sp>
        <p:nvSpPr>
          <p:cNvPr id="606" name="Google Shape;606;p50"/>
          <p:cNvSpPr/>
          <p:nvPr/>
        </p:nvSpPr>
        <p:spPr>
          <a:xfrm>
            <a:off x="6868625" y="750125"/>
            <a:ext cx="2127600" cy="1074900"/>
          </a:xfrm>
          <a:prstGeom prst="wedgeRectCallout">
            <a:avLst>
              <a:gd name="adj1" fmla="val -55071"/>
              <a:gd name="adj2" fmla="val 81433"/>
            </a:avLst>
          </a:prstGeom>
          <a:solidFill>
            <a:schemeClr val="lt2"/>
          </a:solidFill>
          <a:ln w="9525" cap="flat" cmpd="sng">
            <a:solidFill>
              <a:schemeClr val="dk2"/>
            </a:solidFill>
            <a:prstDash val="solid"/>
            <a:round/>
            <a:headEnd type="none" w="sm" len="sm"/>
            <a:tailEnd type="none" w="sm" len="sm"/>
          </a:ln>
        </p:spPr>
        <p:txBody>
          <a:bodyPr spcFirstLastPara="1" wrap="square" lIns="270000" tIns="91425" rIns="91425" bIns="91425" anchor="ctr" anchorCtr="0">
            <a:noAutofit/>
          </a:bodyPr>
          <a:lstStyle/>
          <a:p>
            <a:pPr marL="89999" lvl="0" indent="-292100" algn="l" rtl="0">
              <a:spcBef>
                <a:spcPts val="0"/>
              </a:spcBef>
              <a:spcAft>
                <a:spcPts val="0"/>
              </a:spcAft>
              <a:buClr>
                <a:schemeClr val="dk1"/>
              </a:buClr>
              <a:buSzPts val="1000"/>
              <a:buChar char="●"/>
            </a:pPr>
            <a:r>
              <a:rPr lang="ja" sz="1000"/>
              <a:t>コミュニティの中のトレンドを把握し、さらに、コミュニティをリードし、トレンドを生み出して、事業に活かすのがOSPOの役割</a:t>
            </a:r>
            <a:endParaRPr sz="1000"/>
          </a:p>
          <a:p>
            <a:pPr marL="89999" lvl="0" indent="-292100" algn="l" rtl="0">
              <a:spcBef>
                <a:spcPts val="0"/>
              </a:spcBef>
              <a:spcAft>
                <a:spcPts val="0"/>
              </a:spcAft>
              <a:buSzPts val="1000"/>
              <a:buChar char="●"/>
            </a:pPr>
            <a:r>
              <a:rPr lang="ja" sz="1000"/>
              <a:t>上記が企業文化として定着するように活動する役割</a:t>
            </a:r>
            <a:endParaRPr sz="1000"/>
          </a:p>
        </p:txBody>
      </p:sp>
      <p:sp>
        <p:nvSpPr>
          <p:cNvPr id="607" name="Google Shape;607;p50"/>
          <p:cNvSpPr/>
          <p:nvPr/>
        </p:nvSpPr>
        <p:spPr>
          <a:xfrm>
            <a:off x="1283575" y="877325"/>
            <a:ext cx="2798700" cy="1453500"/>
          </a:xfrm>
          <a:prstGeom prst="wedgeRectCallout">
            <a:avLst>
              <a:gd name="adj1" fmla="val 6634"/>
              <a:gd name="adj2" fmla="val 13144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SzPts val="1000"/>
              <a:buChar char="●"/>
            </a:pPr>
            <a:r>
              <a:rPr lang="ja" sz="1000"/>
              <a:t>会社全体でライセンス遵守を徹底するために推進する役割を担う</a:t>
            </a:r>
            <a:endParaRPr sz="1000"/>
          </a:p>
          <a:p>
            <a:pPr marL="89999" lvl="0" indent="-158750" algn="l" rtl="0">
              <a:spcBef>
                <a:spcPts val="0"/>
              </a:spcBef>
              <a:spcAft>
                <a:spcPts val="0"/>
              </a:spcAft>
              <a:buSzPts val="1000"/>
              <a:buChar char="●"/>
            </a:pPr>
            <a:r>
              <a:rPr lang="ja" sz="1000"/>
              <a:t>OSSコミュニティを利活用するために、その文化を理解し社内で適切に行動できるようになるための準備室</a:t>
            </a:r>
            <a:endParaRPr sz="1000"/>
          </a:p>
          <a:p>
            <a:pPr marL="89999" lvl="0" indent="-158750" algn="l" rtl="0">
              <a:spcBef>
                <a:spcPts val="0"/>
              </a:spcBef>
              <a:spcAft>
                <a:spcPts val="0"/>
              </a:spcAft>
              <a:buSzPts val="1000"/>
              <a:buChar char="●"/>
            </a:pPr>
            <a:r>
              <a:rPr lang="ja" sz="1000"/>
              <a:t>ゆくゆくは、社外のOSSコミュニティに貢献できるように、まずは社内でのOSS情報共有をする、社内のOSSコミュニティを築いて交流を活発にする</a:t>
            </a:r>
            <a:endParaRPr sz="1000"/>
          </a:p>
        </p:txBody>
      </p:sp>
      <p:sp>
        <p:nvSpPr>
          <p:cNvPr id="608" name="Google Shape;608;p50"/>
          <p:cNvSpPr/>
          <p:nvPr/>
        </p:nvSpPr>
        <p:spPr>
          <a:xfrm>
            <a:off x="6868625" y="2092925"/>
            <a:ext cx="2127600" cy="1217700"/>
          </a:xfrm>
          <a:prstGeom prst="wedgeRectCallout">
            <a:avLst>
              <a:gd name="adj1" fmla="val -56599"/>
              <a:gd name="adj2" fmla="val -1818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89999" lvl="0" indent="-158750" algn="l" rtl="0">
              <a:spcBef>
                <a:spcPts val="0"/>
              </a:spcBef>
              <a:spcAft>
                <a:spcPts val="0"/>
              </a:spcAft>
              <a:buSzPts val="1000"/>
              <a:buChar char="●"/>
            </a:pPr>
            <a:r>
              <a:rPr lang="ja" sz="1000"/>
              <a:t>「コミュニティ貢献＝会社の成功」を実現するのがOSPOの一つの姿</a:t>
            </a:r>
            <a:endParaRPr sz="1000"/>
          </a:p>
          <a:p>
            <a:pPr marL="89999" lvl="0" indent="-158750" algn="l" rtl="0">
              <a:spcBef>
                <a:spcPts val="0"/>
              </a:spcBef>
              <a:spcAft>
                <a:spcPts val="0"/>
              </a:spcAft>
              <a:buSzPts val="1000"/>
              <a:buChar char="●"/>
            </a:pPr>
            <a:r>
              <a:rPr lang="ja" sz="1000"/>
              <a:t>業界の文化とトレンドの変化をキャッチして、社内の文化のアップデートを行うのがOSPOの役割</a:t>
            </a:r>
            <a:endParaRPr sz="1000"/>
          </a:p>
        </p:txBody>
      </p:sp>
      <p:sp>
        <p:nvSpPr>
          <p:cNvPr id="609" name="Google Shape;609;p50"/>
          <p:cNvSpPr txBox="1"/>
          <p:nvPr/>
        </p:nvSpPr>
        <p:spPr>
          <a:xfrm>
            <a:off x="846000" y="34525"/>
            <a:ext cx="6737400" cy="59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ja">
                <a:solidFill>
                  <a:schemeClr val="dk1"/>
                </a:solidFill>
              </a:rPr>
              <a:t>OSPOってなんですか</a:t>
            </a:r>
            <a:endParaRPr>
              <a:solidFill>
                <a:schemeClr val="dk1"/>
              </a:solidFill>
            </a:endParaRPr>
          </a:p>
          <a:p>
            <a:pPr marL="0" lvl="0" indent="0" algn="l" rtl="0">
              <a:spcBef>
                <a:spcPts val="0"/>
              </a:spcBef>
              <a:spcAft>
                <a:spcPts val="0"/>
              </a:spcAft>
              <a:buNone/>
            </a:pPr>
            <a:r>
              <a:rPr lang="ja"/>
              <a:t>それぞれのStageにある会社においてOSPOがやることをまとめてみた</a:t>
            </a:r>
            <a:endParaRPr/>
          </a:p>
        </p:txBody>
      </p:sp>
      <p:sp>
        <p:nvSpPr>
          <p:cNvPr id="610" name="Google Shape;610;p50"/>
          <p:cNvSpPr/>
          <p:nvPr/>
        </p:nvSpPr>
        <p:spPr>
          <a:xfrm>
            <a:off x="6971575" y="3575900"/>
            <a:ext cx="2127600" cy="921600"/>
          </a:xfrm>
          <a:prstGeom prst="wedgeRectCallout">
            <a:avLst>
              <a:gd name="adj1" fmla="val -56599"/>
              <a:gd name="adj2" fmla="val -18187"/>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ja" sz="1000" b="1"/>
              <a:t>ステージによらない役割</a:t>
            </a:r>
            <a:endParaRPr sz="1000" b="1"/>
          </a:p>
          <a:p>
            <a:pPr marL="89999" lvl="0" indent="-158750" algn="l" rtl="0">
              <a:spcBef>
                <a:spcPts val="0"/>
              </a:spcBef>
              <a:spcAft>
                <a:spcPts val="0"/>
              </a:spcAft>
              <a:buSzPts val="1000"/>
              <a:buChar char="●"/>
            </a:pPr>
            <a:r>
              <a:rPr lang="ja" sz="1000"/>
              <a:t>啓発して浸透させる役割を持つ</a:t>
            </a:r>
            <a:endParaRPr sz="1000"/>
          </a:p>
          <a:p>
            <a:pPr marL="89999" lvl="0" indent="-158750" algn="l" rtl="0">
              <a:spcBef>
                <a:spcPts val="0"/>
              </a:spcBef>
              <a:spcAft>
                <a:spcPts val="0"/>
              </a:spcAft>
              <a:buSzPts val="1000"/>
              <a:buChar char="●"/>
            </a:pPr>
            <a:r>
              <a:rPr lang="ja" sz="1000"/>
              <a:t>ライフサイクルがある：大きくなっていって、浸透したら小さくなる</a:t>
            </a:r>
            <a:endParaRPr sz="1000"/>
          </a:p>
        </p:txBody>
      </p:sp>
      <p:sp>
        <p:nvSpPr>
          <p:cNvPr id="611" name="Google Shape;611;p50"/>
          <p:cNvSpPr txBox="1"/>
          <p:nvPr/>
        </p:nvSpPr>
        <p:spPr>
          <a:xfrm>
            <a:off x="4832625" y="4422950"/>
            <a:ext cx="4209300" cy="664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ja" sz="700" u="sng">
                <a:solidFill>
                  <a:schemeClr val="hlink"/>
                </a:solidFill>
                <a:hlinkClick r:id="rId4"/>
              </a:rPr>
              <a:t>https://www.linuxfoundation.jp/wp-content/uploads/2022/11/ja_LFR_LFAID_Deep_Dive_Open_Source_Program_Offices_0830.pdf</a:t>
            </a:r>
            <a:endParaRPr sz="700" u="sng">
              <a:solidFill>
                <a:schemeClr val="hlink"/>
              </a:solidFill>
            </a:endParaRPr>
          </a:p>
          <a:p>
            <a:pPr marL="0" lvl="0" indent="0" algn="l" rtl="0">
              <a:lnSpc>
                <a:spcPct val="115000"/>
              </a:lnSpc>
              <a:spcBef>
                <a:spcPts val="0"/>
              </a:spcBef>
              <a:spcAft>
                <a:spcPts val="0"/>
              </a:spcAft>
              <a:buNone/>
            </a:pPr>
            <a:r>
              <a:rPr lang="ja" sz="700">
                <a:solidFill>
                  <a:schemeClr val="dk1"/>
                </a:solidFill>
              </a:rPr>
              <a:t>Ibrahim Haddad, “</a:t>
            </a:r>
            <a:r>
              <a:rPr lang="ja" sz="700" b="1">
                <a:solidFill>
                  <a:schemeClr val="dk1"/>
                </a:solidFill>
              </a:rPr>
              <a:t>A Deep Dive Into Open Source Program Offices:</a:t>
            </a:r>
            <a:endParaRPr sz="700" b="1">
              <a:solidFill>
                <a:schemeClr val="dk1"/>
              </a:solidFill>
            </a:endParaRPr>
          </a:p>
          <a:p>
            <a:pPr marL="0" lvl="0" indent="0" algn="l" rtl="0">
              <a:lnSpc>
                <a:spcPct val="115000"/>
              </a:lnSpc>
              <a:spcBef>
                <a:spcPts val="0"/>
              </a:spcBef>
              <a:spcAft>
                <a:spcPts val="0"/>
              </a:spcAft>
              <a:buNone/>
            </a:pPr>
            <a:r>
              <a:rPr lang="ja" sz="700" b="1">
                <a:solidFill>
                  <a:schemeClr val="dk1"/>
                </a:solidFill>
              </a:rPr>
              <a:t>Structure, Roles, Responsibilities, and Challenges </a:t>
            </a:r>
            <a:r>
              <a:rPr lang="ja" sz="700">
                <a:solidFill>
                  <a:schemeClr val="dk1"/>
                </a:solidFill>
              </a:rPr>
              <a:t>“ foreword by Chris Aniszczyk, August, 2022</a:t>
            </a:r>
            <a:endParaRPr sz="8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615"/>
        <p:cNvGrpSpPr/>
        <p:nvPr/>
      </p:nvGrpSpPr>
      <p:grpSpPr>
        <a:xfrm>
          <a:off x="0" y="0"/>
          <a:ext cx="0" cy="0"/>
          <a:chOff x="0" y="0"/>
          <a:chExt cx="0" cy="0"/>
        </a:xfrm>
      </p:grpSpPr>
      <p:sp>
        <p:nvSpPr>
          <p:cNvPr id="616" name="Google Shape;616;p51"/>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a:t>2024/6/28 agenda</a:t>
            </a:r>
            <a:endParaRPr/>
          </a:p>
        </p:txBody>
      </p:sp>
      <p:sp>
        <p:nvSpPr>
          <p:cNvPr id="617" name="Google Shape;617;p51"/>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457200" lvl="0" indent="-342900" algn="l" rtl="0">
              <a:spcBef>
                <a:spcPts val="0"/>
              </a:spcBef>
              <a:spcAft>
                <a:spcPts val="0"/>
              </a:spcAft>
              <a:buSzPts val="1800"/>
              <a:buAutoNum type="arabicPeriod"/>
            </a:pPr>
            <a:r>
              <a:rPr lang="ja"/>
              <a:t>会議の行動規範説明</a:t>
            </a:r>
            <a:endParaRPr/>
          </a:p>
          <a:p>
            <a:pPr marL="457200" lvl="0" indent="-342900" algn="l" rtl="0">
              <a:spcBef>
                <a:spcPts val="0"/>
              </a:spcBef>
              <a:spcAft>
                <a:spcPts val="0"/>
              </a:spcAft>
              <a:buSzPts val="1800"/>
              <a:buAutoNum type="arabicPeriod"/>
            </a:pPr>
            <a:r>
              <a:rPr lang="ja"/>
              <a:t>この会の趣旨</a:t>
            </a:r>
            <a:endParaRPr/>
          </a:p>
          <a:p>
            <a:pPr marL="457200" lvl="0" indent="-342900" algn="l" rtl="0">
              <a:spcBef>
                <a:spcPts val="0"/>
              </a:spcBef>
              <a:spcAft>
                <a:spcPts val="0"/>
              </a:spcAft>
              <a:buSzPts val="1800"/>
              <a:buAutoNum type="arabicPeriod"/>
            </a:pPr>
            <a:r>
              <a:rPr lang="ja"/>
              <a:t>自己紹介＆OSPOに関する一番の関心事</a:t>
            </a:r>
            <a:endParaRPr/>
          </a:p>
          <a:p>
            <a:pPr marL="457200" lvl="0" indent="-342900" algn="l" rtl="0">
              <a:spcBef>
                <a:spcPts val="0"/>
              </a:spcBef>
              <a:spcAft>
                <a:spcPts val="0"/>
              </a:spcAft>
              <a:buSzPts val="1800"/>
              <a:buAutoNum type="arabicPeriod"/>
            </a:pPr>
            <a:r>
              <a:rPr lang="ja"/>
              <a:t>今後の進め方</a:t>
            </a:r>
            <a:endParaRPr/>
          </a:p>
          <a:p>
            <a:pPr marL="914400" lvl="1" indent="-323850" algn="l" rtl="0">
              <a:spcBef>
                <a:spcPts val="0"/>
              </a:spcBef>
              <a:spcAft>
                <a:spcPts val="0"/>
              </a:spcAft>
              <a:buSzPts val="1500"/>
              <a:buAutoNum type="alphaLcPeriod"/>
            </a:pPr>
            <a:r>
              <a:rPr lang="ja"/>
              <a:t>一区切りを付けて成果発信する？</a:t>
            </a:r>
            <a:endParaRPr/>
          </a:p>
          <a:p>
            <a:pPr marL="914400" lvl="1" indent="-323850" algn="l" rtl="0">
              <a:spcBef>
                <a:spcPts val="0"/>
              </a:spcBef>
              <a:spcAft>
                <a:spcPts val="0"/>
              </a:spcAft>
              <a:buSzPts val="1500"/>
              <a:buAutoNum type="alphaLcPeriod"/>
            </a:pPr>
            <a:r>
              <a:rPr lang="ja"/>
              <a:t>参加者のニーズに合っているか？</a:t>
            </a:r>
            <a:endParaRPr/>
          </a:p>
          <a:p>
            <a:pPr marL="457200" lvl="0" indent="-342900" algn="l" rtl="0">
              <a:spcBef>
                <a:spcPts val="0"/>
              </a:spcBef>
              <a:spcAft>
                <a:spcPts val="0"/>
              </a:spcAft>
              <a:buSzPts val="1800"/>
              <a:buAutoNum type="arabicPeriod"/>
            </a:pPr>
            <a:r>
              <a:rPr lang="ja"/>
              <a:t>関心事の中からFAQトピックを選んで議論</a:t>
            </a:r>
            <a:endParaRPr/>
          </a:p>
          <a:p>
            <a:pPr marL="457200" lvl="0" indent="0" algn="l" rtl="0">
              <a:spcBef>
                <a:spcPts val="0"/>
              </a:spcBef>
              <a:spcAft>
                <a:spcPts val="0"/>
              </a:spcAft>
              <a:buNone/>
            </a:pPr>
            <a:endParaRPr/>
          </a:p>
          <a:p>
            <a:pPr marL="457200" lvl="0" indent="0" algn="l" rtl="0">
              <a:spcBef>
                <a:spcPts val="0"/>
              </a:spcBef>
              <a:spcAft>
                <a:spcPts val="0"/>
              </a:spcAft>
              <a:buNone/>
            </a:pPr>
            <a:endParaRPr/>
          </a:p>
          <a:p>
            <a:pPr marL="457200" lvl="0" indent="0" algn="l" rtl="0">
              <a:spcBef>
                <a:spcPts val="0"/>
              </a:spcBef>
              <a:spcAft>
                <a:spcPts val="0"/>
              </a:spcAft>
              <a:buNone/>
            </a:pPr>
            <a:r>
              <a:rPr lang="ja" b="1">
                <a:latin typeface="Courier New"/>
                <a:ea typeface="Courier New"/>
                <a:cs typeface="Courier New"/>
                <a:sym typeface="Courier New"/>
              </a:rPr>
              <a:t>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621"/>
        <p:cNvGrpSpPr/>
        <p:nvPr/>
      </p:nvGrpSpPr>
      <p:grpSpPr>
        <a:xfrm>
          <a:off x="0" y="0"/>
          <a:ext cx="0" cy="0"/>
          <a:chOff x="0" y="0"/>
          <a:chExt cx="0" cy="0"/>
        </a:xfrm>
      </p:grpSpPr>
      <p:sp>
        <p:nvSpPr>
          <p:cNvPr id="622" name="Google Shape;622;p52"/>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a:t>関心事</a:t>
            </a:r>
            <a:endParaRPr/>
          </a:p>
        </p:txBody>
      </p:sp>
      <p:sp>
        <p:nvSpPr>
          <p:cNvPr id="623" name="Google Shape;623;p52"/>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rmAutofit fontScale="62500" lnSpcReduction="20000"/>
          </a:bodyPr>
          <a:lstStyle/>
          <a:p>
            <a:pPr marL="457200" lvl="0" indent="-300037" algn="l" rtl="0">
              <a:spcBef>
                <a:spcPts val="0"/>
              </a:spcBef>
              <a:spcAft>
                <a:spcPts val="0"/>
              </a:spcAft>
              <a:buSzPct val="100000"/>
              <a:buChar char="•"/>
            </a:pPr>
            <a:r>
              <a:rPr lang="ja"/>
              <a:t>OSSを正しく理解してもらえるようにしたい</a:t>
            </a:r>
            <a:endParaRPr/>
          </a:p>
          <a:p>
            <a:pPr marL="914400" lvl="1" indent="-288131" algn="l" rtl="0">
              <a:spcBef>
                <a:spcPts val="0"/>
              </a:spcBef>
              <a:spcAft>
                <a:spcPts val="0"/>
              </a:spcAft>
              <a:buSzPct val="100000"/>
              <a:buChar char="•"/>
            </a:pPr>
            <a:r>
              <a:rPr lang="ja"/>
              <a:t>正しい理解の上に社内ルールなどができていないと開発の人が困ってしまう</a:t>
            </a:r>
            <a:endParaRPr/>
          </a:p>
          <a:p>
            <a:pPr marL="457200" lvl="0" indent="-300037" algn="l" rtl="0">
              <a:spcBef>
                <a:spcPts val="0"/>
              </a:spcBef>
              <a:spcAft>
                <a:spcPts val="0"/>
              </a:spcAft>
              <a:buSzPct val="100000"/>
              <a:buChar char="•"/>
            </a:pPr>
            <a:r>
              <a:rPr lang="ja"/>
              <a:t>社内での旗振り</a:t>
            </a:r>
            <a:endParaRPr/>
          </a:p>
          <a:p>
            <a:pPr marL="457200" lvl="0" indent="-300037" algn="l" rtl="0">
              <a:spcBef>
                <a:spcPts val="0"/>
              </a:spcBef>
              <a:spcAft>
                <a:spcPts val="0"/>
              </a:spcAft>
              <a:buSzPct val="100000"/>
              <a:buChar char="•"/>
            </a:pPr>
            <a:r>
              <a:rPr lang="ja"/>
              <a:t>OSSを利用して業務の効率化、もっと集中すべきところにフォーカスできるようになってもらいたい</a:t>
            </a:r>
            <a:endParaRPr/>
          </a:p>
          <a:p>
            <a:pPr marL="457200" lvl="0" indent="-300037" algn="l" rtl="0">
              <a:spcBef>
                <a:spcPts val="0"/>
              </a:spcBef>
              <a:spcAft>
                <a:spcPts val="0"/>
              </a:spcAft>
              <a:buSzPct val="100000"/>
              <a:buChar char="•"/>
            </a:pPr>
            <a:r>
              <a:rPr lang="ja"/>
              <a:t>コントリビューション活動が正しく評価されない</a:t>
            </a:r>
            <a:endParaRPr/>
          </a:p>
          <a:p>
            <a:pPr marL="914400" lvl="1" indent="-288131" algn="l" rtl="0">
              <a:spcBef>
                <a:spcPts val="0"/>
              </a:spcBef>
              <a:spcAft>
                <a:spcPts val="0"/>
              </a:spcAft>
              <a:buSzPct val="100000"/>
              <a:buChar char="•"/>
            </a:pPr>
            <a:r>
              <a:rPr lang="ja"/>
              <a:t>会社にとって必要なことという理解がない</a:t>
            </a:r>
            <a:endParaRPr/>
          </a:p>
          <a:p>
            <a:pPr marL="457200" lvl="0" indent="-300037" algn="l" rtl="0">
              <a:spcBef>
                <a:spcPts val="0"/>
              </a:spcBef>
              <a:spcAft>
                <a:spcPts val="0"/>
              </a:spcAft>
              <a:buSzPct val="100000"/>
              <a:buChar char="•"/>
            </a:pPr>
            <a:r>
              <a:rPr lang="ja"/>
              <a:t>現場で実行可能な手順をどうするか</a:t>
            </a:r>
            <a:endParaRPr/>
          </a:p>
          <a:p>
            <a:pPr marL="914400" lvl="1" indent="-288131" algn="l" rtl="0">
              <a:spcBef>
                <a:spcPts val="0"/>
              </a:spcBef>
              <a:spcAft>
                <a:spcPts val="0"/>
              </a:spcAft>
              <a:buSzPct val="136363"/>
              <a:buChar char="•"/>
            </a:pPr>
            <a:r>
              <a:rPr lang="ja" sz="1100">
                <a:latin typeface="Arial"/>
                <a:ea typeface="Arial"/>
                <a:cs typeface="Arial"/>
                <a:sym typeface="Arial"/>
              </a:rPr>
              <a:t>自己紹介を聞いていて、理解してもらうための情報は LF が展開してくれているな、と思い、リンクを貼ります</a:t>
            </a:r>
            <a:endParaRPr sz="1100">
              <a:latin typeface="Arial"/>
              <a:ea typeface="Arial"/>
              <a:cs typeface="Arial"/>
              <a:sym typeface="Arial"/>
            </a:endParaRPr>
          </a:p>
          <a:p>
            <a:pPr marL="914400" lvl="1" indent="-288131" algn="l" rtl="0">
              <a:spcBef>
                <a:spcPts val="0"/>
              </a:spcBef>
              <a:spcAft>
                <a:spcPts val="0"/>
              </a:spcAft>
              <a:buSzPct val="136363"/>
              <a:buChar char="•"/>
            </a:pPr>
            <a:r>
              <a:rPr lang="ja" sz="1100" u="sng">
                <a:solidFill>
                  <a:schemeClr val="hlink"/>
                </a:solidFill>
                <a:latin typeface="Arial"/>
                <a:ea typeface="Arial"/>
                <a:cs typeface="Arial"/>
                <a:sym typeface="Arial"/>
                <a:hlinkClick r:id="rId3"/>
              </a:rPr>
              <a:t>企業のためのオープンソース ガイド – The Linux Foundation</a:t>
            </a:r>
            <a:endParaRPr sz="1100" u="sng">
              <a:solidFill>
                <a:schemeClr val="hlink"/>
              </a:solidFill>
              <a:latin typeface="Arial"/>
              <a:ea typeface="Arial"/>
              <a:cs typeface="Arial"/>
              <a:sym typeface="Arial"/>
              <a:hlinkClick r:id="rId3"/>
            </a:endParaRPr>
          </a:p>
          <a:p>
            <a:pPr marL="914400" lvl="1" indent="-288131" algn="l" rtl="0">
              <a:spcBef>
                <a:spcPts val="0"/>
              </a:spcBef>
              <a:spcAft>
                <a:spcPts val="0"/>
              </a:spcAft>
              <a:buSzPct val="136363"/>
              <a:buChar char="•"/>
            </a:pPr>
            <a:r>
              <a:rPr lang="ja" sz="1100">
                <a:latin typeface="Arial"/>
                <a:ea typeface="Arial"/>
                <a:cs typeface="Arial"/>
                <a:sym typeface="Arial"/>
              </a:rPr>
              <a:t>それから、コントリビューションを半導体の NVIDIA が事業のために行っている事例を含めて発表したときの資料も貼ります</a:t>
            </a:r>
            <a:endParaRPr sz="1100">
              <a:latin typeface="Arial"/>
              <a:ea typeface="Arial"/>
              <a:cs typeface="Arial"/>
              <a:sym typeface="Arial"/>
            </a:endParaRPr>
          </a:p>
          <a:p>
            <a:pPr marL="914400" lvl="1" indent="-288131" algn="l" rtl="0">
              <a:spcBef>
                <a:spcPts val="0"/>
              </a:spcBef>
              <a:spcAft>
                <a:spcPts val="0"/>
              </a:spcAft>
              <a:buSzPct val="136363"/>
              <a:buChar char="•"/>
            </a:pPr>
            <a:r>
              <a:rPr lang="ja" sz="1100" u="sng">
                <a:solidFill>
                  <a:schemeClr val="hlink"/>
                </a:solidFill>
                <a:latin typeface="Arial"/>
                <a:ea typeface="Arial"/>
                <a:cs typeface="Arial"/>
                <a:sym typeface="Arial"/>
                <a:hlinkClick r:id="rId4"/>
              </a:rPr>
              <a:t>https://static.sched.com/hosted_files/ossna2024/05/QuantitativeMethodContributionValue-KS_MK_202404.pdf</a:t>
            </a:r>
            <a:endParaRPr/>
          </a:p>
          <a:p>
            <a:pPr marL="914400" lvl="1" indent="-288131" algn="l" rtl="0">
              <a:spcBef>
                <a:spcPts val="0"/>
              </a:spcBef>
              <a:spcAft>
                <a:spcPts val="0"/>
              </a:spcAft>
              <a:buSzPct val="136363"/>
              <a:buChar char="•"/>
            </a:pPr>
            <a:r>
              <a:rPr lang="ja" sz="1100">
                <a:latin typeface="Arial"/>
                <a:ea typeface="Arial"/>
                <a:cs typeface="Arial"/>
                <a:sym typeface="Arial"/>
              </a:rPr>
              <a:t>Intel の対外的な発信情報</a:t>
            </a:r>
            <a:endParaRPr sz="1100">
              <a:latin typeface="Arial"/>
              <a:ea typeface="Arial"/>
              <a:cs typeface="Arial"/>
              <a:sym typeface="Arial"/>
            </a:endParaRPr>
          </a:p>
          <a:p>
            <a:pPr marL="914400" lvl="1" indent="-288131" algn="l" rtl="0">
              <a:spcBef>
                <a:spcPts val="0"/>
              </a:spcBef>
              <a:spcAft>
                <a:spcPts val="0"/>
              </a:spcAft>
              <a:buSzPct val="136363"/>
              <a:buChar char="•"/>
            </a:pPr>
            <a:r>
              <a:rPr lang="ja" sz="1100" u="sng">
                <a:solidFill>
                  <a:schemeClr val="hlink"/>
                </a:solidFill>
                <a:latin typeface="Arial"/>
                <a:ea typeface="Arial"/>
                <a:cs typeface="Arial"/>
                <a:sym typeface="Arial"/>
                <a:hlinkClick r:id="rId5"/>
              </a:rPr>
              <a:t>How Intel Supports Open Source from the Inside Out</a:t>
            </a:r>
            <a:endParaRPr sz="1100" u="sng">
              <a:solidFill>
                <a:schemeClr val="hlink"/>
              </a:solidFill>
              <a:latin typeface="Arial"/>
              <a:ea typeface="Arial"/>
              <a:cs typeface="Arial"/>
              <a:sym typeface="Arial"/>
              <a:hlinkClick r:id="rId5"/>
            </a:endParaRPr>
          </a:p>
          <a:p>
            <a:pPr marL="914400" lvl="1" indent="-288131" algn="l" rtl="0">
              <a:spcBef>
                <a:spcPts val="0"/>
              </a:spcBef>
              <a:spcAft>
                <a:spcPts val="0"/>
              </a:spcAft>
              <a:buSzPct val="100000"/>
              <a:buChar char="•"/>
            </a:pPr>
            <a:endParaRPr/>
          </a:p>
          <a:p>
            <a:pPr marL="457200" lvl="0" indent="-300037" algn="l" rtl="0">
              <a:spcBef>
                <a:spcPts val="0"/>
              </a:spcBef>
              <a:spcAft>
                <a:spcPts val="0"/>
              </a:spcAft>
              <a:buSzPct val="100000"/>
              <a:buChar char="•"/>
            </a:pPr>
            <a:r>
              <a:rPr lang="ja"/>
              <a:t>担当エグゼクティブに誰になってもらうか</a:t>
            </a:r>
            <a:endParaRPr/>
          </a:p>
          <a:p>
            <a:pPr marL="457200" lvl="0" indent="-300037" algn="l" rtl="0">
              <a:spcBef>
                <a:spcPts val="0"/>
              </a:spcBef>
              <a:spcAft>
                <a:spcPts val="0"/>
              </a:spcAft>
              <a:buSzPct val="100000"/>
              <a:buChar char="•"/>
            </a:pPr>
            <a:r>
              <a:rPr lang="ja"/>
              <a:t>OSSが事業にどう役立てることができるか</a:t>
            </a:r>
            <a:endParaRPr/>
          </a:p>
          <a:p>
            <a:pPr marL="457200" lvl="0" indent="-300037" algn="l" rtl="0">
              <a:spcBef>
                <a:spcPts val="0"/>
              </a:spcBef>
              <a:spcAft>
                <a:spcPts val="0"/>
              </a:spcAft>
              <a:buSzPct val="100000"/>
              <a:buChar char="•"/>
            </a:pPr>
            <a:r>
              <a:rPr lang="ja"/>
              <a:t>OSSの活動の評価指標</a:t>
            </a:r>
            <a:endParaRPr/>
          </a:p>
          <a:p>
            <a:pPr marL="457200" lvl="0" indent="-300037" algn="l" rtl="0">
              <a:spcBef>
                <a:spcPts val="0"/>
              </a:spcBef>
              <a:spcAft>
                <a:spcPts val="0"/>
              </a:spcAft>
              <a:buSzPct val="100000"/>
              <a:buChar char="•"/>
            </a:pPr>
            <a:r>
              <a:rPr lang="ja"/>
              <a:t>OSSを事業部が自分事として考えてもらえるようになって欲しい</a:t>
            </a:r>
            <a:endParaRPr/>
          </a:p>
          <a:p>
            <a:pPr marL="457200" lvl="0" indent="-300037" algn="l" rtl="0">
              <a:spcBef>
                <a:spcPts val="0"/>
              </a:spcBef>
              <a:spcAft>
                <a:spcPts val="0"/>
              </a:spcAft>
              <a:buSzPct val="100000"/>
              <a:buChar char="•"/>
            </a:pPr>
            <a:r>
              <a:rPr lang="ja"/>
              <a:t>AIの今の状況がOSSの最初の状況と似ている（危ないから使ってはダメ、など）</a:t>
            </a:r>
            <a:endParaRPr/>
          </a:p>
          <a:p>
            <a:pPr marL="457200" lvl="0" indent="-300037" algn="l" rtl="0">
              <a:spcBef>
                <a:spcPts val="0"/>
              </a:spcBef>
              <a:spcAft>
                <a:spcPts val="0"/>
              </a:spcAft>
              <a:buSzPct val="100000"/>
              <a:buChar char="•"/>
            </a:pPr>
            <a:r>
              <a:rPr lang="ja"/>
              <a:t>日本企業は外圧がないと動かない傾向が強いがこれをなんとかできないか</a:t>
            </a:r>
            <a:endParaRPr/>
          </a:p>
          <a:p>
            <a:pPr marL="457200" lvl="0" indent="-300037" algn="l" rtl="0">
              <a:spcBef>
                <a:spcPts val="0"/>
              </a:spcBef>
              <a:spcAft>
                <a:spcPts val="0"/>
              </a:spcAft>
              <a:buSzPct val="100000"/>
              <a:buChar char="•"/>
            </a:pPr>
            <a:r>
              <a:rPr lang="ja"/>
              <a:t>ガバナンスだけでなくリーディングをやっていくようにしたい</a:t>
            </a:r>
            <a:endParaRPr/>
          </a:p>
          <a:p>
            <a:pPr marL="457200" lvl="0" indent="-300037" algn="l" rtl="0">
              <a:spcBef>
                <a:spcPts val="0"/>
              </a:spcBef>
              <a:spcAft>
                <a:spcPts val="0"/>
              </a:spcAft>
              <a:buSzPct val="100000"/>
              <a:buChar char="•"/>
            </a:pPr>
            <a:r>
              <a:rPr lang="ja"/>
              <a:t>サイバーセキュリティも注目されるようになった</a:t>
            </a:r>
            <a:endParaRPr/>
          </a:p>
          <a:p>
            <a:pPr marL="457200" lvl="0" indent="-300037" algn="l" rtl="0">
              <a:spcBef>
                <a:spcPts val="0"/>
              </a:spcBef>
              <a:spcAft>
                <a:spcPts val="0"/>
              </a:spcAft>
              <a:buSzPct val="100000"/>
              <a:buChar char="•"/>
            </a:pPr>
            <a:r>
              <a:rPr lang="ja"/>
              <a:t>社内で部署により温度差がある</a:t>
            </a:r>
            <a:endParaRPr/>
          </a:p>
          <a:p>
            <a:pPr marL="457200" lvl="0" indent="-300037" algn="l" rtl="0">
              <a:spcBef>
                <a:spcPts val="0"/>
              </a:spcBef>
              <a:spcAft>
                <a:spcPts val="0"/>
              </a:spcAft>
              <a:buSzPct val="100000"/>
              <a:buChar char="•"/>
            </a:pPr>
            <a:r>
              <a:rPr lang="ja"/>
              <a:t>OSSを持ってくるときのプロセスに問題がある（安全なOSSを選ぶようにしてもらいたい）</a:t>
            </a:r>
            <a:endParaRPr/>
          </a:p>
          <a:p>
            <a:pPr marL="457200" lvl="0" indent="-300037" algn="l" rtl="0">
              <a:spcBef>
                <a:spcPts val="0"/>
              </a:spcBef>
              <a:spcAft>
                <a:spcPts val="0"/>
              </a:spcAft>
              <a:buSzPct val="100000"/>
              <a:buChar char="•"/>
            </a:pPr>
            <a:r>
              <a:rPr lang="ja"/>
              <a:t>OSPOのメンバー集め、どのような人が必要なのか</a:t>
            </a:r>
            <a:endParaRPr/>
          </a:p>
          <a:p>
            <a:pPr marL="457200" lvl="0" indent="-300037" algn="l" rtl="0">
              <a:spcBef>
                <a:spcPts val="0"/>
              </a:spcBef>
              <a:spcAft>
                <a:spcPts val="0"/>
              </a:spcAft>
              <a:buSzPct val="100000"/>
              <a:buChar char="•"/>
            </a:pPr>
            <a:r>
              <a:rPr lang="ja"/>
              <a:t>日本と海外でOSPOの課題が違うのでは</a:t>
            </a:r>
            <a:endParaRPr/>
          </a:p>
          <a:p>
            <a:pPr marL="0" lvl="0" indent="0" algn="l" rtl="0">
              <a:spcBef>
                <a:spcPts val="0"/>
              </a:spcBef>
              <a:spcAft>
                <a:spcPts val="0"/>
              </a:spcAft>
              <a:buNone/>
            </a:pP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627"/>
        <p:cNvGrpSpPr/>
        <p:nvPr/>
      </p:nvGrpSpPr>
      <p:grpSpPr>
        <a:xfrm>
          <a:off x="0" y="0"/>
          <a:ext cx="0" cy="0"/>
          <a:chOff x="0" y="0"/>
          <a:chExt cx="0" cy="0"/>
        </a:xfrm>
      </p:grpSpPr>
      <p:sp>
        <p:nvSpPr>
          <p:cNvPr id="628" name="Google Shape;628;p53"/>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endParaRPr/>
          </a:p>
        </p:txBody>
      </p:sp>
      <p:sp>
        <p:nvSpPr>
          <p:cNvPr id="629" name="Google Shape;629;p53"/>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457200" lvl="0" indent="-342900" algn="l" rtl="0">
              <a:spcBef>
                <a:spcPts val="0"/>
              </a:spcBef>
              <a:spcAft>
                <a:spcPts val="0"/>
              </a:spcAft>
              <a:buSzPts val="1800"/>
              <a:buChar char="•"/>
            </a:pPr>
            <a:r>
              <a:rPr lang="ja"/>
              <a:t>最近のソフトウェアは開発するものから調達するものに変わった？</a:t>
            </a:r>
            <a:endParaRPr/>
          </a:p>
          <a:p>
            <a:pPr marL="457200" lvl="0" indent="-342900" algn="l" rtl="0">
              <a:spcBef>
                <a:spcPts val="0"/>
              </a:spcBef>
              <a:spcAft>
                <a:spcPts val="0"/>
              </a:spcAft>
              <a:buSzPts val="1800"/>
              <a:buChar char="•"/>
            </a:pPr>
            <a:r>
              <a:rPr lang="ja"/>
              <a:t>クラウドサービスが主流になって、OSSとして開発し、サービスで儲ける形になった。これに日本が追いついていけていない。</a:t>
            </a:r>
            <a:endParaRPr/>
          </a:p>
          <a:p>
            <a:pPr marL="457200" lvl="0" indent="-342900" algn="l" rtl="0">
              <a:spcBef>
                <a:spcPts val="0"/>
              </a:spcBef>
              <a:spcAft>
                <a:spcPts val="0"/>
              </a:spcAft>
              <a:buSzPts val="1800"/>
              <a:buChar char="•"/>
            </a:pPr>
            <a:r>
              <a:rPr lang="ja"/>
              <a:t>日本特有？</a:t>
            </a:r>
            <a:endParaRPr/>
          </a:p>
          <a:p>
            <a:pPr marL="457200" lvl="0" indent="-342900" algn="l" rtl="0">
              <a:spcBef>
                <a:spcPts val="0"/>
              </a:spcBef>
              <a:spcAft>
                <a:spcPts val="0"/>
              </a:spcAft>
              <a:buSzPts val="1800"/>
              <a:buChar char="•"/>
            </a:pPr>
            <a:r>
              <a:rPr lang="ja"/>
              <a:t>FAQテーマ案：</a:t>
            </a:r>
            <a:endParaRPr/>
          </a:p>
          <a:p>
            <a:pPr marL="914400" lvl="1" indent="-323850" algn="l" rtl="0">
              <a:spcBef>
                <a:spcPts val="0"/>
              </a:spcBef>
              <a:spcAft>
                <a:spcPts val="0"/>
              </a:spcAft>
              <a:buSzPts val="1500"/>
              <a:buChar char="•"/>
            </a:pPr>
            <a:r>
              <a:rPr lang="ja"/>
              <a:t>コントリビューションとはなにか</a:t>
            </a:r>
            <a:endParaRPr/>
          </a:p>
          <a:p>
            <a:pPr marL="1371600" lvl="2" indent="-304800" algn="l" rtl="0">
              <a:spcBef>
                <a:spcPts val="0"/>
              </a:spcBef>
              <a:spcAft>
                <a:spcPts val="0"/>
              </a:spcAft>
              <a:buSzPts val="1200"/>
              <a:buChar char="•"/>
            </a:pPr>
            <a:r>
              <a:rPr lang="ja"/>
              <a:t>理解を深める</a:t>
            </a:r>
            <a:endParaRPr/>
          </a:p>
          <a:p>
            <a:pPr marL="1371600" lvl="2" indent="-304800" algn="l" rtl="0">
              <a:spcBef>
                <a:spcPts val="0"/>
              </a:spcBef>
              <a:spcAft>
                <a:spcPts val="0"/>
              </a:spcAft>
              <a:buSzPts val="1200"/>
              <a:buChar char="•"/>
            </a:pPr>
            <a:r>
              <a:rPr lang="ja"/>
              <a:t>どう伝える</a:t>
            </a:r>
            <a:endParaRPr/>
          </a:p>
          <a:p>
            <a:pPr marL="1371600" lvl="2" indent="-304800" algn="l" rtl="0">
              <a:spcBef>
                <a:spcPts val="0"/>
              </a:spcBef>
              <a:spcAft>
                <a:spcPts val="0"/>
              </a:spcAft>
              <a:buSzPts val="1200"/>
              <a:buChar char="•"/>
            </a:pPr>
            <a:r>
              <a:rPr lang="ja"/>
              <a:t>価値の測り方</a:t>
            </a:r>
            <a:endParaRPr/>
          </a:p>
          <a:p>
            <a:pPr marL="457200" lvl="0" indent="-342900" algn="l" rtl="0">
              <a:spcBef>
                <a:spcPts val="0"/>
              </a:spcBef>
              <a:spcAft>
                <a:spcPts val="0"/>
              </a:spcAft>
              <a:buSzPts val="1800"/>
              <a:buChar char="•"/>
            </a:pPr>
            <a:r>
              <a:rPr lang="ja"/>
              <a:t>OSS貢献は標準化委員会活動で説明すると伝わりやすい</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633"/>
        <p:cNvGrpSpPr/>
        <p:nvPr/>
      </p:nvGrpSpPr>
      <p:grpSpPr>
        <a:xfrm>
          <a:off x="0" y="0"/>
          <a:ext cx="0" cy="0"/>
          <a:chOff x="0" y="0"/>
          <a:chExt cx="0" cy="0"/>
        </a:xfrm>
      </p:grpSpPr>
      <p:sp>
        <p:nvSpPr>
          <p:cNvPr id="634" name="Google Shape;634;p54"/>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a:t>ネタ集め（2024/7/26)</a:t>
            </a:r>
            <a:endParaRPr/>
          </a:p>
        </p:txBody>
      </p:sp>
      <p:sp>
        <p:nvSpPr>
          <p:cNvPr id="635" name="Google Shape;635;p54"/>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457200" lvl="0" indent="-342900" algn="l" rtl="0">
              <a:spcBef>
                <a:spcPts val="0"/>
              </a:spcBef>
              <a:spcAft>
                <a:spcPts val="0"/>
              </a:spcAft>
              <a:buSzPts val="1800"/>
              <a:buChar char="•"/>
            </a:pPr>
            <a:r>
              <a:rPr lang="ja"/>
              <a:t>OSS 教育を全社教育にするのはなぜですか？</a:t>
            </a:r>
            <a:endParaRPr/>
          </a:p>
          <a:p>
            <a:pPr marL="914400" lvl="1" indent="-323850" algn="l" rtl="0">
              <a:spcBef>
                <a:spcPts val="0"/>
              </a:spcBef>
              <a:spcAft>
                <a:spcPts val="0"/>
              </a:spcAft>
              <a:buSzPts val="1500"/>
              <a:buChar char="•"/>
            </a:pPr>
            <a:r>
              <a:rPr lang="ja"/>
              <a:t>他社の事例を集めて知らせる</a:t>
            </a:r>
            <a:endParaRPr/>
          </a:p>
          <a:p>
            <a:pPr marL="457200" lvl="0" indent="-342900" algn="l" rtl="0">
              <a:spcBef>
                <a:spcPts val="0"/>
              </a:spcBef>
              <a:spcAft>
                <a:spcPts val="0"/>
              </a:spcAft>
              <a:buSzPts val="1800"/>
              <a:buChar char="•"/>
            </a:pPr>
            <a:r>
              <a:rPr lang="ja"/>
              <a:t>教育内容のレベル（基礎、ライセンス、実践、戦略）分けの共通モデルがあるか？</a:t>
            </a:r>
            <a:endParaRPr/>
          </a:p>
          <a:p>
            <a:pPr marL="914400" lvl="1" indent="-323850" algn="l" rtl="0">
              <a:spcBef>
                <a:spcPts val="0"/>
              </a:spcBef>
              <a:spcAft>
                <a:spcPts val="0"/>
              </a:spcAft>
              <a:buSzPts val="1500"/>
              <a:buChar char="•"/>
            </a:pPr>
            <a:r>
              <a:rPr lang="ja"/>
              <a:t>マネジメント向けの教育（意識改革）：部長、課長向け、経営層向けのいい方法</a:t>
            </a:r>
            <a:endParaRPr/>
          </a:p>
          <a:p>
            <a:pPr marL="457200" lvl="0" indent="-342900" algn="l" rtl="0">
              <a:spcBef>
                <a:spcPts val="0"/>
              </a:spcBef>
              <a:spcAft>
                <a:spcPts val="0"/>
              </a:spcAft>
              <a:buSzPts val="1800"/>
              <a:buChar char="•"/>
            </a:pPr>
            <a:r>
              <a:rPr lang="ja"/>
              <a:t>スタートの仕方：どこから手を付ければいいのか</a:t>
            </a:r>
            <a:endParaRPr/>
          </a:p>
          <a:p>
            <a:pPr marL="914400" lvl="1" indent="-323850" algn="l" rtl="0">
              <a:spcBef>
                <a:spcPts val="0"/>
              </a:spcBef>
              <a:spcAft>
                <a:spcPts val="0"/>
              </a:spcAft>
              <a:buSzPts val="1500"/>
              <a:buChar char="•"/>
            </a:pPr>
            <a:r>
              <a:rPr lang="ja"/>
              <a:t>LTできっかけを集めて共有する。業界で違いがあるような気がする。</a:t>
            </a:r>
            <a:endParaRPr/>
          </a:p>
          <a:p>
            <a:pPr marL="457200" lvl="0" indent="-342900" algn="l" rtl="0">
              <a:spcBef>
                <a:spcPts val="0"/>
              </a:spcBef>
              <a:spcAft>
                <a:spcPts val="0"/>
              </a:spcAft>
              <a:buSzPts val="1800"/>
              <a:buChar char="•"/>
            </a:pPr>
            <a:r>
              <a:rPr lang="ja"/>
              <a:t>OSSコミュニティと企業の望ましい関係とその理由</a:t>
            </a:r>
            <a:endParaRPr/>
          </a:p>
          <a:p>
            <a:pPr marL="457200" lvl="0" indent="-342900" algn="l" rtl="0">
              <a:spcBef>
                <a:spcPts val="0"/>
              </a:spcBef>
              <a:spcAft>
                <a:spcPts val="0"/>
              </a:spcAft>
              <a:buSzPts val="1800"/>
              <a:buChar char="•"/>
            </a:pPr>
            <a:r>
              <a:rPr lang="ja"/>
              <a:t>EUの国、市はOSPOを持っている</a:t>
            </a:r>
            <a:endParaRPr/>
          </a:p>
          <a:p>
            <a:pPr marL="914400" lvl="1" indent="-323850" algn="l" rtl="0">
              <a:spcBef>
                <a:spcPts val="0"/>
              </a:spcBef>
              <a:spcAft>
                <a:spcPts val="0"/>
              </a:spcAft>
              <a:buSzPts val="1500"/>
              <a:buChar char="•"/>
            </a:pPr>
            <a:r>
              <a:rPr lang="ja"/>
              <a:t>EU Commissionが旗を振っている：USのBig Techに対抗するため</a:t>
            </a:r>
            <a:endParaRPr/>
          </a:p>
          <a:p>
            <a:pPr marL="1371600" lvl="2" indent="-304800" algn="l" rtl="0">
              <a:spcBef>
                <a:spcPts val="0"/>
              </a:spcBef>
              <a:spcAft>
                <a:spcPts val="0"/>
              </a:spcAft>
              <a:buSzPts val="1200"/>
              <a:buChar char="•"/>
            </a:pPr>
            <a:r>
              <a:rPr lang="ja" sz="1100" u="sng">
                <a:solidFill>
                  <a:schemeClr val="hlink"/>
                </a:solidFill>
                <a:latin typeface="Arial"/>
                <a:ea typeface="Arial"/>
                <a:cs typeface="Arial"/>
                <a:sym typeface="Arial"/>
                <a:hlinkClick r:id="rId3"/>
              </a:rPr>
              <a:t>自治体毎にシステムを作るのは限界｜Hal Seki (note.com)</a:t>
            </a:r>
            <a:endParaRPr/>
          </a:p>
          <a:p>
            <a:pPr marL="914400" lvl="1" indent="-323850" algn="l" rtl="0">
              <a:spcBef>
                <a:spcPts val="0"/>
              </a:spcBef>
              <a:spcAft>
                <a:spcPts val="0"/>
              </a:spcAft>
              <a:buSzPts val="1500"/>
              <a:buChar char="•"/>
            </a:pPr>
            <a:r>
              <a:rPr lang="ja"/>
              <a:t>お金儲けのためにOSS/OSPOが必要ということを周知することがいいのではないか</a:t>
            </a:r>
            <a:endParaRPr/>
          </a:p>
          <a:p>
            <a:pPr marL="457200" lvl="0" indent="-342900" algn="l" rtl="0">
              <a:spcBef>
                <a:spcPts val="0"/>
              </a:spcBef>
              <a:spcAft>
                <a:spcPts val="0"/>
              </a:spcAft>
              <a:buSzPts val="1800"/>
              <a:buChar char="•"/>
            </a:pPr>
            <a:r>
              <a:rPr lang="ja"/>
              <a:t>コミュニティ活動が会社にメリットを生むことをうまく伝えたい</a:t>
            </a:r>
            <a:endParaRPr/>
          </a:p>
          <a:p>
            <a:pPr marL="457200" lvl="0" indent="-342900" algn="l" rtl="0">
              <a:spcBef>
                <a:spcPts val="0"/>
              </a:spcBef>
              <a:spcAft>
                <a:spcPts val="0"/>
              </a:spcAft>
              <a:buSzPts val="1800"/>
              <a:buChar char="•"/>
            </a:pP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639"/>
        <p:cNvGrpSpPr/>
        <p:nvPr/>
      </p:nvGrpSpPr>
      <p:grpSpPr>
        <a:xfrm>
          <a:off x="0" y="0"/>
          <a:ext cx="0" cy="0"/>
          <a:chOff x="0" y="0"/>
          <a:chExt cx="0" cy="0"/>
        </a:xfrm>
      </p:grpSpPr>
      <p:sp>
        <p:nvSpPr>
          <p:cNvPr id="640" name="Google Shape;640;p55"/>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a:t>2024/8/23 Contributionについて</a:t>
            </a:r>
            <a:endParaRPr/>
          </a:p>
        </p:txBody>
      </p:sp>
      <p:sp>
        <p:nvSpPr>
          <p:cNvPr id="641" name="Google Shape;641;p55"/>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rmAutofit fontScale="70000" lnSpcReduction="20000"/>
          </a:bodyPr>
          <a:lstStyle/>
          <a:p>
            <a:pPr marL="457200" lvl="0" indent="-308610" algn="l" rtl="0">
              <a:spcBef>
                <a:spcPts val="0"/>
              </a:spcBef>
              <a:spcAft>
                <a:spcPts val="0"/>
              </a:spcAft>
              <a:buSzPct val="100000"/>
              <a:buChar char="•"/>
            </a:pPr>
            <a:r>
              <a:rPr lang="ja"/>
              <a:t>貢献</a:t>
            </a:r>
            <a:endParaRPr/>
          </a:p>
          <a:p>
            <a:pPr marL="914400" lvl="1" indent="-295275" algn="l" rtl="0">
              <a:spcBef>
                <a:spcPts val="0"/>
              </a:spcBef>
              <a:spcAft>
                <a:spcPts val="0"/>
              </a:spcAft>
              <a:buSzPct val="100000"/>
              <a:buChar char="•"/>
            </a:pPr>
            <a:r>
              <a:rPr lang="ja"/>
              <a:t>例：issue報告、不具合報告、修正提案</a:t>
            </a:r>
            <a:endParaRPr/>
          </a:p>
          <a:p>
            <a:pPr marL="914400" lvl="1" indent="-295275" algn="l" rtl="0">
              <a:spcBef>
                <a:spcPts val="0"/>
              </a:spcBef>
              <a:spcAft>
                <a:spcPts val="0"/>
              </a:spcAft>
              <a:buSzPct val="100000"/>
              <a:buChar char="•"/>
            </a:pPr>
            <a:r>
              <a:rPr lang="ja"/>
              <a:t>ドキュメント作成、イベント参加、積極的にイベントを盛り上げる</a:t>
            </a:r>
            <a:endParaRPr/>
          </a:p>
          <a:p>
            <a:pPr marL="914400" lvl="1" indent="-295275" algn="l" rtl="0">
              <a:spcBef>
                <a:spcPts val="0"/>
              </a:spcBef>
              <a:spcAft>
                <a:spcPts val="0"/>
              </a:spcAft>
              <a:buSzPct val="100000"/>
              <a:buChar char="•"/>
            </a:pPr>
            <a:r>
              <a:rPr lang="ja"/>
              <a:t>ブログ等でのコミュニティの紹介・盛り上げ</a:t>
            </a:r>
            <a:endParaRPr/>
          </a:p>
          <a:p>
            <a:pPr marL="914400" lvl="1" indent="-295275" algn="l" rtl="0">
              <a:spcBef>
                <a:spcPts val="0"/>
              </a:spcBef>
              <a:spcAft>
                <a:spcPts val="0"/>
              </a:spcAft>
              <a:buSzPct val="100000"/>
              <a:buChar char="•"/>
            </a:pPr>
            <a:r>
              <a:rPr lang="ja"/>
              <a:t>総じてコミュニティを活性化せるものは全てContributionになる</a:t>
            </a:r>
            <a:endParaRPr/>
          </a:p>
          <a:p>
            <a:pPr marL="914400" lvl="1" indent="-295275" algn="l" rtl="0">
              <a:spcBef>
                <a:spcPts val="0"/>
              </a:spcBef>
              <a:spcAft>
                <a:spcPts val="0"/>
              </a:spcAft>
              <a:buSzPct val="100000"/>
              <a:buChar char="•"/>
            </a:pPr>
            <a:r>
              <a:rPr lang="ja"/>
              <a:t>寄付（スポンサーシップ）</a:t>
            </a:r>
            <a:endParaRPr/>
          </a:p>
          <a:p>
            <a:pPr marL="1371600" lvl="2" indent="-281939" algn="l" rtl="0">
              <a:spcBef>
                <a:spcPts val="0"/>
              </a:spcBef>
              <a:spcAft>
                <a:spcPts val="0"/>
              </a:spcAft>
              <a:buSzPct val="100000"/>
              <a:buChar char="•"/>
            </a:pPr>
            <a:r>
              <a:rPr lang="ja"/>
              <a:t>プロジェクトへ、イベント、Foundationへのメンバーシップ費</a:t>
            </a:r>
            <a:endParaRPr/>
          </a:p>
          <a:p>
            <a:pPr marL="1371600" lvl="2" indent="-281939" algn="l" rtl="0">
              <a:spcBef>
                <a:spcPts val="0"/>
              </a:spcBef>
              <a:spcAft>
                <a:spcPts val="0"/>
              </a:spcAft>
              <a:buSzPct val="100000"/>
              <a:buChar char="•"/>
            </a:pPr>
            <a:r>
              <a:rPr lang="ja"/>
              <a:t>物やインフラの提供</a:t>
            </a:r>
            <a:endParaRPr/>
          </a:p>
          <a:p>
            <a:pPr marL="457200" lvl="0" indent="-308610" algn="l" rtl="0">
              <a:spcBef>
                <a:spcPts val="0"/>
              </a:spcBef>
              <a:spcAft>
                <a:spcPts val="0"/>
              </a:spcAft>
              <a:buSzPct val="100000"/>
              <a:buChar char="•"/>
            </a:pPr>
            <a:r>
              <a:rPr lang="ja"/>
              <a:t>貢献はなぜ必要・大事なのか</a:t>
            </a:r>
            <a:endParaRPr/>
          </a:p>
          <a:p>
            <a:pPr marL="914400" lvl="1" indent="-295275" algn="l" rtl="0">
              <a:spcBef>
                <a:spcPts val="0"/>
              </a:spcBef>
              <a:spcAft>
                <a:spcPts val="0"/>
              </a:spcAft>
              <a:buSzPct val="100000"/>
              <a:buChar char="•"/>
            </a:pPr>
            <a:r>
              <a:rPr lang="ja"/>
              <a:t>自社が不利にならないように：ドキュメント作成、共通認識の形成</a:t>
            </a:r>
            <a:endParaRPr/>
          </a:p>
          <a:p>
            <a:pPr marL="914400" lvl="1" indent="-295275" algn="l" rtl="0">
              <a:spcBef>
                <a:spcPts val="0"/>
              </a:spcBef>
              <a:spcAft>
                <a:spcPts val="0"/>
              </a:spcAft>
              <a:buSzPct val="100000"/>
              <a:buChar char="•"/>
            </a:pPr>
            <a:r>
              <a:rPr lang="ja"/>
              <a:t>自社のデバイス（競争領域）について間口を広げる（利用者を増やす）</a:t>
            </a:r>
            <a:endParaRPr/>
          </a:p>
          <a:p>
            <a:pPr marL="914400" lvl="1" indent="-295275" algn="l" rtl="0">
              <a:spcBef>
                <a:spcPts val="0"/>
              </a:spcBef>
              <a:spcAft>
                <a:spcPts val="0"/>
              </a:spcAft>
              <a:buSzPct val="100000"/>
              <a:buChar char="•"/>
            </a:pPr>
            <a:r>
              <a:rPr lang="ja"/>
              <a:t>SIerとして、ソフトの内製化の際にベンダーロックインを回避する</a:t>
            </a:r>
            <a:endParaRPr/>
          </a:p>
          <a:p>
            <a:pPr marL="914400" lvl="1" indent="-295275" algn="l" rtl="0">
              <a:spcBef>
                <a:spcPts val="0"/>
              </a:spcBef>
              <a:spcAft>
                <a:spcPts val="0"/>
              </a:spcAft>
              <a:buSzPct val="100000"/>
              <a:buChar char="•"/>
            </a:pPr>
            <a:r>
              <a:rPr lang="ja"/>
              <a:t>自社のプレゼンスを高めて商談を獲得する</a:t>
            </a:r>
            <a:endParaRPr/>
          </a:p>
          <a:p>
            <a:pPr marL="914400" lvl="1" indent="-295275" algn="l" rtl="0">
              <a:spcBef>
                <a:spcPts val="0"/>
              </a:spcBef>
              <a:spcAft>
                <a:spcPts val="0"/>
              </a:spcAft>
              <a:buSzPct val="100000"/>
              <a:buChar char="•"/>
            </a:pPr>
            <a:r>
              <a:rPr lang="ja"/>
              <a:t>開発者（従業員）満足度の向上➡帰属意識の高まり、開発者をひきつける</a:t>
            </a:r>
            <a:endParaRPr/>
          </a:p>
          <a:p>
            <a:pPr marL="1371600" lvl="2" indent="-281939" algn="l" rtl="0">
              <a:spcBef>
                <a:spcPts val="0"/>
              </a:spcBef>
              <a:spcAft>
                <a:spcPts val="0"/>
              </a:spcAft>
              <a:buSzPct val="100000"/>
              <a:buChar char="•"/>
            </a:pPr>
            <a:r>
              <a:rPr lang="ja"/>
              <a:t>採用側としては、コミュニティで活躍している人を見つけて採用する</a:t>
            </a:r>
            <a:endParaRPr/>
          </a:p>
          <a:p>
            <a:pPr marL="914400" lvl="1" indent="-295275" algn="l" rtl="0">
              <a:spcBef>
                <a:spcPts val="0"/>
              </a:spcBef>
              <a:spcAft>
                <a:spcPts val="0"/>
              </a:spcAft>
              <a:buSzPct val="100000"/>
              <a:buChar char="•"/>
            </a:pPr>
            <a:r>
              <a:rPr lang="ja"/>
              <a:t>開発・技術面</a:t>
            </a:r>
            <a:endParaRPr/>
          </a:p>
          <a:p>
            <a:pPr marL="1371600" lvl="2" indent="-281939" algn="l" rtl="0">
              <a:spcBef>
                <a:spcPts val="0"/>
              </a:spcBef>
              <a:spcAft>
                <a:spcPts val="0"/>
              </a:spcAft>
              <a:buSzPct val="100000"/>
              <a:buChar char="•"/>
            </a:pPr>
            <a:r>
              <a:rPr lang="ja"/>
              <a:t>技術課題の解決の場としてコミュニティを活用する（性能改善、機能改善をして、自社製品の競争力とする）</a:t>
            </a:r>
            <a:endParaRPr/>
          </a:p>
          <a:p>
            <a:pPr marL="1371600" lvl="2" indent="-281939" algn="l" rtl="0">
              <a:spcBef>
                <a:spcPts val="0"/>
              </a:spcBef>
              <a:spcAft>
                <a:spcPts val="0"/>
              </a:spcAft>
              <a:buSzPct val="100000"/>
              <a:buChar char="•"/>
            </a:pPr>
            <a:r>
              <a:rPr lang="ja"/>
              <a:t>セキュリティ対応への追随での開発費抑制（コントリビューションによって、OSSのバージョンとの差分を小さくできているとコストを抑えることができる）</a:t>
            </a:r>
            <a:endParaRPr/>
          </a:p>
          <a:p>
            <a:pPr marL="914400" lvl="1" indent="-295275" algn="l" rtl="0">
              <a:spcBef>
                <a:spcPts val="0"/>
              </a:spcBef>
              <a:spcAft>
                <a:spcPts val="0"/>
              </a:spcAft>
              <a:buSzPct val="100000"/>
              <a:buChar char="•"/>
            </a:pPr>
            <a:r>
              <a:rPr lang="ja"/>
              <a:t>技術者個人として自身の価値を上げる：実績が公知情報として残る</a:t>
            </a:r>
            <a:endParaRPr/>
          </a:p>
          <a:p>
            <a:pPr marL="457200" lvl="0" indent="-308610" algn="l" rtl="0">
              <a:spcBef>
                <a:spcPts val="0"/>
              </a:spcBef>
              <a:spcAft>
                <a:spcPts val="0"/>
              </a:spcAft>
              <a:buSzPct val="100000"/>
              <a:buChar char="•"/>
            </a:pPr>
            <a:r>
              <a:rPr lang="ja"/>
              <a:t>そうはいってもなかなか納得を得られないことに対して</a:t>
            </a:r>
            <a:endParaRPr/>
          </a:p>
          <a:p>
            <a:pPr marL="914400" lvl="1" indent="-295275" algn="l" rtl="0">
              <a:spcBef>
                <a:spcPts val="0"/>
              </a:spcBef>
              <a:spcAft>
                <a:spcPts val="0"/>
              </a:spcAft>
              <a:buSzPct val="100000"/>
              <a:buChar char="•"/>
            </a:pPr>
            <a:r>
              <a:rPr lang="ja"/>
              <a:t>OSSでデファクトスタンダードが形成される</a:t>
            </a:r>
            <a:endParaRPr/>
          </a:p>
          <a:p>
            <a:pPr marL="914400" lvl="1" indent="-295275" algn="l" rtl="0">
              <a:spcBef>
                <a:spcPts val="0"/>
              </a:spcBef>
              <a:spcAft>
                <a:spcPts val="0"/>
              </a:spcAft>
              <a:buSzPct val="100000"/>
              <a:buChar char="•"/>
            </a:pPr>
            <a:r>
              <a:rPr lang="ja"/>
              <a:t>過去の成功モデルに今のOSSのモデルをマッピングできると納得が得られやすい</a:t>
            </a:r>
            <a:endParaRPr/>
          </a:p>
          <a:p>
            <a:pPr marL="914400" lvl="1" indent="-295275" algn="l" rtl="0">
              <a:spcBef>
                <a:spcPts val="0"/>
              </a:spcBef>
              <a:spcAft>
                <a:spcPts val="0"/>
              </a:spcAft>
              <a:buSzPct val="100000"/>
              <a:buChar char="•"/>
            </a:pPr>
            <a:r>
              <a:rPr lang="ja"/>
              <a:t>かけたお金がどう還元されるかをうまく見せることができない➡トップダウンでないと難しい</a:t>
            </a:r>
            <a:endParaRPr/>
          </a:p>
          <a:p>
            <a:pPr marL="914400" lvl="1" indent="-295275" algn="l" rtl="0">
              <a:spcBef>
                <a:spcPts val="0"/>
              </a:spcBef>
              <a:spcAft>
                <a:spcPts val="0"/>
              </a:spcAft>
              <a:buSzPct val="100000"/>
              <a:buChar char="•"/>
            </a:pPr>
            <a:r>
              <a:rPr lang="ja"/>
              <a:t>OSSを単にソフト開発活動と捉えると収支が取りにくくなる</a:t>
            </a:r>
            <a:endParaRPr/>
          </a:p>
          <a:p>
            <a:pPr marL="914400" lvl="1" indent="-295275" algn="l" rtl="0">
              <a:spcBef>
                <a:spcPts val="0"/>
              </a:spcBef>
              <a:spcAft>
                <a:spcPts val="0"/>
              </a:spcAft>
              <a:buSzPct val="100000"/>
              <a:buChar char="•"/>
            </a:pPr>
            <a:r>
              <a:rPr lang="ja"/>
              <a:t>やらなくても誰かがやってくれるは古いことをどう伝えるか</a:t>
            </a:r>
            <a:endParaRPr/>
          </a:p>
          <a:p>
            <a:pPr marL="914400" lvl="1" indent="-295275" algn="l" rtl="0">
              <a:spcBef>
                <a:spcPts val="0"/>
              </a:spcBef>
              <a:spcAft>
                <a:spcPts val="0"/>
              </a:spcAft>
              <a:buSzPct val="100000"/>
              <a:buChar char="•"/>
            </a:pPr>
            <a:r>
              <a:rPr lang="ja"/>
              <a:t>成功している企業についてうまく伝える</a:t>
            </a:r>
            <a:endParaRPr/>
          </a:p>
          <a:p>
            <a:pPr marL="914400" lvl="1" indent="-295275" algn="l" rtl="0">
              <a:spcBef>
                <a:spcPts val="0"/>
              </a:spcBef>
              <a:spcAft>
                <a:spcPts val="0"/>
              </a:spcAft>
              <a:buSzPct val="100000"/>
              <a:buChar char="•"/>
            </a:pPr>
            <a:r>
              <a:rPr lang="ja"/>
              <a:t>課題の回避策を探すのではなく、衆知を集めて根本解決が得られる</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6" name="Google Shape;646;p56"/>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a:t>2024/10/18 Local Meetup</a:t>
            </a:r>
            <a:endParaRPr/>
          </a:p>
        </p:txBody>
      </p:sp>
      <p:sp>
        <p:nvSpPr>
          <p:cNvPr id="647" name="Google Shape;647;p56"/>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457200" lvl="0" indent="-342900" algn="l" rtl="0">
              <a:spcBef>
                <a:spcPts val="0"/>
              </a:spcBef>
              <a:spcAft>
                <a:spcPts val="0"/>
              </a:spcAft>
              <a:buSzPts val="1800"/>
              <a:buChar char="•"/>
            </a:pPr>
            <a:r>
              <a:rPr lang="ja"/>
              <a:t>OSSになじみのない部門をどう説得するか</a:t>
            </a:r>
            <a:endParaRPr/>
          </a:p>
          <a:p>
            <a:pPr marL="914400" lvl="1" indent="-323850" algn="l" rtl="0">
              <a:spcBef>
                <a:spcPts val="0"/>
              </a:spcBef>
              <a:spcAft>
                <a:spcPts val="0"/>
              </a:spcAft>
              <a:buSzPts val="1500"/>
              <a:buChar char="•"/>
            </a:pPr>
            <a:r>
              <a:rPr lang="ja"/>
              <a:t>自社で閉じなくなったことを説明する：やることは同じ</a:t>
            </a:r>
            <a:endParaRPr/>
          </a:p>
          <a:p>
            <a:pPr marL="914400" lvl="1" indent="-323850" algn="l" rtl="0">
              <a:spcBef>
                <a:spcPts val="0"/>
              </a:spcBef>
              <a:spcAft>
                <a:spcPts val="0"/>
              </a:spcAft>
              <a:buSzPts val="1500"/>
              <a:buChar char="•"/>
            </a:pPr>
            <a:r>
              <a:rPr lang="ja"/>
              <a:t>「自社に閉じなくなったとしてもできるだけ社内に残しなさい」という反応をされる</a:t>
            </a:r>
            <a:endParaRPr/>
          </a:p>
          <a:p>
            <a:pPr marL="1371600" lvl="2" indent="-304800" algn="l" rtl="0">
              <a:spcBef>
                <a:spcPts val="0"/>
              </a:spcBef>
              <a:spcAft>
                <a:spcPts val="0"/>
              </a:spcAft>
              <a:buSzPts val="1200"/>
              <a:buChar char="•"/>
            </a:pPr>
            <a:r>
              <a:rPr lang="ja"/>
              <a:t>これは無駄な抵抗であると伝えたいがどうすれば伝わるか？</a:t>
            </a:r>
            <a:endParaRPr/>
          </a:p>
          <a:p>
            <a:pPr marL="914400" lvl="1" indent="-323850" algn="l" rtl="0">
              <a:spcBef>
                <a:spcPts val="0"/>
              </a:spcBef>
              <a:spcAft>
                <a:spcPts val="0"/>
              </a:spcAft>
              <a:buSzPts val="1500"/>
              <a:buChar char="•"/>
            </a:pPr>
            <a:r>
              <a:rPr lang="ja"/>
              <a:t>恩返しという考え方</a:t>
            </a:r>
            <a:endParaRPr/>
          </a:p>
          <a:p>
            <a:pPr marL="914400" lvl="1" indent="-323850" algn="l" rtl="0">
              <a:spcBef>
                <a:spcPts val="0"/>
              </a:spcBef>
              <a:spcAft>
                <a:spcPts val="0"/>
              </a:spcAft>
              <a:buSzPts val="1500"/>
              <a:buChar char="•"/>
            </a:pPr>
            <a:r>
              <a:rPr lang="ja"/>
              <a:t>OSSは競争領域ではない、失うものはない。むしろ得する方が多い</a:t>
            </a:r>
            <a:endParaRPr/>
          </a:p>
          <a:p>
            <a:pPr marL="914400" lvl="1" indent="-323850" algn="l" rtl="0">
              <a:spcBef>
                <a:spcPts val="0"/>
              </a:spcBef>
              <a:spcAft>
                <a:spcPts val="0"/>
              </a:spcAft>
              <a:buSzPts val="1500"/>
              <a:buChar char="•"/>
            </a:pPr>
            <a:r>
              <a:rPr lang="ja"/>
              <a:t>サプライチェーン間で古いバージョンのOSSをやり取りすることによってフラグメンテーションを生んでいる</a:t>
            </a:r>
            <a:endParaRPr/>
          </a:p>
          <a:p>
            <a:pPr marL="457200" lvl="0" indent="-342900" algn="l" rtl="0">
              <a:spcBef>
                <a:spcPts val="0"/>
              </a:spcBef>
              <a:spcAft>
                <a:spcPts val="0"/>
              </a:spcAft>
              <a:buSzPts val="1800"/>
              <a:buChar char="•"/>
            </a:pPr>
            <a:r>
              <a:rPr lang="ja"/>
              <a:t>OSSになじみのない会社をどう説得するか</a:t>
            </a:r>
            <a:endParaRPr/>
          </a:p>
          <a:p>
            <a:pPr marL="914400" lvl="1" indent="-323850" algn="l" rtl="0">
              <a:spcBef>
                <a:spcPts val="0"/>
              </a:spcBef>
              <a:spcAft>
                <a:spcPts val="0"/>
              </a:spcAft>
              <a:buSzPts val="1500"/>
              <a:buChar char="•"/>
            </a:pPr>
            <a:r>
              <a:rPr lang="ja"/>
              <a:t>そもそもOpenの考えがないのが課題</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651"/>
        <p:cNvGrpSpPr/>
        <p:nvPr/>
      </p:nvGrpSpPr>
      <p:grpSpPr>
        <a:xfrm>
          <a:off x="0" y="0"/>
          <a:ext cx="0" cy="0"/>
          <a:chOff x="0" y="0"/>
          <a:chExt cx="0" cy="0"/>
        </a:xfrm>
      </p:grpSpPr>
      <p:sp>
        <p:nvSpPr>
          <p:cNvPr id="652" name="Google Shape;652;p57"/>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a:t>2024/11/22</a:t>
            </a:r>
            <a:endParaRPr/>
          </a:p>
        </p:txBody>
      </p:sp>
      <p:sp>
        <p:nvSpPr>
          <p:cNvPr id="653" name="Google Shape;653;p57"/>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rmAutofit lnSpcReduction="20000"/>
          </a:bodyPr>
          <a:lstStyle/>
          <a:p>
            <a:pPr marL="457200" lvl="0" indent="-342900" algn="l" rtl="0">
              <a:spcBef>
                <a:spcPts val="0"/>
              </a:spcBef>
              <a:spcAft>
                <a:spcPts val="0"/>
              </a:spcAft>
              <a:buSzPts val="1800"/>
              <a:buChar char="•"/>
            </a:pPr>
            <a:r>
              <a:rPr lang="ja"/>
              <a:t>OSPOの最終形は？</a:t>
            </a:r>
            <a:endParaRPr/>
          </a:p>
          <a:p>
            <a:pPr marL="914400" lvl="1" indent="-323850" algn="l" rtl="0">
              <a:spcBef>
                <a:spcPts val="0"/>
              </a:spcBef>
              <a:spcAft>
                <a:spcPts val="0"/>
              </a:spcAft>
              <a:buSzPts val="1500"/>
              <a:buChar char="•"/>
            </a:pPr>
            <a:r>
              <a:rPr lang="ja"/>
              <a:t>維持メンテナンスを続ける</a:t>
            </a:r>
            <a:endParaRPr/>
          </a:p>
          <a:p>
            <a:pPr marL="914400" lvl="1" indent="-323850" algn="l" rtl="0">
              <a:spcBef>
                <a:spcPts val="0"/>
              </a:spcBef>
              <a:spcAft>
                <a:spcPts val="0"/>
              </a:spcAft>
              <a:buSzPts val="1500"/>
              <a:buChar char="•"/>
            </a:pPr>
            <a:r>
              <a:rPr lang="ja"/>
              <a:t>新しい取り組みを始めるときにはOSPOがある方がよい</a:t>
            </a:r>
            <a:endParaRPr/>
          </a:p>
          <a:p>
            <a:pPr marL="914400" lvl="1" indent="-323850" algn="l" rtl="0">
              <a:spcBef>
                <a:spcPts val="0"/>
              </a:spcBef>
              <a:spcAft>
                <a:spcPts val="0"/>
              </a:spcAft>
              <a:buSzPts val="1500"/>
              <a:buChar char="•"/>
            </a:pPr>
            <a:r>
              <a:rPr lang="ja"/>
              <a:t>各部門が適切にOSS活用・コミュニティ活動ができるようになれば、多くの役割は必要なくなる</a:t>
            </a:r>
            <a:endParaRPr/>
          </a:p>
          <a:p>
            <a:pPr marL="914400" lvl="1" indent="-323850" algn="l" rtl="0">
              <a:spcBef>
                <a:spcPts val="0"/>
              </a:spcBef>
              <a:spcAft>
                <a:spcPts val="0"/>
              </a:spcAft>
              <a:buSzPts val="1500"/>
              <a:buChar char="•"/>
            </a:pPr>
            <a:r>
              <a:rPr lang="ja" u="sng">
                <a:solidFill>
                  <a:schemeClr val="hlink"/>
                </a:solidFill>
                <a:hlinkClick r:id="rId3"/>
              </a:rPr>
              <a:t>Open Source Summit Europe 2023: Workshop: Building and Managing an Open…</a:t>
            </a:r>
            <a:endParaRPr/>
          </a:p>
          <a:p>
            <a:pPr marL="1371600" lvl="2" indent="-304800" algn="l" rtl="0">
              <a:spcBef>
                <a:spcPts val="0"/>
              </a:spcBef>
              <a:spcAft>
                <a:spcPts val="0"/>
              </a:spcAft>
              <a:buSzPts val="1200"/>
              <a:buChar char="•"/>
            </a:pPr>
            <a:r>
              <a:rPr lang="ja"/>
              <a:t>動画 53分くらいに、OSPO Lifecycle の話があります。</a:t>
            </a:r>
            <a:endParaRPr/>
          </a:p>
          <a:p>
            <a:pPr marL="914400" lvl="1" indent="-323850" algn="l" rtl="0">
              <a:spcBef>
                <a:spcPts val="0"/>
              </a:spcBef>
              <a:spcAft>
                <a:spcPts val="0"/>
              </a:spcAft>
              <a:buSzPts val="1500"/>
              <a:buChar char="•"/>
            </a:pPr>
            <a:r>
              <a:rPr lang="ja"/>
              <a:t>OSS貢献が適切に行われているかを監視する機構としてのOSPOは残るのか？</a:t>
            </a:r>
            <a:endParaRPr/>
          </a:p>
          <a:p>
            <a:pPr marL="1371600" lvl="2" indent="-304800" algn="l" rtl="0">
              <a:spcBef>
                <a:spcPts val="0"/>
              </a:spcBef>
              <a:spcAft>
                <a:spcPts val="0"/>
              </a:spcAft>
              <a:buSzPts val="1200"/>
              <a:buChar char="•"/>
            </a:pPr>
            <a:r>
              <a:rPr lang="ja"/>
              <a:t>会社内の様々な評価指標を総合的に見ないと適切かどうかを判断できないのでは</a:t>
            </a:r>
            <a:endParaRPr/>
          </a:p>
          <a:p>
            <a:pPr marL="1371600" lvl="2" indent="-304800" algn="l" rtl="0">
              <a:spcBef>
                <a:spcPts val="0"/>
              </a:spcBef>
              <a:spcAft>
                <a:spcPts val="0"/>
              </a:spcAft>
              <a:buSzPts val="1200"/>
              <a:buChar char="•"/>
            </a:pPr>
            <a:r>
              <a:rPr lang="ja"/>
              <a:t>OSS活動（貢献を含む）の会社に取っての価値の捉えるのは難しい（CHAOSSの活動）</a:t>
            </a:r>
            <a:endParaRPr/>
          </a:p>
          <a:p>
            <a:pPr marL="914400" lvl="1" indent="-323850" algn="l" rtl="0">
              <a:spcBef>
                <a:spcPts val="0"/>
              </a:spcBef>
              <a:spcAft>
                <a:spcPts val="0"/>
              </a:spcAft>
              <a:buSzPts val="1500"/>
              <a:buChar char="•"/>
            </a:pPr>
            <a:r>
              <a:rPr lang="ja"/>
              <a:t>PMOも存続している。OSPOも同じでは？</a:t>
            </a:r>
            <a:endParaRPr/>
          </a:p>
          <a:p>
            <a:pPr marL="914400" lvl="1" indent="-323850" algn="l" rtl="0">
              <a:spcBef>
                <a:spcPts val="0"/>
              </a:spcBef>
              <a:spcAft>
                <a:spcPts val="0"/>
              </a:spcAft>
              <a:buSzPts val="1500"/>
              <a:buChar char="•"/>
            </a:pPr>
            <a:r>
              <a:rPr lang="ja"/>
              <a:t>教育の機能は残り続けるのでは</a:t>
            </a:r>
            <a:endParaRPr/>
          </a:p>
          <a:p>
            <a:pPr marL="914400" lvl="1" indent="-323850" algn="l" rtl="0">
              <a:spcBef>
                <a:spcPts val="0"/>
              </a:spcBef>
              <a:spcAft>
                <a:spcPts val="0"/>
              </a:spcAft>
              <a:buSzPts val="1500"/>
              <a:buChar char="•"/>
            </a:pPr>
            <a:r>
              <a:rPr lang="ja"/>
              <a:t>対象となる業態、事業によって違いがあるのでは</a:t>
            </a:r>
            <a:endParaRPr/>
          </a:p>
          <a:p>
            <a:pPr marL="1371600" lvl="2" indent="-304800" algn="l" rtl="0">
              <a:spcBef>
                <a:spcPts val="0"/>
              </a:spcBef>
              <a:spcAft>
                <a:spcPts val="0"/>
              </a:spcAft>
              <a:buSzPts val="1200"/>
              <a:buChar char="•"/>
            </a:pPr>
            <a:r>
              <a:rPr lang="ja"/>
              <a:t>OSSが会社の全ての部門で必要な会社の場合は、OSPOは消滅＝既存組織に分散していて行く</a:t>
            </a:r>
            <a:endParaRPr/>
          </a:p>
          <a:p>
            <a:pPr marL="914400" lvl="1" indent="-323850" algn="l" rtl="0">
              <a:spcBef>
                <a:spcPts val="0"/>
              </a:spcBef>
              <a:spcAft>
                <a:spcPts val="0"/>
              </a:spcAft>
              <a:buSzPts val="1500"/>
              <a:buChar char="•"/>
            </a:pPr>
            <a:r>
              <a:rPr lang="ja"/>
              <a:t>OSPOは無くならなくてはいけないのでは？</a:t>
            </a:r>
            <a:endParaRPr/>
          </a:p>
          <a:p>
            <a:pPr marL="1371600" lvl="2" indent="-304800" algn="l" rtl="0">
              <a:spcBef>
                <a:spcPts val="0"/>
              </a:spcBef>
              <a:spcAft>
                <a:spcPts val="0"/>
              </a:spcAft>
              <a:buSzPts val="1200"/>
              <a:buChar char="•"/>
            </a:pPr>
            <a:r>
              <a:rPr lang="ja"/>
              <a:t>OSSが当たり前になって（パッケージになって）、誰もが普通に扱えなくてはいけなくなるのでは</a:t>
            </a:r>
            <a:endParaRPr/>
          </a:p>
          <a:p>
            <a:pPr marL="1371600" lvl="2" indent="-304800" algn="l" rtl="0">
              <a:spcBef>
                <a:spcPts val="0"/>
              </a:spcBef>
              <a:spcAft>
                <a:spcPts val="0"/>
              </a:spcAft>
              <a:buSzPts val="1200"/>
              <a:buChar char="•"/>
            </a:pPr>
            <a:r>
              <a:rPr lang="ja"/>
              <a:t>OSPOはPMOの一部となるべきか</a:t>
            </a:r>
            <a:endParaRPr/>
          </a:p>
          <a:p>
            <a:pPr marL="914400" lvl="1" indent="-349250" algn="l" rtl="0">
              <a:spcBef>
                <a:spcPts val="0"/>
              </a:spcBef>
              <a:spcAft>
                <a:spcPts val="0"/>
              </a:spcAft>
              <a:buSzPts val="1900"/>
              <a:buChar char="•"/>
            </a:pPr>
            <a:r>
              <a:rPr lang="ja" u="sng">
                <a:solidFill>
                  <a:schemeClr val="hlink"/>
                </a:solidFill>
                <a:latin typeface="Arial"/>
                <a:ea typeface="Arial"/>
                <a:cs typeface="Arial"/>
                <a:sym typeface="Arial"/>
                <a:hlinkClick r:id="rId4"/>
              </a:rPr>
              <a:t>オープンソースのCEO: Red HatのJim Whitehurstインタビュー | TechCrunch Japan Archive</a:t>
            </a:r>
            <a:endParaRPr u="sng">
              <a:solidFill>
                <a:schemeClr val="hlink"/>
              </a:solidFill>
              <a:latin typeface="Arial"/>
              <a:ea typeface="Arial"/>
              <a:cs typeface="Arial"/>
              <a:sym typeface="Arial"/>
              <a:hlinkClick r:id="rId4"/>
            </a:endParaRPr>
          </a:p>
          <a:p>
            <a:pPr marL="1371600" lvl="2" indent="-304800" algn="l" rtl="0">
              <a:spcBef>
                <a:spcPts val="0"/>
              </a:spcBef>
              <a:spcAft>
                <a:spcPts val="0"/>
              </a:spcAft>
              <a:buSzPts val="1200"/>
              <a:buChar char="•"/>
            </a:pPr>
            <a:r>
              <a:rPr lang="ja" sz="1100">
                <a:latin typeface="Arial"/>
                <a:ea typeface="Arial"/>
                <a:cs typeface="Arial"/>
                <a:sym typeface="Arial"/>
              </a:rPr>
              <a:t>“結局のところ、最終的にはすべての企業がオープンソースに向かう”、とWhitehurstはきっぱり言い切った。</a:t>
            </a:r>
            <a:endParaRPr sz="1100">
              <a:latin typeface="Arial"/>
              <a:ea typeface="Arial"/>
              <a:cs typeface="Arial"/>
              <a:sym typeface="Arial"/>
            </a:endParaRPr>
          </a:p>
          <a:p>
            <a:pPr marL="914400" lvl="1" indent="-323850" algn="l" rtl="0">
              <a:spcBef>
                <a:spcPts val="0"/>
              </a:spcBef>
              <a:spcAft>
                <a:spcPts val="0"/>
              </a:spcAft>
              <a:buSzPts val="1500"/>
              <a:buFont typeface="Arial"/>
              <a:buChar char="•"/>
            </a:pPr>
            <a:r>
              <a:rPr lang="ja">
                <a:latin typeface="Arial"/>
                <a:ea typeface="Arial"/>
                <a:cs typeface="Arial"/>
                <a:sym typeface="Arial"/>
              </a:rPr>
              <a:t>OSSの文化、形も変化してゆく：これについてゆくための専門組織が必要なのでは</a:t>
            </a:r>
            <a:endParaRPr>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657"/>
        <p:cNvGrpSpPr/>
        <p:nvPr/>
      </p:nvGrpSpPr>
      <p:grpSpPr>
        <a:xfrm>
          <a:off x="0" y="0"/>
          <a:ext cx="0" cy="0"/>
          <a:chOff x="0" y="0"/>
          <a:chExt cx="0" cy="0"/>
        </a:xfrm>
      </p:grpSpPr>
      <p:sp>
        <p:nvSpPr>
          <p:cNvPr id="658" name="Google Shape;658;p58"/>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endParaRPr/>
          </a:p>
        </p:txBody>
      </p:sp>
      <p:sp>
        <p:nvSpPr>
          <p:cNvPr id="659" name="Google Shape;659;p58"/>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457200" lvl="0" indent="-342900" algn="l" rtl="0">
              <a:spcBef>
                <a:spcPts val="0"/>
              </a:spcBef>
              <a:spcAft>
                <a:spcPts val="0"/>
              </a:spcAft>
              <a:buSzPts val="1800"/>
              <a:buChar char="•"/>
            </a:pPr>
            <a:r>
              <a:rPr lang="ja"/>
              <a:t>OSS貢献を義務として監視が必要では</a:t>
            </a:r>
            <a:endParaRPr/>
          </a:p>
          <a:p>
            <a:pPr marL="914400" lvl="1" indent="-323850" algn="l" rtl="0">
              <a:spcBef>
                <a:spcPts val="0"/>
              </a:spcBef>
              <a:spcAft>
                <a:spcPts val="0"/>
              </a:spcAft>
              <a:buSzPts val="1500"/>
              <a:buChar char="•"/>
            </a:pPr>
            <a:r>
              <a:rPr lang="ja"/>
              <a:t>これだけOSSに依存しているのだから</a:t>
            </a:r>
            <a:endParaRPr/>
          </a:p>
          <a:p>
            <a:pPr marL="914400" lvl="1" indent="-323850" algn="l" rtl="0">
              <a:spcBef>
                <a:spcPts val="0"/>
              </a:spcBef>
              <a:spcAft>
                <a:spcPts val="0"/>
              </a:spcAft>
              <a:buSzPts val="1500"/>
              <a:buChar char="•"/>
            </a:pPr>
            <a:r>
              <a:rPr lang="ja"/>
              <a:t>「Free Riderはけしからん」を強調しすぎると良くない</a:t>
            </a:r>
            <a:endParaRPr/>
          </a:p>
          <a:p>
            <a:pPr marL="1371600" lvl="2" indent="-304800" algn="l" rtl="0">
              <a:spcBef>
                <a:spcPts val="0"/>
              </a:spcBef>
              <a:spcAft>
                <a:spcPts val="0"/>
              </a:spcAft>
              <a:buSzPts val="1200"/>
              <a:buChar char="•"/>
            </a:pPr>
            <a:r>
              <a:rPr lang="ja"/>
              <a:t>「Free Riderになるとしっぺ返しを喰らうよ」の方が受け入れられやすい</a:t>
            </a:r>
            <a:endParaRPr/>
          </a:p>
          <a:p>
            <a:pPr marL="914400" lvl="1" indent="-323850" algn="l" rtl="0">
              <a:spcBef>
                <a:spcPts val="0"/>
              </a:spcBef>
              <a:spcAft>
                <a:spcPts val="0"/>
              </a:spcAft>
              <a:buSzPts val="1500"/>
              <a:buChar char="•"/>
            </a:pPr>
            <a:r>
              <a:rPr lang="ja"/>
              <a:t>技術者の育成の問題もある</a:t>
            </a:r>
            <a:endParaRPr/>
          </a:p>
          <a:p>
            <a:pPr marL="914400" lvl="1" indent="-323850" algn="l" rtl="0">
              <a:spcBef>
                <a:spcPts val="0"/>
              </a:spcBef>
              <a:spcAft>
                <a:spcPts val="0"/>
              </a:spcAft>
              <a:buSzPts val="1500"/>
              <a:buChar char="•"/>
            </a:pPr>
            <a:r>
              <a:rPr lang="ja" u="sng">
                <a:solidFill>
                  <a:schemeClr val="hlink"/>
                </a:solidFill>
                <a:hlinkClick r:id="rId3"/>
              </a:rPr>
              <a:t>https://gigazine.net/news/20241110-open-source-maker-taker-problem/</a:t>
            </a:r>
            <a:endParaRPr/>
          </a:p>
          <a:p>
            <a:pPr marL="914400" lvl="1" indent="-323850" algn="l" rtl="0">
              <a:spcBef>
                <a:spcPts val="0"/>
              </a:spcBef>
              <a:spcAft>
                <a:spcPts val="0"/>
              </a:spcAft>
              <a:buSzPts val="1500"/>
              <a:buChar char="•"/>
            </a:pPr>
            <a:r>
              <a:rPr lang="ja" sz="1100">
                <a:latin typeface="Arial"/>
                <a:ea typeface="Arial"/>
                <a:cs typeface="Arial"/>
                <a:sym typeface="Arial"/>
              </a:rPr>
              <a:t>"ポスト・オープンは、彼らの仕事に対価を支払う方法を提供します。 我々は、Post Openがオープンソースの問題に対処し、これらの問題に対処し、オープンソースが今日失敗している目標を達成する、より健全なコミュニティを構築できると信じている。"</a:t>
            </a:r>
            <a:endParaRPr sz="1100">
              <a:latin typeface="Arial"/>
              <a:ea typeface="Arial"/>
              <a:cs typeface="Arial"/>
              <a:sym typeface="Arial"/>
            </a:endParaRPr>
          </a:p>
          <a:p>
            <a:pPr marL="1371600" lvl="2" indent="-304800" algn="l" rtl="0">
              <a:spcBef>
                <a:spcPts val="0"/>
              </a:spcBef>
              <a:spcAft>
                <a:spcPts val="0"/>
              </a:spcAft>
              <a:buSzPts val="1200"/>
              <a:buChar char="•"/>
            </a:pPr>
            <a:r>
              <a:rPr lang="ja" sz="1100" u="sng">
                <a:solidFill>
                  <a:schemeClr val="hlink"/>
                </a:solidFill>
                <a:latin typeface="Arial"/>
                <a:ea typeface="Arial"/>
                <a:cs typeface="Arial"/>
                <a:sym typeface="Arial"/>
                <a:hlinkClick r:id="rId4"/>
              </a:rPr>
              <a:t>What Comes After Open Source? Bruce Perens Has Some Ideas - The New Stack</a:t>
            </a:r>
            <a:endParaRPr/>
          </a:p>
          <a:p>
            <a:pPr marL="914400" lvl="1" indent="-323850" algn="l" rtl="0">
              <a:spcBef>
                <a:spcPts val="0"/>
              </a:spcBef>
              <a:spcAft>
                <a:spcPts val="0"/>
              </a:spcAft>
              <a:buSzPts val="1500"/>
              <a:buChar char="•"/>
            </a:pPr>
            <a:r>
              <a:rPr lang="ja"/>
              <a:t>ESGのやり方と同じように、OSS貢献の度合いが世の中に見えるようにして、企業の評価になるようにするといい</a:t>
            </a:r>
            <a:endParaRPr/>
          </a:p>
          <a:p>
            <a:pPr marL="1371600" lvl="2" indent="-304800" algn="l" rtl="0">
              <a:spcBef>
                <a:spcPts val="0"/>
              </a:spcBef>
              <a:spcAft>
                <a:spcPts val="0"/>
              </a:spcAft>
              <a:buSzPts val="1200"/>
              <a:buChar char="•"/>
            </a:pPr>
            <a:r>
              <a:rPr lang="ja"/>
              <a:t>CO2削減のように、企業が集まって貢献分担を決める、というアイディアは？</a:t>
            </a:r>
            <a:endParaRPr/>
          </a:p>
          <a:p>
            <a:pPr marL="1828800" lvl="3" indent="-298450" algn="l" rtl="0">
              <a:spcBef>
                <a:spcPts val="0"/>
              </a:spcBef>
              <a:spcAft>
                <a:spcPts val="0"/>
              </a:spcAft>
              <a:buSzPts val="1100"/>
              <a:buChar char="•"/>
            </a:pPr>
            <a:r>
              <a:rPr lang="ja"/>
              <a:t>貢献分を企業間で売買するとか。</a:t>
            </a:r>
            <a:endParaRPr/>
          </a:p>
          <a:p>
            <a:pPr marL="914400" lvl="1" indent="-323850" algn="l" rtl="0">
              <a:spcBef>
                <a:spcPts val="0"/>
              </a:spcBef>
              <a:spcAft>
                <a:spcPts val="0"/>
              </a:spcAft>
              <a:buSzPts val="1500"/>
              <a:buChar char="•"/>
            </a:pPr>
            <a:r>
              <a:rPr lang="ja"/>
              <a:t>社内では濃淡を付けて、貢献先を選ぶ</a:t>
            </a:r>
            <a:endParaRPr/>
          </a:p>
          <a:p>
            <a:pPr marL="914400" lvl="1" indent="-323850" algn="l" rtl="0">
              <a:spcBef>
                <a:spcPts val="0"/>
              </a:spcBef>
              <a:spcAft>
                <a:spcPts val="0"/>
              </a:spcAft>
              <a:buSzPts val="1500"/>
              <a:buChar char="•"/>
            </a:pPr>
            <a:r>
              <a:rPr lang="ja" sz="1100">
                <a:latin typeface="Arial"/>
                <a:ea typeface="Arial"/>
                <a:cs typeface="Arial"/>
                <a:sym typeface="Arial"/>
              </a:rPr>
              <a:t>OSCI</a:t>
            </a:r>
            <a:endParaRPr sz="1100">
              <a:latin typeface="Arial"/>
              <a:ea typeface="Arial"/>
              <a:cs typeface="Arial"/>
              <a:sym typeface="Arial"/>
            </a:endParaRPr>
          </a:p>
          <a:p>
            <a:pPr marL="1371600" lvl="2" indent="-304800" algn="l" rtl="0">
              <a:spcBef>
                <a:spcPts val="0"/>
              </a:spcBef>
              <a:spcAft>
                <a:spcPts val="0"/>
              </a:spcAft>
              <a:buSzPts val="1200"/>
              <a:buChar char="•"/>
            </a:pPr>
            <a:r>
              <a:rPr lang="ja" sz="1100" u="sng">
                <a:solidFill>
                  <a:schemeClr val="hlink"/>
                </a:solidFill>
                <a:latin typeface="Arial"/>
                <a:ea typeface="Arial"/>
                <a:cs typeface="Arial"/>
                <a:sym typeface="Arial"/>
                <a:hlinkClick r:id="rId5"/>
              </a:rPr>
              <a:t>https://static.sched.com/hosted_files/osseu2024/bf/GroupWideActivitiesAcrossDiverseEntities-KS_MK_202409.pdf</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663"/>
        <p:cNvGrpSpPr/>
        <p:nvPr/>
      </p:nvGrpSpPr>
      <p:grpSpPr>
        <a:xfrm>
          <a:off x="0" y="0"/>
          <a:ext cx="0" cy="0"/>
          <a:chOff x="0" y="0"/>
          <a:chExt cx="0" cy="0"/>
        </a:xfrm>
      </p:grpSpPr>
      <p:sp>
        <p:nvSpPr>
          <p:cNvPr id="664" name="Google Shape;664;p59"/>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a:t>2025/1/24</a:t>
            </a:r>
            <a:endParaRPr/>
          </a:p>
        </p:txBody>
      </p:sp>
      <p:sp>
        <p:nvSpPr>
          <p:cNvPr id="665" name="Google Shape;665;p59"/>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457200" lvl="0" indent="-342900" algn="l" rtl="0">
              <a:spcBef>
                <a:spcPts val="0"/>
              </a:spcBef>
              <a:spcAft>
                <a:spcPts val="0"/>
              </a:spcAft>
              <a:buSzPts val="1800"/>
              <a:buChar char="•"/>
            </a:pPr>
            <a:r>
              <a:rPr lang="ja"/>
              <a:t>初心に返って、良く受ける質問を集めて、回答をまとめる</a:t>
            </a:r>
            <a:endParaRPr/>
          </a:p>
          <a:p>
            <a:pPr marL="457200" lvl="0" indent="-342900" algn="l" rtl="0">
              <a:spcBef>
                <a:spcPts val="0"/>
              </a:spcBef>
              <a:spcAft>
                <a:spcPts val="0"/>
              </a:spcAft>
              <a:buSzPts val="1800"/>
              <a:buChar char="•"/>
            </a:pPr>
            <a:endParaRPr/>
          </a:p>
          <a:p>
            <a:pPr marL="457200" lvl="0" indent="-342900" algn="l" rtl="0">
              <a:spcBef>
                <a:spcPts val="0"/>
              </a:spcBef>
              <a:spcAft>
                <a:spcPts val="0"/>
              </a:spcAft>
              <a:buSzPts val="1800"/>
              <a:buChar char="•"/>
            </a:pPr>
            <a:r>
              <a:rPr lang="ja"/>
              <a:t>OSPOはだれ（社内のどこが）やるべきですか</a:t>
            </a:r>
            <a:endParaRPr/>
          </a:p>
          <a:p>
            <a:pPr marL="457200" lvl="0" indent="-342900" algn="l" rtl="0">
              <a:spcBef>
                <a:spcPts val="0"/>
              </a:spcBef>
              <a:spcAft>
                <a:spcPts val="0"/>
              </a:spcAft>
              <a:buSzPts val="1800"/>
              <a:buChar char="•"/>
            </a:pPr>
            <a:r>
              <a:rPr lang="ja"/>
              <a:t>OSPOは社内のどの部門（職能）までになりますか</a:t>
            </a:r>
            <a:endParaRPr/>
          </a:p>
          <a:p>
            <a:pPr marL="457200" lvl="0" indent="-342900" algn="l" rtl="0">
              <a:spcBef>
                <a:spcPts val="0"/>
              </a:spcBef>
              <a:spcAft>
                <a:spcPts val="0"/>
              </a:spcAft>
              <a:buSzPts val="1800"/>
              <a:buChar char="•"/>
            </a:pPr>
            <a:r>
              <a:rPr lang="ja"/>
              <a:t>セキュリティ対応はOSPOで担当するのですか</a:t>
            </a:r>
            <a:endParaRPr/>
          </a:p>
          <a:p>
            <a:pPr marL="457200" lvl="0" indent="-342900" algn="l" rtl="0">
              <a:spcBef>
                <a:spcPts val="0"/>
              </a:spcBef>
              <a:spcAft>
                <a:spcPts val="0"/>
              </a:spcAft>
              <a:buSzPts val="1800"/>
              <a:buChar char="•"/>
            </a:pPr>
            <a:r>
              <a:rPr lang="ja"/>
              <a:t>SBOMの管理をOSPOが担当ですか</a:t>
            </a:r>
            <a:endParaRPr/>
          </a:p>
          <a:p>
            <a:pPr marL="457200" lvl="0" indent="-342900" algn="l" rtl="0">
              <a:spcBef>
                <a:spcPts val="0"/>
              </a:spcBef>
              <a:spcAft>
                <a:spcPts val="0"/>
              </a:spcAft>
              <a:buSzPts val="1800"/>
              <a:buChar char="•"/>
            </a:pPr>
            <a:r>
              <a:rPr lang="ja"/>
              <a:t>OSPOは社内に対する活動ですか</a:t>
            </a:r>
            <a:endParaRPr/>
          </a:p>
          <a:p>
            <a:pPr marL="457200" lvl="0" indent="-342900" algn="l" rtl="0">
              <a:spcBef>
                <a:spcPts val="0"/>
              </a:spcBef>
              <a:spcAft>
                <a:spcPts val="0"/>
              </a:spcAft>
              <a:buSzPts val="1800"/>
              <a:buChar char="•"/>
            </a:pPr>
            <a:r>
              <a:rPr lang="ja"/>
              <a:t>OSSに関することはOSPOに任せておけばいいですか</a:t>
            </a:r>
            <a:endParaRPr/>
          </a:p>
          <a:p>
            <a:pPr marL="457200" lvl="0" indent="-342900" algn="l" rtl="0">
              <a:spcBef>
                <a:spcPts val="0"/>
              </a:spcBef>
              <a:spcAft>
                <a:spcPts val="0"/>
              </a:spcAft>
              <a:buSzPts val="1800"/>
              <a:buChar char="•"/>
            </a:pPr>
            <a:r>
              <a:rPr lang="ja"/>
              <a:t>OSSライセンスの判断はOSPOが行ってくれますか</a:t>
            </a:r>
            <a:endParaRPr/>
          </a:p>
          <a:p>
            <a:pPr marL="457200" lvl="0" indent="-342900" algn="l" rtl="0">
              <a:spcBef>
                <a:spcPts val="0"/>
              </a:spcBef>
              <a:spcAft>
                <a:spcPts val="0"/>
              </a:spcAft>
              <a:buSzPts val="1800"/>
              <a:buChar char="•"/>
            </a:pPr>
            <a:r>
              <a:rPr lang="ja"/>
              <a:t>OSPOは社内のOSSの扱い状況を把握できる必要がありますか</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669"/>
        <p:cNvGrpSpPr/>
        <p:nvPr/>
      </p:nvGrpSpPr>
      <p:grpSpPr>
        <a:xfrm>
          <a:off x="0" y="0"/>
          <a:ext cx="0" cy="0"/>
          <a:chOff x="0" y="0"/>
          <a:chExt cx="0" cy="0"/>
        </a:xfrm>
      </p:grpSpPr>
      <p:sp>
        <p:nvSpPr>
          <p:cNvPr id="670" name="Google Shape;670;p60"/>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Clr>
                <a:schemeClr val="dk1"/>
              </a:buClr>
              <a:buSzPts val="1100"/>
              <a:buFont typeface="Arial"/>
              <a:buNone/>
            </a:pPr>
            <a:r>
              <a:rPr lang="ja"/>
              <a:t>2025/1/24, 2/28　- 3/28 仮Fix - 4/25 Fix </a:t>
            </a:r>
            <a:endParaRPr/>
          </a:p>
        </p:txBody>
      </p:sp>
      <p:sp>
        <p:nvSpPr>
          <p:cNvPr id="671" name="Google Shape;671;p60"/>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457200" lvl="0" indent="-342900" algn="l" rtl="0">
              <a:spcBef>
                <a:spcPts val="0"/>
              </a:spcBef>
              <a:spcAft>
                <a:spcPts val="0"/>
              </a:spcAft>
              <a:buSzPts val="1800"/>
              <a:buChar char="•"/>
            </a:pPr>
            <a:r>
              <a:rPr lang="ja"/>
              <a:t>セキュリティ対応もOSPOが担当しなければならないでしょうか？</a:t>
            </a:r>
            <a:endParaRPr/>
          </a:p>
          <a:p>
            <a:pPr marL="914400" lvl="1" indent="-323850" algn="l" rtl="0">
              <a:spcBef>
                <a:spcPts val="0"/>
              </a:spcBef>
              <a:spcAft>
                <a:spcPts val="0"/>
              </a:spcAft>
              <a:buSzPts val="1500"/>
              <a:buChar char="•"/>
            </a:pPr>
            <a:r>
              <a:rPr lang="ja"/>
              <a:t>参考：</a:t>
            </a:r>
            <a:r>
              <a:rPr lang="ja" u="sng">
                <a:solidFill>
                  <a:schemeClr val="hlink"/>
                </a:solidFill>
                <a:hlinkClick r:id="rId3"/>
              </a:rPr>
              <a:t>2024 OSPOおよびオープンソースマネジメントの現状 - The Linux Foundation</a:t>
            </a:r>
            <a:r>
              <a:rPr lang="ja"/>
              <a:t>（24ページ）</a:t>
            </a:r>
            <a:endParaRPr/>
          </a:p>
          <a:p>
            <a:pPr marL="457200" lvl="0" indent="-342900" algn="l" rtl="0">
              <a:spcBef>
                <a:spcPts val="0"/>
              </a:spcBef>
              <a:spcAft>
                <a:spcPts val="0"/>
              </a:spcAft>
              <a:buSzPts val="1800"/>
              <a:buChar char="•"/>
            </a:pPr>
            <a:r>
              <a:rPr lang="ja"/>
              <a:t>回答：</a:t>
            </a:r>
            <a:endParaRPr/>
          </a:p>
          <a:p>
            <a:pPr marL="914400" lvl="1" indent="-323850" algn="l" rtl="0">
              <a:spcBef>
                <a:spcPts val="0"/>
              </a:spcBef>
              <a:spcAft>
                <a:spcPts val="0"/>
              </a:spcAft>
              <a:buSzPts val="1500"/>
              <a:buChar char="•"/>
            </a:pPr>
            <a:r>
              <a:rPr lang="ja"/>
              <a:t>OSPOの主なスコープはあくまでオープンソースであり、一方セキュリティ対応はオープンソース以外も含むため、OSPOがセキュリティ対応の主担当となることは難しく、通常はセキュリティ担当が対応します。</a:t>
            </a:r>
            <a:endParaRPr/>
          </a:p>
          <a:p>
            <a:pPr marL="914400" lvl="1" indent="-323850" algn="l" rtl="0">
              <a:spcBef>
                <a:spcPts val="0"/>
              </a:spcBef>
              <a:spcAft>
                <a:spcPts val="0"/>
              </a:spcAft>
              <a:buSzPts val="1500"/>
              <a:buChar char="•"/>
            </a:pPr>
            <a:r>
              <a:rPr lang="ja"/>
              <a:t>しかしながら、OSSのセキュリティ問題などに関してはOSPOがセキュリティ担当に対して情報を提供するなどの連携を行うのがベストプラクティスといえます。</a:t>
            </a:r>
            <a:endParaRPr/>
          </a:p>
          <a:p>
            <a:pPr marL="1371600" lvl="2" indent="-304800" algn="l" rtl="0">
              <a:spcBef>
                <a:spcPts val="0"/>
              </a:spcBef>
              <a:spcAft>
                <a:spcPts val="0"/>
              </a:spcAft>
              <a:buSzPts val="1200"/>
              <a:buChar char="•"/>
            </a:pPr>
            <a:r>
              <a:rPr lang="ja"/>
              <a:t>世の中の製品・システム全体の約98%以上がOSSを利用（</a:t>
            </a:r>
            <a:r>
              <a:rPr lang="ja" sz="1100" u="sng">
                <a:solidFill>
                  <a:schemeClr val="hlink"/>
                </a:solidFill>
                <a:latin typeface="Arial"/>
                <a:ea typeface="Arial"/>
                <a:cs typeface="Arial"/>
                <a:sym typeface="Arial"/>
                <a:hlinkClick r:id="rId4"/>
              </a:rPr>
              <a:t>Open Source Security &amp; Risk Analysis Report (OSSRA) | Black Duck</a:t>
            </a:r>
            <a:r>
              <a:rPr lang="ja"/>
              <a:t>）しており、セキュリティを考える上でOSSについての対応が必須となるため、OSPOが関わる、あるいは、OSPOが主導するケースが増えています</a:t>
            </a:r>
            <a:endParaRPr/>
          </a:p>
          <a:p>
            <a:pPr marL="1828800" lvl="3" indent="-298450" algn="l" rtl="0">
              <a:spcBef>
                <a:spcPts val="0"/>
              </a:spcBef>
              <a:spcAft>
                <a:spcPts val="0"/>
              </a:spcAft>
              <a:buSzPts val="1100"/>
              <a:buChar char="•"/>
            </a:pPr>
            <a:r>
              <a:rPr lang="ja"/>
              <a:t>OSSの脆弱性やSBOM、国際標準やレギュレーションなどの話題について、いくつかのOSSコミュニティでも議論が行われるなど、OSPOが関係する部分は多くあります。</a:t>
            </a:r>
            <a:endParaRPr/>
          </a:p>
          <a:p>
            <a:pPr marL="0" lvl="0" indent="0" algn="l" rtl="0">
              <a:spcBef>
                <a:spcPts val="0"/>
              </a:spcBef>
              <a:spcAft>
                <a:spcPts val="0"/>
              </a:spcAft>
              <a:buNone/>
            </a:pP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675"/>
        <p:cNvGrpSpPr/>
        <p:nvPr/>
      </p:nvGrpSpPr>
      <p:grpSpPr>
        <a:xfrm>
          <a:off x="0" y="0"/>
          <a:ext cx="0" cy="0"/>
          <a:chOff x="0" y="0"/>
          <a:chExt cx="0" cy="0"/>
        </a:xfrm>
      </p:grpSpPr>
      <p:sp>
        <p:nvSpPr>
          <p:cNvPr id="676" name="Google Shape;676;p61"/>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Clr>
                <a:schemeClr val="dk1"/>
              </a:buClr>
              <a:buSzPts val="1100"/>
              <a:buFont typeface="Arial"/>
              <a:buNone/>
            </a:pPr>
            <a:r>
              <a:rPr lang="ja"/>
              <a:t>2025/1/24, 2/28</a:t>
            </a:r>
            <a:endParaRPr/>
          </a:p>
        </p:txBody>
      </p:sp>
      <p:sp>
        <p:nvSpPr>
          <p:cNvPr id="677" name="Google Shape;677;p61"/>
          <p:cNvSpPr txBox="1">
            <a:spLocks noGrp="1"/>
          </p:cNvSpPr>
          <p:nvPr>
            <p:ph type="body" idx="1"/>
          </p:nvPr>
        </p:nvSpPr>
        <p:spPr>
          <a:xfrm>
            <a:off x="545625" y="183750"/>
            <a:ext cx="8280000" cy="5201100"/>
          </a:xfrm>
          <a:prstGeom prst="rect">
            <a:avLst/>
          </a:prstGeom>
          <a:solidFill>
            <a:schemeClr val="lt1"/>
          </a:solidFill>
        </p:spPr>
        <p:txBody>
          <a:bodyPr spcFirstLastPara="1" wrap="square" lIns="49625" tIns="24875" rIns="49625" bIns="24875" anchor="t" anchorCtr="0">
            <a:noAutofit/>
          </a:bodyPr>
          <a:lstStyle/>
          <a:p>
            <a:pPr marL="457200" lvl="0" indent="-323850" algn="l" rtl="0">
              <a:spcBef>
                <a:spcPts val="0"/>
              </a:spcBef>
              <a:spcAft>
                <a:spcPts val="0"/>
              </a:spcAft>
              <a:buSzPts val="1500"/>
              <a:buChar char="•"/>
            </a:pPr>
            <a:r>
              <a:rPr lang="ja" sz="1500"/>
              <a:t>SBOMの管理をOSPOが担当するのですか</a:t>
            </a:r>
            <a:endParaRPr sz="1500"/>
          </a:p>
          <a:p>
            <a:pPr marL="457200" lvl="0" indent="-323850" algn="l" rtl="0">
              <a:spcBef>
                <a:spcPts val="0"/>
              </a:spcBef>
              <a:spcAft>
                <a:spcPts val="0"/>
              </a:spcAft>
              <a:buSzPts val="1500"/>
              <a:buChar char="•"/>
            </a:pPr>
            <a:r>
              <a:rPr lang="ja" sz="1500"/>
              <a:t>回答</a:t>
            </a:r>
            <a:endParaRPr sz="1500"/>
          </a:p>
          <a:p>
            <a:pPr marL="914400" lvl="1" indent="-304800" algn="l" rtl="0">
              <a:spcBef>
                <a:spcPts val="0"/>
              </a:spcBef>
              <a:spcAft>
                <a:spcPts val="0"/>
              </a:spcAft>
              <a:buSzPts val="1200"/>
              <a:buChar char="•"/>
            </a:pPr>
            <a:r>
              <a:rPr lang="ja" sz="1200"/>
              <a:t>SBOMはソフトウェア全般の構成要素の管理を行うため、OSPOではなく、ソフトウェアの開発部門などがSBOMを運用するもの</a:t>
            </a:r>
            <a:endParaRPr sz="1200"/>
          </a:p>
          <a:p>
            <a:pPr marL="914400" lvl="1" indent="-304800" algn="l" rtl="0">
              <a:spcBef>
                <a:spcPts val="0"/>
              </a:spcBef>
              <a:spcAft>
                <a:spcPts val="0"/>
              </a:spcAft>
              <a:buSzPts val="1200"/>
              <a:buChar char="•"/>
            </a:pPr>
            <a:r>
              <a:rPr lang="ja" sz="1200"/>
              <a:t>SBOMがサプライチェーンの組織間や社内の部署間でやり取りするものであることから、個々の開発部門でばらばらに取り組むのではなく、統制の取れた取り組みとする必要がある</a:t>
            </a:r>
            <a:endParaRPr sz="1200"/>
          </a:p>
          <a:p>
            <a:pPr marL="914400" lvl="1" indent="-304800" algn="l" rtl="0">
              <a:spcBef>
                <a:spcPts val="0"/>
              </a:spcBef>
              <a:spcAft>
                <a:spcPts val="0"/>
              </a:spcAft>
              <a:buSzPts val="1200"/>
              <a:buChar char="•"/>
            </a:pPr>
            <a:r>
              <a:rPr lang="ja" sz="1200"/>
              <a:t>そこで、OSPOが統制役を果たすことがある</a:t>
            </a:r>
            <a:endParaRPr sz="1200"/>
          </a:p>
          <a:p>
            <a:pPr marL="1371600" lvl="2" indent="-304800" algn="l" rtl="0">
              <a:spcBef>
                <a:spcPts val="0"/>
              </a:spcBef>
              <a:spcAft>
                <a:spcPts val="0"/>
              </a:spcAft>
              <a:buSzPts val="1200"/>
              <a:buChar char="•"/>
            </a:pPr>
            <a:r>
              <a:rPr lang="ja"/>
              <a:t>この言葉が勝手な解釈を生むと困る会社（人）がいるだろう：最終的な表現は気を付けた方が良い</a:t>
            </a:r>
            <a:endParaRPr sz="1200"/>
          </a:p>
          <a:p>
            <a:pPr marL="914400" lvl="1" indent="-304800" algn="l" rtl="0">
              <a:spcBef>
                <a:spcPts val="0"/>
              </a:spcBef>
              <a:spcAft>
                <a:spcPts val="0"/>
              </a:spcAft>
              <a:buSzPts val="1200"/>
              <a:buChar char="•"/>
            </a:pPr>
            <a:r>
              <a:rPr lang="ja" sz="1200"/>
              <a:t>統制役になる道筋として、まず、相談窓口として社内の全ての話が集まるようにする方法がある</a:t>
            </a:r>
            <a:endParaRPr sz="1200"/>
          </a:p>
          <a:p>
            <a:pPr marL="914400" lvl="1" indent="-304800" algn="l" rtl="0">
              <a:spcBef>
                <a:spcPts val="0"/>
              </a:spcBef>
              <a:spcAft>
                <a:spcPts val="0"/>
              </a:spcAft>
              <a:buSzPts val="1200"/>
              <a:buChar char="•"/>
            </a:pPr>
            <a:r>
              <a:rPr lang="ja" sz="1200"/>
              <a:t>ルール作りや普及のためにOSPOの見識を求められることがある</a:t>
            </a:r>
            <a:endParaRPr sz="1200"/>
          </a:p>
          <a:p>
            <a:pPr marL="1371600" lvl="2" indent="-285750" algn="l" rtl="0">
              <a:spcBef>
                <a:spcPts val="0"/>
              </a:spcBef>
              <a:spcAft>
                <a:spcPts val="0"/>
              </a:spcAft>
              <a:buSzPts val="900"/>
              <a:buChar char="•"/>
            </a:pPr>
            <a:r>
              <a:rPr lang="ja" sz="900"/>
              <a:t>SBOMの議論はオープンソースコミュニティ等でまだまだ進行中であり、OSPOの「コミュニティと組織を橋渡しする役割」が必要となってくる</a:t>
            </a:r>
            <a:endParaRPr sz="900"/>
          </a:p>
          <a:p>
            <a:pPr marL="1371600" lvl="2" indent="-285750" algn="l" rtl="0">
              <a:spcBef>
                <a:spcPts val="0"/>
              </a:spcBef>
              <a:spcAft>
                <a:spcPts val="0"/>
              </a:spcAft>
              <a:buSzPts val="900"/>
              <a:buChar char="•"/>
            </a:pPr>
            <a:r>
              <a:rPr lang="ja" sz="900"/>
              <a:t>～の重要性が増している</a:t>
            </a:r>
            <a:endParaRPr sz="900"/>
          </a:p>
          <a:p>
            <a:pPr marL="1371600" lvl="2" indent="-285750" algn="l" rtl="0">
              <a:spcBef>
                <a:spcPts val="0"/>
              </a:spcBef>
              <a:spcAft>
                <a:spcPts val="0"/>
              </a:spcAft>
              <a:buSzPts val="900"/>
              <a:buChar char="•"/>
            </a:pPr>
            <a:endParaRPr sz="900"/>
          </a:p>
          <a:p>
            <a:pPr marL="1371600" lvl="2" indent="-285750" algn="l" rtl="0">
              <a:spcBef>
                <a:spcPts val="0"/>
              </a:spcBef>
              <a:spcAft>
                <a:spcPts val="0"/>
              </a:spcAft>
              <a:buSzPts val="900"/>
              <a:buChar char="•"/>
            </a:pPr>
            <a:r>
              <a:rPr lang="ja" sz="900"/>
              <a:t>思いつき：「SBOMに関するOSPOの関与について、ベストプラクティスや典型ケースを教えてください」みたいな書き方をすると、いまのSBOMの説明にも使えるかなと。</a:t>
            </a:r>
            <a:endParaRPr sz="900"/>
          </a:p>
          <a:p>
            <a:pPr marL="0" lvl="0" indent="0" algn="l" rtl="0">
              <a:spcBef>
                <a:spcPts val="0"/>
              </a:spcBef>
              <a:spcAft>
                <a:spcPts val="0"/>
              </a:spcAft>
              <a:buNone/>
            </a:pPr>
            <a:endParaRPr sz="1500"/>
          </a:p>
          <a:p>
            <a:pPr marL="914400" lvl="1" indent="-304800" algn="l" rtl="0">
              <a:spcBef>
                <a:spcPts val="0"/>
              </a:spcBef>
              <a:spcAft>
                <a:spcPts val="0"/>
              </a:spcAft>
              <a:buSzPts val="1200"/>
              <a:buChar char="•"/>
            </a:pPr>
            <a:r>
              <a:rPr lang="ja" sz="1200"/>
              <a:t>SBOM管理が社内に定着するまでにOSPOが推進する</a:t>
            </a:r>
            <a:endParaRPr sz="1200"/>
          </a:p>
          <a:p>
            <a:pPr marL="914400" lvl="1" indent="-304800" algn="l" rtl="0">
              <a:spcBef>
                <a:spcPts val="0"/>
              </a:spcBef>
              <a:spcAft>
                <a:spcPts val="0"/>
              </a:spcAft>
              <a:buSzPts val="1200"/>
              <a:buChar char="•"/>
            </a:pPr>
            <a:r>
              <a:rPr lang="ja" sz="1200"/>
              <a:t>Proprietary ソフトのSBOMについても、OSPOが対応することが多い</a:t>
            </a:r>
            <a:endParaRPr sz="1200"/>
          </a:p>
          <a:p>
            <a:pPr marL="914400" lvl="1" indent="-304800" algn="l" rtl="0">
              <a:spcBef>
                <a:spcPts val="0"/>
              </a:spcBef>
              <a:spcAft>
                <a:spcPts val="0"/>
              </a:spcAft>
              <a:buSzPts val="1200"/>
              <a:buChar char="•"/>
            </a:pPr>
            <a:r>
              <a:rPr lang="ja" sz="1200"/>
              <a:t>OSPOが関わらずにSBOMを準備できるとは思えない</a:t>
            </a:r>
            <a:endParaRPr sz="1200"/>
          </a:p>
          <a:p>
            <a:pPr marL="914400" lvl="1" indent="-304800" algn="l" rtl="0">
              <a:spcBef>
                <a:spcPts val="0"/>
              </a:spcBef>
              <a:spcAft>
                <a:spcPts val="0"/>
              </a:spcAft>
              <a:buSzPts val="1200"/>
              <a:buChar char="•"/>
            </a:pPr>
            <a:r>
              <a:rPr lang="ja" sz="1200"/>
              <a:t>SBOMから得られる情報が、OSS戦略の検討材料となるので、OSPOとしてもSBOMに積極的に関わるといいのではないか</a:t>
            </a:r>
            <a:endParaRPr sz="1200"/>
          </a:p>
          <a:p>
            <a:pPr marL="1371600" lvl="2" indent="-285750" algn="l" rtl="0">
              <a:spcBef>
                <a:spcPts val="0"/>
              </a:spcBef>
              <a:spcAft>
                <a:spcPts val="0"/>
              </a:spcAft>
              <a:buSzPts val="900"/>
              <a:buChar char="•"/>
            </a:pPr>
            <a:r>
              <a:rPr lang="ja" sz="900"/>
              <a:t>OSSの成熟度のステージによって、SBOMの価値・用途の見え方が異なる</a:t>
            </a:r>
            <a:endParaRPr sz="900"/>
          </a:p>
          <a:p>
            <a:pPr marL="914400" lvl="1" indent="-304800" algn="l" rtl="0">
              <a:spcBef>
                <a:spcPts val="0"/>
              </a:spcBef>
              <a:spcAft>
                <a:spcPts val="0"/>
              </a:spcAft>
              <a:buSzPts val="1200"/>
              <a:buChar char="•"/>
            </a:pPr>
            <a:r>
              <a:rPr lang="ja" sz="1200"/>
              <a:t>OSSコンプライアンスのためにSBOM（のようなもの）をOSPO（その前身の集団）がハンドリングしていた、</a:t>
            </a:r>
            <a:endParaRPr sz="1200"/>
          </a:p>
          <a:p>
            <a:pPr marL="914400" lvl="1" indent="-304800" algn="l" rtl="0">
              <a:spcBef>
                <a:spcPts val="0"/>
              </a:spcBef>
              <a:spcAft>
                <a:spcPts val="0"/>
              </a:spcAft>
              <a:buSzPts val="1200"/>
              <a:buChar char="•"/>
            </a:pPr>
            <a:r>
              <a:rPr lang="ja" sz="1200"/>
              <a:t>SBOMと言ってもレベル/ステージがあるので、それに応じて回答が異なるのでは？</a:t>
            </a:r>
            <a:endParaRPr sz="120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62"/>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a:t>3/28</a:t>
            </a:r>
            <a:endParaRPr/>
          </a:p>
        </p:txBody>
      </p:sp>
      <p:sp>
        <p:nvSpPr>
          <p:cNvPr id="683" name="Google Shape;683;p62"/>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457200" lvl="0" indent="-342900" algn="l" rtl="0">
              <a:spcBef>
                <a:spcPts val="0"/>
              </a:spcBef>
              <a:spcAft>
                <a:spcPts val="0"/>
              </a:spcAft>
              <a:buSzPts val="1800"/>
              <a:buChar char="•"/>
            </a:pPr>
            <a:r>
              <a:rPr lang="ja"/>
              <a:t>SBOMのイメージ合わせ</a:t>
            </a:r>
            <a:endParaRPr/>
          </a:p>
          <a:p>
            <a:pPr marL="914400" lvl="1" indent="-323850" algn="l" rtl="0">
              <a:spcBef>
                <a:spcPts val="0"/>
              </a:spcBef>
              <a:spcAft>
                <a:spcPts val="0"/>
              </a:spcAft>
              <a:buSzPts val="1500"/>
              <a:buChar char="•"/>
            </a:pPr>
            <a:r>
              <a:rPr lang="ja"/>
              <a:t>ソフトウェア部品表</a:t>
            </a:r>
            <a:endParaRPr/>
          </a:p>
          <a:p>
            <a:pPr marL="1371600" lvl="2" indent="-304800" algn="l" rtl="0">
              <a:spcBef>
                <a:spcPts val="0"/>
              </a:spcBef>
              <a:spcAft>
                <a:spcPts val="0"/>
              </a:spcAft>
              <a:buSzPts val="1200"/>
              <a:buChar char="•"/>
            </a:pPr>
            <a:r>
              <a:rPr lang="ja"/>
              <a:t>部品の粒度、載せるもの・載せないもの（OSSか否か）の区別、フォーマット等のブレ幅がある</a:t>
            </a:r>
            <a:endParaRPr/>
          </a:p>
          <a:p>
            <a:pPr marL="914400" lvl="1" indent="-323850" algn="l" rtl="0">
              <a:spcBef>
                <a:spcPts val="0"/>
              </a:spcBef>
              <a:spcAft>
                <a:spcPts val="0"/>
              </a:spcAft>
              <a:buSzPts val="1500"/>
              <a:buChar char="•"/>
            </a:pPr>
            <a:r>
              <a:rPr lang="ja"/>
              <a:t>機械判読可能になったもの</a:t>
            </a:r>
            <a:endParaRPr/>
          </a:p>
          <a:p>
            <a:pPr marL="1371600" lvl="2" indent="-304800" algn="l" rtl="0">
              <a:spcBef>
                <a:spcPts val="0"/>
              </a:spcBef>
              <a:spcAft>
                <a:spcPts val="0"/>
              </a:spcAft>
              <a:buSzPts val="1200"/>
              <a:buChar char="•"/>
            </a:pPr>
            <a:r>
              <a:rPr lang="ja"/>
              <a:t>フォーマット、IDの規則、等のブレ幅がある</a:t>
            </a:r>
            <a:endParaRPr/>
          </a:p>
          <a:p>
            <a:pPr marL="1371600" lvl="2" indent="-304800" algn="l" rtl="0">
              <a:spcBef>
                <a:spcPts val="0"/>
              </a:spcBef>
              <a:spcAft>
                <a:spcPts val="0"/>
              </a:spcAft>
              <a:buSzPts val="1200"/>
              <a:buChar char="•"/>
            </a:pPr>
            <a:r>
              <a:rPr lang="ja"/>
              <a:t>機械判読にこだわらないSBOMと捉えている人もいるのでは？</a:t>
            </a:r>
            <a:endParaRPr/>
          </a:p>
          <a:p>
            <a:pPr marL="1828800" lvl="3" indent="-298450" algn="l" rtl="0">
              <a:spcBef>
                <a:spcPts val="0"/>
              </a:spcBef>
              <a:spcAft>
                <a:spcPts val="0"/>
              </a:spcAft>
              <a:buSzPts val="1100"/>
              <a:buChar char="•"/>
            </a:pPr>
            <a:r>
              <a:rPr lang="ja"/>
              <a:t>例えば、</a:t>
            </a:r>
            <a:endParaRPr/>
          </a:p>
          <a:p>
            <a:pPr marL="1371600" lvl="2" indent="-304800" algn="l" rtl="0">
              <a:spcBef>
                <a:spcPts val="0"/>
              </a:spcBef>
              <a:spcAft>
                <a:spcPts val="0"/>
              </a:spcAft>
              <a:buSzPts val="1200"/>
              <a:buChar char="•"/>
            </a:pPr>
            <a:r>
              <a:rPr lang="ja"/>
              <a:t>両方の立場で議論してみると面白そう</a:t>
            </a:r>
            <a:endParaRPr/>
          </a:p>
          <a:p>
            <a:pPr marL="1371600" lvl="2" indent="-304800" algn="l" rtl="0">
              <a:spcBef>
                <a:spcPts val="0"/>
              </a:spcBef>
              <a:spcAft>
                <a:spcPts val="0"/>
              </a:spcAft>
              <a:buSzPts val="1200"/>
              <a:buChar char="•"/>
            </a:pPr>
            <a:endParaRPr/>
          </a:p>
          <a:p>
            <a:pPr marL="914400" lvl="1" indent="-323850" algn="l" rtl="0">
              <a:spcBef>
                <a:spcPts val="0"/>
              </a:spcBef>
              <a:spcAft>
                <a:spcPts val="0"/>
              </a:spcAft>
              <a:buSzPts val="1500"/>
              <a:buChar char="•"/>
            </a:pPr>
            <a:r>
              <a:rPr lang="ja"/>
              <a:t>利用目的、ユースケース</a:t>
            </a:r>
            <a:endParaRPr/>
          </a:p>
          <a:p>
            <a:pPr marL="1371600" lvl="2" indent="-304800" algn="l" rtl="0">
              <a:spcBef>
                <a:spcPts val="0"/>
              </a:spcBef>
              <a:spcAft>
                <a:spcPts val="0"/>
              </a:spcAft>
              <a:buSzPts val="1200"/>
              <a:buChar char="•"/>
            </a:pPr>
            <a:r>
              <a:rPr lang="ja"/>
              <a:t>重点の置き方が会社や立場によって違うのでは？</a:t>
            </a:r>
            <a:endParaRPr/>
          </a:p>
          <a:p>
            <a:pPr marL="457200" lvl="0" indent="-342900" algn="l" rtl="0">
              <a:spcBef>
                <a:spcPts val="0"/>
              </a:spcBef>
              <a:spcAft>
                <a:spcPts val="0"/>
              </a:spcAft>
              <a:buSzPts val="1800"/>
              <a:buChar char="•"/>
            </a:pPr>
            <a:r>
              <a:rPr lang="ja"/>
              <a:t>SBOM（部品の把握）が必要と思っているのは、製品に対する責任を持つところ</a:t>
            </a:r>
            <a:endParaRPr/>
          </a:p>
          <a:p>
            <a:pPr marL="914400" lvl="1" indent="-323850" algn="l" rtl="0">
              <a:spcBef>
                <a:spcPts val="0"/>
              </a:spcBef>
              <a:spcAft>
                <a:spcPts val="0"/>
              </a:spcAft>
              <a:buSzPts val="1500"/>
              <a:buChar char="•"/>
            </a:pPr>
            <a:r>
              <a:rPr lang="ja"/>
              <a:t>OSPOは、コミュニティで形成されたデファクトのSBOM（目的、ツール、フォーマット、プロセス、など）を社内に定義し、伝達・普及させる役割</a:t>
            </a:r>
            <a:endParaRPr/>
          </a:p>
          <a:p>
            <a:pPr marL="914400" lvl="1" indent="-323850" algn="l" rtl="0">
              <a:spcBef>
                <a:spcPts val="0"/>
              </a:spcBef>
              <a:spcAft>
                <a:spcPts val="0"/>
              </a:spcAft>
              <a:buSzPts val="1500"/>
              <a:buChar char="•"/>
            </a:pPr>
            <a:r>
              <a:rPr lang="ja"/>
              <a:t>OSPOの「コミュニティと会社の橋渡し」の役割として、会社側からコミュニティへの意見発信を促進し、コミュニティと会社の双方に取ってより良いSBOMとなるように推進する役割もある</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687"/>
        <p:cNvGrpSpPr/>
        <p:nvPr/>
      </p:nvGrpSpPr>
      <p:grpSpPr>
        <a:xfrm>
          <a:off x="0" y="0"/>
          <a:ext cx="0" cy="0"/>
          <a:chOff x="0" y="0"/>
          <a:chExt cx="0" cy="0"/>
        </a:xfrm>
      </p:grpSpPr>
      <p:sp>
        <p:nvSpPr>
          <p:cNvPr id="688" name="Google Shape;688;p63"/>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sz="1400"/>
              <a:t>5/23にコメント欄に記載＆発言をさせてただいた「SBOM管理プロセス」を絵に整理してみました</a:t>
            </a:r>
            <a:endParaRPr sz="1400"/>
          </a:p>
          <a:p>
            <a:pPr marL="0" lvl="0" indent="0" algn="l" rtl="0">
              <a:spcBef>
                <a:spcPts val="0"/>
              </a:spcBef>
              <a:spcAft>
                <a:spcPts val="0"/>
              </a:spcAft>
              <a:buNone/>
            </a:pPr>
            <a:r>
              <a:rPr lang="ja" sz="1400"/>
              <a:t>アドバイスやコメントを頂けますと幸いです</a:t>
            </a:r>
            <a:endParaRPr sz="1400"/>
          </a:p>
        </p:txBody>
      </p:sp>
      <p:sp>
        <p:nvSpPr>
          <p:cNvPr id="689" name="Google Shape;689;p63"/>
          <p:cNvSpPr/>
          <p:nvPr/>
        </p:nvSpPr>
        <p:spPr>
          <a:xfrm>
            <a:off x="1132238" y="2468650"/>
            <a:ext cx="1343700" cy="594300"/>
          </a:xfrm>
          <a:prstGeom prst="homePlate">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ja"/>
              <a:t>調達部門</a:t>
            </a:r>
            <a:endParaRPr/>
          </a:p>
        </p:txBody>
      </p:sp>
      <p:sp>
        <p:nvSpPr>
          <p:cNvPr id="690" name="Google Shape;690;p63"/>
          <p:cNvSpPr/>
          <p:nvPr/>
        </p:nvSpPr>
        <p:spPr>
          <a:xfrm>
            <a:off x="203400" y="1722425"/>
            <a:ext cx="712500" cy="594300"/>
          </a:xfrm>
          <a:prstGeom prst="foldedCorner">
            <a:avLst>
              <a:gd name="adj" fmla="val 30197"/>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ja" sz="1000"/>
              <a:t>発注部品</a:t>
            </a:r>
            <a:endParaRPr sz="1000"/>
          </a:p>
          <a:p>
            <a:pPr marL="0" lvl="0" indent="0" algn="ctr" rtl="0">
              <a:spcBef>
                <a:spcPts val="0"/>
              </a:spcBef>
              <a:spcAft>
                <a:spcPts val="0"/>
              </a:spcAft>
              <a:buNone/>
            </a:pPr>
            <a:r>
              <a:rPr lang="ja" sz="1000"/>
              <a:t>SBOM</a:t>
            </a:r>
            <a:endParaRPr sz="1000"/>
          </a:p>
        </p:txBody>
      </p:sp>
      <p:sp>
        <p:nvSpPr>
          <p:cNvPr id="691" name="Google Shape;691;p63"/>
          <p:cNvSpPr/>
          <p:nvPr/>
        </p:nvSpPr>
        <p:spPr>
          <a:xfrm>
            <a:off x="203400" y="2468650"/>
            <a:ext cx="712500" cy="594300"/>
          </a:xfrm>
          <a:prstGeom prst="foldedCorner">
            <a:avLst>
              <a:gd name="adj" fmla="val 30197"/>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ja" sz="1000">
                <a:solidFill>
                  <a:schemeClr val="dk1"/>
                </a:solidFill>
              </a:rPr>
              <a:t>発注部品</a:t>
            </a:r>
            <a:endParaRPr sz="1000">
              <a:solidFill>
                <a:schemeClr val="dk1"/>
              </a:solidFill>
            </a:endParaRPr>
          </a:p>
          <a:p>
            <a:pPr marL="0" lvl="0" indent="0" algn="ctr" rtl="0">
              <a:spcBef>
                <a:spcPts val="0"/>
              </a:spcBef>
              <a:spcAft>
                <a:spcPts val="0"/>
              </a:spcAft>
              <a:buClr>
                <a:schemeClr val="dk1"/>
              </a:buClr>
              <a:buSzPts val="1100"/>
              <a:buFont typeface="Arial"/>
              <a:buNone/>
            </a:pPr>
            <a:r>
              <a:rPr lang="ja" sz="1000">
                <a:solidFill>
                  <a:schemeClr val="dk1"/>
                </a:solidFill>
              </a:rPr>
              <a:t>SBOM</a:t>
            </a:r>
            <a:endParaRPr/>
          </a:p>
        </p:txBody>
      </p:sp>
      <p:sp>
        <p:nvSpPr>
          <p:cNvPr id="692" name="Google Shape;692;p63"/>
          <p:cNvSpPr/>
          <p:nvPr/>
        </p:nvSpPr>
        <p:spPr>
          <a:xfrm>
            <a:off x="203400" y="3214875"/>
            <a:ext cx="712500" cy="594300"/>
          </a:xfrm>
          <a:prstGeom prst="foldedCorner">
            <a:avLst>
              <a:gd name="adj" fmla="val 30197"/>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ja"/>
              <a:t>OSS</a:t>
            </a:r>
            <a:endParaRPr/>
          </a:p>
          <a:p>
            <a:pPr marL="0" lvl="0" indent="0" algn="ctr" rtl="0">
              <a:spcBef>
                <a:spcPts val="0"/>
              </a:spcBef>
              <a:spcAft>
                <a:spcPts val="0"/>
              </a:spcAft>
              <a:buNone/>
            </a:pPr>
            <a:r>
              <a:rPr lang="ja"/>
              <a:t>SBOM</a:t>
            </a:r>
            <a:endParaRPr/>
          </a:p>
        </p:txBody>
      </p:sp>
      <p:sp>
        <p:nvSpPr>
          <p:cNvPr id="693" name="Google Shape;693;p63"/>
          <p:cNvSpPr/>
          <p:nvPr/>
        </p:nvSpPr>
        <p:spPr>
          <a:xfrm>
            <a:off x="2525224" y="2468650"/>
            <a:ext cx="1343700" cy="594300"/>
          </a:xfrm>
          <a:prstGeom prst="homePlate">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ja"/>
              <a:t>設計部門</a:t>
            </a:r>
            <a:endParaRPr/>
          </a:p>
        </p:txBody>
      </p:sp>
      <p:sp>
        <p:nvSpPr>
          <p:cNvPr id="694" name="Google Shape;694;p63"/>
          <p:cNvSpPr/>
          <p:nvPr/>
        </p:nvSpPr>
        <p:spPr>
          <a:xfrm>
            <a:off x="3918210" y="2468650"/>
            <a:ext cx="1343700" cy="594300"/>
          </a:xfrm>
          <a:prstGeom prst="homePlate">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ja"/>
              <a:t>開発部門</a:t>
            </a:r>
            <a:endParaRPr/>
          </a:p>
        </p:txBody>
      </p:sp>
      <p:sp>
        <p:nvSpPr>
          <p:cNvPr id="695" name="Google Shape;695;p63"/>
          <p:cNvSpPr/>
          <p:nvPr/>
        </p:nvSpPr>
        <p:spPr>
          <a:xfrm>
            <a:off x="6664326" y="2468650"/>
            <a:ext cx="1343700" cy="594300"/>
          </a:xfrm>
          <a:prstGeom prst="homePlate">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ja"/>
              <a:t>出荷部門</a:t>
            </a:r>
            <a:endParaRPr/>
          </a:p>
        </p:txBody>
      </p:sp>
      <p:sp>
        <p:nvSpPr>
          <p:cNvPr id="696" name="Google Shape;696;p63"/>
          <p:cNvSpPr txBox="1"/>
          <p:nvPr/>
        </p:nvSpPr>
        <p:spPr>
          <a:xfrm>
            <a:off x="-66162" y="4039850"/>
            <a:ext cx="1251600" cy="831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ja"/>
              <a:t>（上流）</a:t>
            </a:r>
            <a:endParaRPr/>
          </a:p>
          <a:p>
            <a:pPr marL="0" lvl="0" indent="0" algn="ctr" rtl="0">
              <a:spcBef>
                <a:spcPts val="0"/>
              </a:spcBef>
              <a:spcAft>
                <a:spcPts val="0"/>
              </a:spcAft>
              <a:buNone/>
            </a:pPr>
            <a:r>
              <a:rPr lang="ja"/>
              <a:t>部品メーカ</a:t>
            </a:r>
            <a:endParaRPr/>
          </a:p>
          <a:p>
            <a:pPr marL="0" lvl="0" indent="0" algn="ctr" rtl="0">
              <a:spcBef>
                <a:spcPts val="0"/>
              </a:spcBef>
              <a:spcAft>
                <a:spcPts val="0"/>
              </a:spcAft>
              <a:buNone/>
            </a:pPr>
            <a:r>
              <a:rPr lang="ja"/>
              <a:t>リポジトリ</a:t>
            </a:r>
            <a:endParaRPr/>
          </a:p>
        </p:txBody>
      </p:sp>
      <p:sp>
        <p:nvSpPr>
          <p:cNvPr id="697" name="Google Shape;697;p63"/>
          <p:cNvSpPr/>
          <p:nvPr/>
        </p:nvSpPr>
        <p:spPr>
          <a:xfrm>
            <a:off x="8173367" y="2468650"/>
            <a:ext cx="712500" cy="594300"/>
          </a:xfrm>
          <a:prstGeom prst="foldedCorner">
            <a:avLst>
              <a:gd name="adj" fmla="val 30197"/>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ja"/>
              <a:t>製品</a:t>
            </a:r>
            <a:endParaRPr/>
          </a:p>
          <a:p>
            <a:pPr marL="0" lvl="0" indent="0" algn="ctr" rtl="0">
              <a:spcBef>
                <a:spcPts val="0"/>
              </a:spcBef>
              <a:spcAft>
                <a:spcPts val="0"/>
              </a:spcAft>
              <a:buNone/>
            </a:pPr>
            <a:r>
              <a:rPr lang="ja"/>
              <a:t>SBOM</a:t>
            </a:r>
            <a:endParaRPr/>
          </a:p>
        </p:txBody>
      </p:sp>
      <p:sp>
        <p:nvSpPr>
          <p:cNvPr id="698" name="Google Shape;698;p63"/>
          <p:cNvSpPr txBox="1"/>
          <p:nvPr/>
        </p:nvSpPr>
        <p:spPr>
          <a:xfrm>
            <a:off x="7602163" y="4162675"/>
            <a:ext cx="14289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ja"/>
              <a:t>（下流）</a:t>
            </a:r>
            <a:endParaRPr/>
          </a:p>
          <a:p>
            <a:pPr marL="0" lvl="0" indent="0" algn="l" rtl="0">
              <a:spcBef>
                <a:spcPts val="0"/>
              </a:spcBef>
              <a:spcAft>
                <a:spcPts val="0"/>
              </a:spcAft>
              <a:buNone/>
            </a:pPr>
            <a:r>
              <a:rPr lang="ja"/>
              <a:t>納品先・お客様</a:t>
            </a:r>
            <a:endParaRPr/>
          </a:p>
        </p:txBody>
      </p:sp>
      <p:sp>
        <p:nvSpPr>
          <p:cNvPr id="699" name="Google Shape;699;p63"/>
          <p:cNvSpPr txBox="1"/>
          <p:nvPr/>
        </p:nvSpPr>
        <p:spPr>
          <a:xfrm>
            <a:off x="1073282" y="3151200"/>
            <a:ext cx="1235400" cy="1416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ja" sz="1000" b="1" u="sng"/>
              <a:t>発注部品のSBOM発注/受領管理</a:t>
            </a:r>
            <a:endParaRPr sz="1000" b="1" u="sng"/>
          </a:p>
          <a:p>
            <a:pPr marL="0" lvl="0" indent="0" algn="ctr" rtl="0">
              <a:spcBef>
                <a:spcPts val="0"/>
              </a:spcBef>
              <a:spcAft>
                <a:spcPts val="0"/>
              </a:spcAft>
              <a:buNone/>
            </a:pPr>
            <a:r>
              <a:rPr lang="ja" sz="1000"/>
              <a:t>（発注時に確実にSBOMを要求して受領する、VUP時などに確実にSBOMを受領する）</a:t>
            </a:r>
            <a:endParaRPr sz="1000"/>
          </a:p>
        </p:txBody>
      </p:sp>
      <p:sp>
        <p:nvSpPr>
          <p:cNvPr id="700" name="Google Shape;700;p63"/>
          <p:cNvSpPr txBox="1"/>
          <p:nvPr/>
        </p:nvSpPr>
        <p:spPr>
          <a:xfrm>
            <a:off x="2525224" y="3151200"/>
            <a:ext cx="1235400" cy="1108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ja" sz="1000" b="1" u="sng"/>
              <a:t>発注部品のSBOM記載内容管理</a:t>
            </a:r>
            <a:endParaRPr sz="1000" b="1" u="sng"/>
          </a:p>
          <a:p>
            <a:pPr marL="0" lvl="0" indent="0" algn="ctr" rtl="0">
              <a:spcBef>
                <a:spcPts val="0"/>
              </a:spcBef>
              <a:spcAft>
                <a:spcPts val="0"/>
              </a:spcAft>
              <a:buNone/>
            </a:pPr>
            <a:r>
              <a:rPr lang="ja" sz="1000"/>
              <a:t>（部品の脆弱性管理/対処・顕在化時に部品メーカへ連絡、など）</a:t>
            </a:r>
            <a:endParaRPr sz="1000"/>
          </a:p>
        </p:txBody>
      </p:sp>
      <p:sp>
        <p:nvSpPr>
          <p:cNvPr id="701" name="Google Shape;701;p63"/>
          <p:cNvSpPr txBox="1"/>
          <p:nvPr/>
        </p:nvSpPr>
        <p:spPr>
          <a:xfrm>
            <a:off x="3868804" y="3151200"/>
            <a:ext cx="1235400" cy="1416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ja" sz="1000" b="1" u="sng"/>
              <a:t>製品SBOMの作成管理</a:t>
            </a:r>
            <a:endParaRPr sz="1000" b="1" u="sng"/>
          </a:p>
          <a:p>
            <a:pPr marL="0" lvl="0" indent="0" algn="l" rtl="0">
              <a:spcBef>
                <a:spcPts val="0"/>
              </a:spcBef>
              <a:spcAft>
                <a:spcPts val="0"/>
              </a:spcAft>
              <a:buNone/>
            </a:pPr>
            <a:r>
              <a:rPr lang="ja" sz="1000"/>
              <a:t>（SBOM作成に責任を持つ、開発時のOSSバージョンをFIXして、納品する製品のSBOMを作成、など）</a:t>
            </a:r>
            <a:endParaRPr sz="1000"/>
          </a:p>
        </p:txBody>
      </p:sp>
      <p:sp>
        <p:nvSpPr>
          <p:cNvPr id="702" name="Google Shape;702;p63"/>
          <p:cNvSpPr txBox="1"/>
          <p:nvPr/>
        </p:nvSpPr>
        <p:spPr>
          <a:xfrm>
            <a:off x="6664326" y="3151200"/>
            <a:ext cx="1235400" cy="1416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ja" sz="1000" b="1" u="sng"/>
              <a:t>製品のSBOM管理</a:t>
            </a:r>
            <a:endParaRPr sz="1000" b="1" u="sng"/>
          </a:p>
          <a:p>
            <a:pPr marL="0" lvl="0" indent="0" algn="l" rtl="0">
              <a:spcBef>
                <a:spcPts val="0"/>
              </a:spcBef>
              <a:spcAft>
                <a:spcPts val="0"/>
              </a:spcAft>
              <a:buNone/>
            </a:pPr>
            <a:r>
              <a:rPr lang="ja" sz="1000"/>
              <a:t>（製品SBMの納品管理、納品した製品SBOMのバージョン管理、製品VUP時にSBOMを確実に納品する、など）</a:t>
            </a:r>
            <a:endParaRPr sz="1000"/>
          </a:p>
        </p:txBody>
      </p:sp>
      <p:sp>
        <p:nvSpPr>
          <p:cNvPr id="703" name="Google Shape;703;p63"/>
          <p:cNvSpPr/>
          <p:nvPr/>
        </p:nvSpPr>
        <p:spPr>
          <a:xfrm>
            <a:off x="5311195" y="2468650"/>
            <a:ext cx="1343700" cy="594300"/>
          </a:xfrm>
          <a:prstGeom prst="homePlate">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ja"/>
              <a:t>品質管理</a:t>
            </a:r>
            <a:endParaRPr/>
          </a:p>
          <a:p>
            <a:pPr marL="0" lvl="0" indent="0" algn="ctr" rtl="0">
              <a:spcBef>
                <a:spcPts val="0"/>
              </a:spcBef>
              <a:spcAft>
                <a:spcPts val="0"/>
              </a:spcAft>
              <a:buNone/>
            </a:pPr>
            <a:r>
              <a:rPr lang="ja"/>
              <a:t>部門</a:t>
            </a:r>
            <a:endParaRPr/>
          </a:p>
        </p:txBody>
      </p:sp>
      <p:sp>
        <p:nvSpPr>
          <p:cNvPr id="704" name="Google Shape;704;p63"/>
          <p:cNvSpPr/>
          <p:nvPr/>
        </p:nvSpPr>
        <p:spPr>
          <a:xfrm>
            <a:off x="1215125" y="1025050"/>
            <a:ext cx="6792900" cy="331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ja"/>
              <a:t>OSPO</a:t>
            </a:r>
            <a:endParaRPr/>
          </a:p>
        </p:txBody>
      </p:sp>
      <p:sp>
        <p:nvSpPr>
          <p:cNvPr id="705" name="Google Shape;705;p63"/>
          <p:cNvSpPr txBox="1"/>
          <p:nvPr/>
        </p:nvSpPr>
        <p:spPr>
          <a:xfrm>
            <a:off x="1867450" y="1280625"/>
            <a:ext cx="5734800" cy="800400"/>
          </a:xfrm>
          <a:prstGeom prst="rect">
            <a:avLst/>
          </a:prstGeom>
          <a:noFill/>
          <a:ln>
            <a:noFill/>
          </a:ln>
        </p:spPr>
        <p:txBody>
          <a:bodyPr spcFirstLastPara="1" wrap="square" lIns="91425" tIns="91425" rIns="91425" bIns="91425" anchor="t" anchorCtr="0">
            <a:spAutoFit/>
          </a:bodyPr>
          <a:lstStyle/>
          <a:p>
            <a:pPr marL="457200" lvl="0" indent="-292100" algn="l" rtl="0">
              <a:spcBef>
                <a:spcPts val="0"/>
              </a:spcBef>
              <a:spcAft>
                <a:spcPts val="0"/>
              </a:spcAft>
              <a:buSzPts val="1000"/>
              <a:buChar char="●"/>
            </a:pPr>
            <a:r>
              <a:rPr lang="ja" sz="1000" b="1"/>
              <a:t>部品調達から製品出荷までの「SBOM管理プロセス」のルール化・ガイドライン等の制定</a:t>
            </a:r>
            <a:endParaRPr sz="1000" b="1"/>
          </a:p>
          <a:p>
            <a:pPr marL="457200" lvl="0" indent="-292100" algn="l" rtl="0">
              <a:spcBef>
                <a:spcPts val="0"/>
              </a:spcBef>
              <a:spcAft>
                <a:spcPts val="0"/>
              </a:spcAft>
              <a:buSzPts val="1000"/>
              <a:buChar char="●"/>
            </a:pPr>
            <a:r>
              <a:rPr lang="ja" sz="1000" b="1"/>
              <a:t>「SBOM管理プロセス」の統制、異常時の対処・改善</a:t>
            </a:r>
            <a:endParaRPr sz="1000" b="1"/>
          </a:p>
          <a:p>
            <a:pPr marL="457200" lvl="0" indent="-292100" algn="l" rtl="0">
              <a:spcBef>
                <a:spcPts val="0"/>
              </a:spcBef>
              <a:spcAft>
                <a:spcPts val="0"/>
              </a:spcAft>
              <a:buSzPts val="1000"/>
              <a:buChar char="●"/>
            </a:pPr>
            <a:r>
              <a:rPr lang="ja" sz="1000" b="1"/>
              <a:t>「SBOM管理プロセス」の改良・効率化の検討</a:t>
            </a:r>
            <a:endParaRPr sz="1000" b="1"/>
          </a:p>
          <a:p>
            <a:pPr marL="457200" lvl="0" indent="-292100" algn="l" rtl="0">
              <a:spcBef>
                <a:spcPts val="0"/>
              </a:spcBef>
              <a:spcAft>
                <a:spcPts val="0"/>
              </a:spcAft>
              <a:buSzPts val="1000"/>
              <a:buChar char="●"/>
            </a:pPr>
            <a:r>
              <a:rPr lang="ja" sz="1000" b="1">
                <a:solidFill>
                  <a:schemeClr val="dk1"/>
                </a:solidFill>
              </a:rPr>
              <a:t>「SBOM管理プロセス」に必要なツールの検討・</a:t>
            </a:r>
            <a:r>
              <a:rPr lang="ja" sz="1000" b="1"/>
              <a:t>評価・調達・導入</a:t>
            </a:r>
            <a:endParaRPr sz="1000" b="1"/>
          </a:p>
        </p:txBody>
      </p:sp>
      <p:sp>
        <p:nvSpPr>
          <p:cNvPr id="706" name="Google Shape;706;p63"/>
          <p:cNvSpPr txBox="1"/>
          <p:nvPr/>
        </p:nvSpPr>
        <p:spPr>
          <a:xfrm>
            <a:off x="5266565" y="3151200"/>
            <a:ext cx="1235400" cy="1108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ja" sz="1000" b="1" u="sng"/>
              <a:t>製品のSBOM品質管理</a:t>
            </a:r>
            <a:endParaRPr sz="1000" b="1" u="sng"/>
          </a:p>
          <a:p>
            <a:pPr marL="0" lvl="0" indent="0" algn="ctr" rtl="0">
              <a:spcBef>
                <a:spcPts val="0"/>
              </a:spcBef>
              <a:spcAft>
                <a:spcPts val="0"/>
              </a:spcAft>
              <a:buNone/>
            </a:pPr>
            <a:r>
              <a:rPr lang="ja" sz="1000" u="sng"/>
              <a:t>（添付不備・会社ガイドライン等の違反が無いかのチェック）</a:t>
            </a:r>
            <a:endParaRPr sz="1000" u="sng"/>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710"/>
        <p:cNvGrpSpPr/>
        <p:nvPr/>
      </p:nvGrpSpPr>
      <p:grpSpPr>
        <a:xfrm>
          <a:off x="0" y="0"/>
          <a:ext cx="0" cy="0"/>
          <a:chOff x="0" y="0"/>
          <a:chExt cx="0" cy="0"/>
        </a:xfrm>
      </p:grpSpPr>
      <p:sp>
        <p:nvSpPr>
          <p:cNvPr id="711" name="Google Shape;711;p64"/>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a:t>5/23のチャットメモ（発言者情報を除いたもの）</a:t>
            </a:r>
            <a:endParaRPr/>
          </a:p>
        </p:txBody>
      </p:sp>
      <p:sp>
        <p:nvSpPr>
          <p:cNvPr id="712" name="Google Shape;712;p64"/>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rmAutofit fontScale="55000" lnSpcReduction="10000"/>
          </a:bodyPr>
          <a:lstStyle/>
          <a:p>
            <a:pPr marL="457200" lvl="0" indent="-291465" algn="l" rtl="0">
              <a:lnSpc>
                <a:spcPct val="115000"/>
              </a:lnSpc>
              <a:spcBef>
                <a:spcPts val="0"/>
              </a:spcBef>
              <a:spcAft>
                <a:spcPts val="0"/>
              </a:spcAft>
              <a:buSzPct val="100000"/>
              <a:buChar char="●"/>
            </a:pPr>
            <a:r>
              <a:rPr lang="ja"/>
              <a:t>お金にならないって話がありましたが、Slackで共有してくださった情報だと、日本はお金になるところまでOSS活動しないといけないと思うんですよね</a:t>
            </a:r>
            <a:endParaRPr/>
          </a:p>
          <a:p>
            <a:pPr marL="457200" lvl="0" indent="-291465" algn="l" rtl="0">
              <a:lnSpc>
                <a:spcPct val="115000"/>
              </a:lnSpc>
              <a:spcBef>
                <a:spcPts val="0"/>
              </a:spcBef>
              <a:spcAft>
                <a:spcPts val="0"/>
              </a:spcAft>
              <a:buSzPct val="100000"/>
              <a:buChar char="●"/>
            </a:pPr>
            <a:r>
              <a:rPr lang="ja"/>
              <a:t>OSPO的活動の主体がプロフィットセンターにあると、コミュニティ活動するのは説明がより難しくなりがちな印象。</a:t>
            </a:r>
            <a:endParaRPr/>
          </a:p>
          <a:p>
            <a:pPr marL="914400" lvl="1" indent="-280987" algn="l" rtl="0">
              <a:lnSpc>
                <a:spcPct val="115000"/>
              </a:lnSpc>
              <a:spcBef>
                <a:spcPts val="0"/>
              </a:spcBef>
              <a:spcAft>
                <a:spcPts val="0"/>
              </a:spcAft>
              <a:buSzPct val="100000"/>
              <a:buChar char="○"/>
            </a:pPr>
            <a:r>
              <a:rPr lang="ja"/>
              <a:t>その要因は色々あると思いますが。</a:t>
            </a:r>
            <a:endParaRPr/>
          </a:p>
          <a:p>
            <a:pPr marL="457200" lvl="0" indent="-291465" algn="l" rtl="0">
              <a:lnSpc>
                <a:spcPct val="115000"/>
              </a:lnSpc>
              <a:spcBef>
                <a:spcPts val="0"/>
              </a:spcBef>
              <a:spcAft>
                <a:spcPts val="0"/>
              </a:spcAft>
              <a:buSzPct val="100000"/>
              <a:buChar char="●"/>
            </a:pPr>
            <a:r>
              <a:rPr lang="ja"/>
              <a:t>会社(グループ会社含む)のなかで，事業によってもステージが変わってくるので，「グループ横断活動」に落とし込むところが，いろいろと悩ましいです</a:t>
            </a:r>
            <a:endParaRPr/>
          </a:p>
          <a:p>
            <a:pPr marL="457200" lvl="0" indent="-291465" algn="l" rtl="0">
              <a:lnSpc>
                <a:spcPct val="115000"/>
              </a:lnSpc>
              <a:spcBef>
                <a:spcPts val="0"/>
              </a:spcBef>
              <a:spcAft>
                <a:spcPts val="0"/>
              </a:spcAft>
              <a:buSzPct val="100000"/>
              <a:buChar char="●"/>
            </a:pPr>
            <a:r>
              <a:rPr lang="ja"/>
              <a:t>ごくまれによくありますね。&gt; 「それ、OSPOで考えてよ」という丸投げ</a:t>
            </a:r>
            <a:endParaRPr/>
          </a:p>
          <a:p>
            <a:pPr marL="457200" lvl="0" indent="-291465" algn="l" rtl="0">
              <a:lnSpc>
                <a:spcPct val="115000"/>
              </a:lnSpc>
              <a:spcBef>
                <a:spcPts val="0"/>
              </a:spcBef>
              <a:spcAft>
                <a:spcPts val="0"/>
              </a:spcAft>
              <a:buSzPct val="100000"/>
              <a:buChar char="●"/>
            </a:pPr>
            <a:r>
              <a:rPr lang="ja"/>
              <a:t>SBOM の管理を OSPO が担当するのですか？と言う質問が「SBOMに関する責任を OSPO が持つのですか？」ということも含意しうる表現なので、回答が混乱するのかもしれないとおもいました…</a:t>
            </a:r>
            <a:endParaRPr/>
          </a:p>
          <a:p>
            <a:pPr marL="457200" lvl="0" indent="-291465" algn="l" rtl="0">
              <a:lnSpc>
                <a:spcPct val="115000"/>
              </a:lnSpc>
              <a:spcBef>
                <a:spcPts val="0"/>
              </a:spcBef>
              <a:spcAft>
                <a:spcPts val="0"/>
              </a:spcAft>
              <a:buSzPct val="100000"/>
              <a:buChar char="●"/>
            </a:pPr>
            <a:r>
              <a:rPr lang="ja"/>
              <a:t>弊社でもまさに議論されている状況で、個別対応するリソースはないので、全社のSBOMの窓口としてのOSPOを構えたいと思っています。</a:t>
            </a:r>
            <a:endParaRPr/>
          </a:p>
          <a:p>
            <a:pPr marL="914400" lvl="1" indent="-280987" algn="l" rtl="0">
              <a:lnSpc>
                <a:spcPct val="115000"/>
              </a:lnSpc>
              <a:spcBef>
                <a:spcPts val="0"/>
              </a:spcBef>
              <a:spcAft>
                <a:spcPts val="0"/>
              </a:spcAft>
              <a:buSzPct val="100000"/>
              <a:buChar char="○"/>
            </a:pPr>
            <a:r>
              <a:rPr lang="ja"/>
              <a:t>受けた問い合わせをどう捌くかはこれから検討しています。。</a:t>
            </a:r>
            <a:endParaRPr/>
          </a:p>
          <a:p>
            <a:pPr marL="457200" lvl="0" indent="-291465" algn="l" rtl="0">
              <a:lnSpc>
                <a:spcPct val="115000"/>
              </a:lnSpc>
              <a:spcBef>
                <a:spcPts val="0"/>
              </a:spcBef>
              <a:spcAft>
                <a:spcPts val="0"/>
              </a:spcAft>
              <a:buSzPct val="100000"/>
              <a:buChar char="●"/>
            </a:pPr>
            <a:r>
              <a:rPr lang="ja"/>
              <a:t>(開発)現場は，誰かがやってくれるのであれば それを期待すると思うのですよね．役割と責任の整理が必要になりますよね</a:t>
            </a:r>
            <a:endParaRPr/>
          </a:p>
          <a:p>
            <a:pPr marL="457200" lvl="0" indent="-291465" algn="l" rtl="0">
              <a:lnSpc>
                <a:spcPct val="115000"/>
              </a:lnSpc>
              <a:spcBef>
                <a:spcPts val="0"/>
              </a:spcBef>
              <a:spcAft>
                <a:spcPts val="0"/>
              </a:spcAft>
              <a:buSzPct val="100000"/>
              <a:buChar char="●"/>
            </a:pPr>
            <a:r>
              <a:rPr lang="ja"/>
              <a:t>SBOMを「作る」、「提出する」、というのは開発者の責任として、開発者サイドとしても同意ですが、CI/CDの中で自動化するためのガイドとかあると、更には実装されてると嬉しいです。（GitHubのように）</a:t>
            </a:r>
            <a:endParaRPr/>
          </a:p>
          <a:p>
            <a:pPr marL="457200" lvl="0" indent="-291465" algn="l" rtl="0">
              <a:lnSpc>
                <a:spcPct val="115000"/>
              </a:lnSpc>
              <a:spcBef>
                <a:spcPts val="0"/>
              </a:spcBef>
              <a:spcAft>
                <a:spcPts val="0"/>
              </a:spcAft>
              <a:buSzPct val="100000"/>
              <a:buChar char="●"/>
            </a:pPr>
            <a:r>
              <a:rPr lang="ja"/>
              <a:t>前職 での OSPO は SBOM に関する管理の責任は持ってなかったように思います。</a:t>
            </a:r>
            <a:br>
              <a:rPr lang="ja"/>
            </a:br>
            <a:r>
              <a:rPr lang="ja"/>
              <a:t>ただし、OSPO 関連 / SBOM 含む「ベストプラクティス」「プラットフォーム」を管理するのが役割でした</a:t>
            </a:r>
            <a:endParaRPr/>
          </a:p>
          <a:p>
            <a:pPr marL="914400" lvl="1" indent="-280987" algn="l" rtl="0">
              <a:lnSpc>
                <a:spcPct val="115000"/>
              </a:lnSpc>
              <a:spcBef>
                <a:spcPts val="0"/>
              </a:spcBef>
              <a:spcAft>
                <a:spcPts val="0"/>
              </a:spcAft>
              <a:buSzPct val="100000"/>
              <a:buChar char="○"/>
            </a:pPr>
            <a:r>
              <a:rPr lang="ja"/>
              <a:t>(SBOM自体を管理するわけではない)</a:t>
            </a:r>
            <a:endParaRPr/>
          </a:p>
          <a:p>
            <a:pPr marL="457200" lvl="0" indent="-291465" algn="l" rtl="0">
              <a:lnSpc>
                <a:spcPct val="115000"/>
              </a:lnSpc>
              <a:spcBef>
                <a:spcPts val="0"/>
              </a:spcBef>
              <a:spcAft>
                <a:spcPts val="0"/>
              </a:spcAft>
              <a:buSzPct val="100000"/>
              <a:buChar char="●"/>
            </a:pPr>
            <a:r>
              <a:rPr lang="ja"/>
              <a:t>PSIRTみたいな部門（セキュリティ部門？or 調達部門？）があれば、そちらの方がOSPOよりSBOMの主管になるべきと思っています。</a:t>
            </a:r>
            <a:endParaRPr/>
          </a:p>
          <a:p>
            <a:pPr marL="457200" lvl="0" indent="-291465" algn="l" rtl="0">
              <a:lnSpc>
                <a:spcPct val="115000"/>
              </a:lnSpc>
              <a:spcBef>
                <a:spcPts val="0"/>
              </a:spcBef>
              <a:spcAft>
                <a:spcPts val="0"/>
              </a:spcAft>
              <a:buSzPct val="100000"/>
              <a:buChar char="●"/>
            </a:pPr>
            <a:r>
              <a:rPr lang="ja"/>
              <a:t>自動化するにあたって、ある組織で使うSBOMに対する要件はnormalizeされているべきで、この意味でTelcoWGのSBOMガイドが私の業界にも参考になると考えています。これはOSPOがリードするべきと（個人的には）考えています（が、弊社OSPOチーム内でもコンセンサスにはできていません）</a:t>
            </a:r>
            <a:endParaRPr/>
          </a:p>
          <a:p>
            <a:pPr marL="457200" lvl="0" indent="-291465" algn="l" rtl="0">
              <a:lnSpc>
                <a:spcPct val="115000"/>
              </a:lnSpc>
              <a:spcBef>
                <a:spcPts val="0"/>
              </a:spcBef>
              <a:spcAft>
                <a:spcPts val="0"/>
              </a:spcAft>
              <a:buSzPct val="100000"/>
              <a:buChar char="●"/>
            </a:pPr>
            <a:r>
              <a:rPr lang="ja"/>
              <a:t>Replying to "PSIRTみたいな部門（セキュリティ部門？or 調達部門？）があれば、そちらの方がOSPOよりSBO...":</a:t>
            </a:r>
            <a:br>
              <a:rPr lang="ja"/>
            </a:br>
            <a:r>
              <a:rPr lang="ja"/>
              <a:t>	なぜか？というをもう少し詳しく教えていただけますか？</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716"/>
        <p:cNvGrpSpPr/>
        <p:nvPr/>
      </p:nvGrpSpPr>
      <p:grpSpPr>
        <a:xfrm>
          <a:off x="0" y="0"/>
          <a:ext cx="0" cy="0"/>
          <a:chOff x="0" y="0"/>
          <a:chExt cx="0" cy="0"/>
        </a:xfrm>
      </p:grpSpPr>
      <p:sp>
        <p:nvSpPr>
          <p:cNvPr id="717" name="Google Shape;717;p65"/>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a:t>7/11</a:t>
            </a:r>
            <a:endParaRPr/>
          </a:p>
        </p:txBody>
      </p:sp>
      <p:sp>
        <p:nvSpPr>
          <p:cNvPr id="718" name="Google Shape;718;p65"/>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rmAutofit fontScale="70000" lnSpcReduction="20000"/>
          </a:bodyPr>
          <a:lstStyle/>
          <a:p>
            <a:pPr marL="457200" lvl="0" indent="-308610" algn="l" rtl="0">
              <a:lnSpc>
                <a:spcPct val="115000"/>
              </a:lnSpc>
              <a:spcBef>
                <a:spcPts val="0"/>
              </a:spcBef>
              <a:spcAft>
                <a:spcPts val="0"/>
              </a:spcAft>
              <a:buSzPct val="100000"/>
              <a:buChar char="•"/>
            </a:pPr>
            <a:r>
              <a:rPr lang="ja"/>
              <a:t>OSPOが成熟すると、OSSに関わる対応について見識を発揮して検討をリードする組織となる</a:t>
            </a:r>
            <a:endParaRPr/>
          </a:p>
          <a:p>
            <a:pPr marL="0" lvl="0" indent="0" algn="l" rtl="0">
              <a:lnSpc>
                <a:spcPct val="115000"/>
              </a:lnSpc>
              <a:spcBef>
                <a:spcPts val="0"/>
              </a:spcBef>
              <a:spcAft>
                <a:spcPts val="0"/>
              </a:spcAft>
              <a:buNone/>
            </a:pPr>
            <a:endParaRPr/>
          </a:p>
          <a:p>
            <a:pPr marL="0" lvl="0" indent="0" algn="l" rtl="0">
              <a:lnSpc>
                <a:spcPct val="115000"/>
              </a:lnSpc>
              <a:spcBef>
                <a:spcPts val="0"/>
              </a:spcBef>
              <a:spcAft>
                <a:spcPts val="0"/>
              </a:spcAft>
              <a:buNone/>
            </a:pPr>
            <a:r>
              <a:rPr lang="ja"/>
              <a:t>以下、チャットメモ</a:t>
            </a:r>
            <a:endParaRPr/>
          </a:p>
          <a:p>
            <a:pPr marL="457200" lvl="0" indent="-308610" algn="l" rtl="0">
              <a:lnSpc>
                <a:spcPct val="115000"/>
              </a:lnSpc>
              <a:spcBef>
                <a:spcPts val="0"/>
              </a:spcBef>
              <a:spcAft>
                <a:spcPts val="0"/>
              </a:spcAft>
              <a:buSzPct val="100000"/>
              <a:buChar char="•"/>
            </a:pPr>
            <a:r>
              <a:rPr lang="ja"/>
              <a:t>調達部門は形式的な体裁のみ確認するとして、それを使った脆弱性管理などを別の部門（セキュリティ部門など）が行っているのであれば、それもこのフローに入れるべきと思います</a:t>
            </a:r>
            <a:endParaRPr/>
          </a:p>
          <a:p>
            <a:pPr marL="457200" lvl="0" indent="-308610" algn="l" rtl="0">
              <a:lnSpc>
                <a:spcPct val="115000"/>
              </a:lnSpc>
              <a:spcBef>
                <a:spcPts val="0"/>
              </a:spcBef>
              <a:spcAft>
                <a:spcPts val="0"/>
              </a:spcAft>
              <a:buSzPct val="100000"/>
              <a:buChar char="•"/>
            </a:pPr>
            <a:r>
              <a:rPr lang="ja"/>
              <a:t>空欄がないかどうかチェックします</a:t>
            </a:r>
            <a:endParaRPr/>
          </a:p>
          <a:p>
            <a:pPr marL="457200" lvl="0" indent="-308610" algn="l" rtl="0">
              <a:lnSpc>
                <a:spcPct val="115000"/>
              </a:lnSpc>
              <a:spcBef>
                <a:spcPts val="0"/>
              </a:spcBef>
              <a:spcAft>
                <a:spcPts val="0"/>
              </a:spcAft>
              <a:buSzPct val="100000"/>
              <a:buChar char="•"/>
            </a:pPr>
            <a:r>
              <a:rPr lang="ja"/>
              <a:t>OSPOがもつ機能については、同じ業界でもけっこう揺れがありますね。自動車業界４社の例がAGLのPublicationsのここにあります。</a:t>
            </a:r>
            <a:endParaRPr/>
          </a:p>
          <a:p>
            <a:pPr marL="914400" lvl="1" indent="-295275" algn="l" rtl="0">
              <a:lnSpc>
                <a:spcPct val="115000"/>
              </a:lnSpc>
              <a:spcBef>
                <a:spcPts val="0"/>
              </a:spcBef>
              <a:spcAft>
                <a:spcPts val="0"/>
              </a:spcAft>
              <a:buSzPct val="100000"/>
              <a:buChar char="•"/>
            </a:pPr>
            <a:r>
              <a:rPr lang="ja" u="sng">
                <a:solidFill>
                  <a:schemeClr val="hlink"/>
                </a:solidFill>
                <a:hlinkClick r:id="rId3"/>
              </a:rPr>
              <a:t>https://lf-automotivelinux.atlassian.net/wiki/spaces/OSPO/pages/397082627/Publications#OSS-%26-OSPO-Promotion-Slides-for-Automotive-Companies</a:t>
            </a:r>
            <a:endParaRPr/>
          </a:p>
          <a:p>
            <a:pPr marL="914400" lvl="1" indent="-295275" algn="l" rtl="0">
              <a:lnSpc>
                <a:spcPct val="115000"/>
              </a:lnSpc>
              <a:spcBef>
                <a:spcPts val="0"/>
              </a:spcBef>
              <a:spcAft>
                <a:spcPts val="0"/>
              </a:spcAft>
              <a:buSzPct val="100000"/>
              <a:buChar char="•"/>
            </a:pPr>
            <a:r>
              <a:rPr lang="ja"/>
              <a:t>”Showcase” というやつです。</a:t>
            </a:r>
            <a:endParaRPr/>
          </a:p>
          <a:p>
            <a:pPr marL="457200" lvl="0" indent="-308610" algn="l" rtl="0">
              <a:lnSpc>
                <a:spcPct val="115000"/>
              </a:lnSpc>
              <a:spcBef>
                <a:spcPts val="0"/>
              </a:spcBef>
              <a:spcAft>
                <a:spcPts val="0"/>
              </a:spcAft>
              <a:buSzPct val="100000"/>
              <a:buChar char="•"/>
            </a:pPr>
            <a:r>
              <a:rPr lang="ja"/>
              <a:t>上記の資料の表だとSBOM管理は Compliance が該当しますが "Leading" or "Support" でばらついているのが見えると思います。</a:t>
            </a:r>
            <a:endParaRPr/>
          </a:p>
          <a:p>
            <a:pPr marL="457200" lvl="0" indent="-308610" algn="l" rtl="0">
              <a:lnSpc>
                <a:spcPct val="115000"/>
              </a:lnSpc>
              <a:spcBef>
                <a:spcPts val="0"/>
              </a:spcBef>
              <a:spcAft>
                <a:spcPts val="0"/>
              </a:spcAft>
              <a:buSzPct val="100000"/>
              <a:buChar char="•"/>
            </a:pPr>
            <a:r>
              <a:rPr lang="ja"/>
              <a:t>調達と発注と開発が実は同一人物だったり、、、</a:t>
            </a:r>
            <a:endParaRPr/>
          </a:p>
          <a:p>
            <a:pPr marL="457200" lvl="0" indent="-308610" algn="l" rtl="0">
              <a:lnSpc>
                <a:spcPct val="115000"/>
              </a:lnSpc>
              <a:spcBef>
                <a:spcPts val="0"/>
              </a:spcBef>
              <a:spcAft>
                <a:spcPts val="0"/>
              </a:spcAft>
              <a:buSzPct val="100000"/>
              <a:buChar char="•"/>
            </a:pPr>
            <a:r>
              <a:rPr lang="ja"/>
              <a:t>「SBOMは私たちの知っているBOMとは違うんだよ」問題？</a:t>
            </a:r>
            <a:endParaRPr/>
          </a:p>
          <a:p>
            <a:pPr marL="457200" lvl="0" indent="-308610" algn="l" rtl="0">
              <a:lnSpc>
                <a:spcPct val="115000"/>
              </a:lnSpc>
              <a:spcBef>
                <a:spcPts val="0"/>
              </a:spcBef>
              <a:spcAft>
                <a:spcPts val="0"/>
              </a:spcAft>
              <a:buSzPct val="100000"/>
              <a:buChar char="•"/>
            </a:pPr>
            <a:r>
              <a:rPr lang="ja"/>
              <a:t>OSPOは、「早めに関わってある程度コントロールしておかないと変な方向に決まってしまってあとで苦労する」 ことを経験上知っているから関わっている…ていうニュアンスあったりしませんか？</a:t>
            </a:r>
            <a:endParaRPr/>
          </a:p>
          <a:p>
            <a:pPr marL="457200" lvl="0" indent="-308610" algn="l" rtl="0">
              <a:lnSpc>
                <a:spcPct val="115000"/>
              </a:lnSpc>
              <a:spcBef>
                <a:spcPts val="0"/>
              </a:spcBef>
              <a:spcAft>
                <a:spcPts val="0"/>
              </a:spcAft>
              <a:buSzPct val="100000"/>
              <a:buChar char="•"/>
            </a:pPr>
            <a:r>
              <a:rPr lang="ja"/>
              <a:t>他の部門に働きかけることは重要なのではなく、OSSの価値を高めるアイテム（SBOM)が正しく運用されるために必要であれば、Leadingを行っている、というのが正しいのでは？</a:t>
            </a:r>
            <a:endParaRPr/>
          </a:p>
          <a:p>
            <a:pPr marL="457200" lvl="0" indent="-308610" algn="l" rtl="0">
              <a:lnSpc>
                <a:spcPct val="115000"/>
              </a:lnSpc>
              <a:spcBef>
                <a:spcPts val="0"/>
              </a:spcBef>
              <a:spcAft>
                <a:spcPts val="0"/>
              </a:spcAft>
              <a:buSzPct val="100000"/>
              <a:buChar char="•"/>
            </a:pPr>
            <a:r>
              <a:rPr lang="ja"/>
              <a:t>すみません、今の議論には参加できていません。私から見ると、そういう理想的な異世界もあるのかな、という感じです</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722"/>
        <p:cNvGrpSpPr/>
        <p:nvPr/>
      </p:nvGrpSpPr>
      <p:grpSpPr>
        <a:xfrm>
          <a:off x="0" y="0"/>
          <a:ext cx="0" cy="0"/>
          <a:chOff x="0" y="0"/>
          <a:chExt cx="0" cy="0"/>
        </a:xfrm>
      </p:grpSpPr>
      <p:sp>
        <p:nvSpPr>
          <p:cNvPr id="723" name="Google Shape;723;p66"/>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a:t>8/22</a:t>
            </a:r>
            <a:endParaRPr/>
          </a:p>
        </p:txBody>
      </p:sp>
      <p:sp>
        <p:nvSpPr>
          <p:cNvPr id="724" name="Google Shape;724;p66"/>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rmAutofit lnSpcReduction="10000"/>
          </a:bodyPr>
          <a:lstStyle/>
          <a:p>
            <a:pPr marL="457200" lvl="0" indent="-342900" algn="l" rtl="0">
              <a:spcBef>
                <a:spcPts val="0"/>
              </a:spcBef>
              <a:spcAft>
                <a:spcPts val="0"/>
              </a:spcAft>
              <a:buSzPts val="1800"/>
              <a:buChar char="•"/>
            </a:pPr>
            <a:r>
              <a:rPr lang="ja"/>
              <a:t>OSPOの役割として、OSSによって生じた変化に組織が適合・適応するようにすることがあるので、セキュリティについても、対応する部門が形成され、機能するようになれば、OSPOが関わる必要性がなくなるという考え方もある</a:t>
            </a:r>
            <a:endParaRPr/>
          </a:p>
          <a:p>
            <a:pPr marL="457200" lvl="0" indent="-342900" algn="l" rtl="0">
              <a:spcBef>
                <a:spcPts val="0"/>
              </a:spcBef>
              <a:spcAft>
                <a:spcPts val="0"/>
              </a:spcAft>
              <a:buSzPts val="1800"/>
              <a:buChar char="•"/>
            </a:pPr>
            <a:r>
              <a:rPr lang="ja"/>
              <a:t>OSPOはOSS以外にも活動が広がってゆくのか？　➡　YES</a:t>
            </a:r>
            <a:endParaRPr/>
          </a:p>
          <a:p>
            <a:pPr marL="914400" lvl="1" indent="-323850" algn="l" rtl="0">
              <a:spcBef>
                <a:spcPts val="0"/>
              </a:spcBef>
              <a:spcAft>
                <a:spcPts val="0"/>
              </a:spcAft>
              <a:buSzPts val="1500"/>
              <a:buChar char="•"/>
            </a:pPr>
            <a:r>
              <a:rPr lang="ja"/>
              <a:t>外部からの変化、外部の活動とうまくかかわってゆくという意味でOpenな活動に対するProgram Office = Open Collaboration Program Office</a:t>
            </a:r>
            <a:endParaRPr/>
          </a:p>
          <a:p>
            <a:pPr marL="457200" lvl="0" indent="-342900" algn="l" rtl="0">
              <a:spcBef>
                <a:spcPts val="0"/>
              </a:spcBef>
              <a:spcAft>
                <a:spcPts val="0"/>
              </a:spcAft>
              <a:buSzPts val="1800"/>
              <a:buChar char="•"/>
            </a:pPr>
            <a:r>
              <a:rPr lang="ja"/>
              <a:t>主体的に動くのは各事業部（各部門）であって、OSPOはその支援を行う</a:t>
            </a:r>
            <a:endParaRPr/>
          </a:p>
          <a:p>
            <a:pPr marL="914400" lvl="1" indent="-323850" algn="l" rtl="0">
              <a:spcBef>
                <a:spcPts val="0"/>
              </a:spcBef>
              <a:spcAft>
                <a:spcPts val="0"/>
              </a:spcAft>
              <a:buSzPts val="1500"/>
              <a:buChar char="•"/>
            </a:pPr>
            <a:r>
              <a:rPr lang="ja"/>
              <a:t>全社の連携や、先行的な取り組みを行うのがOSPO</a:t>
            </a:r>
            <a:endParaRPr/>
          </a:p>
          <a:p>
            <a:pPr marL="914400" lvl="1" indent="-323850" algn="l" rtl="0">
              <a:spcBef>
                <a:spcPts val="0"/>
              </a:spcBef>
              <a:spcAft>
                <a:spcPts val="0"/>
              </a:spcAft>
              <a:buSzPts val="1500"/>
              <a:buChar char="•"/>
            </a:pPr>
            <a:r>
              <a:rPr lang="ja"/>
              <a:t>コアエンジニアを育てる・擁護する？というのもOSPOの役割だろう</a:t>
            </a:r>
            <a:endParaRPr/>
          </a:p>
          <a:p>
            <a:pPr marL="457200" lvl="0" indent="-342900" algn="l" rtl="0">
              <a:spcBef>
                <a:spcPts val="0"/>
              </a:spcBef>
              <a:spcAft>
                <a:spcPts val="0"/>
              </a:spcAft>
              <a:buSzPts val="1800"/>
              <a:buChar char="•"/>
            </a:pPr>
            <a:r>
              <a:rPr lang="ja"/>
              <a:t>OSPOの活動費は業績連動となることの危険性</a:t>
            </a:r>
            <a:endParaRPr/>
          </a:p>
          <a:p>
            <a:pPr marL="914400" lvl="1" indent="-323850" algn="l" rtl="0">
              <a:spcBef>
                <a:spcPts val="0"/>
              </a:spcBef>
              <a:spcAft>
                <a:spcPts val="0"/>
              </a:spcAft>
              <a:buSzPts val="1500"/>
              <a:buChar char="•"/>
            </a:pPr>
            <a:r>
              <a:rPr lang="ja"/>
              <a:t>Openな世界につながっていることがOSPO活動の基盤なので、一定の活動は維持しないといけないはず</a:t>
            </a:r>
            <a:endParaRPr/>
          </a:p>
          <a:p>
            <a:pPr marL="914400" lvl="1" indent="-323850" algn="l" rtl="0">
              <a:spcBef>
                <a:spcPts val="0"/>
              </a:spcBef>
              <a:spcAft>
                <a:spcPts val="0"/>
              </a:spcAft>
              <a:buSzPts val="1500"/>
              <a:buChar char="•"/>
            </a:pPr>
            <a:r>
              <a:rPr lang="ja"/>
              <a:t>投資と考えるべきで、業績に応じて抑えるというのは良くない。続けなければ成長が無い</a:t>
            </a:r>
            <a:endParaRPr/>
          </a:p>
          <a:p>
            <a:pPr marL="914400" lvl="1" indent="-323850" algn="l" rtl="0">
              <a:spcBef>
                <a:spcPts val="0"/>
              </a:spcBef>
              <a:spcAft>
                <a:spcPts val="0"/>
              </a:spcAft>
              <a:buSzPts val="1500"/>
              <a:buChar char="•"/>
            </a:pPr>
            <a:r>
              <a:rPr lang="ja"/>
              <a:t>OSS活動が事業に密接に関連していることの理解を得て、実績を示せると安定する</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728"/>
        <p:cNvGrpSpPr/>
        <p:nvPr/>
      </p:nvGrpSpPr>
      <p:grpSpPr>
        <a:xfrm>
          <a:off x="0" y="0"/>
          <a:ext cx="0" cy="0"/>
          <a:chOff x="0" y="0"/>
          <a:chExt cx="0" cy="0"/>
        </a:xfrm>
      </p:grpSpPr>
      <p:sp>
        <p:nvSpPr>
          <p:cNvPr id="729" name="Google Shape;729;p67"/>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a:t>8/22</a:t>
            </a:r>
            <a:endParaRPr/>
          </a:p>
        </p:txBody>
      </p:sp>
      <p:sp>
        <p:nvSpPr>
          <p:cNvPr id="730" name="Google Shape;730;p67"/>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457200" lvl="0" indent="-342900" algn="l" rtl="0">
              <a:spcBef>
                <a:spcPts val="0"/>
              </a:spcBef>
              <a:spcAft>
                <a:spcPts val="0"/>
              </a:spcAft>
              <a:buSzPts val="1800"/>
              <a:buChar char="•"/>
            </a:pPr>
            <a:r>
              <a:rPr lang="ja"/>
              <a:t>OSPOが扱う様々なアイテムのうち、事業部門や会社自体がビジネスやガバナンス的に重要視されるアイテムは個別の組織に移管されて運用される方がいい、ということはありますか？もしそうなら、どういうアイテムが移管の対象になりうるかを検討するのもあるのかもしれません</a:t>
            </a:r>
            <a:endParaRPr/>
          </a:p>
          <a:p>
            <a:pPr marL="914400" lvl="1" indent="-323850" algn="l" rtl="0">
              <a:spcBef>
                <a:spcPts val="0"/>
              </a:spcBef>
              <a:spcAft>
                <a:spcPts val="0"/>
              </a:spcAft>
              <a:buSzPts val="1500"/>
              <a:buChar char="•"/>
            </a:pPr>
            <a:r>
              <a:rPr lang="ja"/>
              <a:t>直接事業に役立つものはその事業部に移管するといいと思う</a:t>
            </a:r>
            <a:endParaRPr/>
          </a:p>
          <a:p>
            <a:pPr marL="914400" lvl="1" indent="-323850" algn="l" rtl="0">
              <a:spcBef>
                <a:spcPts val="0"/>
              </a:spcBef>
              <a:spcAft>
                <a:spcPts val="0"/>
              </a:spcAft>
              <a:buSzPts val="1500"/>
              <a:buChar char="•"/>
            </a:pPr>
            <a:r>
              <a:rPr lang="ja"/>
              <a:t>OSPOでないと出来ないことは、事業部がまだ考えていないことで将来必要なこと</a:t>
            </a:r>
            <a:endParaRPr/>
          </a:p>
          <a:p>
            <a:pPr marL="1371600" lvl="2" indent="-304800" algn="l" rtl="0">
              <a:spcBef>
                <a:spcPts val="0"/>
              </a:spcBef>
              <a:spcAft>
                <a:spcPts val="0"/>
              </a:spcAft>
              <a:buSzPts val="1200"/>
              <a:buChar char="•"/>
            </a:pPr>
            <a:r>
              <a:rPr lang="ja"/>
              <a:t>OSSをハンドリングできるエンジニアや人材を一定数確保すること、そのカルチャーを維持すること</a:t>
            </a:r>
            <a:endParaRPr/>
          </a:p>
          <a:p>
            <a:pPr marL="914400" lvl="1" indent="-323850" algn="l" rtl="0">
              <a:spcBef>
                <a:spcPts val="0"/>
              </a:spcBef>
              <a:spcAft>
                <a:spcPts val="0"/>
              </a:spcAft>
              <a:buSzPts val="1500"/>
              <a:buChar char="•"/>
            </a:pPr>
            <a:r>
              <a:rPr lang="ja"/>
              <a:t>全社経営戦略にOSPOのOSS戦略検討＆推進機能が集約されると良いと思う</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734"/>
        <p:cNvGrpSpPr/>
        <p:nvPr/>
      </p:nvGrpSpPr>
      <p:grpSpPr>
        <a:xfrm>
          <a:off x="0" y="0"/>
          <a:ext cx="0" cy="0"/>
          <a:chOff x="0" y="0"/>
          <a:chExt cx="0" cy="0"/>
        </a:xfrm>
      </p:grpSpPr>
      <p:sp>
        <p:nvSpPr>
          <p:cNvPr id="735" name="Google Shape;735;p68"/>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a:t>9/19 </a:t>
            </a:r>
            <a:endParaRPr/>
          </a:p>
        </p:txBody>
      </p:sp>
      <p:sp>
        <p:nvSpPr>
          <p:cNvPr id="736" name="Google Shape;736;p68"/>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rmAutofit/>
          </a:bodyPr>
          <a:lstStyle/>
          <a:p>
            <a:pPr marL="457200" lvl="0" indent="-342900" algn="l" rtl="0">
              <a:spcBef>
                <a:spcPts val="0"/>
              </a:spcBef>
              <a:spcAft>
                <a:spcPts val="0"/>
              </a:spcAft>
              <a:buSzPts val="1800"/>
              <a:buChar char="•"/>
            </a:pPr>
            <a:r>
              <a:rPr lang="ja"/>
              <a:t>OSSに対する理解が「</a:t>
            </a:r>
            <a:r>
              <a:rPr lang="ja" u="sng">
                <a:solidFill>
                  <a:schemeClr val="hlink"/>
                </a:solidFill>
                <a:hlinkClick r:id="rId3"/>
              </a:rPr>
              <a:t>群盲象を評す</a:t>
            </a:r>
            <a:r>
              <a:rPr lang="ja"/>
              <a:t>」”</a:t>
            </a:r>
            <a:r>
              <a:rPr lang="ja" u="sng">
                <a:solidFill>
                  <a:schemeClr val="hlink"/>
                </a:solidFill>
                <a:hlinkClick r:id="rId4"/>
              </a:rPr>
              <a:t>Blind men and an elephant</a:t>
            </a:r>
            <a:r>
              <a:rPr lang="ja"/>
              <a:t>”状態になることが多いのでは</a:t>
            </a:r>
            <a:endParaRPr/>
          </a:p>
          <a:p>
            <a:pPr marL="914400" lvl="1" indent="-323850" algn="l" rtl="0">
              <a:spcBef>
                <a:spcPts val="0"/>
              </a:spcBef>
              <a:spcAft>
                <a:spcPts val="0"/>
              </a:spcAft>
              <a:buSzPts val="1500"/>
              <a:buChar char="•"/>
            </a:pPr>
            <a:r>
              <a:rPr lang="ja"/>
              <a:t>（コメント）「群盲象を評す」は国によって教訓が異なるので、グローバルな説明に使うには気を付ける必要がありそう</a:t>
            </a:r>
            <a:endParaRPr/>
          </a:p>
          <a:p>
            <a:pPr marL="0" lvl="0" indent="0" algn="l" rtl="0">
              <a:spcBef>
                <a:spcPts val="0"/>
              </a:spcBef>
              <a:spcAft>
                <a:spcPts val="0"/>
              </a:spcAft>
              <a:buNone/>
            </a:pPr>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740"/>
        <p:cNvGrpSpPr/>
        <p:nvPr/>
      </p:nvGrpSpPr>
      <p:grpSpPr>
        <a:xfrm>
          <a:off x="0" y="0"/>
          <a:ext cx="0" cy="0"/>
          <a:chOff x="0" y="0"/>
          <a:chExt cx="0" cy="0"/>
        </a:xfrm>
      </p:grpSpPr>
      <p:sp>
        <p:nvSpPr>
          <p:cNvPr id="741" name="Google Shape;741;p69"/>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a:t>9/19 </a:t>
            </a:r>
            <a:endParaRPr/>
          </a:p>
        </p:txBody>
      </p:sp>
      <p:sp>
        <p:nvSpPr>
          <p:cNvPr id="742" name="Google Shape;742;p69"/>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rmAutofit/>
          </a:bodyPr>
          <a:lstStyle/>
          <a:p>
            <a:pPr marL="457200" lvl="0" indent="-342900" algn="l" rtl="0">
              <a:spcBef>
                <a:spcPts val="0"/>
              </a:spcBef>
              <a:spcAft>
                <a:spcPts val="0"/>
              </a:spcAft>
              <a:buSzPts val="1800"/>
              <a:buChar char="•"/>
            </a:pPr>
            <a:r>
              <a:rPr lang="ja"/>
              <a:t>OSPOとは</a:t>
            </a:r>
            <a:br>
              <a:rPr lang="ja"/>
            </a:br>
            <a:r>
              <a:rPr lang="ja"/>
              <a:t>「OSSによって生じた変化に企業活動が適合・適応するように働きかける集団」</a:t>
            </a:r>
            <a:endParaRPr/>
          </a:p>
          <a:p>
            <a:pPr marL="457200" lvl="0" indent="-342900" algn="l" rtl="0">
              <a:spcBef>
                <a:spcPts val="0"/>
              </a:spcBef>
              <a:spcAft>
                <a:spcPts val="0"/>
              </a:spcAft>
              <a:buSzPts val="1800"/>
              <a:buChar char="•"/>
            </a:pPr>
            <a:r>
              <a:rPr lang="ja"/>
              <a:t>適合・適応の目指す状態は企業によって異なり、そのためOSPOの活動（姿）が異なってくる（Your OSPO is not My OSPO）</a:t>
            </a:r>
            <a:endParaRPr/>
          </a:p>
          <a:p>
            <a:pPr marL="0" lvl="0" indent="0" algn="l" rtl="0">
              <a:spcBef>
                <a:spcPts val="0"/>
              </a:spcBef>
              <a:spcAft>
                <a:spcPts val="0"/>
              </a:spcAft>
              <a:buNone/>
            </a:pPr>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746"/>
        <p:cNvGrpSpPr/>
        <p:nvPr/>
      </p:nvGrpSpPr>
      <p:grpSpPr>
        <a:xfrm>
          <a:off x="0" y="0"/>
          <a:ext cx="0" cy="0"/>
          <a:chOff x="0" y="0"/>
          <a:chExt cx="0" cy="0"/>
        </a:xfrm>
      </p:grpSpPr>
      <p:sp>
        <p:nvSpPr>
          <p:cNvPr id="747" name="Google Shape;747;p70"/>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a:t>9/19 </a:t>
            </a:r>
            <a:endParaRPr/>
          </a:p>
        </p:txBody>
      </p:sp>
      <p:sp>
        <p:nvSpPr>
          <p:cNvPr id="748" name="Google Shape;748;p70"/>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rmAutofit/>
          </a:bodyPr>
          <a:lstStyle/>
          <a:p>
            <a:pPr marL="457200" lvl="0" indent="-342900" algn="l" rtl="0">
              <a:spcBef>
                <a:spcPts val="0"/>
              </a:spcBef>
              <a:spcAft>
                <a:spcPts val="0"/>
              </a:spcAft>
              <a:buSzPts val="1800"/>
              <a:buChar char="•"/>
            </a:pPr>
            <a:r>
              <a:rPr lang="ja"/>
              <a:t>「目指す状態」は企業内の立場によって、異なることがある</a:t>
            </a:r>
            <a:endParaRPr/>
          </a:p>
          <a:p>
            <a:pPr marL="914400" lvl="1" indent="-323850" algn="l" rtl="0">
              <a:spcBef>
                <a:spcPts val="0"/>
              </a:spcBef>
              <a:spcAft>
                <a:spcPts val="0"/>
              </a:spcAft>
              <a:buSzPts val="1500"/>
              <a:buChar char="•"/>
            </a:pPr>
            <a:r>
              <a:rPr lang="ja"/>
              <a:t>経営層はリスク対策、R＆DはInovation加速、商品開発は効率的なコンプライアンス対応、OSPOはOSS・コミュニティ活動連携戦略を含む経営戦略、など</a:t>
            </a:r>
            <a:endParaRPr/>
          </a:p>
          <a:p>
            <a:pPr marL="914400" lvl="1" indent="-323850" algn="l" rtl="0">
              <a:spcBef>
                <a:spcPts val="0"/>
              </a:spcBef>
              <a:spcAft>
                <a:spcPts val="0"/>
              </a:spcAft>
              <a:buSzPts val="1500"/>
              <a:buChar char="•"/>
            </a:pPr>
            <a:r>
              <a:rPr lang="ja"/>
              <a:t>これは、OSSに対する理解が一致していないことに起因すると考えられる</a:t>
            </a:r>
            <a:endParaRPr/>
          </a:p>
          <a:p>
            <a:pPr marL="914400" lvl="1" indent="-323850" algn="l" rtl="0">
              <a:spcBef>
                <a:spcPts val="0"/>
              </a:spcBef>
              <a:spcAft>
                <a:spcPts val="0"/>
              </a:spcAft>
              <a:buSzPts val="1500"/>
              <a:buChar char="•"/>
            </a:pPr>
            <a:r>
              <a:rPr lang="ja"/>
              <a:t>（コメント）この違いをブリッジするというのがOSPOの役割（定義）になるのかもしれない</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752"/>
        <p:cNvGrpSpPr/>
        <p:nvPr/>
      </p:nvGrpSpPr>
      <p:grpSpPr>
        <a:xfrm>
          <a:off x="0" y="0"/>
          <a:ext cx="0" cy="0"/>
          <a:chOff x="0" y="0"/>
          <a:chExt cx="0" cy="0"/>
        </a:xfrm>
      </p:grpSpPr>
      <p:sp>
        <p:nvSpPr>
          <p:cNvPr id="753" name="Google Shape;753;p71"/>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a:t>9/19 </a:t>
            </a:r>
            <a:endParaRPr/>
          </a:p>
        </p:txBody>
      </p:sp>
      <p:sp>
        <p:nvSpPr>
          <p:cNvPr id="754" name="Google Shape;754;p71"/>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rmAutofit/>
          </a:bodyPr>
          <a:lstStyle/>
          <a:p>
            <a:pPr marL="457200" lvl="0" indent="-342900" algn="l" rtl="0">
              <a:spcBef>
                <a:spcPts val="0"/>
              </a:spcBef>
              <a:spcAft>
                <a:spcPts val="0"/>
              </a:spcAft>
              <a:buSzPts val="1800"/>
              <a:buChar char="•"/>
            </a:pPr>
            <a:r>
              <a:rPr lang="ja"/>
              <a:t>OSPOのスタートの仕方によってもOSPOの活動が異なってくる</a:t>
            </a:r>
            <a:endParaRPr/>
          </a:p>
          <a:p>
            <a:pPr marL="914400" lvl="1" indent="-323850" algn="l" rtl="0">
              <a:spcBef>
                <a:spcPts val="0"/>
              </a:spcBef>
              <a:spcAft>
                <a:spcPts val="0"/>
              </a:spcAft>
              <a:buSzPts val="1500"/>
              <a:buChar char="•"/>
            </a:pPr>
            <a:r>
              <a:rPr lang="ja"/>
              <a:t>2020年ぐらいまでは、OSPO（のような活動）が企業の発展＆存続に必須であるとの危機感を持った有志が草の根活動としてOSPOを開始し、徐々に公式活動としての認知を得ていく形が主流だった（Bottom Up OSPO）</a:t>
            </a:r>
            <a:endParaRPr/>
          </a:p>
          <a:p>
            <a:pPr marL="914400" lvl="1" indent="-323850" algn="l" rtl="0">
              <a:spcBef>
                <a:spcPts val="0"/>
              </a:spcBef>
              <a:spcAft>
                <a:spcPts val="0"/>
              </a:spcAft>
              <a:buSzPts val="1500"/>
              <a:buChar char="•"/>
            </a:pPr>
            <a:r>
              <a:rPr lang="ja"/>
              <a:t>近年は、OSPOが必要との認識が業界に広がり、経営判断としてOSPOを立ち上げるケースが出てきている（Top Down OSPO）</a:t>
            </a:r>
            <a:endParaRPr/>
          </a:p>
          <a:p>
            <a:pPr marL="1371600" lvl="2" indent="-304800" algn="l" rtl="0">
              <a:spcBef>
                <a:spcPts val="0"/>
              </a:spcBef>
              <a:spcAft>
                <a:spcPts val="0"/>
              </a:spcAft>
              <a:buSzPts val="1200"/>
              <a:buChar char="•"/>
            </a:pPr>
            <a:r>
              <a:rPr lang="ja"/>
              <a:t>（コメント）このケースは実際にあるのか。実例が知りたい</a:t>
            </a:r>
            <a:endParaRPr/>
          </a:p>
          <a:p>
            <a:pPr marL="914400" lvl="1" indent="-323850" algn="l" rtl="0">
              <a:spcBef>
                <a:spcPts val="0"/>
              </a:spcBef>
              <a:spcAft>
                <a:spcPts val="0"/>
              </a:spcAft>
              <a:buSzPts val="1500"/>
              <a:buChar char="•"/>
            </a:pPr>
            <a:r>
              <a:rPr lang="ja"/>
              <a:t>Bottom Up OSPOはOSS戦略を目指し、Top Down OSPOは経営層の目指すところを目指す傾向にあるのではないか</a:t>
            </a:r>
            <a:endParaRPr/>
          </a:p>
          <a:p>
            <a:pPr marL="1371600" lvl="2" indent="-304800" algn="l" rtl="0">
              <a:spcBef>
                <a:spcPts val="0"/>
              </a:spcBef>
              <a:spcAft>
                <a:spcPts val="0"/>
              </a:spcAft>
              <a:buSzPts val="1200"/>
              <a:buChar char="•"/>
            </a:pPr>
            <a:r>
              <a:rPr lang="ja"/>
              <a:t>経営層がOSSをリスクと思っていると、ガバナンス先行でOSS貢献とかは二の次になりそう</a:t>
            </a:r>
            <a:endParaRPr/>
          </a:p>
          <a:p>
            <a:pPr marL="1371600" lvl="2" indent="-304800" algn="l" rtl="0">
              <a:spcBef>
                <a:spcPts val="0"/>
              </a:spcBef>
              <a:spcAft>
                <a:spcPts val="0"/>
              </a:spcAft>
              <a:buSzPts val="1200"/>
              <a:buChar char="•"/>
            </a:pPr>
            <a:r>
              <a:rPr lang="ja"/>
              <a:t>結局、経営層がOSSコミュニティがどう動くのか、その中で自社がどう動くべきかを理解しているかどうか、に依存する？</a:t>
            </a:r>
            <a:endParaRPr/>
          </a:p>
          <a:p>
            <a:pPr marL="1371600" lvl="2" indent="-304800" algn="l" rtl="0">
              <a:spcBef>
                <a:spcPts val="0"/>
              </a:spcBef>
              <a:spcAft>
                <a:spcPts val="0"/>
              </a:spcAft>
              <a:buSzPts val="1200"/>
              <a:buChar char="•"/>
            </a:pPr>
            <a:r>
              <a:rPr lang="ja"/>
              <a:t>ソフトの側が、大きな技術の流れを作っているのか、それとも特定顧客への対応に過ぎないのかは、大きな違いになると思います。</a:t>
            </a:r>
            <a:endParaRPr/>
          </a:p>
          <a:p>
            <a:pPr marL="0" lvl="0" indent="0" algn="l" rtl="0">
              <a:spcBef>
                <a:spcPts val="0"/>
              </a:spcBef>
              <a:spcAft>
                <a:spcPts val="0"/>
              </a:spcAft>
              <a:buNone/>
            </a:pPr>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758"/>
        <p:cNvGrpSpPr/>
        <p:nvPr/>
      </p:nvGrpSpPr>
      <p:grpSpPr>
        <a:xfrm>
          <a:off x="0" y="0"/>
          <a:ext cx="0" cy="0"/>
          <a:chOff x="0" y="0"/>
          <a:chExt cx="0" cy="0"/>
        </a:xfrm>
      </p:grpSpPr>
      <p:sp>
        <p:nvSpPr>
          <p:cNvPr id="759" name="Google Shape;759;p72"/>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a:t>9/19 </a:t>
            </a:r>
            <a:endParaRPr/>
          </a:p>
        </p:txBody>
      </p:sp>
      <p:sp>
        <p:nvSpPr>
          <p:cNvPr id="760" name="Google Shape;760;p72"/>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rmAutofit/>
          </a:bodyPr>
          <a:lstStyle/>
          <a:p>
            <a:pPr marL="457200" lvl="0" indent="-342900" algn="l" rtl="0">
              <a:spcBef>
                <a:spcPts val="0"/>
              </a:spcBef>
              <a:spcAft>
                <a:spcPts val="0"/>
              </a:spcAft>
              <a:buSzPts val="1800"/>
              <a:buChar char="•"/>
            </a:pPr>
            <a:r>
              <a:rPr lang="ja"/>
              <a:t>ここまで書いたような状況がOSPO活動が簡単に進まない要因ではないか</a:t>
            </a:r>
            <a:endParaRPr/>
          </a:p>
          <a:p>
            <a:pPr marL="457200" lvl="0" indent="-342900" algn="l" rtl="0">
              <a:spcBef>
                <a:spcPts val="0"/>
              </a:spcBef>
              <a:spcAft>
                <a:spcPts val="0"/>
              </a:spcAft>
              <a:buSzPts val="1800"/>
              <a:buChar char="•"/>
            </a:pPr>
            <a:r>
              <a:rPr lang="ja"/>
              <a:t>業界ごとのガイドライン（？）があると良いのでは？</a:t>
            </a:r>
            <a:endParaRPr/>
          </a:p>
          <a:p>
            <a:pPr marL="914400" lvl="1" indent="-323850" algn="l" rtl="0">
              <a:spcBef>
                <a:spcPts val="0"/>
              </a:spcBef>
              <a:spcAft>
                <a:spcPts val="0"/>
              </a:spcAft>
              <a:buSzPts val="1500"/>
              <a:buChar char="•"/>
            </a:pPr>
            <a:r>
              <a:rPr lang="ja"/>
              <a:t>プラクティス集（？）</a:t>
            </a:r>
            <a:endParaRPr/>
          </a:p>
          <a:p>
            <a:pPr marL="457200" lvl="0" indent="-342900" algn="l" rtl="0">
              <a:spcBef>
                <a:spcPts val="0"/>
              </a:spcBef>
              <a:spcAft>
                <a:spcPts val="0"/>
              </a:spcAft>
              <a:buSzPts val="1800"/>
              <a:buChar char="•"/>
            </a:pPr>
            <a:r>
              <a:rPr lang="ja"/>
              <a:t>OSPOは事業活動の類型ごとにある程度類似するのだろうか？</a:t>
            </a:r>
            <a:endParaRPr/>
          </a:p>
          <a:p>
            <a:pPr marL="457200" lvl="0" indent="-342900" algn="l" rtl="0">
              <a:spcBef>
                <a:spcPts val="0"/>
              </a:spcBef>
              <a:spcAft>
                <a:spcPts val="0"/>
              </a:spcAft>
              <a:buSzPts val="1800"/>
              <a:buChar char="•"/>
            </a:pPr>
            <a:r>
              <a:rPr lang="ja"/>
              <a:t>OSPOを立ち上げる際に、同業他社にOSPOがある、という情報が社内説得材料として役立つ　➡　情報を集められないか</a:t>
            </a:r>
            <a:endParaRPr/>
          </a:p>
          <a:p>
            <a:pPr marL="914400" lvl="1" indent="-323850" algn="l" rtl="0">
              <a:spcBef>
                <a:spcPts val="0"/>
              </a:spcBef>
              <a:spcAft>
                <a:spcPts val="0"/>
              </a:spcAft>
              <a:buSzPts val="1500"/>
              <a:buChar char="•"/>
            </a:pPr>
            <a:r>
              <a:rPr lang="ja"/>
              <a:t>これが、OpenChainの会合でのLightning Talkの始まり</a:t>
            </a:r>
            <a:endParaRPr/>
          </a:p>
        </p:txBody>
      </p:sp>
      <p:pic>
        <p:nvPicPr>
          <p:cNvPr id="761" name="Google Shape;761;p72"/>
          <p:cNvPicPr preferRelativeResize="0"/>
          <p:nvPr/>
        </p:nvPicPr>
        <p:blipFill>
          <a:blip r:embed="rId3">
            <a:alphaModFix/>
          </a:blip>
          <a:stretch>
            <a:fillRect/>
          </a:stretch>
        </p:blipFill>
        <p:spPr>
          <a:xfrm>
            <a:off x="5674825" y="3129000"/>
            <a:ext cx="3734849" cy="2091049"/>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765"/>
        <p:cNvGrpSpPr/>
        <p:nvPr/>
      </p:nvGrpSpPr>
      <p:grpSpPr>
        <a:xfrm>
          <a:off x="0" y="0"/>
          <a:ext cx="0" cy="0"/>
          <a:chOff x="0" y="0"/>
          <a:chExt cx="0" cy="0"/>
        </a:xfrm>
      </p:grpSpPr>
      <p:sp>
        <p:nvSpPr>
          <p:cNvPr id="766" name="Google Shape;766;p73"/>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a:t>10/24</a:t>
            </a:r>
            <a:endParaRPr/>
          </a:p>
        </p:txBody>
      </p:sp>
      <p:sp>
        <p:nvSpPr>
          <p:cNvPr id="767" name="Google Shape;767;p73"/>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Autofit/>
          </a:bodyPr>
          <a:lstStyle/>
          <a:p>
            <a:pPr marL="457200" lvl="0" indent="-342900" algn="l" rtl="0">
              <a:spcBef>
                <a:spcPts val="0"/>
              </a:spcBef>
              <a:spcAft>
                <a:spcPts val="0"/>
              </a:spcAft>
              <a:buSzPts val="1800"/>
              <a:buChar char="●"/>
            </a:pPr>
            <a:r>
              <a:rPr lang="ja"/>
              <a:t>LF Japan Community Daysの内容の振り返り</a:t>
            </a:r>
            <a:endParaRPr/>
          </a:p>
          <a:p>
            <a:pPr marL="457200" lvl="0" indent="-342900" algn="l" rtl="0">
              <a:spcBef>
                <a:spcPts val="0"/>
              </a:spcBef>
              <a:spcAft>
                <a:spcPts val="0"/>
              </a:spcAft>
              <a:buSzPts val="1800"/>
              <a:buChar char="●"/>
            </a:pPr>
            <a:r>
              <a:rPr lang="ja"/>
              <a:t>質問に対するディスカッション</a:t>
            </a:r>
            <a:endParaRPr/>
          </a:p>
          <a:p>
            <a:pPr marL="914400" lvl="1" indent="-323850" algn="l" rtl="0">
              <a:spcBef>
                <a:spcPts val="0"/>
              </a:spcBef>
              <a:spcAft>
                <a:spcPts val="0"/>
              </a:spcAft>
              <a:buSzPts val="1500"/>
              <a:buChar char="○"/>
            </a:pPr>
            <a:r>
              <a:rPr lang="ja"/>
              <a:t>レベル1を目指す活動での課題感（どういった体制構築をすべきか）</a:t>
            </a:r>
            <a:endParaRPr/>
          </a:p>
          <a:p>
            <a:pPr marL="914400" lvl="1" indent="-323850" algn="l" rtl="0">
              <a:spcBef>
                <a:spcPts val="0"/>
              </a:spcBef>
              <a:spcAft>
                <a:spcPts val="0"/>
              </a:spcAft>
              <a:buSzPts val="1500"/>
              <a:buChar char="○"/>
            </a:pPr>
            <a:r>
              <a:rPr lang="ja"/>
              <a:t>レベル3・4に取り組む上での基礎体力はどれぐらい必要なのか</a:t>
            </a:r>
            <a:endParaRPr/>
          </a:p>
          <a:p>
            <a:pPr marL="457200" lvl="0" indent="0" algn="l" rtl="0">
              <a:spcBef>
                <a:spcPts val="0"/>
              </a:spcBef>
              <a:spcAft>
                <a:spcPts val="0"/>
              </a:spcAft>
              <a:buNone/>
            </a:pPr>
            <a:endParaRPr/>
          </a:p>
          <a:p>
            <a:pPr marL="457200" lvl="0" indent="-342900" algn="l" rtl="0">
              <a:spcBef>
                <a:spcPts val="0"/>
              </a:spcBef>
              <a:spcAft>
                <a:spcPts val="0"/>
              </a:spcAft>
              <a:buSzPts val="1800"/>
              <a:buChar char="●"/>
            </a:pPr>
            <a:r>
              <a:rPr lang="ja"/>
              <a:t>レベル１での、ライセンス対応について会社としての判断をどうやって行うか</a:t>
            </a:r>
            <a:endParaRPr/>
          </a:p>
          <a:p>
            <a:pPr marL="914400" lvl="1" indent="-323850" algn="l" rtl="0">
              <a:spcBef>
                <a:spcPts val="0"/>
              </a:spcBef>
              <a:spcAft>
                <a:spcPts val="0"/>
              </a:spcAft>
              <a:buSzPts val="1500"/>
              <a:buChar char="○"/>
            </a:pPr>
            <a:r>
              <a:rPr lang="ja"/>
              <a:t>法務、知財、エンジニアの間の連携、交流を深めて、条文解釈、ソフト構造・実務の理解を相互に深めて、結論を導く</a:t>
            </a:r>
            <a:endParaRPr/>
          </a:p>
          <a:p>
            <a:pPr marL="914400" lvl="1" indent="-323850" algn="l" rtl="0">
              <a:spcBef>
                <a:spcPts val="0"/>
              </a:spcBef>
              <a:spcAft>
                <a:spcPts val="0"/>
              </a:spcAft>
              <a:buSzPts val="1500"/>
              <a:buChar char="○"/>
            </a:pPr>
            <a:r>
              <a:rPr lang="ja"/>
              <a:t>OpenChainのFAQの成果や議論を活用する</a:t>
            </a:r>
            <a:endParaRPr/>
          </a:p>
          <a:p>
            <a:pPr marL="457200" lvl="0" indent="-342900" algn="l" rtl="0">
              <a:spcBef>
                <a:spcPts val="0"/>
              </a:spcBef>
              <a:spcAft>
                <a:spcPts val="0"/>
              </a:spcAft>
              <a:buSzPts val="1800"/>
              <a:buChar char="●"/>
            </a:pPr>
            <a:r>
              <a:rPr lang="ja"/>
              <a:t>レベル３・４の活動の基礎体力</a:t>
            </a:r>
            <a:endParaRPr/>
          </a:p>
          <a:p>
            <a:pPr marL="914400" lvl="1" indent="-323850" algn="l" rtl="0">
              <a:spcBef>
                <a:spcPts val="0"/>
              </a:spcBef>
              <a:spcAft>
                <a:spcPts val="0"/>
              </a:spcAft>
              <a:buSzPts val="1500"/>
              <a:buChar char="○"/>
            </a:pPr>
            <a:r>
              <a:rPr lang="ja"/>
              <a:t>個々のエンジニアのモチベーションがないと続かない。モチベーションのある人が動きやすい環境を作る必要あり</a:t>
            </a:r>
            <a:endParaRPr/>
          </a:p>
          <a:p>
            <a:pPr marL="914400" lvl="1" indent="-323850" algn="l" rtl="0">
              <a:spcBef>
                <a:spcPts val="0"/>
              </a:spcBef>
              <a:spcAft>
                <a:spcPts val="0"/>
              </a:spcAft>
              <a:buSzPts val="1500"/>
              <a:buChar char="○"/>
            </a:pPr>
            <a:r>
              <a:rPr lang="ja"/>
              <a:t>会社としてのエンドースがないと無理。OSS貢献の会社のポリシーが大事</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771"/>
        <p:cNvGrpSpPr/>
        <p:nvPr/>
      </p:nvGrpSpPr>
      <p:grpSpPr>
        <a:xfrm>
          <a:off x="0" y="0"/>
          <a:ext cx="0" cy="0"/>
          <a:chOff x="0" y="0"/>
          <a:chExt cx="0" cy="0"/>
        </a:xfrm>
      </p:grpSpPr>
      <p:sp>
        <p:nvSpPr>
          <p:cNvPr id="772" name="Google Shape;772;p74"/>
          <p:cNvSpPr txBox="1">
            <a:spLocks noGrp="1"/>
          </p:cNvSpPr>
          <p:nvPr>
            <p:ph type="title"/>
          </p:nvPr>
        </p:nvSpPr>
        <p:spPr>
          <a:xfrm>
            <a:off x="432000" y="34524"/>
            <a:ext cx="8280000" cy="594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ja"/>
              <a:t>2025/11/28</a:t>
            </a:r>
            <a:endParaRPr/>
          </a:p>
        </p:txBody>
      </p:sp>
      <p:sp>
        <p:nvSpPr>
          <p:cNvPr id="773" name="Google Shape;773;p74"/>
          <p:cNvSpPr txBox="1">
            <a:spLocks noGrp="1"/>
          </p:cNvSpPr>
          <p:nvPr>
            <p:ph type="body" idx="1"/>
          </p:nvPr>
        </p:nvSpPr>
        <p:spPr>
          <a:xfrm>
            <a:off x="432000" y="792368"/>
            <a:ext cx="8280000" cy="3835800"/>
          </a:xfrm>
          <a:prstGeom prst="rect">
            <a:avLst/>
          </a:prstGeom>
        </p:spPr>
        <p:txBody>
          <a:bodyPr spcFirstLastPara="1" wrap="square" lIns="49625" tIns="24875" rIns="49625" bIns="24875" anchor="t" anchorCtr="0">
            <a:normAutofit fontScale="92500" lnSpcReduction="20000"/>
          </a:bodyPr>
          <a:lstStyle/>
          <a:p>
            <a:pPr marL="457200" lvl="0" indent="-334327" algn="l" rtl="0">
              <a:spcBef>
                <a:spcPts val="0"/>
              </a:spcBef>
              <a:spcAft>
                <a:spcPts val="0"/>
              </a:spcAft>
              <a:buSzPct val="100000"/>
              <a:buChar char="●"/>
            </a:pPr>
            <a:r>
              <a:rPr lang="ja"/>
              <a:t>OSSを利用する時の社内ルールとして、各社どうしているか</a:t>
            </a:r>
            <a:endParaRPr/>
          </a:p>
          <a:p>
            <a:pPr marL="914400" lvl="1" indent="-316706" algn="l" rtl="0">
              <a:spcBef>
                <a:spcPts val="0"/>
              </a:spcBef>
              <a:spcAft>
                <a:spcPts val="0"/>
              </a:spcAft>
              <a:buSzPct val="100000"/>
              <a:buChar char="○"/>
            </a:pPr>
            <a:r>
              <a:rPr lang="ja"/>
              <a:t>OSSを組み込んだ製品の販売</a:t>
            </a:r>
            <a:endParaRPr/>
          </a:p>
          <a:p>
            <a:pPr marL="914400" lvl="1" indent="-316706" algn="l" rtl="0">
              <a:spcBef>
                <a:spcPts val="0"/>
              </a:spcBef>
              <a:spcAft>
                <a:spcPts val="0"/>
              </a:spcAft>
              <a:buSzPct val="100000"/>
              <a:buChar char="○"/>
            </a:pPr>
            <a:r>
              <a:rPr lang="ja"/>
              <a:t>OSSを組み込んだアプリの頒布</a:t>
            </a:r>
            <a:endParaRPr/>
          </a:p>
          <a:p>
            <a:pPr marL="914400" lvl="1" indent="-316706" algn="l" rtl="0">
              <a:spcBef>
                <a:spcPts val="0"/>
              </a:spcBef>
              <a:spcAft>
                <a:spcPts val="0"/>
              </a:spcAft>
              <a:buSzPct val="100000"/>
              <a:buChar char="○"/>
            </a:pPr>
            <a:r>
              <a:rPr lang="ja"/>
              <a:t>ソフトにOSSを利用し、クラウド上でサービス提供（ソフトそのものは提供しない）</a:t>
            </a:r>
            <a:endParaRPr/>
          </a:p>
          <a:p>
            <a:pPr marL="457200" lvl="0" indent="-334327" algn="l" rtl="0">
              <a:spcBef>
                <a:spcPts val="0"/>
              </a:spcBef>
              <a:spcAft>
                <a:spcPts val="0"/>
              </a:spcAft>
              <a:buSzPct val="100000"/>
              <a:buChar char="●"/>
            </a:pPr>
            <a:r>
              <a:rPr lang="ja"/>
              <a:t>情報共有</a:t>
            </a:r>
            <a:endParaRPr/>
          </a:p>
          <a:p>
            <a:pPr marL="914400" lvl="1" indent="-316706" algn="l" rtl="0">
              <a:spcBef>
                <a:spcPts val="0"/>
              </a:spcBef>
              <a:spcAft>
                <a:spcPts val="0"/>
              </a:spcAft>
              <a:buSzPct val="100000"/>
              <a:buChar char="○"/>
            </a:pPr>
            <a:r>
              <a:rPr lang="ja"/>
              <a:t>開発前にどういうOSSを利用するかを確認している</a:t>
            </a:r>
            <a:endParaRPr/>
          </a:p>
          <a:p>
            <a:pPr marL="1371600" lvl="2" indent="-299085" algn="l" rtl="0">
              <a:spcBef>
                <a:spcPts val="0"/>
              </a:spcBef>
              <a:spcAft>
                <a:spcPts val="0"/>
              </a:spcAft>
              <a:buSzPct val="100000"/>
              <a:buChar char="■"/>
            </a:pPr>
            <a:r>
              <a:rPr lang="ja"/>
              <a:t>社内ルールというより、後からでは対処が難しい（ライセンス違反になりかねない）ので、ベストプラクティス・リテラシーとしての面が大きい</a:t>
            </a:r>
            <a:endParaRPr/>
          </a:p>
          <a:p>
            <a:pPr marL="1371600" lvl="2" indent="-299085" algn="l" rtl="0">
              <a:spcBef>
                <a:spcPts val="0"/>
              </a:spcBef>
              <a:spcAft>
                <a:spcPts val="0"/>
              </a:spcAft>
              <a:buSzPct val="100000"/>
              <a:buChar char="■"/>
            </a:pPr>
            <a:r>
              <a:rPr lang="ja"/>
              <a:t>それぞれの会社のリテラシーのレベルに応じて、厳格なルールにするか個々のメンバーに任せるかの間で運用できると思う</a:t>
            </a:r>
            <a:endParaRPr/>
          </a:p>
          <a:p>
            <a:pPr marL="914400" lvl="1" indent="-316706" algn="l" rtl="0">
              <a:spcBef>
                <a:spcPts val="0"/>
              </a:spcBef>
              <a:spcAft>
                <a:spcPts val="0"/>
              </a:spcAft>
              <a:buSzPct val="100000"/>
              <a:buChar char="○"/>
            </a:pPr>
            <a:r>
              <a:rPr lang="ja"/>
              <a:t>OSSのつまみ食い（スニペット）を防ぐ方法は</a:t>
            </a:r>
            <a:endParaRPr/>
          </a:p>
          <a:p>
            <a:pPr marL="1371600" lvl="2" indent="-299085" algn="l" rtl="0">
              <a:spcBef>
                <a:spcPts val="0"/>
              </a:spcBef>
              <a:spcAft>
                <a:spcPts val="0"/>
              </a:spcAft>
              <a:buSzPct val="100000"/>
              <a:buChar char="■"/>
            </a:pPr>
            <a:r>
              <a:rPr lang="ja"/>
              <a:t>まず、エンジニアの教育が大事。サプライチェーンの会社全てのレベルアップも必要。</a:t>
            </a:r>
            <a:endParaRPr/>
          </a:p>
          <a:p>
            <a:pPr marL="914400" lvl="1" indent="-316706" algn="l" rtl="0">
              <a:spcBef>
                <a:spcPts val="0"/>
              </a:spcBef>
              <a:spcAft>
                <a:spcPts val="0"/>
              </a:spcAft>
              <a:buSzPct val="100000"/>
              <a:buChar char="○"/>
            </a:pPr>
            <a:r>
              <a:rPr lang="ja"/>
              <a:t>ツールは便利だが、間違うことも多い。しかし、すべてをチェックしようとすると負荷が大きい</a:t>
            </a:r>
            <a:endParaRPr/>
          </a:p>
          <a:p>
            <a:pPr marL="1371600" lvl="2" indent="-299085" algn="l" rtl="0">
              <a:spcBef>
                <a:spcPts val="0"/>
              </a:spcBef>
              <a:spcAft>
                <a:spcPts val="0"/>
              </a:spcAft>
              <a:buSzPct val="100000"/>
              <a:buChar char="■"/>
            </a:pPr>
            <a:r>
              <a:rPr lang="ja"/>
              <a:t>どのレベルにするかは各社の判断</a:t>
            </a:r>
            <a:endParaRPr/>
          </a:p>
          <a:p>
            <a:pPr marL="1371600" lvl="2" indent="-299085" algn="l" rtl="0">
              <a:spcBef>
                <a:spcPts val="0"/>
              </a:spcBef>
              <a:spcAft>
                <a:spcPts val="0"/>
              </a:spcAft>
              <a:buSzPct val="100000"/>
              <a:buChar char="■"/>
            </a:pPr>
            <a:r>
              <a:rPr lang="ja"/>
              <a:t>ライセンス違反など、責任をツールベンダーに負わせることは出来ない</a:t>
            </a:r>
            <a:endParaRPr/>
          </a:p>
          <a:p>
            <a:pPr marL="1828800" lvl="3" indent="-293211" algn="l" rtl="0">
              <a:spcBef>
                <a:spcPts val="0"/>
              </a:spcBef>
              <a:spcAft>
                <a:spcPts val="0"/>
              </a:spcAft>
              <a:buSzPct val="100000"/>
              <a:buChar char="●"/>
            </a:pPr>
            <a:r>
              <a:rPr lang="ja"/>
              <a:t>OSSのツールを使ったか、メジャーな商用ツールを使ったかで、社内での責任追及の差が出るのではないか</a:t>
            </a:r>
            <a:endParaRPr/>
          </a:p>
          <a:p>
            <a:pPr marL="914400" lvl="1" indent="-316706" algn="l" rtl="0">
              <a:spcBef>
                <a:spcPts val="0"/>
              </a:spcBef>
              <a:spcAft>
                <a:spcPts val="0"/>
              </a:spcAft>
              <a:buSzPct val="100000"/>
              <a:buChar char="○"/>
            </a:pPr>
            <a:r>
              <a:rPr lang="ja"/>
              <a:t>OSSそのものの問題の責任は誰にある？</a:t>
            </a:r>
            <a:endParaRPr/>
          </a:p>
          <a:p>
            <a:pPr marL="914400" lvl="1" indent="-316706" algn="l" rtl="0">
              <a:spcBef>
                <a:spcPts val="0"/>
              </a:spcBef>
              <a:spcAft>
                <a:spcPts val="0"/>
              </a:spcAft>
              <a:buSzPct val="100000"/>
              <a:buChar char="○"/>
            </a:pPr>
            <a:r>
              <a:rPr lang="ja"/>
              <a:t>生成AIを利用するようになると</a:t>
            </a:r>
            <a:endParaRPr/>
          </a:p>
          <a:p>
            <a:pPr marL="1371600" lvl="2" indent="-299085" algn="l" rtl="0">
              <a:spcBef>
                <a:spcPts val="0"/>
              </a:spcBef>
              <a:spcAft>
                <a:spcPts val="0"/>
              </a:spcAft>
              <a:buSzPct val="100000"/>
              <a:buChar char="■"/>
            </a:pPr>
            <a:r>
              <a:rPr lang="ja"/>
              <a:t>メモ: GitHub (Microsoft) であれば「Copilot Copyright Commitment」というAIが生成したコードについての補償制度はありますね。（誰か詳しい人いたら解説してほしい）</a:t>
            </a:r>
            <a:endParaRPr/>
          </a:p>
          <a:p>
            <a:pPr marL="0" lvl="0" indent="0" algn="l" rtl="0">
              <a:spcBef>
                <a:spcPts val="0"/>
              </a:spcBef>
              <a:spcAft>
                <a:spcPts val="0"/>
              </a:spcAft>
              <a:buNone/>
            </a:pPr>
            <a:endParaRPr/>
          </a:p>
        </p:txBody>
      </p:sp>
    </p:spTree>
  </p:cSld>
  <p:clrMapOvr>
    <a:masterClrMapping/>
  </p:clrMapOvr>
</p:sld>
</file>

<file path=ppt/theme/theme1.xml><?xml version="1.0" encoding="utf-8"?>
<a:theme xmlns:a="http://schemas.openxmlformats.org/drawingml/2006/main" name="OpenChain Japan Work Group">
  <a:themeElements>
    <a:clrScheme name="ユーザー定義 1">
      <a:dk1>
        <a:srgbClr val="000000"/>
      </a:dk1>
      <a:lt1>
        <a:srgbClr val="FFFFFF"/>
      </a:lt1>
      <a:dk2>
        <a:srgbClr val="4E5B6F"/>
      </a:dk2>
      <a:lt2>
        <a:srgbClr val="D6ECFF"/>
      </a:lt2>
      <a:accent1>
        <a:srgbClr val="007DEA"/>
      </a:accent1>
      <a:accent2>
        <a:srgbClr val="FCB95D"/>
      </a:accent2>
      <a:accent3>
        <a:srgbClr val="FF0000"/>
      </a:accent3>
      <a:accent4>
        <a:srgbClr val="007DEA"/>
      </a:accent4>
      <a:accent5>
        <a:srgbClr val="738AC8"/>
      </a:accent5>
      <a:accent6>
        <a:srgbClr val="1AB39F"/>
      </a:accent6>
      <a:hlink>
        <a:srgbClr val="EB8803"/>
      </a:hlink>
      <a:folHlink>
        <a:srgbClr val="5F77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ff41bcb5-c330-4cbb-8eba-49c9dbaaa5bd}" enabled="1" method="Privileged" siteId="{66c65d8a-9158-4521-a2d8-664963db48e4}" contentBits="0" removed="0"/>
</clbl:labelList>
</file>

<file path=docProps/app.xml><?xml version="1.0" encoding="utf-8"?>
<Properties xmlns="http://schemas.openxmlformats.org/officeDocument/2006/extended-properties" xmlns:vt="http://schemas.openxmlformats.org/officeDocument/2006/docPropsVTypes">
  <TotalTime>0</TotalTime>
  <Words>14738</Words>
  <Application>Microsoft Office PowerPoint</Application>
  <PresentationFormat>画面に合わせる (16:9)</PresentationFormat>
  <Paragraphs>1164</Paragraphs>
  <Slides>66</Slides>
  <Notes>66</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66</vt:i4>
      </vt:variant>
    </vt:vector>
  </HeadingPairs>
  <TitlesOfParts>
    <vt:vector size="72" baseType="lpstr">
      <vt:lpstr>Open Sans</vt:lpstr>
      <vt:lpstr>Arial</vt:lpstr>
      <vt:lpstr>Quattrocento Sans</vt:lpstr>
      <vt:lpstr>Courier New</vt:lpstr>
      <vt:lpstr>Tahoma</vt:lpstr>
      <vt:lpstr>OpenChain Japan Work Group</vt:lpstr>
      <vt:lpstr>Qx</vt:lpstr>
      <vt:lpstr>PowerPoint プレゼンテーション</vt:lpstr>
      <vt:lpstr>Q: OSSを活用する、OSS活動のメリットは何ですか</vt:lpstr>
      <vt:lpstr>Q: OSSを活用する、OSS活動のメリットは何ですか</vt:lpstr>
      <vt:lpstr>そもそもOSPOとはなんですか</vt:lpstr>
      <vt:lpstr>そもそもOSPOとはなんですか</vt:lpstr>
      <vt:lpstr>そもそもOSPOとはなんですか</vt:lpstr>
      <vt:lpstr>そもそもOSPOとはなんですか</vt:lpstr>
      <vt:lpstr>そもそもOSPOとはなんですか</vt:lpstr>
      <vt:lpstr>そもそもOSPOとはなんですか</vt:lpstr>
      <vt:lpstr>OSPO Strategy：OSPOの立ち上げ方／作戦</vt:lpstr>
      <vt:lpstr>Open Source Program OfficeのProgramとは何か？</vt:lpstr>
      <vt:lpstr>PowerPoint プレゼンテーション</vt:lpstr>
      <vt:lpstr>OSPOって何ですか？</vt:lpstr>
      <vt:lpstr>Qx</vt:lpstr>
      <vt:lpstr>Qx</vt:lpstr>
      <vt:lpstr>OSPOの組織の成長の考察</vt:lpstr>
      <vt:lpstr>OSS に対する意識の変化</vt:lpstr>
      <vt:lpstr>7/11 全体会合ブレイクアウトセッション</vt:lpstr>
      <vt:lpstr>OSSを使い始めるステップ</vt:lpstr>
      <vt:lpstr>Consumer ～ Leader の Open Source 価値マップ</vt:lpstr>
      <vt:lpstr>Consumer ～ Leader の Open Source 価値マップ</vt:lpstr>
      <vt:lpstr>Qx</vt:lpstr>
      <vt:lpstr>Qx</vt:lpstr>
      <vt:lpstr>Qx</vt:lpstr>
      <vt:lpstr>Qx</vt:lpstr>
      <vt:lpstr>Qx</vt:lpstr>
      <vt:lpstr>Q1</vt:lpstr>
      <vt:lpstr>Q1の参考リンク</vt:lpstr>
      <vt:lpstr>Question 候補（青字はMTG中に追記したもの）</vt:lpstr>
      <vt:lpstr>2023/3/24  会合のチャット</vt:lpstr>
      <vt:lpstr>OSSのメリット・OSPOの役割とOSSの理解度の関係</vt:lpstr>
      <vt:lpstr>Q: OSSを活用する、OSS活動のメリットは何ですか</vt:lpstr>
      <vt:lpstr>Q: OSSを活用する、OSS活動のメリットは何ですか</vt:lpstr>
      <vt:lpstr>Q: OSSを活用する、OSS活動のメリットは何ですか</vt:lpstr>
      <vt:lpstr>Q: OSSを活用する、OSS活動のメリットは何ですか</vt:lpstr>
      <vt:lpstr>Q: OSSを活用する、OSS活動のメリットは何ですか</vt:lpstr>
      <vt:lpstr>Qx</vt:lpstr>
      <vt:lpstr>Qx</vt:lpstr>
      <vt:lpstr>Qx</vt:lpstr>
      <vt:lpstr>Qx</vt:lpstr>
      <vt:lpstr>Qx</vt:lpstr>
      <vt:lpstr>2024/6/28 agenda</vt:lpstr>
      <vt:lpstr>関心事</vt:lpstr>
      <vt:lpstr>PowerPoint プレゼンテーション</vt:lpstr>
      <vt:lpstr>ネタ集め（2024/7/26)</vt:lpstr>
      <vt:lpstr>2024/8/23 Contributionについて</vt:lpstr>
      <vt:lpstr>2024/10/18 Local Meetup</vt:lpstr>
      <vt:lpstr>2024/11/22</vt:lpstr>
      <vt:lpstr>PowerPoint プレゼンテーション</vt:lpstr>
      <vt:lpstr>2025/1/24</vt:lpstr>
      <vt:lpstr>2025/1/24, 2/28　- 3/28 仮Fix - 4/25 Fix </vt:lpstr>
      <vt:lpstr>2025/1/24, 2/28</vt:lpstr>
      <vt:lpstr>3/28</vt:lpstr>
      <vt:lpstr>5/23にコメント欄に記載＆発言をさせてただいた「SBOM管理プロセス」を絵に整理してみました アドバイスやコメントを頂けますと幸いです</vt:lpstr>
      <vt:lpstr>5/23のチャットメモ（発言者情報を除いたもの）</vt:lpstr>
      <vt:lpstr>7/11</vt:lpstr>
      <vt:lpstr>8/22</vt:lpstr>
      <vt:lpstr>8/22</vt:lpstr>
      <vt:lpstr>9/19 </vt:lpstr>
      <vt:lpstr>9/19 </vt:lpstr>
      <vt:lpstr>9/19 </vt:lpstr>
      <vt:lpstr>9/19 </vt:lpstr>
      <vt:lpstr>9/19 </vt:lpstr>
      <vt:lpstr>10/24</vt:lpstr>
      <vt:lpstr>2025/11/28</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Kuwata, Masayuki (SGC)</cp:lastModifiedBy>
  <cp:revision>1</cp:revision>
  <dcterms:modified xsi:type="dcterms:W3CDTF">2026-01-09T00:48:20Z</dcterms:modified>
</cp:coreProperties>
</file>