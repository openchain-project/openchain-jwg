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5"/>
    <p:sldMasterId id="214748366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y="5143500" cx="9144000"/>
  <p:notesSz cx="6858000" cy="9144000"/>
  <p:embeddedFontLst>
    <p:embeddedFont>
      <p:font typeface="Roboto Slab Light"/>
      <p:regular r:id="rId63"/>
      <p:bold r:id="rId64"/>
    </p:embeddedFont>
    <p:embeddedFont>
      <p:font typeface="Economica"/>
      <p:regular r:id="rId65"/>
      <p:bold r:id="rId66"/>
      <p:italic r:id="rId67"/>
      <p:boldItalic r:id="rId68"/>
    </p:embeddedFont>
    <p:embeddedFont>
      <p:font typeface="Roboto"/>
      <p:regular r:id="rId69"/>
      <p:bold r:id="rId70"/>
      <p:italic r:id="rId71"/>
      <p:boldItalic r:id="rId72"/>
    </p:embeddedFont>
    <p:embeddedFont>
      <p:font typeface="Open Sans Medium"/>
      <p:regular r:id="rId73"/>
      <p:bold r:id="rId74"/>
      <p:italic r:id="rId75"/>
      <p:boldItalic r:id="rId76"/>
    </p:embeddedFont>
    <p:embeddedFont>
      <p:font typeface="Carter One"/>
      <p:regular r:id="rId77"/>
    </p:embeddedFont>
    <p:embeddedFont>
      <p:font typeface="Open Sans"/>
      <p:regular r:id="rId78"/>
      <p:bold r:id="rId79"/>
      <p:italic r:id="rId80"/>
      <p:boldItalic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FD3480A-EDBB-40F8-99A1-C475AF1C3352}">
  <a:tblStyle styleId="{7FD3480A-EDBB-40F8-99A1-C475AF1C335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80" Type="http://schemas.openxmlformats.org/officeDocument/2006/relationships/font" Target="fonts/OpenSans-italic.fntdata"/><Relationship Id="rId81" Type="http://schemas.openxmlformats.org/officeDocument/2006/relationships/font" Target="fonts/Open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OpenSansMedium-regular.fntdata"/><Relationship Id="rId72" Type="http://schemas.openxmlformats.org/officeDocument/2006/relationships/font" Target="fonts/Roboto-boldItalic.fntdata"/><Relationship Id="rId31" Type="http://schemas.openxmlformats.org/officeDocument/2006/relationships/slide" Target="slides/slide24.xml"/><Relationship Id="rId75" Type="http://schemas.openxmlformats.org/officeDocument/2006/relationships/font" Target="fonts/OpenSansMedium-italic.fntdata"/><Relationship Id="rId30" Type="http://schemas.openxmlformats.org/officeDocument/2006/relationships/slide" Target="slides/slide23.xml"/><Relationship Id="rId74" Type="http://schemas.openxmlformats.org/officeDocument/2006/relationships/font" Target="fonts/OpenSansMedium-bold.fntdata"/><Relationship Id="rId33" Type="http://schemas.openxmlformats.org/officeDocument/2006/relationships/slide" Target="slides/slide26.xml"/><Relationship Id="rId77" Type="http://schemas.openxmlformats.org/officeDocument/2006/relationships/font" Target="fonts/CarterOne-regular.fntdata"/><Relationship Id="rId32" Type="http://schemas.openxmlformats.org/officeDocument/2006/relationships/slide" Target="slides/slide25.xml"/><Relationship Id="rId76" Type="http://schemas.openxmlformats.org/officeDocument/2006/relationships/font" Target="fonts/OpenSansMedium-boldItalic.fntdata"/><Relationship Id="rId35" Type="http://schemas.openxmlformats.org/officeDocument/2006/relationships/slide" Target="slides/slide28.xml"/><Relationship Id="rId79" Type="http://schemas.openxmlformats.org/officeDocument/2006/relationships/font" Target="fonts/OpenSans-bold.fntdata"/><Relationship Id="rId34" Type="http://schemas.openxmlformats.org/officeDocument/2006/relationships/slide" Target="slides/slide27.xml"/><Relationship Id="rId78" Type="http://schemas.openxmlformats.org/officeDocument/2006/relationships/font" Target="fonts/OpenSans-regular.fntdata"/><Relationship Id="rId71" Type="http://schemas.openxmlformats.org/officeDocument/2006/relationships/font" Target="fonts/Roboto-italic.fntdata"/><Relationship Id="rId70" Type="http://schemas.openxmlformats.org/officeDocument/2006/relationships/font" Target="fonts/Roboto-bold.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font" Target="fonts/RobotoSlabLight-bold.fntdata"/><Relationship Id="rId63" Type="http://schemas.openxmlformats.org/officeDocument/2006/relationships/font" Target="fonts/RobotoSlabLight-regular.fntdata"/><Relationship Id="rId22" Type="http://schemas.openxmlformats.org/officeDocument/2006/relationships/slide" Target="slides/slide15.xml"/><Relationship Id="rId66" Type="http://schemas.openxmlformats.org/officeDocument/2006/relationships/font" Target="fonts/Economica-bold.fntdata"/><Relationship Id="rId21" Type="http://schemas.openxmlformats.org/officeDocument/2006/relationships/slide" Target="slides/slide14.xml"/><Relationship Id="rId65" Type="http://schemas.openxmlformats.org/officeDocument/2006/relationships/font" Target="fonts/Economica-regular.fntdata"/><Relationship Id="rId24" Type="http://schemas.openxmlformats.org/officeDocument/2006/relationships/slide" Target="slides/slide17.xml"/><Relationship Id="rId68" Type="http://schemas.openxmlformats.org/officeDocument/2006/relationships/font" Target="fonts/Economica-boldItalic.fntdata"/><Relationship Id="rId23" Type="http://schemas.openxmlformats.org/officeDocument/2006/relationships/slide" Target="slides/slide16.xml"/><Relationship Id="rId67" Type="http://schemas.openxmlformats.org/officeDocument/2006/relationships/font" Target="fonts/Economica-italic.fntdata"/><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Roboto-regular.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c312e1db90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c312e1db90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c312e1db90_0_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g2c312e1db90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c312e1db90_0_1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2c312e1db90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c312e1db90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2c312e1db90_1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ffcbfe944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2ffcbfe9442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f17e4363b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f17e4363b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fc8700518d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fc8700518d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fc870051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fc870051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ja"/>
              <a:t>OSS is essential to business</a:t>
            </a:r>
            <a:endParaRPr/>
          </a:p>
          <a:p>
            <a:pPr indent="-298450" lvl="0" marL="457200" rtl="0" algn="l">
              <a:lnSpc>
                <a:spcPct val="115000"/>
              </a:lnSpc>
              <a:spcBef>
                <a:spcPts val="0"/>
              </a:spcBef>
              <a:spcAft>
                <a:spcPts val="0"/>
              </a:spcAft>
              <a:buClr>
                <a:schemeClr val="dk1"/>
              </a:buClr>
              <a:buSzPts val="1100"/>
              <a:buChar char="●"/>
            </a:pPr>
            <a:r>
              <a:rPr lang="ja"/>
              <a:t>OSS itself does not generate profit</a:t>
            </a:r>
            <a:endParaRPr/>
          </a:p>
          <a:p>
            <a:pPr indent="-298450" lvl="0" marL="457200" rtl="0" algn="l">
              <a:lnSpc>
                <a:spcPct val="115000"/>
              </a:lnSpc>
              <a:spcBef>
                <a:spcPts val="0"/>
              </a:spcBef>
              <a:spcAft>
                <a:spcPts val="0"/>
              </a:spcAft>
              <a:buClr>
                <a:schemeClr val="dk1"/>
              </a:buClr>
              <a:buSzPts val="1100"/>
              <a:buChar char="●"/>
            </a:pPr>
            <a:r>
              <a:rPr lang="ja"/>
              <a:t>Profit is generated through OSS utilization</a:t>
            </a:r>
            <a:endParaRPr/>
          </a:p>
          <a:p>
            <a:pPr indent="-298450" lvl="0" marL="457200" rtl="0" algn="l">
              <a:lnSpc>
                <a:spcPct val="115000"/>
              </a:lnSpc>
              <a:spcBef>
                <a:spcPts val="0"/>
              </a:spcBef>
              <a:spcAft>
                <a:spcPts val="0"/>
              </a:spcAft>
              <a:buClr>
                <a:schemeClr val="dk1"/>
              </a:buClr>
              <a:buSzPts val="1100"/>
              <a:buChar char="●"/>
            </a:pPr>
            <a:r>
              <a:rPr lang="ja"/>
              <a:t>Businesses near and far from OSS</a:t>
            </a:r>
            <a:endParaRPr/>
          </a:p>
          <a:p>
            <a:pPr indent="-298450" lvl="0" marL="457200" rtl="0" algn="l">
              <a:lnSpc>
                <a:spcPct val="115000"/>
              </a:lnSpc>
              <a:spcBef>
                <a:spcPts val="0"/>
              </a:spcBef>
              <a:spcAft>
                <a:spcPts val="0"/>
              </a:spcAft>
              <a:buClr>
                <a:schemeClr val="dk1"/>
              </a:buClr>
              <a:buSzPts val="1100"/>
              <a:buChar char="●"/>
            </a:pPr>
            <a:r>
              <a:rPr lang="ja"/>
              <a:t>Think about the relationship between them,</a:t>
            </a:r>
            <a:endParaRPr/>
          </a:p>
          <a:p>
            <a:pPr indent="-298450" lvl="0" marL="457200" rtl="0" algn="l">
              <a:lnSpc>
                <a:spcPct val="115000"/>
              </a:lnSpc>
              <a:spcBef>
                <a:spcPts val="0"/>
              </a:spcBef>
              <a:spcAft>
                <a:spcPts val="0"/>
              </a:spcAft>
              <a:buClr>
                <a:schemeClr val="dk1"/>
              </a:buClr>
              <a:buSzPts val="1100"/>
              <a:buChar char="●"/>
            </a:pPr>
            <a:r>
              <a:rPr lang="ja"/>
              <a:t>and discuss issues</a:t>
            </a:r>
            <a:endParaRPr/>
          </a:p>
          <a:p>
            <a:pPr indent="-298450" lvl="0" marL="457200" rtl="0" algn="l">
              <a:lnSpc>
                <a:spcPct val="115000"/>
              </a:lnSpc>
              <a:spcBef>
                <a:spcPts val="0"/>
              </a:spcBef>
              <a:spcAft>
                <a:spcPts val="0"/>
              </a:spcAft>
              <a:buClr>
                <a:schemeClr val="dk1"/>
              </a:buClr>
              <a:buSzPts val="1100"/>
              <a:buChar char="●"/>
            </a:pPr>
            <a:r>
              <a:rPr lang="ja"/>
              <a:t>do not focus on discussion about internal rules, process samples related with OSS in company, OSPO KPI, etc.</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fc8700518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fc8700518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ja"/>
              <a:t>Imagine the issues of OSS activities of companies (persona) who do business by leveraging OSS</a:t>
            </a:r>
            <a:endParaRPr/>
          </a:p>
          <a:p>
            <a:pPr indent="-298450" lvl="0" marL="457200" rtl="0" algn="l">
              <a:lnSpc>
                <a:spcPct val="115000"/>
              </a:lnSpc>
              <a:spcBef>
                <a:spcPts val="0"/>
              </a:spcBef>
              <a:spcAft>
                <a:spcPts val="0"/>
              </a:spcAft>
              <a:buClr>
                <a:schemeClr val="dk1"/>
              </a:buClr>
              <a:buSzPts val="1100"/>
              <a:buChar char="●"/>
            </a:pPr>
            <a:r>
              <a:rPr lang="ja"/>
              <a:t>Almost the same OSS contribution activity items required</a:t>
            </a:r>
            <a:endParaRPr/>
          </a:p>
          <a:p>
            <a:pPr indent="-298450" lvl="0" marL="457200" rtl="0" algn="l">
              <a:lnSpc>
                <a:spcPct val="115000"/>
              </a:lnSpc>
              <a:spcBef>
                <a:spcPts val="0"/>
              </a:spcBef>
              <a:spcAft>
                <a:spcPts val="0"/>
              </a:spcAft>
              <a:buClr>
                <a:schemeClr val="dk1"/>
              </a:buClr>
              <a:buSzPts val="1100"/>
              <a:buChar char="●"/>
            </a:pPr>
            <a:r>
              <a:rPr lang="ja"/>
              <a:t>However, the impact of each activity on the business is different.</a:t>
            </a:r>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2482b2db4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2482b2db4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2482b2db4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2482b2db4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2482b2db4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2482b2db4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2482b2db4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2482b2db4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2482b2db4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2482b2db4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2482b2db4b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2482b2db4b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2482b2db4b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2482b2db4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2482b2db4b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2482b2db4b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2482b2db4b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2482b2db4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2482b2db4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2482b2db4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2482b2db4b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2482b2db4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2482b2db4b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2482b2db4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2482b2db4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2482b2db4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2482b2db4b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2482b2db4b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2482b2db4b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2482b2db4b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2482b2db4b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2482b2db4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2482b2db4b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2482b2db4b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2482b2db4b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2482b2db4b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2482b2db4b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2482b2db4b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fc8700518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fc8700518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Char char="●"/>
            </a:pPr>
            <a:r>
              <a:rPr lang="ja"/>
              <a:t>Discussing the weight of each contribution activity items and its impact per each persona company.</a:t>
            </a:r>
            <a:endParaRPr/>
          </a:p>
          <a:p>
            <a:pPr indent="-298450" lvl="0" marL="457200" rtl="0" algn="l">
              <a:lnSpc>
                <a:spcPct val="115000"/>
              </a:lnSpc>
              <a:spcBef>
                <a:spcPts val="0"/>
              </a:spcBef>
              <a:spcAft>
                <a:spcPts val="0"/>
              </a:spcAft>
              <a:buSzPts val="1100"/>
              <a:buChar char="●"/>
            </a:pPr>
            <a:r>
              <a:rPr lang="ja"/>
              <a:t>Please join us!</a:t>
            </a:r>
            <a:endParaRPr/>
          </a:p>
          <a:p>
            <a:pPr indent="0" lvl="0" marL="0" rtl="0" algn="l">
              <a:spcBef>
                <a:spcPts val="120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7e40de764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7e40de764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8af0dee4b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8af0dee4b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65d64040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65d64040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7e40de764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7e40de764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565807b9d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565807b9d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565807b9d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565807b9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4aea7a4d0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4aea7a4d0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4aea7a4d05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4aea7a4d0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64248ac5ed2d8aa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64248ac5ed2d8aa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40815d97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40815d97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64248ac5ed2d8aa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264248ac5ed2d8aa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64248ac5ed2d8aa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264248ac5ed2d8aa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23e9bd2b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23e9bd2b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34be9f95c5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34be9f95c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34be9f95c5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34be9f95c5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34be9f95c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34be9f95c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ffcbfe944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ffcbfe944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ffcbfe944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2ffcbfe944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eba2b6840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2eba2b6840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2f17e4363b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2f17e4363b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ebb5a9d6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2ebb5a9d6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2f17e4363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2f17e4363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2ffcbfe944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2ffcbfe944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2c312e1db90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2c312e1db90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2bde24da8e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2bde24da8e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 Id="rId3" Type="http://schemas.openxmlformats.org/officeDocument/2006/relationships/image" Target="../media/image7.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スライド" type="title">
  <p:cSld name="TITLE">
    <p:spTree>
      <p:nvGrpSpPr>
        <p:cNvPr id="62" name="Shape 62"/>
        <p:cNvGrpSpPr/>
        <p:nvPr/>
      </p:nvGrpSpPr>
      <p:grpSpPr>
        <a:xfrm>
          <a:off x="0" y="0"/>
          <a:ext cx="0" cy="0"/>
          <a:chOff x="0" y="0"/>
          <a:chExt cx="0" cy="0"/>
        </a:xfrm>
      </p:grpSpPr>
      <p:sp>
        <p:nvSpPr>
          <p:cNvPr id="63" name="Google Shape;63;p14"/>
          <p:cNvSpPr txBox="1"/>
          <p:nvPr>
            <p:ph idx="1" type="subTitle"/>
          </p:nvPr>
        </p:nvSpPr>
        <p:spPr>
          <a:xfrm>
            <a:off x="1143000" y="2701528"/>
            <a:ext cx="6858000" cy="1241700"/>
          </a:xfrm>
          <a:prstGeom prst="rect">
            <a:avLst/>
          </a:prstGeom>
          <a:noFill/>
          <a:ln>
            <a:noFill/>
          </a:ln>
        </p:spPr>
        <p:txBody>
          <a:bodyPr anchorCtr="0" anchor="t" bIns="91425" lIns="91425" spcFirstLastPara="1" rIns="91425" wrap="square" tIns="91425">
            <a:normAutofit/>
          </a:bodyPr>
          <a:lstStyle>
            <a:lvl1pPr lvl="0" rtl="0" algn="ctr">
              <a:lnSpc>
                <a:spcPct val="115000"/>
              </a:lnSpc>
              <a:spcBef>
                <a:spcPts val="0"/>
              </a:spcBef>
              <a:spcAft>
                <a:spcPts val="0"/>
              </a:spcAft>
              <a:buSzPts val="1800"/>
              <a:buNone/>
              <a:defRPr sz="1800"/>
            </a:lvl1pPr>
            <a:lvl2pPr lvl="1" rtl="0" algn="ctr">
              <a:lnSpc>
                <a:spcPct val="115000"/>
              </a:lnSpc>
              <a:spcBef>
                <a:spcPts val="0"/>
              </a:spcBef>
              <a:spcAft>
                <a:spcPts val="0"/>
              </a:spcAft>
              <a:buSzPts val="1400"/>
              <a:buNone/>
              <a:defRPr sz="1500"/>
            </a:lvl2pPr>
            <a:lvl3pPr lvl="2" rtl="0" algn="ctr">
              <a:lnSpc>
                <a:spcPct val="115000"/>
              </a:lnSpc>
              <a:spcBef>
                <a:spcPts val="0"/>
              </a:spcBef>
              <a:spcAft>
                <a:spcPts val="0"/>
              </a:spcAft>
              <a:buSzPts val="1400"/>
              <a:buNone/>
              <a:defRPr sz="1350"/>
            </a:lvl3pPr>
            <a:lvl4pPr lvl="3" rtl="0" algn="ctr">
              <a:lnSpc>
                <a:spcPct val="115000"/>
              </a:lnSpc>
              <a:spcBef>
                <a:spcPts val="0"/>
              </a:spcBef>
              <a:spcAft>
                <a:spcPts val="0"/>
              </a:spcAft>
              <a:buSzPts val="1400"/>
              <a:buNone/>
              <a:defRPr sz="1200"/>
            </a:lvl4pPr>
            <a:lvl5pPr lvl="4" rtl="0" algn="ctr">
              <a:lnSpc>
                <a:spcPct val="115000"/>
              </a:lnSpc>
              <a:spcBef>
                <a:spcPts val="0"/>
              </a:spcBef>
              <a:spcAft>
                <a:spcPts val="0"/>
              </a:spcAft>
              <a:buSzPts val="1400"/>
              <a:buNone/>
              <a:defRPr sz="1200"/>
            </a:lvl5pPr>
            <a:lvl6pPr lvl="5" rtl="0" algn="ctr">
              <a:lnSpc>
                <a:spcPct val="115000"/>
              </a:lnSpc>
              <a:spcBef>
                <a:spcPts val="0"/>
              </a:spcBef>
              <a:spcAft>
                <a:spcPts val="0"/>
              </a:spcAft>
              <a:buSzPts val="1400"/>
              <a:buNone/>
              <a:defRPr sz="1200"/>
            </a:lvl6pPr>
            <a:lvl7pPr lvl="6" rtl="0" algn="ctr">
              <a:lnSpc>
                <a:spcPct val="115000"/>
              </a:lnSpc>
              <a:spcBef>
                <a:spcPts val="0"/>
              </a:spcBef>
              <a:spcAft>
                <a:spcPts val="0"/>
              </a:spcAft>
              <a:buSzPts val="1400"/>
              <a:buNone/>
              <a:defRPr sz="1200"/>
            </a:lvl7pPr>
            <a:lvl8pPr lvl="7" rtl="0" algn="ctr">
              <a:lnSpc>
                <a:spcPct val="115000"/>
              </a:lnSpc>
              <a:spcBef>
                <a:spcPts val="0"/>
              </a:spcBef>
              <a:spcAft>
                <a:spcPts val="0"/>
              </a:spcAft>
              <a:buSzPts val="1400"/>
              <a:buNone/>
              <a:defRPr sz="1200"/>
            </a:lvl8pPr>
            <a:lvl9pPr lvl="8" rtl="0" algn="ctr">
              <a:lnSpc>
                <a:spcPct val="115000"/>
              </a:lnSpc>
              <a:spcBef>
                <a:spcPts val="0"/>
              </a:spcBef>
              <a:spcAft>
                <a:spcPts val="0"/>
              </a:spcAft>
              <a:buSzPts val="1400"/>
              <a:buNone/>
              <a:defRPr sz="1200"/>
            </a:lvl9pPr>
          </a:lstStyle>
          <a:p/>
        </p:txBody>
      </p:sp>
      <p:sp>
        <p:nvSpPr>
          <p:cNvPr id="64" name="Google Shape;64;p1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5" name="Google Shape;65;p1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6" name="Google Shape;66;p1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rtl="0" algn="r">
              <a:lnSpc>
                <a:spcPct val="100000"/>
              </a:lnSpc>
              <a:spcBef>
                <a:spcPts val="0"/>
              </a:spcBef>
              <a:spcAft>
                <a:spcPts val="0"/>
              </a:spcAft>
              <a:buSzPts val="1000"/>
              <a:buNone/>
              <a:defRPr/>
            </a:lvl1pPr>
            <a:lvl2pPr indent="0" lvl="1" marL="0" rtl="0" algn="r">
              <a:lnSpc>
                <a:spcPct val="100000"/>
              </a:lnSpc>
              <a:spcBef>
                <a:spcPts val="0"/>
              </a:spcBef>
              <a:spcAft>
                <a:spcPts val="0"/>
              </a:spcAft>
              <a:buSzPts val="1000"/>
              <a:buNone/>
              <a:defRPr/>
            </a:lvl2pPr>
            <a:lvl3pPr indent="0" lvl="2" marL="0" rtl="0" algn="r">
              <a:lnSpc>
                <a:spcPct val="100000"/>
              </a:lnSpc>
              <a:spcBef>
                <a:spcPts val="0"/>
              </a:spcBef>
              <a:spcAft>
                <a:spcPts val="0"/>
              </a:spcAft>
              <a:buSzPts val="1000"/>
              <a:buNone/>
              <a:defRPr/>
            </a:lvl3pPr>
            <a:lvl4pPr indent="0" lvl="3" marL="0" rtl="0" algn="r">
              <a:lnSpc>
                <a:spcPct val="100000"/>
              </a:lnSpc>
              <a:spcBef>
                <a:spcPts val="0"/>
              </a:spcBef>
              <a:spcAft>
                <a:spcPts val="0"/>
              </a:spcAft>
              <a:buSzPts val="1000"/>
              <a:buNone/>
              <a:defRPr/>
            </a:lvl4pPr>
            <a:lvl5pPr indent="0" lvl="4" marL="0" rtl="0" algn="r">
              <a:lnSpc>
                <a:spcPct val="100000"/>
              </a:lnSpc>
              <a:spcBef>
                <a:spcPts val="0"/>
              </a:spcBef>
              <a:spcAft>
                <a:spcPts val="0"/>
              </a:spcAft>
              <a:buSzPts val="1000"/>
              <a:buNone/>
              <a:defRPr/>
            </a:lvl5pPr>
            <a:lvl6pPr indent="0" lvl="5" marL="0" rtl="0" algn="r">
              <a:lnSpc>
                <a:spcPct val="100000"/>
              </a:lnSpc>
              <a:spcBef>
                <a:spcPts val="0"/>
              </a:spcBef>
              <a:spcAft>
                <a:spcPts val="0"/>
              </a:spcAft>
              <a:buSzPts val="1000"/>
              <a:buNone/>
              <a:defRPr/>
            </a:lvl6pPr>
            <a:lvl7pPr indent="0" lvl="6" marL="0" rtl="0" algn="r">
              <a:lnSpc>
                <a:spcPct val="100000"/>
              </a:lnSpc>
              <a:spcBef>
                <a:spcPts val="0"/>
              </a:spcBef>
              <a:spcAft>
                <a:spcPts val="0"/>
              </a:spcAft>
              <a:buSzPts val="1000"/>
              <a:buNone/>
              <a:defRPr/>
            </a:lvl7pPr>
            <a:lvl8pPr indent="0" lvl="7" marL="0" rtl="0" algn="r">
              <a:lnSpc>
                <a:spcPct val="100000"/>
              </a:lnSpc>
              <a:spcBef>
                <a:spcPts val="0"/>
              </a:spcBef>
              <a:spcAft>
                <a:spcPts val="0"/>
              </a:spcAft>
              <a:buSzPts val="1000"/>
              <a:buNone/>
              <a:defRPr/>
            </a:lvl8pPr>
            <a:lvl9pPr indent="0" lvl="8" marL="0" rtl="0" algn="r">
              <a:lnSpc>
                <a:spcPct val="100000"/>
              </a:lnSpc>
              <a:spcBef>
                <a:spcPts val="0"/>
              </a:spcBef>
              <a:spcAft>
                <a:spcPts val="0"/>
              </a:spcAft>
              <a:buSzPts val="1000"/>
              <a:buNone/>
              <a:defRPr/>
            </a:lvl9pPr>
          </a:lstStyle>
          <a:p>
            <a:pPr indent="0" lvl="0" marL="0" rtl="0" algn="r">
              <a:spcBef>
                <a:spcPts val="0"/>
              </a:spcBef>
              <a:spcAft>
                <a:spcPts val="0"/>
              </a:spcAft>
              <a:buNone/>
            </a:pPr>
            <a:fld id="{00000000-1234-1234-1234-123412341234}" type="slidenum">
              <a:rPr lang="ja"/>
              <a:t>‹#›</a:t>
            </a:fld>
            <a:endParaRPr/>
          </a:p>
        </p:txBody>
      </p:sp>
      <p:pic>
        <p:nvPicPr>
          <p:cNvPr descr="Image number 7" id="67" name="Google Shape;67;p14"/>
          <p:cNvPicPr preferRelativeResize="0"/>
          <p:nvPr/>
        </p:nvPicPr>
        <p:blipFill rotWithShape="1">
          <a:blip r:embed="rId2">
            <a:alphaModFix/>
          </a:blip>
          <a:srcRect b="0" l="0" r="0" t="0"/>
          <a:stretch/>
        </p:blipFill>
        <p:spPr>
          <a:xfrm>
            <a:off x="0" y="0"/>
            <a:ext cx="6858000" cy="5143500"/>
          </a:xfrm>
          <a:prstGeom prst="rect">
            <a:avLst/>
          </a:prstGeom>
          <a:noFill/>
          <a:ln>
            <a:noFill/>
          </a:ln>
        </p:spPr>
      </p:pic>
      <p:pic>
        <p:nvPicPr>
          <p:cNvPr descr="アイコン が含まれている画像&#10;&#10;自動的に生成された説明" id="68" name="Google Shape;68;p14"/>
          <p:cNvPicPr preferRelativeResize="0"/>
          <p:nvPr/>
        </p:nvPicPr>
        <p:blipFill rotWithShape="1">
          <a:blip r:embed="rId3">
            <a:alphaModFix/>
          </a:blip>
          <a:srcRect b="0" l="0" r="0" t="0"/>
          <a:stretch/>
        </p:blipFill>
        <p:spPr>
          <a:xfrm>
            <a:off x="6823292" y="4476850"/>
            <a:ext cx="1101674" cy="701177"/>
          </a:xfrm>
          <a:prstGeom prst="rect">
            <a:avLst/>
          </a:prstGeom>
          <a:noFill/>
          <a:ln>
            <a:noFill/>
          </a:ln>
        </p:spPr>
      </p:pic>
      <p:sp>
        <p:nvSpPr>
          <p:cNvPr id="69" name="Google Shape;69;p14"/>
          <p:cNvSpPr txBox="1"/>
          <p:nvPr>
            <p:ph type="ctrTitle"/>
          </p:nvPr>
        </p:nvSpPr>
        <p:spPr>
          <a:xfrm>
            <a:off x="0" y="4113454"/>
            <a:ext cx="6858000" cy="726900"/>
          </a:xfrm>
          <a:prstGeom prst="rect">
            <a:avLst/>
          </a:prstGeom>
          <a:solidFill>
            <a:schemeClr val="lt1">
              <a:alpha val="69800"/>
            </a:schemeClr>
          </a:solid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3000"/>
              <a:buNone/>
              <a:defRPr sz="4000">
                <a:latin typeface="Arial"/>
                <a:ea typeface="Arial"/>
                <a:cs typeface="Arial"/>
                <a:sym typeface="Arial"/>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70" name="Google Shape;70;p14"/>
          <p:cNvSpPr txBox="1"/>
          <p:nvPr/>
        </p:nvSpPr>
        <p:spPr>
          <a:xfrm>
            <a:off x="-1" y="2986862"/>
            <a:ext cx="6900300" cy="1115100"/>
          </a:xfrm>
          <a:prstGeom prst="rect">
            <a:avLst/>
          </a:prstGeom>
          <a:solidFill>
            <a:schemeClr val="lt1">
              <a:alpha val="69800"/>
            </a:schemeClr>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Roboto Slab Light"/>
              <a:buNone/>
            </a:pPr>
            <a:r>
              <a:rPr b="0" i="0" lang="ja" sz="5400" u="none" cap="none" strike="noStrike">
                <a:solidFill>
                  <a:schemeClr val="dk1"/>
                </a:solidFill>
                <a:latin typeface="Arial"/>
                <a:ea typeface="Arial"/>
                <a:cs typeface="Arial"/>
                <a:sym typeface="Arial"/>
              </a:rPr>
              <a:t>Japan Local Meetup</a:t>
            </a:r>
            <a:endParaRPr b="0" i="0" sz="5400" u="none" cap="none" strike="noStrike">
              <a:solidFill>
                <a:schemeClr val="dk1"/>
              </a:solidFill>
              <a:latin typeface="Arial"/>
              <a:ea typeface="Arial"/>
              <a:cs typeface="Arial"/>
              <a:sym typeface="Arial"/>
            </a:endParaRPr>
          </a:p>
        </p:txBody>
      </p:sp>
      <p:pic>
        <p:nvPicPr>
          <p:cNvPr id="71" name="Google Shape;71;p14"/>
          <p:cNvPicPr preferRelativeResize="0"/>
          <p:nvPr/>
        </p:nvPicPr>
        <p:blipFill rotWithShape="1">
          <a:blip r:embed="rId4">
            <a:alphaModFix/>
          </a:blip>
          <a:srcRect b="0" l="0" r="0" t="0"/>
          <a:stretch/>
        </p:blipFill>
        <p:spPr>
          <a:xfrm>
            <a:off x="7976988" y="4548211"/>
            <a:ext cx="1115497" cy="59528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2" name="Shape 72"/>
        <p:cNvGrpSpPr/>
        <p:nvPr/>
      </p:nvGrpSpPr>
      <p:grpSpPr>
        <a:xfrm>
          <a:off x="0" y="0"/>
          <a:ext cx="0" cy="0"/>
          <a:chOff x="0" y="0"/>
          <a:chExt cx="0" cy="0"/>
        </a:xfrm>
      </p:grpSpPr>
      <p:sp>
        <p:nvSpPr>
          <p:cNvPr id="73" name="Google Shape;73;p15"/>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5"/>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5"/>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76" name="Google Shape;76;p1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ja"/>
              <a:t>‹#›</a:t>
            </a:fld>
            <a:endParaRPr/>
          </a:p>
        </p:txBody>
      </p:sp>
      <p:sp>
        <p:nvSpPr>
          <p:cNvPr id="77" name="Google Shape;77;p15"/>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15"/>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pic>
        <p:nvPicPr>
          <p:cNvPr id="79" name="Google Shape;79;p15"/>
          <p:cNvPicPr preferRelativeResize="0"/>
          <p:nvPr/>
        </p:nvPicPr>
        <p:blipFill rotWithShape="1">
          <a:blip r:embed="rId2">
            <a:alphaModFix/>
          </a:blip>
          <a:srcRect b="0" l="0" r="0" t="0"/>
          <a:stretch/>
        </p:blipFill>
        <p:spPr>
          <a:xfrm>
            <a:off x="190335" y="4651200"/>
            <a:ext cx="970780" cy="319850"/>
          </a:xfrm>
          <a:prstGeom prst="rect">
            <a:avLst/>
          </a:prstGeom>
          <a:noFill/>
          <a:ln>
            <a:noFill/>
          </a:ln>
        </p:spPr>
      </p:pic>
      <p:pic>
        <p:nvPicPr>
          <p:cNvPr id="80" name="Google Shape;80;p15"/>
          <p:cNvPicPr preferRelativeResize="0"/>
          <p:nvPr/>
        </p:nvPicPr>
        <p:blipFill rotWithShape="1">
          <a:blip r:embed="rId3">
            <a:alphaModFix/>
          </a:blip>
          <a:srcRect b="0" l="0" r="0" t="0"/>
          <a:stretch/>
        </p:blipFill>
        <p:spPr>
          <a:xfrm>
            <a:off x="1315843" y="4618434"/>
            <a:ext cx="673324" cy="385382"/>
          </a:xfrm>
          <a:prstGeom prst="rect">
            <a:avLst/>
          </a:prstGeom>
          <a:noFill/>
          <a:ln>
            <a:noFill/>
          </a:ln>
        </p:spPr>
      </p:pic>
      <p:pic>
        <p:nvPicPr>
          <p:cNvPr id="81" name="Google Shape;81;p15"/>
          <p:cNvPicPr preferRelativeResize="0"/>
          <p:nvPr/>
        </p:nvPicPr>
        <p:blipFill rotWithShape="1">
          <a:blip r:embed="rId4">
            <a:alphaModFix/>
          </a:blip>
          <a:srcRect b="0" l="0" r="0" t="0"/>
          <a:stretch/>
        </p:blipFill>
        <p:spPr>
          <a:xfrm>
            <a:off x="2198020" y="4550887"/>
            <a:ext cx="1212850" cy="60642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2" name="Shape 82"/>
        <p:cNvGrpSpPr/>
        <p:nvPr/>
      </p:nvGrpSpPr>
      <p:grpSpPr>
        <a:xfrm>
          <a:off x="0" y="0"/>
          <a:ext cx="0" cy="0"/>
          <a:chOff x="0" y="0"/>
          <a:chExt cx="0" cy="0"/>
        </a:xfrm>
      </p:grpSpPr>
      <p:sp>
        <p:nvSpPr>
          <p:cNvPr id="83" name="Google Shape;83;p16"/>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rtl="0" algn="l">
              <a:lnSpc>
                <a:spcPct val="100000"/>
              </a:lnSpc>
              <a:spcBef>
                <a:spcPts val="0"/>
              </a:spcBef>
              <a:spcAft>
                <a:spcPts val="0"/>
              </a:spcAft>
              <a:buSzPts val="1800"/>
              <a:buNone/>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84" name="Google Shape;84;p1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ja"/>
              <a:t>‹#›</a:t>
            </a:fld>
            <a:endParaRPr/>
          </a:p>
        </p:txBody>
      </p:sp>
      <p:pic>
        <p:nvPicPr>
          <p:cNvPr id="85" name="Google Shape;85;p16"/>
          <p:cNvPicPr preferRelativeResize="0"/>
          <p:nvPr/>
        </p:nvPicPr>
        <p:blipFill rotWithShape="1">
          <a:blip r:embed="rId2">
            <a:alphaModFix/>
          </a:blip>
          <a:srcRect b="0" l="0" r="0" t="0"/>
          <a:stretch/>
        </p:blipFill>
        <p:spPr>
          <a:xfrm>
            <a:off x="4572000" y="1866900"/>
            <a:ext cx="2641600" cy="1409700"/>
          </a:xfrm>
          <a:prstGeom prst="rect">
            <a:avLst/>
          </a:prstGeom>
          <a:noFill/>
          <a:ln>
            <a:noFill/>
          </a:ln>
        </p:spPr>
      </p:pic>
      <p:pic>
        <p:nvPicPr>
          <p:cNvPr descr="アイコン が含まれている画像&#10;&#10;自動的に生成された説明" id="86" name="Google Shape;86;p16"/>
          <p:cNvPicPr preferRelativeResize="0"/>
          <p:nvPr/>
        </p:nvPicPr>
        <p:blipFill rotWithShape="1">
          <a:blip r:embed="rId3">
            <a:alphaModFix/>
          </a:blip>
          <a:srcRect b="0" l="0" r="0" t="0"/>
          <a:stretch/>
        </p:blipFill>
        <p:spPr>
          <a:xfrm>
            <a:off x="1734207" y="1779785"/>
            <a:ext cx="2351763" cy="1496816"/>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ユーザー設定レイアウト(リスト表記)">
  <p:cSld name="ユーザー設定レイアウト(リスト表記)">
    <p:spTree>
      <p:nvGrpSpPr>
        <p:cNvPr id="87" name="Shape 87"/>
        <p:cNvGrpSpPr/>
        <p:nvPr/>
      </p:nvGrpSpPr>
      <p:grpSpPr>
        <a:xfrm>
          <a:off x="0" y="0"/>
          <a:ext cx="0" cy="0"/>
          <a:chOff x="0" y="0"/>
          <a:chExt cx="0" cy="0"/>
        </a:xfrm>
      </p:grpSpPr>
      <p:sp>
        <p:nvSpPr>
          <p:cNvPr id="88" name="Google Shape;88;p17"/>
          <p:cNvSpPr txBox="1"/>
          <p:nvPr>
            <p:ph idx="1" type="body"/>
          </p:nvPr>
        </p:nvSpPr>
        <p:spPr>
          <a:xfrm>
            <a:off x="313421" y="935185"/>
            <a:ext cx="8578200" cy="37719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accent1"/>
              </a:buClr>
              <a:buSzPts val="2100"/>
              <a:buFont typeface="Noto Sans Symbols"/>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accent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2"/>
              </a:buClr>
              <a:buSzPts val="1500"/>
              <a:buFont typeface="Noto Sans Symbols"/>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2"/>
              </a:buClr>
              <a:buSzPts val="1400"/>
              <a:buFont typeface="Noto Sans Symbols"/>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Noto Sans Symbols"/>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9" name="Google Shape;89;p17"/>
          <p:cNvSpPr txBox="1"/>
          <p:nvPr>
            <p:ph type="title"/>
          </p:nvPr>
        </p:nvSpPr>
        <p:spPr>
          <a:xfrm>
            <a:off x="313422" y="249493"/>
            <a:ext cx="7527000" cy="411000"/>
          </a:xfrm>
          <a:prstGeom prst="rect">
            <a:avLst/>
          </a:prstGeom>
          <a:noFill/>
          <a:ln>
            <a:noFill/>
          </a:ln>
        </p:spPr>
        <p:txBody>
          <a:bodyPr anchorCtr="0" anchor="ctr" bIns="68575" lIns="68575" spcFirstLastPara="1" rIns="68575" wrap="square" tIns="68575">
            <a:normAutofit/>
          </a:bodyPr>
          <a:lstStyle>
            <a:lvl1pPr lvl="0" marR="0" algn="l">
              <a:lnSpc>
                <a:spcPct val="90000"/>
              </a:lnSpc>
              <a:spcBef>
                <a:spcPts val="0"/>
              </a:spcBef>
              <a:spcAft>
                <a:spcPts val="0"/>
              </a:spcAft>
              <a:buClr>
                <a:schemeClr val="dk1"/>
              </a:buClr>
              <a:buSzPts val="2100"/>
              <a:buFont typeface="Arial"/>
              <a:buNone/>
              <a:defRPr b="1" i="0" sz="2100" u="none" cap="none" strike="noStrike">
                <a:solidFill>
                  <a:schemeClr val="dk1"/>
                </a:solidFill>
                <a:latin typeface="Meiryo"/>
                <a:ea typeface="Meiryo"/>
                <a:cs typeface="Meiryo"/>
                <a:sym typeface="Meiryo"/>
              </a:defRPr>
            </a:lvl1pPr>
            <a:lvl2pPr lvl="1">
              <a:spcBef>
                <a:spcPts val="0"/>
              </a:spcBef>
              <a:spcAft>
                <a:spcPts val="0"/>
              </a:spcAft>
              <a:buSzPts val="1400"/>
              <a:buFont typeface="Arial"/>
              <a:buNone/>
              <a:defRPr sz="1400"/>
            </a:lvl2pPr>
            <a:lvl3pPr lvl="2">
              <a:spcBef>
                <a:spcPts val="0"/>
              </a:spcBef>
              <a:spcAft>
                <a:spcPts val="0"/>
              </a:spcAft>
              <a:buSzPts val="1400"/>
              <a:buFont typeface="Arial"/>
              <a:buNone/>
              <a:defRPr sz="1400"/>
            </a:lvl3pPr>
            <a:lvl4pPr lvl="3">
              <a:spcBef>
                <a:spcPts val="0"/>
              </a:spcBef>
              <a:spcAft>
                <a:spcPts val="0"/>
              </a:spcAft>
              <a:buSzPts val="1400"/>
              <a:buFont typeface="Arial"/>
              <a:buNone/>
              <a:defRPr sz="1400"/>
            </a:lvl4pPr>
            <a:lvl5pPr lvl="4">
              <a:spcBef>
                <a:spcPts val="0"/>
              </a:spcBef>
              <a:spcAft>
                <a:spcPts val="0"/>
              </a:spcAft>
              <a:buSzPts val="1400"/>
              <a:buFont typeface="Arial"/>
              <a:buNone/>
              <a:defRPr sz="1400"/>
            </a:lvl5pPr>
            <a:lvl6pPr lvl="5">
              <a:spcBef>
                <a:spcPts val="0"/>
              </a:spcBef>
              <a:spcAft>
                <a:spcPts val="0"/>
              </a:spcAft>
              <a:buSzPts val="1400"/>
              <a:buFont typeface="Arial"/>
              <a:buNone/>
              <a:defRPr sz="1400"/>
            </a:lvl6pPr>
            <a:lvl7pPr lvl="6">
              <a:spcBef>
                <a:spcPts val="0"/>
              </a:spcBef>
              <a:spcAft>
                <a:spcPts val="0"/>
              </a:spcAft>
              <a:buSzPts val="1400"/>
              <a:buFont typeface="Arial"/>
              <a:buNone/>
              <a:defRPr sz="1400"/>
            </a:lvl7pPr>
            <a:lvl8pPr lvl="7">
              <a:spcBef>
                <a:spcPts val="0"/>
              </a:spcBef>
              <a:spcAft>
                <a:spcPts val="0"/>
              </a:spcAft>
              <a:buSzPts val="1400"/>
              <a:buFont typeface="Arial"/>
              <a:buNone/>
              <a:defRPr sz="1400"/>
            </a:lvl8pPr>
            <a:lvl9pPr lvl="8">
              <a:spcBef>
                <a:spcPts val="0"/>
              </a:spcBef>
              <a:spcAft>
                <a:spcPts val="0"/>
              </a:spcAft>
              <a:buSzPts val="1400"/>
              <a:buFont typeface="Arial"/>
              <a:buNone/>
              <a:defRPr sz="1400"/>
            </a:lvl9pPr>
          </a:lstStyle>
          <a:p/>
        </p:txBody>
      </p:sp>
      <p:pic>
        <p:nvPicPr>
          <p:cNvPr id="90" name="Google Shape;90;p17"/>
          <p:cNvPicPr preferRelativeResize="0"/>
          <p:nvPr/>
        </p:nvPicPr>
        <p:blipFill rotWithShape="1">
          <a:blip r:embed="rId2">
            <a:alphaModFix/>
          </a:blip>
          <a:srcRect b="0" l="0" r="0" t="0"/>
          <a:stretch/>
        </p:blipFill>
        <p:spPr>
          <a:xfrm>
            <a:off x="8100002" y="217565"/>
            <a:ext cx="791746" cy="486021"/>
          </a:xfrm>
          <a:prstGeom prst="rect">
            <a:avLst/>
          </a:prstGeom>
          <a:noFill/>
          <a:ln>
            <a:noFill/>
          </a:ln>
        </p:spPr>
      </p:pic>
      <p:cxnSp>
        <p:nvCxnSpPr>
          <p:cNvPr id="91" name="Google Shape;91;p17"/>
          <p:cNvCxnSpPr/>
          <p:nvPr/>
        </p:nvCxnSpPr>
        <p:spPr>
          <a:xfrm>
            <a:off x="313421" y="660368"/>
            <a:ext cx="7527000" cy="0"/>
          </a:xfrm>
          <a:prstGeom prst="straightConnector1">
            <a:avLst/>
          </a:prstGeom>
          <a:noFill/>
          <a:ln cap="flat" cmpd="sng" w="19050">
            <a:solidFill>
              <a:schemeClr val="dk2"/>
            </a:solidFill>
            <a:prstDash val="solid"/>
            <a:round/>
            <a:headEnd len="sm" w="sm" type="none"/>
            <a:tailEnd len="sm" w="sm" type="none"/>
          </a:ln>
        </p:spPr>
      </p:cxnSp>
      <p:sp>
        <p:nvSpPr>
          <p:cNvPr id="92" name="Google Shape;92;p1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a:solidFill>
                  <a:schemeClr val="dk1"/>
                </a:solidFill>
                <a:latin typeface="Calibri"/>
                <a:ea typeface="Calibri"/>
                <a:cs typeface="Calibri"/>
                <a:sym typeface="Calibri"/>
              </a:defRPr>
            </a:lvl1pPr>
            <a:lvl2pPr lvl="1">
              <a:buNone/>
              <a:defRPr>
                <a:solidFill>
                  <a:schemeClr val="dk1"/>
                </a:solidFill>
                <a:latin typeface="Calibri"/>
                <a:ea typeface="Calibri"/>
                <a:cs typeface="Calibri"/>
                <a:sym typeface="Calibri"/>
              </a:defRPr>
            </a:lvl2pPr>
            <a:lvl3pPr lvl="2">
              <a:buNone/>
              <a:defRPr>
                <a:solidFill>
                  <a:schemeClr val="dk1"/>
                </a:solidFill>
                <a:latin typeface="Calibri"/>
                <a:ea typeface="Calibri"/>
                <a:cs typeface="Calibri"/>
                <a:sym typeface="Calibri"/>
              </a:defRPr>
            </a:lvl3pPr>
            <a:lvl4pPr lvl="3">
              <a:buNone/>
              <a:defRPr>
                <a:solidFill>
                  <a:schemeClr val="dk1"/>
                </a:solidFill>
                <a:latin typeface="Calibri"/>
                <a:ea typeface="Calibri"/>
                <a:cs typeface="Calibri"/>
                <a:sym typeface="Calibri"/>
              </a:defRPr>
            </a:lvl4pPr>
            <a:lvl5pPr lvl="4">
              <a:buNone/>
              <a:defRPr>
                <a:solidFill>
                  <a:schemeClr val="dk1"/>
                </a:solidFill>
                <a:latin typeface="Calibri"/>
                <a:ea typeface="Calibri"/>
                <a:cs typeface="Calibri"/>
                <a:sym typeface="Calibri"/>
              </a:defRPr>
            </a:lvl5pPr>
            <a:lvl6pPr lvl="5">
              <a:buNone/>
              <a:defRPr>
                <a:solidFill>
                  <a:schemeClr val="dk1"/>
                </a:solidFill>
                <a:latin typeface="Calibri"/>
                <a:ea typeface="Calibri"/>
                <a:cs typeface="Calibri"/>
                <a:sym typeface="Calibri"/>
              </a:defRPr>
            </a:lvl6pPr>
            <a:lvl7pPr lvl="6">
              <a:buNone/>
              <a:defRPr>
                <a:solidFill>
                  <a:schemeClr val="dk1"/>
                </a:solidFill>
                <a:latin typeface="Calibri"/>
                <a:ea typeface="Calibri"/>
                <a:cs typeface="Calibri"/>
                <a:sym typeface="Calibri"/>
              </a:defRPr>
            </a:lvl7pPr>
            <a:lvl8pPr lvl="7">
              <a:buNone/>
              <a:defRPr>
                <a:solidFill>
                  <a:schemeClr val="dk1"/>
                </a:solidFill>
                <a:latin typeface="Calibri"/>
                <a:ea typeface="Calibri"/>
                <a:cs typeface="Calibri"/>
                <a:sym typeface="Calibri"/>
              </a:defRPr>
            </a:lvl8pPr>
            <a:lvl9pPr lvl="8">
              <a:buNone/>
              <a:defRPr>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8" name="Shape 58"/>
        <p:cNvGrpSpPr/>
        <p:nvPr/>
      </p:nvGrpSpPr>
      <p:grpSpPr>
        <a:xfrm>
          <a:off x="0" y="0"/>
          <a:ext cx="0" cy="0"/>
          <a:chOff x="0" y="0"/>
          <a:chExt cx="0" cy="0"/>
        </a:xfrm>
      </p:grpSpPr>
      <p:sp>
        <p:nvSpPr>
          <p:cNvPr id="59" name="Google Shape;59;p1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Light"/>
              <a:buNone/>
              <a:defRPr b="0" i="0" sz="3000" u="none" cap="none" strike="noStrike">
                <a:solidFill>
                  <a:schemeClr val="dk1"/>
                </a:solidFill>
                <a:latin typeface="Roboto Slab Light"/>
                <a:ea typeface="Roboto Slab Light"/>
                <a:cs typeface="Roboto Slab Light"/>
                <a:sym typeface="Roboto Slab Light"/>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60" name="Google Shape;60;p13"/>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Open Sans Medium"/>
              <a:buChar char="●"/>
              <a:defRPr b="0" i="0" sz="1800" u="none" cap="none" strike="noStrike">
                <a:solidFill>
                  <a:schemeClr val="dk2"/>
                </a:solidFill>
                <a:latin typeface="Open Sans Medium"/>
                <a:ea typeface="Open Sans Medium"/>
                <a:cs typeface="Open Sans Medium"/>
                <a:sym typeface="Open Sans Medium"/>
              </a:defRPr>
            </a:lvl1pPr>
            <a:lvl2pPr indent="-317500" lvl="1" marL="9144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2pPr>
            <a:lvl3pPr indent="-317500" lvl="2" marL="13716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3pPr>
            <a:lvl4pPr indent="-317500" lvl="3" marL="18288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4pPr>
            <a:lvl5pPr indent="-317500" lvl="4" marL="22860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5pPr>
            <a:lvl6pPr indent="-317500" lvl="5" marL="27432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6pPr>
            <a:lvl7pPr indent="-317500" lvl="6" marL="32004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7pPr>
            <a:lvl8pPr indent="-317500" lvl="7" marL="36576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8pPr>
            <a:lvl9pPr indent="-317500" lvl="8" marL="4114800" marR="0" rtl="0" algn="l">
              <a:lnSpc>
                <a:spcPct val="115000"/>
              </a:lnSpc>
              <a:spcBef>
                <a:spcPts val="0"/>
              </a:spcBef>
              <a:spcAft>
                <a:spcPts val="0"/>
              </a:spcAft>
              <a:buClr>
                <a:schemeClr val="dk2"/>
              </a:buClr>
              <a:buSzPts val="1400"/>
              <a:buFont typeface="Open Sans Medium"/>
              <a:buChar char="■"/>
              <a:defRPr b="0" i="0" sz="1400" u="none" cap="none" strike="noStrike">
                <a:solidFill>
                  <a:schemeClr val="dk2"/>
                </a:solidFill>
                <a:latin typeface="Open Sans Medium"/>
                <a:ea typeface="Open Sans Medium"/>
                <a:cs typeface="Open Sans Medium"/>
                <a:sym typeface="Open Sans Medium"/>
              </a:defRPr>
            </a:lvl9pPr>
          </a:lstStyle>
          <a:p/>
        </p:txBody>
      </p:sp>
      <p:sp>
        <p:nvSpPr>
          <p:cNvPr id="61" name="Google Shape;61;p1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hyperlink" Target="https://www.chathamhouse.org/about-us/chatham-house-rul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hyperlink" Target="https://www.linuxfoundation.jp/code-of-conduc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s://docs.google.com/presentation/d/1nhHDVBFhkiQLJxJEQcsKTk1nAOrBlPYSt-SDP5xbe0w" TargetMode="External"/><Relationship Id="rId4" Type="http://schemas.openxmlformats.org/officeDocument/2006/relationships/hyperlink" Target="https://docs.google.com/spreadsheets/d/12aQYG-V8R-Svmi52draGb_Kcg21N__6Vn6v36QRFs94" TargetMode="External"/><Relationship Id="rId5" Type="http://schemas.openxmlformats.org/officeDocument/2006/relationships/hyperlink" Target="https://docs.google.com/spreadsheets/d/1A7ArTnbwh3t1fcShud-SqLru9K6zmYAokUH6Zxk5sSA" TargetMode="External"/><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camaraproject.or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hyperlink" Target="https://docs.google.com/spreadsheets/d/1A7ArTnbwh3t1fcShud-SqLru9K6zmYAokUH6Zxk5sSA/edit?usp=sharing" TargetMode="External"/><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hyperlink" Target="https://www.ipa.go.jp/event/2025/briefing-ospo-workshop20251002.html" TargetMode="External"/><Relationship Id="rId4" Type="http://schemas.openxmlformats.org/officeDocument/2006/relationships/hyperlink" Target="https://www.linuxfoundation.org/hubfs/Research%20Reports/LFResearch_StateofOSPO_082025.pdf?hsLang=en"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 Id="rId3" Type="http://schemas.openxmlformats.org/officeDocument/2006/relationships/hyperlink" Target="https://docs.google.com/spreadsheets/d/1-3RHm92Xp_ES98AYW_bpPILn-dP9mXzsteFCtbhgk9c/edit?gid=0#gid=0"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 Id="rId3" Type="http://schemas.openxmlformats.org/officeDocument/2006/relationships/hyperlink" Target="https://github.com/todogroup/ospodefinition.org/blob/main/README-ja.md"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hyperlink" Target="https://arxiv.org/pdf/2402.15943" TargetMode="External"/><Relationship Id="rId4" Type="http://schemas.openxmlformats.org/officeDocument/2006/relationships/hyperlink" Target="https://lfaidata.foundation/blog/2024/04/17/introducing-the-model-openness-framework-promoting-completeness-and-openness-for-reproducibility-transparency-and-usability-in-ai/"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s://docs.google.com/spreadsheets/d/1vOwPrDIYrX29HshDwYsN1lAsQ4RcBOTEHIl9e5Oakxc/edit#gid=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descr="Image number 7" id="97" name="Google Shape;97;p18"/>
          <p:cNvPicPr preferRelativeResize="0"/>
          <p:nvPr/>
        </p:nvPicPr>
        <p:blipFill rotWithShape="1">
          <a:blip r:embed="rId3">
            <a:alphaModFix/>
          </a:blip>
          <a:srcRect b="0" l="0" r="0" t="0"/>
          <a:stretch/>
        </p:blipFill>
        <p:spPr>
          <a:xfrm>
            <a:off x="0" y="0"/>
            <a:ext cx="6858000" cy="5143500"/>
          </a:xfrm>
          <a:prstGeom prst="rect">
            <a:avLst/>
          </a:prstGeom>
          <a:noFill/>
          <a:ln>
            <a:noFill/>
          </a:ln>
        </p:spPr>
      </p:pic>
      <p:pic>
        <p:nvPicPr>
          <p:cNvPr id="98" name="Google Shape;98;p18"/>
          <p:cNvPicPr preferRelativeResize="0"/>
          <p:nvPr/>
        </p:nvPicPr>
        <p:blipFill rotWithShape="1">
          <a:blip r:embed="rId4">
            <a:alphaModFix/>
          </a:blip>
          <a:srcRect b="0" l="0" r="0" t="0"/>
          <a:stretch/>
        </p:blipFill>
        <p:spPr>
          <a:xfrm>
            <a:off x="8041926" y="4555379"/>
            <a:ext cx="1102074" cy="588121"/>
          </a:xfrm>
          <a:prstGeom prst="rect">
            <a:avLst/>
          </a:prstGeom>
          <a:noFill/>
          <a:ln>
            <a:noFill/>
          </a:ln>
        </p:spPr>
      </p:pic>
      <p:pic>
        <p:nvPicPr>
          <p:cNvPr descr="アイコン が含まれている画像&#10;&#10;自動的に生成された説明" id="99" name="Google Shape;99;p18"/>
          <p:cNvPicPr preferRelativeResize="0"/>
          <p:nvPr/>
        </p:nvPicPr>
        <p:blipFill rotWithShape="1">
          <a:blip r:embed="rId5">
            <a:alphaModFix/>
          </a:blip>
          <a:srcRect b="0" l="0" r="0" t="0"/>
          <a:stretch/>
        </p:blipFill>
        <p:spPr>
          <a:xfrm>
            <a:off x="6858000" y="4519035"/>
            <a:ext cx="981156" cy="624465"/>
          </a:xfrm>
          <a:prstGeom prst="rect">
            <a:avLst/>
          </a:prstGeom>
          <a:noFill/>
          <a:ln>
            <a:noFill/>
          </a:ln>
        </p:spPr>
      </p:pic>
      <p:sp>
        <p:nvSpPr>
          <p:cNvPr id="100" name="Google Shape;100;p18"/>
          <p:cNvSpPr txBox="1"/>
          <p:nvPr/>
        </p:nvSpPr>
        <p:spPr>
          <a:xfrm>
            <a:off x="6939725" y="68426"/>
            <a:ext cx="2140200" cy="1266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ja" sz="2800" u="none" cap="none" strike="noStrike">
                <a:solidFill>
                  <a:srgbClr val="000000"/>
                </a:solidFill>
                <a:latin typeface="Consolas"/>
                <a:ea typeface="Consolas"/>
                <a:cs typeface="Consolas"/>
                <a:sym typeface="Consolas"/>
              </a:rPr>
              <a:t>202</a:t>
            </a:r>
            <a:r>
              <a:rPr lang="ja" sz="2800">
                <a:latin typeface="Consolas"/>
                <a:ea typeface="Consolas"/>
                <a:cs typeface="Consolas"/>
                <a:sym typeface="Consolas"/>
              </a:rPr>
              <a:t>5</a:t>
            </a:r>
            <a:r>
              <a:rPr b="0" i="0" lang="ja" sz="2800" u="none" cap="none" strike="noStrike">
                <a:solidFill>
                  <a:srgbClr val="000000"/>
                </a:solidFill>
                <a:latin typeface="Consolas"/>
                <a:ea typeface="Consolas"/>
                <a:cs typeface="Consolas"/>
                <a:sym typeface="Consolas"/>
              </a:rPr>
              <a:t>-</a:t>
            </a:r>
            <a:r>
              <a:rPr lang="ja" sz="2800">
                <a:latin typeface="Consolas"/>
                <a:ea typeface="Consolas"/>
                <a:cs typeface="Consolas"/>
                <a:sym typeface="Consolas"/>
              </a:rPr>
              <a:t>10</a:t>
            </a:r>
            <a:r>
              <a:rPr b="0" i="0" lang="ja" sz="2800" u="none" cap="none" strike="noStrike">
                <a:solidFill>
                  <a:srgbClr val="000000"/>
                </a:solidFill>
                <a:latin typeface="Consolas"/>
                <a:ea typeface="Consolas"/>
                <a:cs typeface="Consolas"/>
                <a:sym typeface="Consolas"/>
              </a:rPr>
              <a:t>-</a:t>
            </a:r>
            <a:r>
              <a:rPr lang="ja" sz="2800">
                <a:latin typeface="Consolas"/>
                <a:ea typeface="Consolas"/>
                <a:cs typeface="Consolas"/>
                <a:sym typeface="Consolas"/>
              </a:rPr>
              <a:t>10</a:t>
            </a:r>
            <a:endParaRPr b="0" i="0" sz="2800" u="none" cap="none" strike="noStrike">
              <a:solidFill>
                <a:srgbClr val="000000"/>
              </a:solidFill>
              <a:latin typeface="Consolas"/>
              <a:ea typeface="Consolas"/>
              <a:cs typeface="Consolas"/>
              <a:sym typeface="Consolas"/>
            </a:endParaRPr>
          </a:p>
          <a:p>
            <a:pPr indent="0" lvl="0" marL="0" marR="0" rtl="0" algn="ctr">
              <a:lnSpc>
                <a:spcPct val="100000"/>
              </a:lnSpc>
              <a:spcBef>
                <a:spcPts val="0"/>
              </a:spcBef>
              <a:spcAft>
                <a:spcPts val="0"/>
              </a:spcAft>
              <a:buNone/>
            </a:pPr>
            <a:r>
              <a:rPr lang="ja" sz="2800"/>
              <a:t>OSS Strategy</a:t>
            </a:r>
            <a:endParaRPr sz="2800"/>
          </a:p>
        </p:txBody>
      </p:sp>
      <p:sp>
        <p:nvSpPr>
          <p:cNvPr id="101" name="Google Shape;101;p18"/>
          <p:cNvSpPr txBox="1"/>
          <p:nvPr/>
        </p:nvSpPr>
        <p:spPr>
          <a:xfrm>
            <a:off x="439375" y="3009325"/>
            <a:ext cx="6126300" cy="1086000"/>
          </a:xfrm>
          <a:prstGeom prst="rect">
            <a:avLst/>
          </a:prstGeom>
          <a:solidFill>
            <a:srgbClr val="FFFFFF">
              <a:alpha val="32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4800">
                <a:solidFill>
                  <a:srgbClr val="FFFFFF"/>
                </a:solidFill>
                <a:latin typeface="Carter One"/>
                <a:ea typeface="Carter One"/>
                <a:cs typeface="Carter One"/>
                <a:sym typeface="Carter One"/>
              </a:rPr>
              <a:t>Japan Local Meetup</a:t>
            </a:r>
            <a:endParaRPr sz="4800">
              <a:solidFill>
                <a:srgbClr val="FFFFFF"/>
              </a:solidFill>
              <a:latin typeface="Carter One"/>
              <a:ea typeface="Carter One"/>
              <a:cs typeface="Carter One"/>
              <a:sym typeface="Carter On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t>Anti-Trust Policy Notice</a:t>
            </a:r>
            <a:endParaRPr/>
          </a:p>
        </p:txBody>
      </p:sp>
      <p:sp>
        <p:nvSpPr>
          <p:cNvPr id="107" name="Google Shape;107;p19"/>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fontScale="77500" lnSpcReduction="20000"/>
          </a:bodyPr>
          <a:lstStyle/>
          <a:p>
            <a:pPr indent="-275664" lvl="0" marL="285750" rtl="0" algn="l">
              <a:lnSpc>
                <a:spcPct val="115000"/>
              </a:lnSpc>
              <a:spcBef>
                <a:spcPts val="0"/>
              </a:spcBef>
              <a:spcAft>
                <a:spcPts val="0"/>
              </a:spcAft>
              <a:buSzPct val="117647"/>
              <a:buChar char="●"/>
            </a:pPr>
            <a:r>
              <a:rPr lang="ja"/>
              <a:t>Linux Foundation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endParaRPr/>
          </a:p>
          <a:p>
            <a:pPr indent="-275664" lvl="0" marL="285750" rtl="0" algn="l">
              <a:lnSpc>
                <a:spcPct val="115000"/>
              </a:lnSpc>
              <a:spcBef>
                <a:spcPts val="1200"/>
              </a:spcBef>
              <a:spcAft>
                <a:spcPts val="0"/>
              </a:spcAft>
              <a:buSzPct val="117647"/>
              <a:buChar char="●"/>
            </a:pPr>
            <a:r>
              <a:rPr lang="ja"/>
              <a:t> Examples of types of actions that are prohibited at Linux Foundation meetings and in connection with Linux Foundation activities are described in the Linux Foundation Antitrust Policy available at http://www.linuxfoundation.org/antitrust-policy. If you have questions about these matters, please contact your company counsel, or if you are a member of the Linux Foundation, feel free to contact Andrew Updegrove of the firm of Gesmer Updegrove LLP, which provides legal counsel to the Linux Foundation.</a:t>
            </a:r>
            <a:endParaRPr/>
          </a:p>
          <a:p>
            <a:pPr indent="0" lvl="0" marL="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1200"/>
              </a:spcAft>
              <a:buSzPct val="117647"/>
              <a:buNone/>
            </a:pPr>
            <a:r>
              <a:t/>
            </a:r>
            <a:endParaRPr/>
          </a:p>
        </p:txBody>
      </p:sp>
      <p:sp>
        <p:nvSpPr>
          <p:cNvPr descr="TODO" id="108" name="Google Shape;108;p19"/>
          <p:cNvSpPr/>
          <p:nvPr/>
        </p:nvSpPr>
        <p:spPr>
          <a:xfrm>
            <a:off x="3213100" y="4701700"/>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ja">
                <a:latin typeface="Arial"/>
                <a:ea typeface="Arial"/>
                <a:cs typeface="Arial"/>
                <a:sym typeface="Arial"/>
              </a:rPr>
              <a:t>独占禁止法順守ポリシー </a:t>
            </a:r>
            <a:r>
              <a:rPr b="1" lang="ja"/>
              <a:t>(Antitrust Policy)</a:t>
            </a:r>
            <a:endParaRPr b="1"/>
          </a:p>
        </p:txBody>
      </p:sp>
      <p:sp>
        <p:nvSpPr>
          <p:cNvPr id="114" name="Google Shape;114;p20"/>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fontScale="85000" lnSpcReduction="10000"/>
          </a:bodyPr>
          <a:lstStyle/>
          <a:p>
            <a:pPr indent="-276482" lvl="0" marL="285750" rtl="0" algn="l">
              <a:lnSpc>
                <a:spcPct val="115000"/>
              </a:lnSpc>
              <a:spcBef>
                <a:spcPts val="0"/>
              </a:spcBef>
              <a:spcAft>
                <a:spcPts val="0"/>
              </a:spcAft>
              <a:buSzPct val="114467"/>
              <a:buChar char="●"/>
            </a:pPr>
            <a:r>
              <a:rPr lang="ja" sz="1700">
                <a:latin typeface="Arial"/>
                <a:ea typeface="Arial"/>
                <a:cs typeface="Arial"/>
                <a:sym typeface="Arial"/>
              </a:rPr>
              <a:t>Linux Foundation (以下LFと略す) の会議は、産業界で競合関係にある企業同士の参加が不可欠です。LFは、すべての活動を、適用されるべきすべての独占禁止法/競争法に則って運営します。従って、会議の出席者は、アジェンダに沿って会議を進め、国内外の独占禁止法/競争法の下で禁止されているいかなる活動にも参加しないよう、注意を払うことが非常に重要です。</a:t>
            </a:r>
            <a:endParaRPr sz="1700">
              <a:latin typeface="Arial"/>
              <a:ea typeface="Arial"/>
              <a:cs typeface="Arial"/>
              <a:sym typeface="Arial"/>
            </a:endParaRPr>
          </a:p>
          <a:p>
            <a:pPr indent="-276482" lvl="0" marL="285750" rtl="0" algn="l">
              <a:lnSpc>
                <a:spcPct val="115000"/>
              </a:lnSpc>
              <a:spcBef>
                <a:spcPts val="1200"/>
              </a:spcBef>
              <a:spcAft>
                <a:spcPts val="0"/>
              </a:spcAft>
              <a:buSzPct val="114467"/>
              <a:buChar char="●"/>
            </a:pPr>
            <a:r>
              <a:rPr lang="ja" sz="1700">
                <a:latin typeface="Arial"/>
                <a:ea typeface="Arial"/>
                <a:cs typeface="Arial"/>
                <a:sym typeface="Arial"/>
              </a:rPr>
              <a:t>LFの会議において、またLFの活動に関連して、禁止されている行動の例は、https://www.linuxfoundation.jp/antitrust-policy/ から入手できるLF独占禁止法順守ポリシーに記載されています。これらの事項について質問がある場合は、あなたの会社の法律顧問に問い合わせるか、もしあなたがLFのメンバーであるならば、LFの法律顧問である Gesmer Updegrove LLP の Andrew Updegrove にお問い合わせください。</a:t>
            </a:r>
            <a:endParaRPr sz="1700">
              <a:latin typeface="Arial"/>
              <a:ea typeface="Arial"/>
              <a:cs typeface="Arial"/>
              <a:sym typeface="Arial"/>
            </a:endParaRPr>
          </a:p>
          <a:p>
            <a:pPr indent="0" lvl="0" marL="0" rtl="0" algn="l">
              <a:lnSpc>
                <a:spcPct val="115000"/>
              </a:lnSpc>
              <a:spcBef>
                <a:spcPts val="1200"/>
              </a:spcBef>
              <a:spcAft>
                <a:spcPts val="0"/>
              </a:spcAft>
              <a:buSzPct val="108108"/>
              <a:buNone/>
            </a:pPr>
            <a:r>
              <a:t/>
            </a:r>
            <a:endParaRPr>
              <a:latin typeface="Arial"/>
              <a:ea typeface="Arial"/>
              <a:cs typeface="Arial"/>
              <a:sym typeface="Arial"/>
            </a:endParaRPr>
          </a:p>
          <a:p>
            <a:pPr indent="0" lvl="0" marL="0" rtl="0" algn="l">
              <a:lnSpc>
                <a:spcPct val="115000"/>
              </a:lnSpc>
              <a:spcBef>
                <a:spcPts val="1200"/>
              </a:spcBef>
              <a:spcAft>
                <a:spcPts val="1200"/>
              </a:spcAft>
              <a:buSzPct val="108108"/>
              <a:buNone/>
            </a:pPr>
            <a:r>
              <a:t/>
            </a:r>
            <a:endParaRPr>
              <a:latin typeface="Arial"/>
              <a:ea typeface="Arial"/>
              <a:cs typeface="Arial"/>
              <a:sym typeface="Arial"/>
            </a:endParaRPr>
          </a:p>
        </p:txBody>
      </p:sp>
      <p:sp>
        <p:nvSpPr>
          <p:cNvPr id="115" name="Google Shape;115;p20"/>
          <p:cNvSpPr txBox="1"/>
          <p:nvPr/>
        </p:nvSpPr>
        <p:spPr>
          <a:xfrm>
            <a:off x="0" y="101009"/>
            <a:ext cx="1107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ja" sz="1800" u="none" cap="none" strike="noStrike">
                <a:solidFill>
                  <a:srgbClr val="000000"/>
                </a:solidFill>
                <a:latin typeface="Arial"/>
                <a:ea typeface="Arial"/>
                <a:cs typeface="Arial"/>
                <a:sym typeface="Arial"/>
              </a:rPr>
              <a:t>【参考】</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latin typeface="Arial"/>
                <a:ea typeface="Arial"/>
                <a:cs typeface="Arial"/>
                <a:sym typeface="Arial"/>
              </a:rPr>
              <a:t>チャタムハウスルール</a:t>
            </a:r>
            <a:endParaRPr/>
          </a:p>
        </p:txBody>
      </p:sp>
      <p:sp>
        <p:nvSpPr>
          <p:cNvPr id="121" name="Google Shape;121;p21"/>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b="0" i="0" lang="ja" sz="2800">
                <a:solidFill>
                  <a:schemeClr val="dk1"/>
                </a:solidFill>
                <a:latin typeface="Arial"/>
                <a:ea typeface="Arial"/>
                <a:cs typeface="Arial"/>
                <a:sym typeface="Arial"/>
              </a:rPr>
              <a:t>チャタムハウスのルールに従う</a:t>
            </a:r>
            <a:endParaRPr/>
          </a:p>
          <a:p>
            <a:pPr indent="-317500" lvl="1" marL="914400" rtl="0" algn="l">
              <a:lnSpc>
                <a:spcPct val="115000"/>
              </a:lnSpc>
              <a:spcBef>
                <a:spcPts val="0"/>
              </a:spcBef>
              <a:spcAft>
                <a:spcPts val="0"/>
              </a:spcAft>
              <a:buSzPts val="1400"/>
              <a:buChar char="○"/>
            </a:pPr>
            <a:r>
              <a:rPr b="0" i="0" lang="ja" sz="2000">
                <a:solidFill>
                  <a:schemeClr val="dk1"/>
                </a:solidFill>
                <a:latin typeface="Arial"/>
                <a:ea typeface="Arial"/>
                <a:cs typeface="Arial"/>
                <a:sym typeface="Arial"/>
              </a:rPr>
              <a:t>録音は許可されていない</a:t>
            </a:r>
            <a:endParaRPr/>
          </a:p>
          <a:p>
            <a:pPr indent="-317500" lvl="1" marL="914400" rtl="0" algn="l">
              <a:lnSpc>
                <a:spcPct val="115000"/>
              </a:lnSpc>
              <a:spcBef>
                <a:spcPts val="0"/>
              </a:spcBef>
              <a:spcAft>
                <a:spcPts val="0"/>
              </a:spcAft>
              <a:buSzPts val="1400"/>
              <a:buChar char="○"/>
            </a:pPr>
            <a:r>
              <a:rPr b="0" i="0" lang="ja" sz="2000">
                <a:solidFill>
                  <a:schemeClr val="dk1"/>
                </a:solidFill>
                <a:latin typeface="Arial"/>
                <a:ea typeface="Arial"/>
                <a:cs typeface="Arial"/>
                <a:sym typeface="Arial"/>
              </a:rPr>
              <a:t>受信した情報は、会議ノートとして共有できますが、</a:t>
            </a:r>
            <a:endParaRPr b="0" i="0" sz="2000">
              <a:solidFill>
                <a:schemeClr val="dk1"/>
              </a:solidFill>
              <a:latin typeface="Arial"/>
              <a:ea typeface="Arial"/>
              <a:cs typeface="Arial"/>
              <a:sym typeface="Arial"/>
            </a:endParaRPr>
          </a:p>
          <a:p>
            <a:pPr indent="0" lvl="1" marL="596900" rtl="0" algn="l">
              <a:lnSpc>
                <a:spcPct val="115000"/>
              </a:lnSpc>
              <a:spcBef>
                <a:spcPts val="0"/>
              </a:spcBef>
              <a:spcAft>
                <a:spcPts val="0"/>
              </a:spcAft>
              <a:buSzPts val="1400"/>
              <a:buNone/>
            </a:pPr>
            <a:r>
              <a:rPr lang="ja" sz="2000">
                <a:solidFill>
                  <a:schemeClr val="dk1"/>
                </a:solidFill>
                <a:latin typeface="Arial"/>
                <a:ea typeface="Arial"/>
                <a:cs typeface="Arial"/>
                <a:sym typeface="Arial"/>
              </a:rPr>
              <a:t>　</a:t>
            </a:r>
            <a:r>
              <a:rPr b="0" i="0" lang="ja" sz="2000">
                <a:solidFill>
                  <a:schemeClr val="dk1"/>
                </a:solidFill>
                <a:latin typeface="Arial"/>
                <a:ea typeface="Arial"/>
                <a:cs typeface="Arial"/>
                <a:sym typeface="Arial"/>
              </a:rPr>
              <a:t>誰がそれを言ったかは明らかにしない</a:t>
            </a:r>
            <a:endParaRPr/>
          </a:p>
          <a:p>
            <a:pPr indent="-342900" lvl="0" marL="457200" rtl="0" algn="l">
              <a:lnSpc>
                <a:spcPct val="115000"/>
              </a:lnSpc>
              <a:spcBef>
                <a:spcPts val="0"/>
              </a:spcBef>
              <a:spcAft>
                <a:spcPts val="0"/>
              </a:spcAft>
              <a:buSzPts val="1800"/>
              <a:buChar char="●"/>
            </a:pPr>
            <a:r>
              <a:rPr b="0" i="0" lang="ja" sz="2800" u="sng" strike="noStrike">
                <a:solidFill>
                  <a:srgbClr val="24292F"/>
                </a:solidFill>
                <a:latin typeface="Arial"/>
                <a:ea typeface="Arial"/>
                <a:cs typeface="Arial"/>
                <a:sym typeface="Arial"/>
                <a:hlinkClick r:id="rId3">
                  <a:extLst>
                    <a:ext uri="{A12FA001-AC4F-418D-AE19-62706E023703}">
                      <ahyp:hlinkClr val="tx"/>
                    </a:ext>
                  </a:extLst>
                </a:hlinkClick>
              </a:rPr>
              <a:t>Chatham House Rules</a:t>
            </a:r>
            <a:endParaRPr b="0" i="0" sz="2800">
              <a:solidFill>
                <a:srgbClr val="24292F"/>
              </a:solidFill>
              <a:latin typeface="Arial"/>
              <a:ea typeface="Arial"/>
              <a:cs typeface="Arial"/>
              <a:sym typeface="Arial"/>
            </a:endParaRPr>
          </a:p>
          <a:p>
            <a:pPr indent="-228600" lvl="0" marL="457200" rtl="0" algn="l">
              <a:lnSpc>
                <a:spcPct val="115000"/>
              </a:lnSpc>
              <a:spcBef>
                <a:spcPts val="0"/>
              </a:spcBef>
              <a:spcAft>
                <a:spcPts val="0"/>
              </a:spcAft>
              <a:buSzPts val="1800"/>
              <a:buNone/>
            </a:pPr>
            <a:r>
              <a:t/>
            </a:r>
            <a:endParaRPr sz="28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ja">
                <a:latin typeface="Arial"/>
                <a:ea typeface="Arial"/>
                <a:cs typeface="Arial"/>
                <a:sym typeface="Arial"/>
              </a:rPr>
              <a:t>Code of Conduct / 行動規範</a:t>
            </a:r>
            <a:endParaRPr/>
          </a:p>
        </p:txBody>
      </p:sp>
      <p:sp>
        <p:nvSpPr>
          <p:cNvPr id="127" name="Google Shape;127;p22"/>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fontScale="70000" lnSpcReduction="10000"/>
          </a:bodyPr>
          <a:lstStyle/>
          <a:p>
            <a:pPr indent="-317500" lvl="0" marL="457200" rtl="0" algn="l">
              <a:lnSpc>
                <a:spcPct val="115000"/>
              </a:lnSpc>
              <a:spcBef>
                <a:spcPts val="0"/>
              </a:spcBef>
              <a:spcAft>
                <a:spcPts val="0"/>
              </a:spcAft>
              <a:buSzPct val="100000"/>
              <a:buFont typeface="Arial"/>
              <a:buChar char="●"/>
            </a:pPr>
            <a:r>
              <a:rPr lang="ja" sz="2000"/>
              <a:t>The Linux Foundation Japan が</a:t>
            </a:r>
            <a:r>
              <a:rPr lang="ja" sz="2000"/>
              <a:t>示す行動規範に従って活動します</a:t>
            </a:r>
            <a:br>
              <a:rPr lang="ja" sz="2000"/>
            </a:br>
            <a:r>
              <a:rPr lang="ja" sz="2000" u="sng">
                <a:solidFill>
                  <a:schemeClr val="hlink"/>
                </a:solidFill>
                <a:latin typeface="Arial"/>
                <a:ea typeface="Arial"/>
                <a:cs typeface="Arial"/>
                <a:sym typeface="Arial"/>
                <a:hlinkClick r:id="rId3"/>
              </a:rPr>
              <a:t>https://www.linuxfoundation.jp/code-of-conduct/</a:t>
            </a:r>
            <a:r>
              <a:rPr lang="ja"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indent="-317500" lvl="0" marL="457200" rtl="0" algn="l">
              <a:spcBef>
                <a:spcPts val="0"/>
              </a:spcBef>
              <a:spcAft>
                <a:spcPts val="0"/>
              </a:spcAft>
              <a:buClr>
                <a:schemeClr val="dk1"/>
              </a:buClr>
              <a:buSzPct val="100000"/>
              <a:buFont typeface="Arial"/>
              <a:buChar char="●"/>
            </a:pPr>
            <a:r>
              <a:rPr b="1" lang="ja" sz="2000">
                <a:solidFill>
                  <a:schemeClr val="dk1"/>
                </a:solidFill>
                <a:latin typeface="Arial"/>
                <a:ea typeface="Arial"/>
                <a:cs typeface="Arial"/>
                <a:sym typeface="Arial"/>
              </a:rPr>
              <a:t>容認できない行為（</a:t>
            </a:r>
            <a:r>
              <a:rPr b="1" lang="ja" sz="2000">
                <a:solidFill>
                  <a:schemeClr val="dk1"/>
                </a:solidFill>
                <a:latin typeface="Arial"/>
                <a:ea typeface="Arial"/>
                <a:cs typeface="Arial"/>
                <a:sym typeface="Arial"/>
              </a:rPr>
              <a:t>抜粋</a:t>
            </a:r>
            <a:r>
              <a:rPr b="1" lang="ja" sz="2000">
                <a:solidFill>
                  <a:schemeClr val="dk1"/>
                </a:solidFill>
                <a:latin typeface="Arial"/>
                <a:ea typeface="Arial"/>
                <a:cs typeface="Arial"/>
                <a:sym typeface="Arial"/>
              </a:rPr>
              <a:t>）</a:t>
            </a:r>
            <a:endParaRPr b="1" sz="2000">
              <a:solidFill>
                <a:schemeClr val="dk1"/>
              </a:solidFill>
              <a:latin typeface="Arial"/>
              <a:ea typeface="Arial"/>
              <a:cs typeface="Arial"/>
              <a:sym typeface="Arial"/>
            </a:endParaRPr>
          </a:p>
          <a:p>
            <a:pPr indent="-317500" lvl="1" marL="914400" rtl="0" algn="l">
              <a:spcBef>
                <a:spcPts val="0"/>
              </a:spcBef>
              <a:spcAft>
                <a:spcPts val="0"/>
              </a:spcAft>
              <a:buClr>
                <a:schemeClr val="dk1"/>
              </a:buClr>
              <a:buSzPct val="100000"/>
              <a:buFont typeface="Arial"/>
              <a:buChar char="○"/>
            </a:pPr>
            <a:r>
              <a:rPr lang="ja" sz="2000">
                <a:solidFill>
                  <a:schemeClr val="dk1"/>
                </a:solidFill>
                <a:latin typeface="Arial"/>
                <a:ea typeface="Arial"/>
                <a:cs typeface="Arial"/>
                <a:sym typeface="Arial"/>
              </a:rPr>
              <a:t>性、性同一性、性表現、性的指向、障害、容姿、体格、人種、年齢、宗教などによるハラスメンはもとより、カンファレンスやプログラムが開催される国や地域の法に保護された地位や立場によるハラスメントなど、</a:t>
            </a:r>
            <a:r>
              <a:rPr b="1" lang="ja" sz="2000" u="sng">
                <a:solidFill>
                  <a:schemeClr val="accent5"/>
                </a:solidFill>
                <a:latin typeface="Arial"/>
                <a:ea typeface="Arial"/>
                <a:cs typeface="Arial"/>
                <a:sym typeface="Arial"/>
              </a:rPr>
              <a:t>いかなる形のハラスメントも容認されません</a:t>
            </a:r>
            <a:r>
              <a:rPr lang="ja"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a:p>
            <a:pPr indent="-317500" lvl="1" marL="914400" rtl="0" algn="l">
              <a:spcBef>
                <a:spcPts val="0"/>
              </a:spcBef>
              <a:spcAft>
                <a:spcPts val="0"/>
              </a:spcAft>
              <a:buClr>
                <a:schemeClr val="dk1"/>
              </a:buClr>
              <a:buSzPct val="100000"/>
              <a:buFont typeface="Arial"/>
              <a:buChar char="○"/>
            </a:pPr>
            <a:r>
              <a:rPr lang="ja" sz="2000">
                <a:solidFill>
                  <a:schemeClr val="dk1"/>
                </a:solidFill>
                <a:latin typeface="Arial"/>
                <a:ea typeface="Arial"/>
                <a:cs typeface="Arial"/>
                <a:sym typeface="Arial"/>
              </a:rPr>
              <a:t>また、虐待的、攻撃的、または屈辱的表現の使用、脅迫、ストーキング、嫌がらせの写真や記録、不適切な物理的接触、性的画像、および迷惑な性的誘惑、または性的行為の要求などもハラスメントとみなします。</a:t>
            </a:r>
            <a:endParaRPr sz="2000">
              <a:solidFill>
                <a:schemeClr val="dk1"/>
              </a:solidFill>
              <a:latin typeface="Arial"/>
              <a:ea typeface="Arial"/>
              <a:cs typeface="Arial"/>
              <a:sym typeface="Arial"/>
            </a:endParaRPr>
          </a:p>
          <a:p>
            <a:pPr indent="-317500" lvl="1" marL="914400" rtl="0" algn="l">
              <a:spcBef>
                <a:spcPts val="0"/>
              </a:spcBef>
              <a:spcAft>
                <a:spcPts val="0"/>
              </a:spcAft>
              <a:buClr>
                <a:schemeClr val="dk1"/>
              </a:buClr>
              <a:buSzPct val="100000"/>
              <a:buFont typeface="Arial"/>
              <a:buChar char="○"/>
            </a:pPr>
            <a:r>
              <a:rPr lang="ja" sz="2000">
                <a:solidFill>
                  <a:schemeClr val="dk1"/>
                </a:solidFill>
                <a:latin typeface="Arial"/>
                <a:ea typeface="Arial"/>
                <a:cs typeface="Arial"/>
                <a:sym typeface="Arial"/>
              </a:rPr>
              <a:t>ハラスメント行為の停止を求められた参加者は、その要求に速やかに従ってください。容認できない行為の目撃者や被害者は、すぐにカンファレンス主催者にお知らせください。</a:t>
            </a:r>
            <a:endParaRPr sz="2000">
              <a:solidFill>
                <a:schemeClr val="dk1"/>
              </a:solidFill>
              <a:latin typeface="Arial"/>
              <a:ea typeface="Arial"/>
              <a:cs typeface="Arial"/>
              <a:sym typeface="Arial"/>
            </a:endParaRPr>
          </a:p>
          <a:p>
            <a:pPr indent="-317500" lvl="0" marL="457200" rtl="0" algn="l">
              <a:lnSpc>
                <a:spcPct val="115000"/>
              </a:lnSpc>
              <a:spcBef>
                <a:spcPts val="0"/>
              </a:spcBef>
              <a:spcAft>
                <a:spcPts val="0"/>
              </a:spcAft>
              <a:buClr>
                <a:schemeClr val="dk1"/>
              </a:buClr>
              <a:buSzPct val="100000"/>
              <a:buFont typeface="Arial"/>
              <a:buChar char="●"/>
            </a:pPr>
            <a:r>
              <a:rPr b="1" lang="ja" sz="2000">
                <a:solidFill>
                  <a:schemeClr val="dk1"/>
                </a:solidFill>
                <a:latin typeface="Arial"/>
                <a:ea typeface="Arial"/>
                <a:cs typeface="Arial"/>
                <a:sym typeface="Arial"/>
              </a:rPr>
              <a:t>事故対応</a:t>
            </a:r>
            <a:r>
              <a:rPr b="1" lang="ja" sz="2000">
                <a:solidFill>
                  <a:schemeClr val="dk1"/>
                </a:solidFill>
                <a:latin typeface="Arial"/>
                <a:ea typeface="Arial"/>
                <a:cs typeface="Arial"/>
                <a:sym typeface="Arial"/>
              </a:rPr>
              <a:t>（抜粋）</a:t>
            </a:r>
            <a:endParaRPr b="1" sz="2000">
              <a:solidFill>
                <a:schemeClr val="dk1"/>
              </a:solidFill>
              <a:latin typeface="Arial"/>
              <a:ea typeface="Arial"/>
              <a:cs typeface="Arial"/>
              <a:sym typeface="Arial"/>
            </a:endParaRPr>
          </a:p>
          <a:p>
            <a:pPr indent="-317500" lvl="1" marL="914400" rtl="0" algn="l">
              <a:lnSpc>
                <a:spcPct val="115000"/>
              </a:lnSpc>
              <a:spcBef>
                <a:spcPts val="0"/>
              </a:spcBef>
              <a:spcAft>
                <a:spcPts val="0"/>
              </a:spcAft>
              <a:buClr>
                <a:schemeClr val="dk1"/>
              </a:buClr>
              <a:buSzPct val="100000"/>
              <a:buFont typeface="Arial"/>
              <a:buChar char="○"/>
            </a:pPr>
            <a:r>
              <a:rPr lang="ja" sz="2000">
                <a:solidFill>
                  <a:schemeClr val="dk1"/>
                </a:solidFill>
                <a:latin typeface="Arial"/>
                <a:ea typeface="Arial"/>
                <a:cs typeface="Arial"/>
                <a:sym typeface="Arial"/>
              </a:rPr>
              <a:t>参加者がハラスメント行為に関与している場合、カンファレンス主催者は、違反者への警告やカンファレンスからの追放など、状況に応じて適切と思われるあらゆる行動をとります。</a:t>
            </a:r>
            <a:endParaRPr sz="20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事務連絡</a:t>
            </a:r>
            <a:endParaRPr/>
          </a:p>
        </p:txBody>
      </p:sp>
      <p:sp>
        <p:nvSpPr>
          <p:cNvPr id="133" name="Google Shape;133;p23"/>
          <p:cNvSpPr txBox="1"/>
          <p:nvPr>
            <p:ph idx="1" type="body"/>
          </p:nvPr>
        </p:nvSpPr>
        <p:spPr>
          <a:xfrm>
            <a:off x="280350" y="1266450"/>
            <a:ext cx="8520600" cy="33390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ja"/>
              <a:t>コミュニケーション方法</a:t>
            </a:r>
            <a:endParaRPr/>
          </a:p>
          <a:p>
            <a:pPr indent="-334327" lvl="0" marL="457200" rtl="0" algn="l">
              <a:spcBef>
                <a:spcPts val="0"/>
              </a:spcBef>
              <a:spcAft>
                <a:spcPts val="0"/>
              </a:spcAft>
              <a:buSzPct val="100000"/>
              <a:buChar char="●"/>
            </a:pPr>
            <a:r>
              <a:rPr lang="ja"/>
              <a:t>Slack: thetodogroup.slack.com</a:t>
            </a:r>
            <a:endParaRPr/>
          </a:p>
          <a:p>
            <a:pPr indent="-310832" lvl="1" marL="914400" rtl="0" algn="l">
              <a:spcBef>
                <a:spcPts val="0"/>
              </a:spcBef>
              <a:spcAft>
                <a:spcPts val="0"/>
              </a:spcAft>
              <a:buSzPct val="100000"/>
              <a:buChar char="○"/>
            </a:pPr>
            <a:r>
              <a:rPr lang="ja"/>
              <a:t>#chapter-japan</a:t>
            </a:r>
            <a:endParaRPr/>
          </a:p>
          <a:p>
            <a:pPr indent="-334327" lvl="0" marL="457200" rtl="0" algn="l">
              <a:spcBef>
                <a:spcPts val="0"/>
              </a:spcBef>
              <a:spcAft>
                <a:spcPts val="0"/>
              </a:spcAft>
              <a:buSzPct val="100000"/>
              <a:buChar char="●"/>
            </a:pPr>
            <a:r>
              <a:rPr lang="ja"/>
              <a:t>資料</a:t>
            </a:r>
            <a:endParaRPr/>
          </a:p>
          <a:p>
            <a:pPr indent="-310832" lvl="1" marL="914400" rtl="0" algn="l">
              <a:spcBef>
                <a:spcPts val="0"/>
              </a:spcBef>
              <a:spcAft>
                <a:spcPts val="0"/>
              </a:spcAft>
              <a:buSzPct val="100000"/>
              <a:buChar char="○"/>
            </a:pPr>
            <a:r>
              <a:rPr lang="ja"/>
              <a:t>スライド資料（このスライド）</a:t>
            </a:r>
            <a:r>
              <a:rPr lang="ja" u="sng">
                <a:solidFill>
                  <a:schemeClr val="hlink"/>
                </a:solidFill>
                <a:hlinkClick r:id="rId3"/>
              </a:rPr>
              <a:t>https://docs.google.com/presentation/d/1nhHDVBFhkiQLJxJEQcsKTk1nAOrBlPYSt-SDP5xbe0w</a:t>
            </a:r>
            <a:endParaRPr/>
          </a:p>
          <a:p>
            <a:pPr indent="-310832" lvl="1" marL="914400" rtl="0" algn="l">
              <a:spcBef>
                <a:spcPts val="0"/>
              </a:spcBef>
              <a:spcAft>
                <a:spcPts val="0"/>
              </a:spcAft>
              <a:buSzPct val="100000"/>
              <a:buChar char="○"/>
            </a:pPr>
            <a:r>
              <a:rPr lang="ja"/>
              <a:t>議論シート </a:t>
            </a:r>
            <a:r>
              <a:rPr lang="ja" u="sng">
                <a:solidFill>
                  <a:schemeClr val="hlink"/>
                </a:solidFill>
                <a:hlinkClick r:id="rId4"/>
              </a:rPr>
              <a:t>https://docs.google.com/spreadsheets/d/12aQYG-V8R-Svmi52draGb_Kcg21N__6Vn6v36QRFs94</a:t>
            </a:r>
            <a:endParaRPr/>
          </a:p>
          <a:p>
            <a:pPr indent="-310832" lvl="1" marL="914400" rtl="0" algn="l">
              <a:spcBef>
                <a:spcPts val="0"/>
              </a:spcBef>
              <a:spcAft>
                <a:spcPts val="0"/>
              </a:spcAft>
              <a:buSzPct val="100000"/>
              <a:buChar char="○"/>
            </a:pPr>
            <a:r>
              <a:rPr lang="ja"/>
              <a:t>重み付けシート </a:t>
            </a:r>
            <a:r>
              <a:rPr lang="ja" u="sng">
                <a:solidFill>
                  <a:schemeClr val="hlink"/>
                </a:solidFill>
                <a:hlinkClick r:id="rId5"/>
              </a:rPr>
              <a:t>https://docs.google.com/spreadsheets/d/1A7ArTnbwh3t1fcShud-SqLru9K6zmYAokUH6Zxk5sSA</a:t>
            </a:r>
            <a:endParaRPr/>
          </a:p>
          <a:p>
            <a:pPr indent="-310832" lvl="1" marL="914400" rtl="0" algn="l">
              <a:spcBef>
                <a:spcPts val="0"/>
              </a:spcBef>
              <a:spcAft>
                <a:spcPts val="0"/>
              </a:spcAft>
              <a:buSzPct val="100000"/>
              <a:buChar char="○"/>
            </a:pPr>
            <a:r>
              <a:rPr lang="ja"/>
              <a:t>個人アカウントのファイルとなりますので、ファイルサイズの大きな画像を挿入したりしないようにご協力をお願いします。</a:t>
            </a:r>
            <a:endParaRPr/>
          </a:p>
        </p:txBody>
      </p:sp>
      <p:pic>
        <p:nvPicPr>
          <p:cNvPr id="134" name="Google Shape;134;p23"/>
          <p:cNvPicPr preferRelativeResize="0"/>
          <p:nvPr/>
        </p:nvPicPr>
        <p:blipFill>
          <a:blip r:embed="rId6">
            <a:alphaModFix/>
          </a:blip>
          <a:stretch>
            <a:fillRect/>
          </a:stretch>
        </p:blipFill>
        <p:spPr>
          <a:xfrm>
            <a:off x="4464696" y="342400"/>
            <a:ext cx="4487550" cy="2120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778600" y="1016575"/>
            <a:ext cx="7586700" cy="166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OSS Strategy &amp; Hosting 活動紹介</a:t>
            </a:r>
            <a:endParaRPr/>
          </a:p>
          <a:p>
            <a:pPr indent="0" lvl="0" marL="0" rtl="0" algn="l">
              <a:spcBef>
                <a:spcPts val="0"/>
              </a:spcBef>
              <a:spcAft>
                <a:spcPts val="0"/>
              </a:spcAft>
              <a:buNone/>
            </a:pPr>
            <a:r>
              <a:t/>
            </a:r>
            <a:endParaRPr/>
          </a:p>
        </p:txBody>
      </p:sp>
      <p:sp>
        <p:nvSpPr>
          <p:cNvPr id="140" name="Google Shape;140;p24"/>
          <p:cNvSpPr txBox="1"/>
          <p:nvPr/>
        </p:nvSpPr>
        <p:spPr>
          <a:xfrm>
            <a:off x="5578325" y="3849650"/>
            <a:ext cx="33618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ja" sz="1800">
                <a:solidFill>
                  <a:schemeClr val="dk1"/>
                </a:solidFill>
                <a:latin typeface="Roboto Slab Light"/>
                <a:ea typeface="Roboto Slab Light"/>
                <a:cs typeface="Roboto Slab Light"/>
                <a:sym typeface="Roboto Slab Light"/>
              </a:rPr>
              <a:t>最終更新 2024/10</a:t>
            </a:r>
            <a:endParaRPr sz="1800">
              <a:solidFill>
                <a:schemeClr val="dk2"/>
              </a:solidFill>
              <a:latin typeface="Open Sans Medium"/>
              <a:ea typeface="Open Sans Medium"/>
              <a:cs typeface="Open Sans Medium"/>
              <a:sym typeface="Open Sans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300"/>
              <a:t>OSS Strategy &amp; Hosting</a:t>
            </a:r>
            <a:endParaRPr sz="2300"/>
          </a:p>
        </p:txBody>
      </p:sp>
      <p:sp>
        <p:nvSpPr>
          <p:cNvPr id="146" name="Google Shape;146;p25"/>
          <p:cNvSpPr/>
          <p:nvPr/>
        </p:nvSpPr>
        <p:spPr>
          <a:xfrm>
            <a:off x="5116729" y="2377014"/>
            <a:ext cx="1919400" cy="19194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2次</a:t>
            </a:r>
            <a:endParaRPr>
              <a:latin typeface="Open Sans"/>
              <a:ea typeface="Open Sans"/>
              <a:cs typeface="Open Sans"/>
              <a:sym typeface="Open Sans"/>
            </a:endParaRPr>
          </a:p>
        </p:txBody>
      </p:sp>
      <p:sp>
        <p:nvSpPr>
          <p:cNvPr id="147" name="Google Shape;147;p25"/>
          <p:cNvSpPr txBox="1"/>
          <p:nvPr>
            <p:ph idx="1" type="body"/>
          </p:nvPr>
        </p:nvSpPr>
        <p:spPr>
          <a:xfrm>
            <a:off x="280350" y="1266450"/>
            <a:ext cx="8520600" cy="33390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accent3"/>
              </a:buClr>
              <a:buSzPts val="1800"/>
              <a:buChar char="■"/>
            </a:pPr>
            <a:r>
              <a:rPr lang="ja"/>
              <a:t>OSS </a:t>
            </a:r>
            <a:r>
              <a:rPr lang="ja"/>
              <a:t>はビジネスに不可欠</a:t>
            </a:r>
            <a:endParaRPr/>
          </a:p>
          <a:p>
            <a:pPr indent="-342900" lvl="0" marL="457200" rtl="0" algn="l">
              <a:spcBef>
                <a:spcPts val="0"/>
              </a:spcBef>
              <a:spcAft>
                <a:spcPts val="0"/>
              </a:spcAft>
              <a:buClr>
                <a:schemeClr val="accent3"/>
              </a:buClr>
              <a:buSzPts val="1800"/>
              <a:buChar char="■"/>
            </a:pPr>
            <a:r>
              <a:rPr lang="ja"/>
              <a:t>OSS </a:t>
            </a:r>
            <a:r>
              <a:rPr lang="ja"/>
              <a:t>そのものは利益を生まない</a:t>
            </a:r>
            <a:endParaRPr/>
          </a:p>
          <a:p>
            <a:pPr indent="-342900" lvl="0" marL="457200" rtl="0" algn="l">
              <a:spcBef>
                <a:spcPts val="0"/>
              </a:spcBef>
              <a:spcAft>
                <a:spcPts val="0"/>
              </a:spcAft>
              <a:buClr>
                <a:schemeClr val="accent3"/>
              </a:buClr>
              <a:buSzPts val="1800"/>
              <a:buChar char="■"/>
            </a:pPr>
            <a:r>
              <a:rPr lang="ja"/>
              <a:t>OSS 利活用を通じて利益が生まれる</a:t>
            </a:r>
            <a:endParaRPr/>
          </a:p>
          <a:p>
            <a:pPr indent="-342900" lvl="0" marL="457200" rtl="0" algn="l">
              <a:spcBef>
                <a:spcPts val="0"/>
              </a:spcBef>
              <a:spcAft>
                <a:spcPts val="0"/>
              </a:spcAft>
              <a:buClr>
                <a:schemeClr val="accent3"/>
              </a:buClr>
              <a:buSzPts val="1800"/>
              <a:buChar char="■"/>
            </a:pPr>
            <a:r>
              <a:rPr lang="ja"/>
              <a:t>OSS に近いビジネス・遠いビジネス</a:t>
            </a:r>
            <a:br>
              <a:rPr lang="ja"/>
            </a:br>
            <a:r>
              <a:rPr lang="ja"/>
              <a:t>その関係性を考え、課題を議論する会</a:t>
            </a:r>
            <a:endParaRPr/>
          </a:p>
          <a:p>
            <a:pPr indent="0" lvl="0" marL="0" rtl="0" algn="l">
              <a:spcBef>
                <a:spcPts val="0"/>
              </a:spcBef>
              <a:spcAft>
                <a:spcPts val="0"/>
              </a:spcAft>
              <a:buNone/>
            </a:pPr>
            <a:r>
              <a:t/>
            </a:r>
            <a:endParaRPr/>
          </a:p>
          <a:p>
            <a:pPr indent="-342900" lvl="0" marL="457200" rtl="0" algn="l">
              <a:spcBef>
                <a:spcPts val="0"/>
              </a:spcBef>
              <a:spcAft>
                <a:spcPts val="0"/>
              </a:spcAft>
              <a:buClr>
                <a:schemeClr val="accent3"/>
              </a:buClr>
              <a:buSzPts val="1800"/>
              <a:buChar char="■"/>
            </a:pPr>
            <a:r>
              <a:rPr lang="ja"/>
              <a:t>※以下や</a:t>
            </a:r>
            <a:r>
              <a:rPr lang="ja"/>
              <a:t>OSPOのあり方は議論しません</a:t>
            </a:r>
            <a:endParaRPr/>
          </a:p>
          <a:p>
            <a:pPr indent="-317500" lvl="1" marL="914400" rtl="0" algn="l">
              <a:spcBef>
                <a:spcPts val="0"/>
              </a:spcBef>
              <a:spcAft>
                <a:spcPts val="0"/>
              </a:spcAft>
              <a:buSzPts val="1400"/>
              <a:buChar char="○"/>
            </a:pPr>
            <a:r>
              <a:rPr lang="ja"/>
              <a:t>ルール・プロセス</a:t>
            </a:r>
            <a:endParaRPr/>
          </a:p>
          <a:p>
            <a:pPr indent="-317500" lvl="1" marL="914400" rtl="0" algn="l">
              <a:spcBef>
                <a:spcPts val="0"/>
              </a:spcBef>
              <a:spcAft>
                <a:spcPts val="0"/>
              </a:spcAft>
              <a:buSzPts val="1400"/>
              <a:buChar char="○"/>
            </a:pPr>
            <a:r>
              <a:rPr lang="ja"/>
              <a:t>KPI</a:t>
            </a:r>
            <a:endParaRPr/>
          </a:p>
          <a:p>
            <a:pPr indent="-317500" lvl="1" marL="914400" rtl="0" algn="l">
              <a:spcBef>
                <a:spcPts val="0"/>
              </a:spcBef>
              <a:spcAft>
                <a:spcPts val="0"/>
              </a:spcAft>
              <a:buSzPts val="1400"/>
              <a:buChar char="○"/>
            </a:pPr>
            <a:r>
              <a:rPr lang="ja"/>
              <a:t>組織・社内体制・社内連携</a:t>
            </a:r>
            <a:endParaRPr/>
          </a:p>
          <a:p>
            <a:pPr indent="-317500" lvl="1" marL="914400" rtl="0" algn="l">
              <a:spcBef>
                <a:spcPts val="0"/>
              </a:spcBef>
              <a:spcAft>
                <a:spcPts val="0"/>
              </a:spcAft>
              <a:buSzPts val="1400"/>
              <a:buChar char="○"/>
            </a:pPr>
            <a:r>
              <a:rPr lang="ja"/>
              <a:t>コンプライアンス</a:t>
            </a:r>
            <a:endParaRPr/>
          </a:p>
        </p:txBody>
      </p:sp>
      <p:sp>
        <p:nvSpPr>
          <p:cNvPr id="148" name="Google Shape;148;p25"/>
          <p:cNvSpPr/>
          <p:nvPr/>
        </p:nvSpPr>
        <p:spPr>
          <a:xfrm>
            <a:off x="4621327" y="1017789"/>
            <a:ext cx="1919400" cy="19194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br>
              <a:rPr lang="ja">
                <a:latin typeface="Open Sans"/>
                <a:ea typeface="Open Sans"/>
                <a:cs typeface="Open Sans"/>
                <a:sym typeface="Open Sans"/>
              </a:rPr>
            </a:br>
            <a:r>
              <a:rPr lang="ja">
                <a:latin typeface="Open Sans"/>
                <a:ea typeface="Open Sans"/>
                <a:cs typeface="Open Sans"/>
                <a:sym typeface="Open Sans"/>
              </a:rPr>
              <a:t>1次</a:t>
            </a:r>
            <a:endParaRPr>
              <a:latin typeface="Open Sans"/>
              <a:ea typeface="Open Sans"/>
              <a:cs typeface="Open Sans"/>
              <a:sym typeface="Open Sans"/>
            </a:endParaRPr>
          </a:p>
        </p:txBody>
      </p:sp>
      <p:sp>
        <p:nvSpPr>
          <p:cNvPr id="149" name="Google Shape;149;p25"/>
          <p:cNvSpPr/>
          <p:nvPr/>
        </p:nvSpPr>
        <p:spPr>
          <a:xfrm>
            <a:off x="6619850" y="3068439"/>
            <a:ext cx="1919400" cy="19194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3次</a:t>
            </a:r>
            <a:endParaRPr>
              <a:latin typeface="Open Sans"/>
              <a:ea typeface="Open Sans"/>
              <a:cs typeface="Open Sans"/>
              <a:sym typeface="Open Sans"/>
            </a:endParaRPr>
          </a:p>
        </p:txBody>
      </p:sp>
      <p:sp>
        <p:nvSpPr>
          <p:cNvPr id="150" name="Google Shape;150;p25"/>
          <p:cNvSpPr/>
          <p:nvPr/>
        </p:nvSpPr>
        <p:spPr>
          <a:xfrm>
            <a:off x="6272019" y="978825"/>
            <a:ext cx="1919400" cy="19194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2次</a:t>
            </a:r>
            <a:endParaRPr>
              <a:latin typeface="Open Sans"/>
              <a:ea typeface="Open Sans"/>
              <a:cs typeface="Open Sans"/>
              <a:sym typeface="Open Sans"/>
            </a:endParaRPr>
          </a:p>
        </p:txBody>
      </p:sp>
      <p:sp>
        <p:nvSpPr>
          <p:cNvPr id="151" name="Google Shape;151;p25"/>
          <p:cNvSpPr/>
          <p:nvPr/>
        </p:nvSpPr>
        <p:spPr>
          <a:xfrm>
            <a:off x="7175500" y="0"/>
            <a:ext cx="1968600" cy="1968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3次</a:t>
            </a:r>
            <a:endParaRPr>
              <a:latin typeface="Open Sans"/>
              <a:ea typeface="Open Sans"/>
              <a:cs typeface="Open Sans"/>
              <a:sym typeface="Open Sans"/>
            </a:endParaRPr>
          </a:p>
        </p:txBody>
      </p:sp>
      <p:sp>
        <p:nvSpPr>
          <p:cNvPr id="152" name="Google Shape;152;p25"/>
          <p:cNvSpPr/>
          <p:nvPr/>
        </p:nvSpPr>
        <p:spPr>
          <a:xfrm>
            <a:off x="4241100" y="718375"/>
            <a:ext cx="1092900" cy="1092900"/>
          </a:xfrm>
          <a:prstGeom prst="ellipse">
            <a:avLst/>
          </a:prstGeom>
          <a:solidFill>
            <a:schemeClr val="accent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OSS</a:t>
            </a:r>
            <a:endParaRPr>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300"/>
              <a:t>OSS Strategy &amp; Hosting</a:t>
            </a:r>
            <a:endParaRPr sz="2300"/>
          </a:p>
        </p:txBody>
      </p:sp>
      <p:sp>
        <p:nvSpPr>
          <p:cNvPr id="158" name="Google Shape;158;p26"/>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2"/>
              </a:buClr>
              <a:buSzPts val="1800"/>
              <a:buChar char="■"/>
            </a:pPr>
            <a:r>
              <a:rPr lang="ja"/>
              <a:t>OSSを利活用してビジネスをする企業（ペルソナ）の</a:t>
            </a:r>
            <a:r>
              <a:rPr lang="ja">
                <a:solidFill>
                  <a:schemeClr val="accent5"/>
                </a:solidFill>
              </a:rPr>
              <a:t>OSS活動の課題</a:t>
            </a:r>
            <a:r>
              <a:rPr lang="ja"/>
              <a:t>を想像</a:t>
            </a:r>
            <a:endParaRPr/>
          </a:p>
          <a:p>
            <a:pPr indent="-317500" lvl="1" marL="914400" rtl="0" algn="l">
              <a:spcBef>
                <a:spcPts val="0"/>
              </a:spcBef>
              <a:spcAft>
                <a:spcPts val="0"/>
              </a:spcAft>
              <a:buSzPts val="1400"/>
              <a:buChar char="○"/>
            </a:pPr>
            <a:r>
              <a:rPr lang="ja"/>
              <a:t>Linux ディストロベンダー</a:t>
            </a:r>
            <a:endParaRPr/>
          </a:p>
          <a:p>
            <a:pPr indent="-317500" lvl="1" marL="914400" rtl="0" algn="l">
              <a:spcBef>
                <a:spcPts val="0"/>
              </a:spcBef>
              <a:spcAft>
                <a:spcPts val="0"/>
              </a:spcAft>
              <a:buSzPts val="1400"/>
              <a:buChar char="○"/>
            </a:pPr>
            <a:r>
              <a:rPr lang="ja"/>
              <a:t>自動車業界・通信業界</a:t>
            </a:r>
            <a:endParaRPr/>
          </a:p>
          <a:p>
            <a:pPr indent="-317500" lvl="1" marL="914400" rtl="0" algn="l">
              <a:spcBef>
                <a:spcPts val="0"/>
              </a:spcBef>
              <a:spcAft>
                <a:spcPts val="0"/>
              </a:spcAft>
              <a:buSzPts val="1400"/>
              <a:buChar char="○"/>
            </a:pPr>
            <a:r>
              <a:rPr lang="ja"/>
              <a:t>半導体ベンダー</a:t>
            </a:r>
            <a:endParaRPr/>
          </a:p>
          <a:p>
            <a:pPr indent="-317500" lvl="1" marL="914400" rtl="0" algn="l">
              <a:spcBef>
                <a:spcPts val="0"/>
              </a:spcBef>
              <a:spcAft>
                <a:spcPts val="0"/>
              </a:spcAft>
              <a:buSzPts val="1400"/>
              <a:buChar char="○"/>
            </a:pPr>
            <a:r>
              <a:rPr lang="ja"/>
              <a:t>オンライン販売サービス</a:t>
            </a:r>
            <a:endParaRPr/>
          </a:p>
          <a:p>
            <a:pPr indent="-317500" lvl="1" marL="914400" rtl="0" algn="l">
              <a:spcBef>
                <a:spcPts val="0"/>
              </a:spcBef>
              <a:spcAft>
                <a:spcPts val="0"/>
              </a:spcAft>
              <a:buSzPts val="1400"/>
              <a:buChar char="○"/>
            </a:pPr>
            <a:r>
              <a:rPr lang="ja"/>
              <a:t>クラウドサービス（検討未）</a:t>
            </a:r>
            <a:endParaRPr/>
          </a:p>
          <a:p>
            <a:pPr indent="-317500" lvl="1" marL="914400" rtl="0" algn="l">
              <a:spcBef>
                <a:spcPts val="0"/>
              </a:spcBef>
              <a:spcAft>
                <a:spcPts val="0"/>
              </a:spcAft>
              <a:buSzPts val="1400"/>
              <a:buChar char="○"/>
            </a:pPr>
            <a:r>
              <a:rPr lang="ja"/>
              <a:t>OSSコンサルティングサービス（検討未）</a:t>
            </a:r>
            <a:endParaRPr/>
          </a:p>
          <a:p>
            <a:pPr indent="-342900" lvl="0" marL="457200" rtl="0" algn="l">
              <a:spcBef>
                <a:spcPts val="0"/>
              </a:spcBef>
              <a:spcAft>
                <a:spcPts val="0"/>
              </a:spcAft>
              <a:buClr>
                <a:schemeClr val="accent2"/>
              </a:buClr>
              <a:buSzPts val="1800"/>
              <a:buChar char="■"/>
            </a:pPr>
            <a:r>
              <a:rPr lang="ja"/>
              <a:t>必要なOSSコントリビューション活動項目はほぼ同じ</a:t>
            </a:r>
            <a:endParaRPr/>
          </a:p>
          <a:p>
            <a:pPr indent="-342900" lvl="0" marL="457200" rtl="0" algn="l">
              <a:spcBef>
                <a:spcPts val="0"/>
              </a:spcBef>
              <a:spcAft>
                <a:spcPts val="0"/>
              </a:spcAft>
              <a:buClr>
                <a:schemeClr val="accent2"/>
              </a:buClr>
              <a:buSzPts val="1800"/>
              <a:buChar char="■"/>
            </a:pPr>
            <a:r>
              <a:rPr lang="ja"/>
              <a:t>ただし、それぞれの活動に対するビジネスへの影響度合いは違う</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2" name="Shape 162"/>
        <p:cNvGrpSpPr/>
        <p:nvPr/>
      </p:nvGrpSpPr>
      <p:grpSpPr>
        <a:xfrm>
          <a:off x="0" y="0"/>
          <a:ext cx="0" cy="0"/>
          <a:chOff x="0" y="0"/>
          <a:chExt cx="0" cy="0"/>
        </a:xfrm>
      </p:grpSpPr>
      <p:sp>
        <p:nvSpPr>
          <p:cNvPr id="163" name="Google Shape;163;p27"/>
          <p:cNvSpPr txBox="1"/>
          <p:nvPr>
            <p:ph type="title"/>
          </p:nvPr>
        </p:nvSpPr>
        <p:spPr>
          <a:xfrm>
            <a:off x="773700" y="1806450"/>
            <a:ext cx="7596600" cy="15306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ja"/>
              <a:t>OSSに関連するサービス販売</a:t>
            </a:r>
            <a:br>
              <a:rPr lang="ja"/>
            </a:br>
            <a:r>
              <a:rPr lang="ja"/>
              <a:t>（1次）</a:t>
            </a:r>
            <a:br>
              <a:rPr lang="ja"/>
            </a:br>
            <a:r>
              <a:rPr lang="ja"/>
              <a:t>2024-03-15 表示</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7" name="Shape 167"/>
        <p:cNvGrpSpPr/>
        <p:nvPr/>
      </p:nvGrpSpPr>
      <p:grpSpPr>
        <a:xfrm>
          <a:off x="0" y="0"/>
          <a:ext cx="0" cy="0"/>
          <a:chOff x="0" y="0"/>
          <a:chExt cx="0" cy="0"/>
        </a:xfrm>
      </p:grpSpPr>
      <p:sp>
        <p:nvSpPr>
          <p:cNvPr id="168" name="Google Shape;168;p28"/>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１次：OSSとしてサービスを行う企業</a:t>
            </a:r>
            <a:endParaRPr/>
          </a:p>
        </p:txBody>
      </p:sp>
      <p:sp>
        <p:nvSpPr>
          <p:cNvPr id="169" name="Google Shape;169;p28"/>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ビジネスで提供するメインの価値の場所</a:t>
            </a:r>
            <a:endParaRPr/>
          </a:p>
          <a:p>
            <a:pPr indent="-317500" lvl="1" marL="914400" rtl="0" algn="l">
              <a:spcBef>
                <a:spcPts val="0"/>
              </a:spcBef>
              <a:spcAft>
                <a:spcPts val="0"/>
              </a:spcAft>
              <a:buSzPts val="1400"/>
              <a:buAutoNum type="alphaLcPeriod"/>
            </a:pPr>
            <a:r>
              <a:rPr lang="ja"/>
              <a:t>主にOSSを提供することで価値を提供</a:t>
            </a:r>
            <a:endParaRPr/>
          </a:p>
          <a:p>
            <a:pPr indent="-342900" lvl="0" marL="457200" rtl="0" algn="l">
              <a:spcBef>
                <a:spcPts val="0"/>
              </a:spcBef>
              <a:spcAft>
                <a:spcPts val="0"/>
              </a:spcAft>
              <a:buSzPts val="1800"/>
              <a:buChar char="●"/>
            </a:pPr>
            <a:r>
              <a:rPr lang="ja"/>
              <a:t>Linuxを例にするとディストロベンダーとか？</a:t>
            </a:r>
            <a:endParaRPr/>
          </a:p>
          <a:p>
            <a:pPr indent="-317500" lvl="1" marL="914400" rtl="0" algn="l">
              <a:spcBef>
                <a:spcPts val="0"/>
              </a:spcBef>
              <a:spcAft>
                <a:spcPts val="0"/>
              </a:spcAft>
              <a:buSzPts val="1400"/>
              <a:buAutoNum type="alphaLcPeriod"/>
            </a:pPr>
            <a:r>
              <a:rPr lang="ja"/>
              <a:t>Redhat Linux</a:t>
            </a:r>
            <a:endParaRPr/>
          </a:p>
          <a:p>
            <a:pPr indent="-317500" lvl="1" marL="914400" rtl="0" algn="l">
              <a:spcBef>
                <a:spcPts val="0"/>
              </a:spcBef>
              <a:spcAft>
                <a:spcPts val="0"/>
              </a:spcAft>
              <a:buSzPts val="1400"/>
              <a:buAutoNum type="alphaLcPeriod"/>
            </a:pPr>
            <a:r>
              <a:rPr lang="ja"/>
              <a:t>Cannonical</a:t>
            </a:r>
            <a:endParaRPr/>
          </a:p>
          <a:p>
            <a:pPr indent="-317500" lvl="1" marL="914400" rtl="0" algn="l">
              <a:spcBef>
                <a:spcPts val="0"/>
              </a:spcBef>
              <a:spcAft>
                <a:spcPts val="0"/>
              </a:spcAft>
              <a:buSzPts val="1400"/>
              <a:buAutoNum type="alphaLcPeriod"/>
            </a:pPr>
            <a:r>
              <a:rPr lang="ja"/>
              <a:t>Windriver</a:t>
            </a:r>
            <a:endParaRPr/>
          </a:p>
          <a:p>
            <a:pPr indent="-317500" lvl="1" marL="914400" rtl="0" algn="l">
              <a:spcBef>
                <a:spcPts val="0"/>
              </a:spcBef>
              <a:spcAft>
                <a:spcPts val="0"/>
              </a:spcAft>
              <a:buSzPts val="1400"/>
              <a:buAutoNum type="alphaLcPeriod"/>
            </a:pPr>
            <a:r>
              <a:rPr lang="ja"/>
              <a:t>MIRACLE LINUX</a:t>
            </a:r>
            <a:endParaRPr/>
          </a:p>
          <a:p>
            <a:pPr indent="-342900" lvl="0" marL="457200" rtl="0" algn="l">
              <a:spcBef>
                <a:spcPts val="0"/>
              </a:spcBef>
              <a:spcAft>
                <a:spcPts val="0"/>
              </a:spcAft>
              <a:buSzPts val="1800"/>
              <a:buChar char="●"/>
            </a:pPr>
            <a:r>
              <a:rPr lang="ja"/>
              <a:t>OSSコミュニティとの関係</a:t>
            </a:r>
            <a:endParaRPr/>
          </a:p>
          <a:p>
            <a:pPr indent="-317500" lvl="1" marL="914400" rtl="0" algn="l">
              <a:spcBef>
                <a:spcPts val="0"/>
              </a:spcBef>
              <a:spcAft>
                <a:spcPts val="0"/>
              </a:spcAft>
              <a:buSzPts val="1400"/>
              <a:buAutoNum type="alphaLcPeriod"/>
            </a:pPr>
            <a:r>
              <a:rPr lang="ja"/>
              <a:t>Linuxコミュニティのメンテナー、運営あるいは中心メンバー</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１次：OSSとしてサービスを行う企業</a:t>
            </a:r>
            <a:endParaRPr/>
          </a:p>
        </p:txBody>
      </p:sp>
      <p:sp>
        <p:nvSpPr>
          <p:cNvPr id="175" name="Google Shape;175;p2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ビジネス上の課題</a:t>
            </a:r>
            <a:endParaRPr/>
          </a:p>
          <a:p>
            <a:pPr indent="-317500" lvl="1" marL="914400" rtl="0" algn="l">
              <a:spcBef>
                <a:spcPts val="0"/>
              </a:spcBef>
              <a:spcAft>
                <a:spcPts val="0"/>
              </a:spcAft>
              <a:buSzPts val="1400"/>
              <a:buAutoNum type="alphaLcPeriod"/>
            </a:pPr>
            <a:r>
              <a:rPr lang="ja"/>
              <a:t>ハードウェアベンダーからの認証（新しいハードウェアへの対応）</a:t>
            </a:r>
            <a:endParaRPr/>
          </a:p>
          <a:p>
            <a:pPr indent="-317500" lvl="1" marL="914400" rtl="0" algn="l">
              <a:spcBef>
                <a:spcPts val="0"/>
              </a:spcBef>
              <a:spcAft>
                <a:spcPts val="0"/>
              </a:spcAft>
              <a:buSzPts val="1400"/>
              <a:buAutoNum type="alphaLcPeriod"/>
            </a:pPr>
            <a:r>
              <a:rPr lang="ja"/>
              <a:t>互換性維持（バックポート）</a:t>
            </a:r>
            <a:endParaRPr/>
          </a:p>
          <a:p>
            <a:pPr indent="-317500" lvl="1" marL="914400" rtl="0" algn="l">
              <a:spcBef>
                <a:spcPts val="0"/>
              </a:spcBef>
              <a:spcAft>
                <a:spcPts val="0"/>
              </a:spcAft>
              <a:buSzPts val="1400"/>
              <a:buAutoNum type="alphaLcPeriod"/>
            </a:pPr>
            <a:r>
              <a:rPr lang="ja"/>
              <a:t>セキュリティ対策（バージョンアップと配布）</a:t>
            </a:r>
            <a:endParaRPr/>
          </a:p>
          <a:p>
            <a:pPr indent="-317500" lvl="1" marL="914400" rtl="0" algn="l">
              <a:spcBef>
                <a:spcPts val="0"/>
              </a:spcBef>
              <a:spcAft>
                <a:spcPts val="0"/>
              </a:spcAft>
              <a:buSzPts val="1400"/>
              <a:buAutoNum type="alphaLcPeriod"/>
            </a:pPr>
            <a:r>
              <a:rPr lang="ja"/>
              <a:t>技術サポート</a:t>
            </a:r>
            <a:endParaRPr/>
          </a:p>
          <a:p>
            <a:pPr indent="-342900" lvl="0" marL="457200" rtl="0" algn="l">
              <a:spcBef>
                <a:spcPts val="0"/>
              </a:spcBef>
              <a:spcAft>
                <a:spcPts val="0"/>
              </a:spcAft>
              <a:buSzPts val="1800"/>
              <a:buChar char="●"/>
            </a:pPr>
            <a:r>
              <a:rPr lang="ja"/>
              <a:t>ビジネス価値</a:t>
            </a:r>
            <a:endParaRPr/>
          </a:p>
          <a:p>
            <a:pPr indent="-317500" lvl="1" marL="914400" rtl="0" algn="l">
              <a:spcBef>
                <a:spcPts val="0"/>
              </a:spcBef>
              <a:spcAft>
                <a:spcPts val="0"/>
              </a:spcAft>
              <a:buSzPts val="1400"/>
              <a:buAutoNum type="alphaLcPeriod"/>
            </a:pPr>
            <a:r>
              <a:rPr lang="ja"/>
              <a:t>OSSそのものは売れない（売買禁止ではなく、価値としてこれだけでは売れない）</a:t>
            </a:r>
            <a:endParaRPr/>
          </a:p>
          <a:p>
            <a:pPr indent="-317500" lvl="1" marL="914400" rtl="0" algn="l">
              <a:spcBef>
                <a:spcPts val="0"/>
              </a:spcBef>
              <a:spcAft>
                <a:spcPts val="0"/>
              </a:spcAft>
              <a:buSzPts val="1400"/>
              <a:buAutoNum type="alphaLcPeriod"/>
            </a:pPr>
            <a:r>
              <a:rPr lang="ja"/>
              <a:t>OSS組合せでの提供（自分で検証できなくもないが、組み合わせは多い）</a:t>
            </a:r>
            <a:endParaRPr/>
          </a:p>
          <a:p>
            <a:pPr indent="-317500" lvl="1" marL="914400" rtl="0" algn="l">
              <a:spcBef>
                <a:spcPts val="0"/>
              </a:spcBef>
              <a:spcAft>
                <a:spcPts val="0"/>
              </a:spcAft>
              <a:buSzPts val="1400"/>
              <a:buAutoNum type="alphaLcPeriod"/>
            </a:pPr>
            <a:r>
              <a:rPr lang="ja"/>
              <a:t>メンテナンスの代替（自分で保守できなくもないが、アウトソースした方が品質が良い・効果的）</a:t>
            </a:r>
            <a:endParaRPr/>
          </a:p>
          <a:p>
            <a:pPr indent="-317500" lvl="1" marL="914400" rtl="0" algn="l">
              <a:spcBef>
                <a:spcPts val="0"/>
              </a:spcBef>
              <a:spcAft>
                <a:spcPts val="0"/>
              </a:spcAft>
              <a:buSzPts val="1400"/>
              <a:buAutoNum type="alphaLcPeriod"/>
            </a:pPr>
            <a:r>
              <a:rPr lang="ja"/>
              <a:t>技術的な問い合わせ（自分で調べられるが、聞いたほうが早い）</a:t>
            </a:r>
            <a:endParaRPr/>
          </a:p>
          <a:p>
            <a:pPr indent="-317500" lvl="1" marL="914400" rtl="0" algn="l">
              <a:spcBef>
                <a:spcPts val="0"/>
              </a:spcBef>
              <a:spcAft>
                <a:spcPts val="0"/>
              </a:spcAft>
              <a:buSzPts val="1400"/>
              <a:buAutoNum type="alphaLcPeriod"/>
            </a:pPr>
            <a:r>
              <a:rPr lang="ja"/>
              <a:t>認証がビジネス上必要</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１次：OSSとしてサービスを行う企業</a:t>
            </a:r>
            <a:endParaRPr/>
          </a:p>
        </p:txBody>
      </p:sp>
      <p:sp>
        <p:nvSpPr>
          <p:cNvPr id="181" name="Google Shape;181;p30"/>
          <p:cNvSpPr txBox="1"/>
          <p:nvPr>
            <p:ph idx="1" type="body"/>
          </p:nvPr>
        </p:nvSpPr>
        <p:spPr>
          <a:xfrm>
            <a:off x="311700" y="1225225"/>
            <a:ext cx="5962800" cy="3354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ja"/>
              <a:t>OSS戦略とアクション</a:t>
            </a:r>
            <a:endParaRPr/>
          </a:p>
          <a:p>
            <a:pPr indent="-317500" lvl="1" marL="914400" rtl="0" algn="l">
              <a:spcBef>
                <a:spcPts val="0"/>
              </a:spcBef>
              <a:spcAft>
                <a:spcPts val="0"/>
              </a:spcAft>
              <a:buSzPts val="1400"/>
              <a:buAutoNum type="alphaLcPeriod"/>
            </a:pPr>
            <a:r>
              <a:rPr lang="ja"/>
              <a:t>OSSが存続することでディストロを構成できる</a:t>
            </a:r>
            <a:endParaRPr/>
          </a:p>
          <a:p>
            <a:pPr indent="-317500" lvl="2" marL="1371600" rtl="0" algn="l">
              <a:spcBef>
                <a:spcPts val="0"/>
              </a:spcBef>
              <a:spcAft>
                <a:spcPts val="0"/>
              </a:spcAft>
              <a:buSzPts val="1400"/>
              <a:buAutoNum type="romanLcPeriod"/>
            </a:pPr>
            <a:r>
              <a:rPr lang="ja"/>
              <a:t>パッチ投稿</a:t>
            </a:r>
            <a:endParaRPr/>
          </a:p>
          <a:p>
            <a:pPr indent="-317500" lvl="2" marL="1371600" rtl="0" algn="l">
              <a:spcBef>
                <a:spcPts val="0"/>
              </a:spcBef>
              <a:spcAft>
                <a:spcPts val="0"/>
              </a:spcAft>
              <a:buSzPts val="1400"/>
              <a:buAutoNum type="romanLcPeriod"/>
            </a:pPr>
            <a:r>
              <a:rPr lang="ja"/>
              <a:t>ドキュメント整備（デベロッパー、ユーザーの拡大）</a:t>
            </a:r>
            <a:endParaRPr/>
          </a:p>
          <a:p>
            <a:pPr indent="-317500" lvl="2" marL="1371600" rtl="0" algn="l">
              <a:spcBef>
                <a:spcPts val="0"/>
              </a:spcBef>
              <a:spcAft>
                <a:spcPts val="0"/>
              </a:spcAft>
              <a:buSzPts val="1400"/>
              <a:buAutoNum type="romanLcPeriod"/>
            </a:pPr>
            <a:r>
              <a:rPr lang="ja"/>
              <a:t>コミュニティ発信・運営支援・運営推進（ディストロの基盤維持）</a:t>
            </a:r>
            <a:endParaRPr/>
          </a:p>
          <a:p>
            <a:pPr indent="-317500" lvl="1" marL="914400" rtl="0" algn="l">
              <a:spcBef>
                <a:spcPts val="0"/>
              </a:spcBef>
              <a:spcAft>
                <a:spcPts val="0"/>
              </a:spcAft>
              <a:buSzPts val="1400"/>
              <a:buAutoNum type="alphaLcPeriod"/>
            </a:pPr>
            <a:r>
              <a:rPr lang="ja"/>
              <a:t>OSSの発展が潜在顧客の拡大につながる</a:t>
            </a:r>
            <a:endParaRPr/>
          </a:p>
          <a:p>
            <a:pPr indent="-317500" lvl="2" marL="1371600" rtl="0" algn="l">
              <a:spcBef>
                <a:spcPts val="0"/>
              </a:spcBef>
              <a:spcAft>
                <a:spcPts val="0"/>
              </a:spcAft>
              <a:buSzPts val="1400"/>
              <a:buAutoNum type="romanLcPeriod"/>
            </a:pPr>
            <a:r>
              <a:rPr lang="ja"/>
              <a:t>Meet up イベント、セミナーイベント（ユーザーの拡大）</a:t>
            </a:r>
            <a:endParaRPr/>
          </a:p>
          <a:p>
            <a:pPr indent="-317500" lvl="1" marL="914400" rtl="0" algn="l">
              <a:spcBef>
                <a:spcPts val="0"/>
              </a:spcBef>
              <a:spcAft>
                <a:spcPts val="0"/>
              </a:spcAft>
              <a:buSzPts val="1400"/>
              <a:buAutoNum type="alphaLcPeriod"/>
            </a:pPr>
            <a:r>
              <a:rPr lang="ja"/>
              <a:t>ビジネス価値（ブランド？）の向上</a:t>
            </a:r>
            <a:endParaRPr/>
          </a:p>
          <a:p>
            <a:pPr indent="-317500" lvl="2" marL="1371600" rtl="0" algn="l">
              <a:spcBef>
                <a:spcPts val="0"/>
              </a:spcBef>
              <a:spcAft>
                <a:spcPts val="0"/>
              </a:spcAft>
              <a:buSzPts val="1400"/>
              <a:buAutoNum type="romanLcPeriod"/>
            </a:pPr>
            <a:r>
              <a:rPr lang="ja"/>
              <a:t>継続的にパッチ投稿する</a:t>
            </a:r>
            <a:endParaRPr/>
          </a:p>
          <a:p>
            <a:pPr indent="-317500" lvl="1" marL="914400" rtl="0" algn="l">
              <a:spcBef>
                <a:spcPts val="0"/>
              </a:spcBef>
              <a:spcAft>
                <a:spcPts val="0"/>
              </a:spcAft>
              <a:buSzPts val="1400"/>
              <a:buAutoNum type="alphaLcPeriod"/>
            </a:pPr>
            <a:r>
              <a:rPr lang="ja"/>
              <a:t>デファクトの形成</a:t>
            </a:r>
            <a:endParaRPr/>
          </a:p>
          <a:p>
            <a:pPr indent="-317500" lvl="1" marL="914400" rtl="0" algn="l">
              <a:spcBef>
                <a:spcPts val="0"/>
              </a:spcBef>
              <a:spcAft>
                <a:spcPts val="0"/>
              </a:spcAft>
              <a:buSzPts val="1400"/>
              <a:buAutoNum type="alphaLcPeriod"/>
            </a:pPr>
            <a:r>
              <a:rPr lang="ja"/>
              <a:t>開発者に対して依頼できる</a:t>
            </a:r>
            <a:endParaRPr/>
          </a:p>
          <a:p>
            <a:pPr indent="-317500" lvl="1" marL="914400" rtl="0" algn="l">
              <a:spcBef>
                <a:spcPts val="0"/>
              </a:spcBef>
              <a:spcAft>
                <a:spcPts val="0"/>
              </a:spcAft>
              <a:buSzPts val="1400"/>
              <a:buAutoNum type="alphaLcPeriod"/>
            </a:pPr>
            <a:r>
              <a:rPr lang="ja"/>
              <a:t>（戦略とはちがうかもですが、パッチ投稿＝技術者育成にもつながります）</a:t>
            </a:r>
            <a:endParaRPr/>
          </a:p>
          <a:p>
            <a:pPr indent="-342900" lvl="0" marL="457200" rtl="0" algn="l">
              <a:spcBef>
                <a:spcPts val="0"/>
              </a:spcBef>
              <a:spcAft>
                <a:spcPts val="0"/>
              </a:spcAft>
              <a:buSzPts val="1800"/>
              <a:buChar char="●"/>
            </a:pPr>
            <a:r>
              <a:t/>
            </a:r>
            <a:endParaRPr/>
          </a:p>
        </p:txBody>
      </p:sp>
      <p:sp>
        <p:nvSpPr>
          <p:cNvPr id="182" name="Google Shape;182;p30"/>
          <p:cNvSpPr/>
          <p:nvPr/>
        </p:nvSpPr>
        <p:spPr>
          <a:xfrm>
            <a:off x="6848400" y="1225225"/>
            <a:ext cx="1983900" cy="46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パッチ投稿</a:t>
            </a:r>
            <a:endParaRPr>
              <a:latin typeface="Open Sans"/>
              <a:ea typeface="Open Sans"/>
              <a:cs typeface="Open Sans"/>
              <a:sym typeface="Open Sans"/>
            </a:endParaRPr>
          </a:p>
        </p:txBody>
      </p:sp>
      <p:sp>
        <p:nvSpPr>
          <p:cNvPr id="183" name="Google Shape;183;p30"/>
          <p:cNvSpPr/>
          <p:nvPr/>
        </p:nvSpPr>
        <p:spPr>
          <a:xfrm>
            <a:off x="6848400" y="1743175"/>
            <a:ext cx="1983900" cy="46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コミュニティ支援</a:t>
            </a:r>
            <a:endParaRPr>
              <a:latin typeface="Open Sans"/>
              <a:ea typeface="Open Sans"/>
              <a:cs typeface="Open Sans"/>
              <a:sym typeface="Open Sans"/>
            </a:endParaRPr>
          </a:p>
        </p:txBody>
      </p:sp>
      <p:sp>
        <p:nvSpPr>
          <p:cNvPr id="184" name="Google Shape;184;p30"/>
          <p:cNvSpPr/>
          <p:nvPr/>
        </p:nvSpPr>
        <p:spPr>
          <a:xfrm>
            <a:off x="6848400" y="2261125"/>
            <a:ext cx="1983900" cy="46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Meetup</a:t>
            </a:r>
            <a:endParaRPr>
              <a:latin typeface="Open Sans"/>
              <a:ea typeface="Open Sans"/>
              <a:cs typeface="Open Sans"/>
              <a:sym typeface="Open Sans"/>
            </a:endParaRPr>
          </a:p>
        </p:txBody>
      </p:sp>
      <p:cxnSp>
        <p:nvCxnSpPr>
          <p:cNvPr id="185" name="Google Shape;185;p30"/>
          <p:cNvCxnSpPr/>
          <p:nvPr/>
        </p:nvCxnSpPr>
        <p:spPr>
          <a:xfrm flipH="1" rot="10800000">
            <a:off x="5062775" y="1311325"/>
            <a:ext cx="2082600" cy="377100"/>
          </a:xfrm>
          <a:prstGeom prst="straightConnector1">
            <a:avLst/>
          </a:prstGeom>
          <a:noFill/>
          <a:ln cap="flat" cmpd="sng" w="9525">
            <a:solidFill>
              <a:schemeClr val="dk2"/>
            </a:solidFill>
            <a:prstDash val="solid"/>
            <a:round/>
            <a:headEnd len="med" w="med" type="none"/>
            <a:tailEnd len="med" w="med" type="none"/>
          </a:ln>
        </p:spPr>
      </p:cxnSp>
      <p:cxnSp>
        <p:nvCxnSpPr>
          <p:cNvPr id="186" name="Google Shape;186;p30"/>
          <p:cNvCxnSpPr>
            <a:endCxn id="182" idx="1"/>
          </p:cNvCxnSpPr>
          <p:nvPr/>
        </p:nvCxnSpPr>
        <p:spPr>
          <a:xfrm flipH="1" rot="10800000">
            <a:off x="4136100" y="1456825"/>
            <a:ext cx="2712300" cy="1957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0" name="Shape 190"/>
        <p:cNvGrpSpPr/>
        <p:nvPr/>
      </p:nvGrpSpPr>
      <p:grpSpPr>
        <a:xfrm>
          <a:off x="0" y="0"/>
          <a:ext cx="0" cy="0"/>
          <a:chOff x="0" y="0"/>
          <a:chExt cx="0" cy="0"/>
        </a:xfrm>
      </p:grpSpPr>
      <p:sp>
        <p:nvSpPr>
          <p:cNvPr id="191" name="Google Shape;191;p3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92" name="Google Shape;192;p31"/>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ja"/>
              <a:t>表にしてまとめたらどうか</a:t>
            </a:r>
            <a:endParaRPr/>
          </a:p>
        </p:txBody>
      </p:sp>
      <p:graphicFrame>
        <p:nvGraphicFramePr>
          <p:cNvPr id="193" name="Google Shape;193;p31"/>
          <p:cNvGraphicFramePr/>
          <p:nvPr/>
        </p:nvGraphicFramePr>
        <p:xfrm>
          <a:off x="1368275" y="1809300"/>
          <a:ext cx="3000000" cy="3000000"/>
        </p:xfrm>
        <a:graphic>
          <a:graphicData uri="http://schemas.openxmlformats.org/drawingml/2006/table">
            <a:tbl>
              <a:tblPr>
                <a:noFill/>
                <a:tableStyleId>{7FD3480A-EDBB-40F8-99A1-C475AF1C3352}</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ja"/>
                        <a:t>パッチ投稿</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ja"/>
                        <a:t>コミュニティ存続</a:t>
                      </a:r>
                      <a:endParaRPr/>
                    </a:p>
                  </a:txBody>
                  <a:tcPr marT="91425" marB="91425" marR="91425" marL="91425"/>
                </a:tc>
                <a:tc>
                  <a:txBody>
                    <a:bodyPr/>
                    <a:lstStyle/>
                    <a:p>
                      <a:pPr indent="0" lvl="0" marL="0" rtl="0" algn="l">
                        <a:spcBef>
                          <a:spcPts val="0"/>
                        </a:spcBef>
                        <a:spcAft>
                          <a:spcPts val="0"/>
                        </a:spcAft>
                        <a:buNone/>
                      </a:pPr>
                      <a:r>
                        <a:rPr lang="ja"/>
                        <a:t>◯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rPr lang="ja"/>
                        <a:t>OSSの発展、潜在顧客の拡大</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94" name="Google Shape;194;p31"/>
          <p:cNvSpPr txBox="1"/>
          <p:nvPr/>
        </p:nvSpPr>
        <p:spPr>
          <a:xfrm>
            <a:off x="-2192700" y="1003050"/>
            <a:ext cx="2282700" cy="9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50">
                <a:solidFill>
                  <a:srgbClr val="131619"/>
                </a:solidFill>
                <a:latin typeface="Open Sans"/>
                <a:ea typeface="Open Sans"/>
                <a:cs typeface="Open Sans"/>
                <a:sym typeface="Open Sans"/>
              </a:rPr>
              <a:t>プラットフォームとしてOSSに</a:t>
            </a:r>
            <a:br>
              <a:rPr lang="ja" sz="1050">
                <a:solidFill>
                  <a:srgbClr val="131619"/>
                </a:solidFill>
                <a:latin typeface="Open Sans"/>
                <a:ea typeface="Open Sans"/>
                <a:cs typeface="Open Sans"/>
                <a:sym typeface="Open Sans"/>
              </a:rPr>
            </a:br>
            <a:r>
              <a:rPr lang="ja" sz="1050">
                <a:solidFill>
                  <a:srgbClr val="131619"/>
                </a:solidFill>
                <a:latin typeface="Open Sans"/>
                <a:ea typeface="Open Sans"/>
                <a:cs typeface="Open Sans"/>
                <a:sym typeface="Open Sans"/>
              </a:rPr>
              <a:t>乗っかっている場合と、</a:t>
            </a:r>
            <a:br>
              <a:rPr lang="ja" sz="1050">
                <a:solidFill>
                  <a:srgbClr val="131619"/>
                </a:solidFill>
                <a:latin typeface="Open Sans"/>
                <a:ea typeface="Open Sans"/>
                <a:cs typeface="Open Sans"/>
                <a:sym typeface="Open Sans"/>
              </a:rPr>
            </a:br>
            <a:r>
              <a:rPr lang="ja" sz="1050">
                <a:solidFill>
                  <a:srgbClr val="131619"/>
                </a:solidFill>
                <a:latin typeface="Open Sans"/>
                <a:ea typeface="Open Sans"/>
                <a:cs typeface="Open Sans"/>
                <a:sym typeface="Open Sans"/>
              </a:rPr>
              <a:t>OSSの特定の機能を使って</a:t>
            </a:r>
            <a:br>
              <a:rPr lang="ja" sz="1050">
                <a:solidFill>
                  <a:srgbClr val="131619"/>
                </a:solidFill>
                <a:latin typeface="Open Sans"/>
                <a:ea typeface="Open Sans"/>
                <a:cs typeface="Open Sans"/>
                <a:sym typeface="Open Sans"/>
              </a:rPr>
            </a:br>
            <a:r>
              <a:rPr lang="ja" sz="1050">
                <a:solidFill>
                  <a:srgbClr val="131619"/>
                </a:solidFill>
                <a:latin typeface="Open Sans"/>
                <a:ea typeface="Open Sans"/>
                <a:cs typeface="Open Sans"/>
                <a:sym typeface="Open Sans"/>
              </a:rPr>
              <a:t>サービスを提供する場合の違い</a:t>
            </a:r>
            <a:br>
              <a:rPr lang="ja" sz="1050">
                <a:solidFill>
                  <a:srgbClr val="131619"/>
                </a:solidFill>
                <a:latin typeface="Open Sans"/>
                <a:ea typeface="Open Sans"/>
                <a:cs typeface="Open Sans"/>
                <a:sym typeface="Open Sans"/>
              </a:rPr>
            </a:br>
            <a:r>
              <a:rPr lang="ja" sz="1050">
                <a:solidFill>
                  <a:srgbClr val="131619"/>
                </a:solidFill>
                <a:latin typeface="Open Sans"/>
                <a:ea typeface="Open Sans"/>
                <a:cs typeface="Open Sans"/>
                <a:sym typeface="Open Sans"/>
              </a:rPr>
              <a:t>でしょうか？？</a:t>
            </a:r>
            <a:endParaRPr sz="1800">
              <a:solidFill>
                <a:schemeClr val="dk1"/>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8" name="Shape 198"/>
        <p:cNvGrpSpPr/>
        <p:nvPr/>
      </p:nvGrpSpPr>
      <p:grpSpPr>
        <a:xfrm>
          <a:off x="0" y="0"/>
          <a:ext cx="0" cy="0"/>
          <a:chOff x="0" y="0"/>
          <a:chExt cx="0" cy="0"/>
        </a:xfrm>
      </p:grpSpPr>
      <p:sp>
        <p:nvSpPr>
          <p:cNvPr id="199" name="Google Shape;199;p3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2024-03-15</a:t>
            </a:r>
            <a:endParaRPr/>
          </a:p>
        </p:txBody>
      </p:sp>
      <p:sp>
        <p:nvSpPr>
          <p:cNvPr id="200" name="Google Shape;200;p3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通信事業（事業体）で分けて記載</a:t>
            </a:r>
            <a:endParaRPr/>
          </a:p>
          <a:p>
            <a:pPr indent="-342900" lvl="0" marL="457200" rtl="0" algn="l">
              <a:spcBef>
                <a:spcPts val="0"/>
              </a:spcBef>
              <a:spcAft>
                <a:spcPts val="0"/>
              </a:spcAft>
              <a:buSzPts val="1800"/>
              <a:buChar char="●"/>
            </a:pPr>
            <a:r>
              <a:rPr lang="ja"/>
              <a:t>スライドとSpreadsheetのURLを展開（もたい宿題）</a:t>
            </a:r>
            <a:endParaRPr/>
          </a:p>
          <a:p>
            <a:pPr indent="-342900" lvl="0" marL="457200" rtl="0" algn="l">
              <a:spcBef>
                <a:spcPts val="0"/>
              </a:spcBef>
              <a:spcAft>
                <a:spcPts val="0"/>
              </a:spcAft>
              <a:buSzPts val="1800"/>
              <a:buChar char="●"/>
            </a:pPr>
            <a:r>
              <a:rPr lang="ja"/>
              <a:t>4/12 15時から。</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4" name="Shape 204"/>
        <p:cNvGrpSpPr/>
        <p:nvPr/>
      </p:nvGrpSpPr>
      <p:grpSpPr>
        <a:xfrm>
          <a:off x="0" y="0"/>
          <a:ext cx="0" cy="0"/>
          <a:chOff x="0" y="0"/>
          <a:chExt cx="0" cy="0"/>
        </a:xfrm>
      </p:grpSpPr>
      <p:sp>
        <p:nvSpPr>
          <p:cNvPr id="205" name="Google Shape;205;p3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ja"/>
              <a:t>2024-04-12</a:t>
            </a:r>
            <a:endParaRPr/>
          </a:p>
          <a:p>
            <a:pPr indent="0" lvl="0" marL="0" rtl="0" algn="ctr">
              <a:spcBef>
                <a:spcPts val="0"/>
              </a:spcBef>
              <a:spcAft>
                <a:spcPts val="0"/>
              </a:spcAft>
              <a:buNone/>
            </a:pPr>
            <a:r>
              <a:rPr lang="ja"/>
              <a:t>自動車業界・通信業界の場合</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9" name="Shape 209"/>
        <p:cNvGrpSpPr/>
        <p:nvPr/>
      </p:nvGrpSpPr>
      <p:grpSpPr>
        <a:xfrm>
          <a:off x="0" y="0"/>
          <a:ext cx="0" cy="0"/>
          <a:chOff x="0" y="0"/>
          <a:chExt cx="0" cy="0"/>
        </a:xfrm>
      </p:grpSpPr>
      <p:sp>
        <p:nvSpPr>
          <p:cNvPr id="210" name="Google Shape;210;p3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2024-04-12</a:t>
            </a:r>
            <a:endParaRPr/>
          </a:p>
        </p:txBody>
      </p:sp>
      <p:sp>
        <p:nvSpPr>
          <p:cNvPr id="211" name="Google Shape;211;p34"/>
          <p:cNvSpPr txBox="1"/>
          <p:nvPr>
            <p:ph idx="1" type="body"/>
          </p:nvPr>
        </p:nvSpPr>
        <p:spPr>
          <a:xfrm>
            <a:off x="311700" y="1225225"/>
            <a:ext cx="4310100" cy="33540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ja"/>
              <a:t>通信業界も自動車業界もOSSコミュニティは重要</a:t>
            </a:r>
            <a:endParaRPr/>
          </a:p>
          <a:p>
            <a:pPr indent="-334327" lvl="0" marL="457200" rtl="0" algn="l">
              <a:spcBef>
                <a:spcPts val="0"/>
              </a:spcBef>
              <a:spcAft>
                <a:spcPts val="0"/>
              </a:spcAft>
              <a:buSzPct val="100000"/>
              <a:buChar char="●"/>
            </a:pPr>
            <a:r>
              <a:rPr lang="ja"/>
              <a:t>OSS戦略としては模索中</a:t>
            </a:r>
            <a:endParaRPr/>
          </a:p>
          <a:p>
            <a:pPr indent="-310832" lvl="1" marL="914400" rtl="0" algn="l">
              <a:spcBef>
                <a:spcPts val="0"/>
              </a:spcBef>
              <a:spcAft>
                <a:spcPts val="0"/>
              </a:spcAft>
              <a:buSzPct val="100000"/>
              <a:buChar char="○"/>
            </a:pPr>
            <a:r>
              <a:rPr lang="ja"/>
              <a:t>OSSがなくなるのは困るのでコミュニティが残るための活動は必要との認識</a:t>
            </a:r>
            <a:endParaRPr/>
          </a:p>
          <a:p>
            <a:pPr indent="-334327" lvl="0" marL="457200" rtl="0" algn="l">
              <a:spcBef>
                <a:spcPts val="0"/>
              </a:spcBef>
              <a:spcAft>
                <a:spcPts val="0"/>
              </a:spcAft>
              <a:buSzPct val="100000"/>
              <a:buChar char="●"/>
            </a:pPr>
            <a:r>
              <a:rPr lang="ja"/>
              <a:t>完成車メーカはティア1から完成品をもらってきているとして議論</a:t>
            </a:r>
            <a:endParaRPr/>
          </a:p>
          <a:p>
            <a:pPr indent="-334327" lvl="0" marL="457200" rtl="0" algn="l">
              <a:spcBef>
                <a:spcPts val="0"/>
              </a:spcBef>
              <a:spcAft>
                <a:spcPts val="0"/>
              </a:spcAft>
              <a:buSzPct val="100000"/>
              <a:buChar char="●"/>
            </a:pPr>
            <a:r>
              <a:rPr lang="ja"/>
              <a:t>業界標準はコミュニティでできている</a:t>
            </a:r>
            <a:endParaRPr/>
          </a:p>
          <a:p>
            <a:pPr indent="-310832" lvl="1" marL="914400" rtl="0" algn="l">
              <a:spcBef>
                <a:spcPts val="0"/>
              </a:spcBef>
              <a:spcAft>
                <a:spcPts val="0"/>
              </a:spcAft>
              <a:buSzPct val="100000"/>
              <a:buChar char="○"/>
            </a:pPr>
            <a:r>
              <a:rPr lang="ja"/>
              <a:t>5年とか10年の大きな流れでみると完成品メーカ/通信事業者が流れを提示している印象</a:t>
            </a:r>
            <a:endParaRPr/>
          </a:p>
          <a:p>
            <a:pPr indent="-310832" lvl="2" marL="1371600" rtl="0" algn="l">
              <a:spcBef>
                <a:spcPts val="0"/>
              </a:spcBef>
              <a:spcAft>
                <a:spcPts val="0"/>
              </a:spcAft>
              <a:buSzPct val="100000"/>
              <a:buChar char="■"/>
            </a:pPr>
            <a:r>
              <a:rPr lang="ja"/>
              <a:t>通信事業者であれば3GPPとかはそういう流れ</a:t>
            </a:r>
            <a:endParaRPr/>
          </a:p>
          <a:p>
            <a:pPr indent="-310832" lvl="1" marL="914400" rtl="0" algn="l">
              <a:spcBef>
                <a:spcPts val="0"/>
              </a:spcBef>
              <a:spcAft>
                <a:spcPts val="0"/>
              </a:spcAft>
              <a:buSzPct val="100000"/>
              <a:buChar char="○"/>
            </a:pPr>
            <a:r>
              <a:rPr lang="ja"/>
              <a:t>相互運用も含めてOSSコミュニティでできていると健全</a:t>
            </a:r>
            <a:endParaRPr/>
          </a:p>
        </p:txBody>
      </p:sp>
      <p:pic>
        <p:nvPicPr>
          <p:cNvPr id="212" name="Google Shape;212;p34"/>
          <p:cNvPicPr preferRelativeResize="0"/>
          <p:nvPr/>
        </p:nvPicPr>
        <p:blipFill rotWithShape="1">
          <a:blip r:embed="rId3">
            <a:alphaModFix/>
          </a:blip>
          <a:srcRect b="0" l="0" r="0" t="1700"/>
          <a:stretch/>
        </p:blipFill>
        <p:spPr>
          <a:xfrm>
            <a:off x="4774200" y="1339950"/>
            <a:ext cx="4217399" cy="2324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6" name="Shape 216"/>
        <p:cNvGrpSpPr/>
        <p:nvPr/>
      </p:nvGrpSpPr>
      <p:grpSpPr>
        <a:xfrm>
          <a:off x="0" y="0"/>
          <a:ext cx="0" cy="0"/>
          <a:chOff x="0" y="0"/>
          <a:chExt cx="0" cy="0"/>
        </a:xfrm>
      </p:grpSpPr>
      <p:sp>
        <p:nvSpPr>
          <p:cNvPr id="217" name="Google Shape;217;p3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2024-04-12</a:t>
            </a:r>
            <a:endParaRPr/>
          </a:p>
        </p:txBody>
      </p:sp>
      <p:sp>
        <p:nvSpPr>
          <p:cNvPr id="218" name="Google Shape;218;p35"/>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Teleco APIを開発して標準化するプロジェクト</a:t>
            </a:r>
            <a:endParaRPr/>
          </a:p>
          <a:p>
            <a:pPr indent="-317500" lvl="1" marL="914400" rtl="0" algn="l">
              <a:spcBef>
                <a:spcPts val="0"/>
              </a:spcBef>
              <a:spcAft>
                <a:spcPts val="0"/>
              </a:spcAft>
              <a:buSzPts val="1400"/>
              <a:buChar char="○"/>
            </a:pPr>
            <a:r>
              <a:rPr lang="ja" u="sng">
                <a:solidFill>
                  <a:schemeClr val="hlink"/>
                </a:solidFill>
                <a:hlinkClick r:id="rId3"/>
              </a:rPr>
              <a:t>https://camaraproject.org/</a:t>
            </a:r>
            <a:endParaRPr/>
          </a:p>
          <a:p>
            <a:pPr indent="-317500" lvl="1" marL="914400" rtl="0" algn="l">
              <a:spcBef>
                <a:spcPts val="0"/>
              </a:spcBef>
              <a:spcAft>
                <a:spcPts val="0"/>
              </a:spcAft>
              <a:buSzPts val="1400"/>
              <a:buChar char="○"/>
            </a:pPr>
            <a:r>
              <a:rPr lang="ja"/>
              <a:t>相互に接続されるためにはこういうプロジェクトが必要で、リードすることがOSS戦略として良いだろう。</a:t>
            </a:r>
            <a:endParaRPr/>
          </a:p>
          <a:p>
            <a:pPr indent="-342900" lvl="0" marL="457200" rtl="0" algn="l">
              <a:spcBef>
                <a:spcPts val="0"/>
              </a:spcBef>
              <a:spcAft>
                <a:spcPts val="0"/>
              </a:spcAft>
              <a:buSzPts val="1800"/>
              <a:buChar char="●"/>
            </a:pPr>
            <a:r>
              <a:rPr lang="ja"/>
              <a:t>こういった業界横断で使うようなプロジェクトはどう立ち上がるのか？</a:t>
            </a:r>
            <a:endParaRPr/>
          </a:p>
          <a:p>
            <a:pPr indent="-317500" lvl="1" marL="914400" rtl="0" algn="l">
              <a:spcBef>
                <a:spcPts val="0"/>
              </a:spcBef>
              <a:spcAft>
                <a:spcPts val="0"/>
              </a:spcAft>
              <a:buSzPts val="1400"/>
              <a:buChar char="○"/>
            </a:pPr>
            <a:r>
              <a:rPr lang="ja"/>
              <a:t>The Linux Foundation に持ち込まれて議論されることがある。</a:t>
            </a:r>
            <a:endParaRPr/>
          </a:p>
          <a:p>
            <a:pPr indent="-317500" lvl="1" marL="914400" rtl="0" algn="l">
              <a:spcBef>
                <a:spcPts val="0"/>
              </a:spcBef>
              <a:spcAft>
                <a:spcPts val="0"/>
              </a:spcAft>
              <a:buSzPts val="1400"/>
              <a:buChar char="○"/>
            </a:pPr>
            <a:r>
              <a:rPr lang="ja"/>
              <a:t>Open Daylightとかでは誰がコードベースをとるか。</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2" name="Shape 222"/>
        <p:cNvGrpSpPr/>
        <p:nvPr/>
      </p:nvGrpSpPr>
      <p:grpSpPr>
        <a:xfrm>
          <a:off x="0" y="0"/>
          <a:ext cx="0" cy="0"/>
          <a:chOff x="0" y="0"/>
          <a:chExt cx="0" cy="0"/>
        </a:xfrm>
      </p:grpSpPr>
      <p:sp>
        <p:nvSpPr>
          <p:cNvPr id="223" name="Google Shape;223;p3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2024-04-12</a:t>
            </a:r>
            <a:endParaRPr/>
          </a:p>
        </p:txBody>
      </p:sp>
      <p:sp>
        <p:nvSpPr>
          <p:cNvPr id="224" name="Google Shape;224;p36"/>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SBOM でクレームを返すことはないのか？</a:t>
            </a:r>
            <a:endParaRPr/>
          </a:p>
          <a:p>
            <a:pPr indent="-317500" lvl="1" marL="914400" rtl="0" algn="l">
              <a:spcBef>
                <a:spcPts val="0"/>
              </a:spcBef>
              <a:spcAft>
                <a:spcPts val="0"/>
              </a:spcAft>
              <a:buSzPts val="1400"/>
              <a:buChar char="○"/>
            </a:pPr>
            <a:r>
              <a:rPr lang="ja"/>
              <a:t>SBOMで意に沿わないソフトウェアが入っていた場合は、どうするのか？</a:t>
            </a:r>
            <a:br>
              <a:rPr lang="ja"/>
            </a:br>
            <a:r>
              <a:rPr lang="ja"/>
              <a:t>（Appleとかでは認証があったりするが）</a:t>
            </a:r>
            <a:endParaRPr/>
          </a:p>
          <a:p>
            <a:pPr indent="-317500" lvl="1" marL="914400" rtl="0" algn="l">
              <a:spcBef>
                <a:spcPts val="0"/>
              </a:spcBef>
              <a:spcAft>
                <a:spcPts val="0"/>
              </a:spcAft>
              <a:buSzPts val="1400"/>
              <a:buChar char="○"/>
            </a:pPr>
            <a:r>
              <a:rPr lang="ja"/>
              <a:t>技術者不足でみきれていない・・・</a:t>
            </a:r>
            <a:endParaRPr/>
          </a:p>
          <a:p>
            <a:pPr indent="-317500" lvl="1" marL="914400" rtl="0" algn="l">
              <a:spcBef>
                <a:spcPts val="0"/>
              </a:spcBef>
              <a:spcAft>
                <a:spcPts val="0"/>
              </a:spcAft>
              <a:buSzPts val="1400"/>
              <a:buChar char="○"/>
            </a:pPr>
            <a:r>
              <a:rPr lang="ja"/>
              <a:t>「このライセンスは含めないでほしい」と言われる場合があると認識している。</a:t>
            </a:r>
            <a:endParaRPr/>
          </a:p>
          <a:p>
            <a:pPr indent="-342900" lvl="0" marL="457200" rtl="0" algn="l">
              <a:spcBef>
                <a:spcPts val="0"/>
              </a:spcBef>
              <a:spcAft>
                <a:spcPts val="0"/>
              </a:spcAft>
              <a:buSzPts val="1800"/>
              <a:buChar char="●"/>
            </a:pPr>
            <a:r>
              <a:rPr lang="ja"/>
              <a:t>通信事業者でもAGPLが気になることは？</a:t>
            </a:r>
            <a:endParaRPr/>
          </a:p>
          <a:p>
            <a:pPr indent="-342900" lvl="0" marL="457200" rtl="0" algn="l">
              <a:spcBef>
                <a:spcPts val="0"/>
              </a:spcBef>
              <a:spcAft>
                <a:spcPts val="0"/>
              </a:spcAft>
              <a:buSzPts val="1800"/>
              <a:buChar char="●"/>
            </a:pPr>
            <a:r>
              <a:rPr lang="ja"/>
              <a:t>OSSコミュニティに問いかけてライセンスを見直してもらうとか？</a:t>
            </a:r>
            <a:endParaRPr/>
          </a:p>
          <a:p>
            <a:pPr indent="-317500" lvl="1" marL="914400" rtl="0" algn="l">
              <a:spcBef>
                <a:spcPts val="0"/>
              </a:spcBef>
              <a:spcAft>
                <a:spcPts val="0"/>
              </a:spcAft>
              <a:buSzPts val="1400"/>
              <a:buChar char="○"/>
            </a:pPr>
            <a:r>
              <a:rPr lang="ja"/>
              <a:t>使い方の範囲が広がれば、使い方に合ったライセンスに変えてもらうことも重要では。</a:t>
            </a:r>
            <a:endParaRPr/>
          </a:p>
          <a:p>
            <a:pPr indent="-342900" lvl="0" marL="457200" rtl="0" algn="l">
              <a:spcBef>
                <a:spcPts val="0"/>
              </a:spcBef>
              <a:spcAft>
                <a:spcPts val="0"/>
              </a:spcAft>
              <a:buSzPts val="1800"/>
              <a:buChar char="●"/>
            </a:pPr>
            <a:r>
              <a:rPr lang="ja"/>
              <a:t>SBOMが発展すれば、どのOSSが使われているかが明確になってきそう</a:t>
            </a:r>
            <a:endParaRPr/>
          </a:p>
          <a:p>
            <a:pPr indent="-317500" lvl="1" marL="914400" rtl="0" algn="l">
              <a:spcBef>
                <a:spcPts val="0"/>
              </a:spcBef>
              <a:spcAft>
                <a:spcPts val="0"/>
              </a:spcAft>
              <a:buSzPts val="1400"/>
              <a:buChar char="○"/>
            </a:pPr>
            <a:r>
              <a:rPr lang="ja"/>
              <a:t>自社ビジネスに重要なOSSのランキングをだせそう</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8" name="Shape 228"/>
        <p:cNvGrpSpPr/>
        <p:nvPr/>
      </p:nvGrpSpPr>
      <p:grpSpPr>
        <a:xfrm>
          <a:off x="0" y="0"/>
          <a:ext cx="0" cy="0"/>
          <a:chOff x="0" y="0"/>
          <a:chExt cx="0" cy="0"/>
        </a:xfrm>
      </p:grpSpPr>
      <p:sp>
        <p:nvSpPr>
          <p:cNvPr id="229" name="Google Shape;229;p3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2024-04-12</a:t>
            </a:r>
            <a:endParaRPr/>
          </a:p>
        </p:txBody>
      </p:sp>
      <p:sp>
        <p:nvSpPr>
          <p:cNvPr id="230" name="Google Shape;230;p37"/>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ビルド時にSBOM生成を行って欲しい。OSSコミュニティへリクエストを出している。</a:t>
            </a:r>
            <a:endParaRPr/>
          </a:p>
          <a:p>
            <a:pPr indent="-317500" lvl="1" marL="914400" rtl="0" algn="l">
              <a:spcBef>
                <a:spcPts val="0"/>
              </a:spcBef>
              <a:spcAft>
                <a:spcPts val="0"/>
              </a:spcAft>
              <a:buSzPts val="1400"/>
              <a:buChar char="○"/>
            </a:pPr>
            <a:r>
              <a:rPr lang="ja"/>
              <a:t>ビジネス横断のOSSコミュニティでは重要視してもらえる。</a:t>
            </a:r>
            <a:endParaRPr/>
          </a:p>
          <a:p>
            <a:pPr indent="-317500" lvl="1" marL="914400" rtl="0" algn="l">
              <a:spcBef>
                <a:spcPts val="0"/>
              </a:spcBef>
              <a:spcAft>
                <a:spcPts val="0"/>
              </a:spcAft>
              <a:buSzPts val="1400"/>
              <a:buChar char="○"/>
            </a:pPr>
            <a:r>
              <a:rPr lang="ja"/>
              <a:t>先行者の模倣</a:t>
            </a:r>
            <a:endParaRPr/>
          </a:p>
          <a:p>
            <a:pPr indent="-317500" lvl="1" marL="914400" rtl="0" algn="l">
              <a:spcBef>
                <a:spcPts val="0"/>
              </a:spcBef>
              <a:spcAft>
                <a:spcPts val="0"/>
              </a:spcAft>
              <a:buSzPts val="1400"/>
              <a:buChar char="○"/>
            </a:pPr>
            <a:r>
              <a:rPr lang="ja">
                <a:solidFill>
                  <a:srgbClr val="FF0000"/>
                </a:solidFill>
              </a:rPr>
              <a:t>👉</a:t>
            </a:r>
            <a:r>
              <a:rPr lang="ja"/>
              <a:t>自社が重要視するOSSのコミュニティが広くビジネスで使ってもらえることが重要なので、こういったビジネス系OSSに意見をだしていくのもOSS戦略と考える。</a:t>
            </a:r>
            <a:endParaRPr/>
          </a:p>
          <a:p>
            <a:pPr indent="-342900" lvl="0" marL="457200" rtl="0" algn="l">
              <a:spcBef>
                <a:spcPts val="0"/>
              </a:spcBef>
              <a:spcAft>
                <a:spcPts val="0"/>
              </a:spcAft>
              <a:buSzPts val="1800"/>
              <a:buChar char="●"/>
            </a:pPr>
            <a:r>
              <a:rPr lang="ja"/>
              <a:t>依頼先企業へOSS活動を作業依頼することはあるか？</a:t>
            </a:r>
            <a:endParaRPr/>
          </a:p>
          <a:p>
            <a:pPr indent="-317500" lvl="1" marL="914400" rtl="0" algn="l">
              <a:spcBef>
                <a:spcPts val="0"/>
              </a:spcBef>
              <a:spcAft>
                <a:spcPts val="0"/>
              </a:spcAft>
              <a:buSzPts val="1400"/>
              <a:buChar char="○"/>
            </a:pPr>
            <a:r>
              <a:rPr lang="ja"/>
              <a:t>今は無い。請負関係にある企業に作業依頼することはなく、ライセンスに従い貢献しているのが現状。</a:t>
            </a:r>
            <a:endParaRPr/>
          </a:p>
          <a:p>
            <a:pPr indent="-317500" lvl="1" marL="914400" rtl="0" algn="l">
              <a:spcBef>
                <a:spcPts val="0"/>
              </a:spcBef>
              <a:spcAft>
                <a:spcPts val="0"/>
              </a:spcAft>
              <a:buSzPts val="1400"/>
              <a:buChar char="○"/>
            </a:pPr>
            <a:r>
              <a:rPr lang="ja"/>
              <a:t>コミュニティに還元する(努力する)形式で依頼するのはどうか？</a:t>
            </a:r>
            <a:endParaRPr/>
          </a:p>
          <a:p>
            <a:pPr indent="-317500" lvl="1" marL="914400" rtl="0" algn="l">
              <a:spcBef>
                <a:spcPts val="0"/>
              </a:spcBef>
              <a:spcAft>
                <a:spcPts val="0"/>
              </a:spcAft>
              <a:buSzPts val="1400"/>
              <a:buChar char="○"/>
            </a:pPr>
            <a:r>
              <a:rPr lang="ja"/>
              <a:t>契約による・・・　（業界全体でコントリビューション文化風潮は作りたいが）</a:t>
            </a:r>
            <a:endParaRPr/>
          </a:p>
          <a:p>
            <a:pPr indent="-317500" lvl="1" marL="914400" rtl="0" algn="l">
              <a:spcBef>
                <a:spcPts val="0"/>
              </a:spcBef>
              <a:spcAft>
                <a:spcPts val="0"/>
              </a:spcAft>
              <a:buSzPts val="1400"/>
              <a:buChar char="○"/>
            </a:pPr>
            <a:r>
              <a:rPr lang="ja">
                <a:solidFill>
                  <a:srgbClr val="FF0000"/>
                </a:solidFill>
              </a:rPr>
              <a:t>👉</a:t>
            </a:r>
            <a:r>
              <a:rPr lang="ja"/>
              <a:t>OSSに特殊な機能を入れて納品した時に「毎回バージョンアップするたびにパッチのメンテコスト分を追加するか」「開発したパッチをコミュニティに還元してコスト安になることを許可するか」どちらかを選んでもらってました。大体コミュニティに還元することを許可してもらってました。</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4" name="Shape 234"/>
        <p:cNvGrpSpPr/>
        <p:nvPr/>
      </p:nvGrpSpPr>
      <p:grpSpPr>
        <a:xfrm>
          <a:off x="0" y="0"/>
          <a:ext cx="0" cy="0"/>
          <a:chOff x="0" y="0"/>
          <a:chExt cx="0" cy="0"/>
        </a:xfrm>
      </p:grpSpPr>
      <p:sp>
        <p:nvSpPr>
          <p:cNvPr id="235" name="Google Shape;235;p38"/>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ja"/>
              <a:t>2024-05-10</a:t>
            </a:r>
            <a:endParaRPr/>
          </a:p>
          <a:p>
            <a:pPr indent="0" lvl="0" marL="0" rtl="0" algn="ctr">
              <a:spcBef>
                <a:spcPts val="0"/>
              </a:spcBef>
              <a:spcAft>
                <a:spcPts val="0"/>
              </a:spcAft>
              <a:buNone/>
            </a:pPr>
            <a:r>
              <a:rPr lang="ja"/>
              <a:t>半導体ベンダーの場合</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9" name="Shape 239"/>
        <p:cNvGrpSpPr/>
        <p:nvPr/>
      </p:nvGrpSpPr>
      <p:grpSpPr>
        <a:xfrm>
          <a:off x="0" y="0"/>
          <a:ext cx="0" cy="0"/>
          <a:chOff x="0" y="0"/>
          <a:chExt cx="0" cy="0"/>
        </a:xfrm>
      </p:grpSpPr>
      <p:sp>
        <p:nvSpPr>
          <p:cNvPr id="240" name="Google Shape;240;p39"/>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2024-05-10</a:t>
            </a:r>
            <a:endParaRPr/>
          </a:p>
        </p:txBody>
      </p:sp>
      <p:sp>
        <p:nvSpPr>
          <p:cNvPr id="241" name="Google Shape;241;p39"/>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ビジネス：箱物を作るためのサプライヤー</a:t>
            </a:r>
            <a:endParaRPr/>
          </a:p>
          <a:p>
            <a:pPr indent="-317500" lvl="1" marL="914400" rtl="0" algn="l">
              <a:spcBef>
                <a:spcPts val="0"/>
              </a:spcBef>
              <a:spcAft>
                <a:spcPts val="0"/>
              </a:spcAft>
              <a:buSzPts val="1400"/>
              <a:buChar char="○"/>
            </a:pPr>
            <a:r>
              <a:rPr lang="ja"/>
              <a:t>利益とソフトウェアが別のところにあり、直接的にはリンクしない</a:t>
            </a:r>
            <a:endParaRPr/>
          </a:p>
          <a:p>
            <a:pPr indent="-317500" lvl="1" marL="914400" rtl="0" algn="l">
              <a:spcBef>
                <a:spcPts val="0"/>
              </a:spcBef>
              <a:spcAft>
                <a:spcPts val="0"/>
              </a:spcAft>
              <a:buSzPts val="1400"/>
              <a:buChar char="○"/>
            </a:pPr>
            <a:r>
              <a:rPr lang="ja"/>
              <a:t>サプライチェーンとしては中流。上流のIPベンダーから受け、下流のメーカーへ卸す。</a:t>
            </a:r>
            <a:endParaRPr/>
          </a:p>
          <a:p>
            <a:pPr indent="-342900" lvl="0" marL="457200" rtl="0" algn="l">
              <a:spcBef>
                <a:spcPts val="0"/>
              </a:spcBef>
              <a:spcAft>
                <a:spcPts val="0"/>
              </a:spcAft>
              <a:buSzPts val="1800"/>
              <a:buChar char="●"/>
            </a:pPr>
            <a:r>
              <a:rPr lang="ja"/>
              <a:t>規格ファーストからOSSファーストに移り変わっている</a:t>
            </a:r>
            <a:endParaRPr/>
          </a:p>
          <a:p>
            <a:pPr indent="-342900" lvl="0" marL="457200" rtl="0" algn="l">
              <a:spcBef>
                <a:spcPts val="0"/>
              </a:spcBef>
              <a:spcAft>
                <a:spcPts val="0"/>
              </a:spcAft>
              <a:buSzPts val="1800"/>
              <a:buChar char="●"/>
            </a:pPr>
            <a:r>
              <a:rPr lang="ja"/>
              <a:t>OSSコミュニティに対して何をする？</a:t>
            </a:r>
            <a:endParaRPr/>
          </a:p>
          <a:p>
            <a:pPr indent="-317500" lvl="1" marL="914400" rtl="0" algn="l">
              <a:spcBef>
                <a:spcPts val="0"/>
              </a:spcBef>
              <a:spcAft>
                <a:spcPts val="0"/>
              </a:spcAft>
              <a:buSzPts val="1400"/>
              <a:buChar char="○"/>
            </a:pPr>
            <a:r>
              <a:rPr lang="ja"/>
              <a:t>（広くニーズがあるコミュニティへ）フォスタリング(fostering)、スポンサーシップ</a:t>
            </a:r>
            <a:endParaRPr/>
          </a:p>
          <a:p>
            <a:pPr indent="-317500" lvl="1" marL="914400" rtl="0" algn="l">
              <a:spcBef>
                <a:spcPts val="0"/>
              </a:spcBef>
              <a:spcAft>
                <a:spcPts val="0"/>
              </a:spcAft>
              <a:buSzPts val="1400"/>
              <a:buChar char="○"/>
            </a:pPr>
            <a:r>
              <a:rPr lang="ja"/>
              <a:t>コミュニティを作る。ホスティング。</a:t>
            </a:r>
            <a:endParaRPr/>
          </a:p>
          <a:p>
            <a:pPr indent="-342900" lvl="0" marL="457200" rtl="0" algn="l">
              <a:spcBef>
                <a:spcPts val="0"/>
              </a:spcBef>
              <a:spcAft>
                <a:spcPts val="0"/>
              </a:spcAft>
              <a:buSzPts val="1800"/>
              <a:buChar char="●"/>
            </a:pPr>
            <a:r>
              <a:rPr lang="ja"/>
              <a:t>LF配下プロジェクトへの参加としてはIntel, NVidiaなどからも多い。</a:t>
            </a:r>
            <a:endParaRPr/>
          </a:p>
          <a:p>
            <a:pPr indent="-317500" lvl="1" marL="914400" rtl="0" algn="l">
              <a:spcBef>
                <a:spcPts val="0"/>
              </a:spcBef>
              <a:spcAft>
                <a:spcPts val="0"/>
              </a:spcAft>
              <a:buSzPts val="1400"/>
              <a:buChar char="○"/>
            </a:pPr>
            <a:r>
              <a:rPr lang="ja"/>
              <a:t>自分たちの半導体を使えるようにしておく行動＝フォスタリング</a:t>
            </a:r>
            <a:endParaRPr/>
          </a:p>
          <a:p>
            <a:pPr indent="-317500" lvl="1" marL="914400" rtl="0" algn="l">
              <a:spcBef>
                <a:spcPts val="0"/>
              </a:spcBef>
              <a:spcAft>
                <a:spcPts val="0"/>
              </a:spcAft>
              <a:buSzPts val="1400"/>
              <a:buChar char="○"/>
            </a:pPr>
            <a:r>
              <a:rPr lang="ja"/>
              <a:t>メンテナンスとしても大きなコミュニティに取り込まれて欲しい</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5" name="Shape 245"/>
        <p:cNvGrpSpPr/>
        <p:nvPr/>
      </p:nvGrpSpPr>
      <p:grpSpPr>
        <a:xfrm>
          <a:off x="0" y="0"/>
          <a:ext cx="0" cy="0"/>
          <a:chOff x="0" y="0"/>
          <a:chExt cx="0" cy="0"/>
        </a:xfrm>
      </p:grpSpPr>
      <p:sp>
        <p:nvSpPr>
          <p:cNvPr id="246" name="Google Shape;246;p4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2024-05-10</a:t>
            </a:r>
            <a:endParaRPr/>
          </a:p>
        </p:txBody>
      </p:sp>
      <p:sp>
        <p:nvSpPr>
          <p:cNvPr id="247" name="Google Shape;247;p40"/>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ARMはLinaroを中心とした非営利団体を立ち上げている</a:t>
            </a:r>
            <a:endParaRPr/>
          </a:p>
          <a:p>
            <a:pPr indent="-317500" lvl="1" marL="914400" rtl="0" algn="l">
              <a:spcBef>
                <a:spcPts val="0"/>
              </a:spcBef>
              <a:spcAft>
                <a:spcPts val="0"/>
              </a:spcAft>
              <a:buSzPts val="1400"/>
              <a:buChar char="○"/>
            </a:pPr>
            <a:r>
              <a:rPr lang="ja"/>
              <a:t>非営利団体からソフトウェアエンジニアを雇う</a:t>
            </a:r>
            <a:endParaRPr/>
          </a:p>
          <a:p>
            <a:pPr indent="-342900" lvl="0" marL="457200" rtl="0" algn="l">
              <a:spcBef>
                <a:spcPts val="0"/>
              </a:spcBef>
              <a:spcAft>
                <a:spcPts val="0"/>
              </a:spcAft>
              <a:buSzPts val="1800"/>
              <a:buChar char="●"/>
            </a:pPr>
            <a:r>
              <a:rPr lang="ja"/>
              <a:t>自社ビジネスと直結しないところでの活動が重要になってきている</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1" name="Shape 251"/>
        <p:cNvGrpSpPr/>
        <p:nvPr/>
      </p:nvGrpSpPr>
      <p:grpSpPr>
        <a:xfrm>
          <a:off x="0" y="0"/>
          <a:ext cx="0" cy="0"/>
          <a:chOff x="0" y="0"/>
          <a:chExt cx="0" cy="0"/>
        </a:xfrm>
      </p:grpSpPr>
      <p:sp>
        <p:nvSpPr>
          <p:cNvPr id="252" name="Google Shape;252;p41"/>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ja"/>
              <a:t>2024-06-14</a:t>
            </a:r>
            <a:endParaRPr/>
          </a:p>
          <a:p>
            <a:pPr indent="0" lvl="0" marL="0" rtl="0" algn="ctr">
              <a:spcBef>
                <a:spcPts val="0"/>
              </a:spcBef>
              <a:spcAft>
                <a:spcPts val="0"/>
              </a:spcAft>
              <a:buNone/>
            </a:pPr>
            <a:r>
              <a:rPr lang="ja"/>
              <a:t>オンライン販売サービスの場合</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6" name="Shape 256"/>
        <p:cNvGrpSpPr/>
        <p:nvPr/>
      </p:nvGrpSpPr>
      <p:grpSpPr>
        <a:xfrm>
          <a:off x="0" y="0"/>
          <a:ext cx="0" cy="0"/>
          <a:chOff x="0" y="0"/>
          <a:chExt cx="0" cy="0"/>
        </a:xfrm>
      </p:grpSpPr>
      <p:sp>
        <p:nvSpPr>
          <p:cNvPr id="257" name="Google Shape;257;p4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2024-06-14</a:t>
            </a:r>
            <a:endParaRPr/>
          </a:p>
        </p:txBody>
      </p:sp>
      <p:sp>
        <p:nvSpPr>
          <p:cNvPr id="258" name="Google Shape;258;p4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プロダクト制作にOSSを利用している（想像通り）</a:t>
            </a:r>
            <a:endParaRPr/>
          </a:p>
          <a:p>
            <a:pPr indent="-317500" lvl="1" marL="914400" rtl="0" algn="l">
              <a:spcBef>
                <a:spcPts val="0"/>
              </a:spcBef>
              <a:spcAft>
                <a:spcPts val="0"/>
              </a:spcAft>
              <a:buSzPts val="1400"/>
              <a:buChar char="○"/>
            </a:pPr>
            <a:r>
              <a:rPr lang="ja"/>
              <a:t>社内ツールとしてもOSSは利用</a:t>
            </a:r>
            <a:endParaRPr/>
          </a:p>
          <a:p>
            <a:pPr indent="-317500" lvl="2" marL="1371600" rtl="0" algn="l">
              <a:spcBef>
                <a:spcPts val="0"/>
              </a:spcBef>
              <a:spcAft>
                <a:spcPts val="0"/>
              </a:spcAft>
              <a:buSzPts val="1400"/>
              <a:buChar char="■"/>
            </a:pPr>
            <a:r>
              <a:rPr lang="ja"/>
              <a:t>URL短縮化、社内コミュニケーションツールの質問回答botの一部、などでOSS利用</a:t>
            </a:r>
            <a:endParaRPr/>
          </a:p>
          <a:p>
            <a:pPr indent="-317500" lvl="1" marL="914400" rtl="0" algn="l">
              <a:spcBef>
                <a:spcPts val="0"/>
              </a:spcBef>
              <a:spcAft>
                <a:spcPts val="0"/>
              </a:spcAft>
              <a:buSzPts val="1400"/>
              <a:buChar char="○"/>
            </a:pPr>
            <a:r>
              <a:rPr lang="ja"/>
              <a:t>基本的なOSS（Python, PHPなど）は利用数、重要度から鑑みてスポンサー判断</a:t>
            </a:r>
            <a:endParaRPr/>
          </a:p>
          <a:p>
            <a:pPr indent="-317500" lvl="1" marL="914400" rtl="0" algn="l">
              <a:spcBef>
                <a:spcPts val="0"/>
              </a:spcBef>
              <a:spcAft>
                <a:spcPts val="0"/>
              </a:spcAft>
              <a:buSzPts val="1400"/>
              <a:buChar char="○"/>
            </a:pPr>
            <a:r>
              <a:rPr lang="ja"/>
              <a:t>OSS関連のイベントへのブース出展。エンジニア起点で進言があり、会社が判断して実施したこともある</a:t>
            </a:r>
            <a:endParaRPr/>
          </a:p>
          <a:p>
            <a:pPr indent="-317500" lvl="2" marL="1371600" rtl="0" algn="l">
              <a:spcBef>
                <a:spcPts val="0"/>
              </a:spcBef>
              <a:spcAft>
                <a:spcPts val="0"/>
              </a:spcAft>
              <a:buSzPts val="1400"/>
              <a:buChar char="■"/>
            </a:pPr>
            <a:r>
              <a:rPr lang="ja"/>
              <a:t>エンジニアのネットワーキングやモチベーション維持を目的</a:t>
            </a:r>
            <a:endParaRPr/>
          </a:p>
          <a:p>
            <a:pPr indent="-317500" lvl="2" marL="1371600" rtl="0" algn="l">
              <a:spcBef>
                <a:spcPts val="0"/>
              </a:spcBef>
              <a:spcAft>
                <a:spcPts val="0"/>
              </a:spcAft>
              <a:buSzPts val="1400"/>
              <a:buChar char="■"/>
            </a:pPr>
            <a:r>
              <a:rPr lang="ja"/>
              <a:t>会社がスポンサーしているということは前面に出ないようにしている</a:t>
            </a:r>
            <a:endParaRPr/>
          </a:p>
          <a:p>
            <a:pPr indent="0" lvl="0" marL="0" rtl="0" algn="l">
              <a:spcBef>
                <a:spcPts val="12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2" name="Shape 262"/>
        <p:cNvGrpSpPr/>
        <p:nvPr/>
      </p:nvGrpSpPr>
      <p:grpSpPr>
        <a:xfrm>
          <a:off x="0" y="0"/>
          <a:ext cx="0" cy="0"/>
          <a:chOff x="0" y="0"/>
          <a:chExt cx="0" cy="0"/>
        </a:xfrm>
      </p:grpSpPr>
      <p:sp>
        <p:nvSpPr>
          <p:cNvPr id="263" name="Google Shape;263;p4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2024-06-14</a:t>
            </a:r>
            <a:endParaRPr/>
          </a:p>
        </p:txBody>
      </p:sp>
      <p:sp>
        <p:nvSpPr>
          <p:cNvPr id="264" name="Google Shape;264;p43"/>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OSS活動に関する明確なポリシーはある</a:t>
            </a:r>
            <a:endParaRPr/>
          </a:p>
          <a:p>
            <a:pPr indent="-317500" lvl="1" marL="914400" rtl="0" algn="l">
              <a:spcBef>
                <a:spcPts val="0"/>
              </a:spcBef>
              <a:spcAft>
                <a:spcPts val="0"/>
              </a:spcAft>
              <a:buSzPts val="1400"/>
              <a:buChar char="○"/>
            </a:pPr>
            <a:r>
              <a:rPr lang="ja"/>
              <a:t>コントリビューションは可能。</a:t>
            </a:r>
            <a:r>
              <a:rPr lang="ja"/>
              <a:t>件数など統計データは取得していない。</a:t>
            </a:r>
            <a:endParaRPr/>
          </a:p>
          <a:p>
            <a:pPr indent="-317500" lvl="1" marL="914400" rtl="0" algn="l">
              <a:spcBef>
                <a:spcPts val="0"/>
              </a:spcBef>
              <a:spcAft>
                <a:spcPts val="0"/>
              </a:spcAft>
              <a:buSzPts val="1400"/>
              <a:buChar char="○"/>
            </a:pPr>
            <a:r>
              <a:rPr lang="ja"/>
              <a:t>OSSを積極的に使用している、貢献も可能なことをアピールする目的でブログや動画で触れている。</a:t>
            </a:r>
            <a:endParaRPr/>
          </a:p>
          <a:p>
            <a:pPr indent="-317500" lvl="1" marL="914400" rtl="0" algn="l">
              <a:spcBef>
                <a:spcPts val="0"/>
              </a:spcBef>
              <a:spcAft>
                <a:spcPts val="0"/>
              </a:spcAft>
              <a:buSzPts val="1400"/>
              <a:buChar char="○"/>
            </a:pPr>
            <a:r>
              <a:rPr lang="ja"/>
              <a:t>活動制限も設けていない（エンジニアのモチベーション維持）</a:t>
            </a:r>
            <a:endParaRPr/>
          </a:p>
          <a:p>
            <a:pPr indent="-342900" lvl="0" marL="457200" rtl="0" algn="l">
              <a:spcBef>
                <a:spcPts val="0"/>
              </a:spcBef>
              <a:spcAft>
                <a:spcPts val="0"/>
              </a:spcAft>
              <a:buSzPts val="1800"/>
              <a:buChar char="●"/>
            </a:pPr>
            <a:r>
              <a:rPr lang="ja"/>
              <a:t>OSS公開</a:t>
            </a:r>
            <a:endParaRPr/>
          </a:p>
          <a:p>
            <a:pPr indent="-317500" lvl="1" marL="914400" rtl="0" algn="l">
              <a:spcBef>
                <a:spcPts val="0"/>
              </a:spcBef>
              <a:spcAft>
                <a:spcPts val="0"/>
              </a:spcAft>
              <a:buSzPts val="1400"/>
              <a:buChar char="○"/>
            </a:pPr>
            <a:r>
              <a:rPr lang="ja"/>
              <a:t>Githubの会社アカウントがあり、公開判断が出来るようになっている</a:t>
            </a:r>
            <a:endParaRPr/>
          </a:p>
          <a:p>
            <a:pPr indent="-317500" lvl="1" marL="914400" rtl="0" algn="l">
              <a:spcBef>
                <a:spcPts val="0"/>
              </a:spcBef>
              <a:spcAft>
                <a:spcPts val="0"/>
              </a:spcAft>
              <a:buSzPts val="1400"/>
              <a:buChar char="○"/>
            </a:pPr>
            <a:r>
              <a:rPr lang="ja"/>
              <a:t>公開フローあり。ライセンス違反など最低限のツールチェックを経て、各部門のチェックを受けられるように自動化がはかられている</a:t>
            </a:r>
            <a:endParaRPr/>
          </a:p>
          <a:p>
            <a:pPr indent="-317500" lvl="1" marL="914400" rtl="0" algn="l">
              <a:spcBef>
                <a:spcPts val="0"/>
              </a:spcBef>
              <a:spcAft>
                <a:spcPts val="0"/>
              </a:spcAft>
              <a:buSzPts val="1400"/>
              <a:buChar char="○"/>
            </a:pPr>
            <a:r>
              <a:rPr lang="ja"/>
              <a:t>githubのリポジトリ単位で公開する</a:t>
            </a:r>
            <a:endParaRPr/>
          </a:p>
          <a:p>
            <a:pPr indent="-317500" lvl="1" marL="914400" rtl="0" algn="l">
              <a:spcBef>
                <a:spcPts val="0"/>
              </a:spcBef>
              <a:spcAft>
                <a:spcPts val="0"/>
              </a:spcAft>
              <a:buSzPts val="1400"/>
              <a:buChar char="○"/>
            </a:pPr>
            <a:r>
              <a:rPr lang="ja"/>
              <a:t>公開した後、SNSやブログでのアピール</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8" name="Shape 268"/>
        <p:cNvGrpSpPr/>
        <p:nvPr/>
      </p:nvGrpSpPr>
      <p:grpSpPr>
        <a:xfrm>
          <a:off x="0" y="0"/>
          <a:ext cx="0" cy="0"/>
          <a:chOff x="0" y="0"/>
          <a:chExt cx="0" cy="0"/>
        </a:xfrm>
      </p:grpSpPr>
      <p:sp>
        <p:nvSpPr>
          <p:cNvPr id="269" name="Google Shape;269;p4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2024-06-14</a:t>
            </a:r>
            <a:endParaRPr/>
          </a:p>
        </p:txBody>
      </p:sp>
      <p:sp>
        <p:nvSpPr>
          <p:cNvPr id="270" name="Google Shape;270;p4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OSPOの前身は、エンジニアのOSSライセンス問題提起から。</a:t>
            </a:r>
            <a:endParaRPr/>
          </a:p>
          <a:p>
            <a:pPr indent="-342900" lvl="0" marL="457200" rtl="0" algn="l">
              <a:spcBef>
                <a:spcPts val="0"/>
              </a:spcBef>
              <a:spcAft>
                <a:spcPts val="0"/>
              </a:spcAft>
              <a:buSzPts val="1800"/>
              <a:buChar char="●"/>
            </a:pPr>
            <a:r>
              <a:rPr lang="ja"/>
              <a:t>OSSライセンスからBusinessライセンスへ移行されるソフトウェアが出てきており、課題になっている。</a:t>
            </a:r>
            <a:endParaRPr/>
          </a:p>
          <a:p>
            <a:pPr indent="-317500" lvl="1" marL="914400" rtl="0" algn="l">
              <a:spcBef>
                <a:spcPts val="0"/>
              </a:spcBef>
              <a:spcAft>
                <a:spcPts val="0"/>
              </a:spcAft>
              <a:buSzPts val="1400"/>
              <a:buChar char="○"/>
            </a:pPr>
            <a:r>
              <a:rPr lang="ja"/>
              <a:t>エンジニアがアンテナをはっており、OSPOに連絡が入る（という文化がある）</a:t>
            </a:r>
            <a:endParaRPr/>
          </a:p>
          <a:p>
            <a:pPr indent="-317500" lvl="1" marL="914400" rtl="0" algn="l">
              <a:spcBef>
                <a:spcPts val="0"/>
              </a:spcBef>
              <a:spcAft>
                <a:spcPts val="0"/>
              </a:spcAft>
              <a:buSzPts val="1400"/>
              <a:buChar char="○"/>
            </a:pPr>
            <a:r>
              <a:rPr lang="ja"/>
              <a:t>スキャンツールでのポリシー違反はアラートがでる</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4" name="Shape 274"/>
        <p:cNvGrpSpPr/>
        <p:nvPr/>
      </p:nvGrpSpPr>
      <p:grpSpPr>
        <a:xfrm>
          <a:off x="0" y="0"/>
          <a:ext cx="0" cy="0"/>
          <a:chOff x="0" y="0"/>
          <a:chExt cx="0" cy="0"/>
        </a:xfrm>
      </p:grpSpPr>
      <p:sp>
        <p:nvSpPr>
          <p:cNvPr id="275" name="Google Shape;275;p45"/>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ペルソナ企業での課題想定結果</a:t>
            </a:r>
            <a:endParaRPr/>
          </a:p>
        </p:txBody>
      </p:sp>
      <p:sp>
        <p:nvSpPr>
          <p:cNvPr id="276" name="Google Shape;276;p45"/>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277" name="Google Shape;277;p45"/>
          <p:cNvSpPr txBox="1"/>
          <p:nvPr/>
        </p:nvSpPr>
        <p:spPr>
          <a:xfrm>
            <a:off x="4846550" y="360575"/>
            <a:ext cx="4045200" cy="16623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lt1"/>
              </a:buClr>
              <a:buSzPts val="2400"/>
              <a:buFont typeface="Economica"/>
              <a:buChar char="●"/>
            </a:pPr>
            <a:r>
              <a:rPr lang="ja" sz="2400">
                <a:solidFill>
                  <a:schemeClr val="lt1"/>
                </a:solidFill>
                <a:latin typeface="Economica"/>
                <a:ea typeface="Economica"/>
                <a:cs typeface="Economica"/>
                <a:sym typeface="Economica"/>
              </a:rPr>
              <a:t>コントリビューション活動項目は共通項が多い</a:t>
            </a:r>
            <a:endParaRPr sz="2400">
              <a:solidFill>
                <a:schemeClr val="lt1"/>
              </a:solidFill>
              <a:latin typeface="Economica"/>
              <a:ea typeface="Economica"/>
              <a:cs typeface="Economica"/>
              <a:sym typeface="Economica"/>
            </a:endParaRPr>
          </a:p>
          <a:p>
            <a:pPr indent="-381000" lvl="0" marL="457200" rtl="0" algn="l">
              <a:spcBef>
                <a:spcPts val="0"/>
              </a:spcBef>
              <a:spcAft>
                <a:spcPts val="0"/>
              </a:spcAft>
              <a:buClr>
                <a:schemeClr val="lt1"/>
              </a:buClr>
              <a:buSzPts val="2400"/>
              <a:buFont typeface="Economica"/>
              <a:buChar char="●"/>
            </a:pPr>
            <a:r>
              <a:rPr lang="ja" sz="2400">
                <a:solidFill>
                  <a:schemeClr val="lt1"/>
                </a:solidFill>
                <a:latin typeface="Economica"/>
                <a:ea typeface="Economica"/>
                <a:cs typeface="Economica"/>
                <a:sym typeface="Economica"/>
              </a:rPr>
              <a:t>各ペルソナ企業での影響度は異なる</a:t>
            </a:r>
            <a:endParaRPr sz="2400">
              <a:solidFill>
                <a:schemeClr val="lt1"/>
              </a:solidFill>
              <a:latin typeface="Economica"/>
              <a:ea typeface="Economica"/>
              <a:cs typeface="Economica"/>
              <a:sym typeface="Economica"/>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OSS Strategy &amp; Hosting</a:t>
            </a:r>
            <a:endParaRPr/>
          </a:p>
        </p:txBody>
      </p:sp>
      <p:sp>
        <p:nvSpPr>
          <p:cNvPr id="283" name="Google Shape;283;p46"/>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4"/>
              </a:buClr>
              <a:buSzPts val="1800"/>
              <a:buChar char="■"/>
            </a:pPr>
            <a:r>
              <a:rPr lang="ja"/>
              <a:t>コントリビューション活動項目と各ペルソナ企業での影響度の</a:t>
            </a:r>
            <a:br>
              <a:rPr lang="ja"/>
            </a:br>
            <a:r>
              <a:rPr lang="ja"/>
              <a:t>重み付けを議論中</a:t>
            </a:r>
            <a:endParaRPr/>
          </a:p>
          <a:p>
            <a:pPr indent="-342900" lvl="0" marL="457200" rtl="0" algn="l">
              <a:spcBef>
                <a:spcPts val="0"/>
              </a:spcBef>
              <a:spcAft>
                <a:spcPts val="0"/>
              </a:spcAft>
              <a:buClr>
                <a:schemeClr val="accent4"/>
              </a:buClr>
              <a:buSzPts val="1800"/>
              <a:buChar char="■"/>
            </a:pPr>
            <a:r>
              <a:rPr lang="ja"/>
              <a:t>是非ご参加ください</a:t>
            </a:r>
            <a:br>
              <a:rPr lang="ja"/>
            </a:br>
            <a:r>
              <a:rPr lang="ja"/>
              <a:t>（</a:t>
            </a:r>
            <a:r>
              <a:rPr lang="ja" u="sng">
                <a:solidFill>
                  <a:schemeClr val="hlink"/>
                </a:solidFill>
                <a:hlinkClick r:id="rId3"/>
              </a:rPr>
              <a:t>URL</a:t>
            </a:r>
            <a:r>
              <a:rPr lang="ja"/>
              <a:t>）</a:t>
            </a:r>
            <a:endParaRPr/>
          </a:p>
        </p:txBody>
      </p:sp>
      <p:pic>
        <p:nvPicPr>
          <p:cNvPr id="284" name="Google Shape;284;p46"/>
          <p:cNvPicPr preferRelativeResize="0"/>
          <p:nvPr/>
        </p:nvPicPr>
        <p:blipFill>
          <a:blip r:embed="rId4">
            <a:alphaModFix/>
          </a:blip>
          <a:stretch>
            <a:fillRect/>
          </a:stretch>
        </p:blipFill>
        <p:spPr>
          <a:xfrm>
            <a:off x="3005750" y="1743350"/>
            <a:ext cx="5880725" cy="28621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10</a:t>
            </a:r>
            <a:r>
              <a:rPr lang="ja"/>
              <a:t>月アジェンダ</a:t>
            </a:r>
            <a:endParaRPr/>
          </a:p>
        </p:txBody>
      </p:sp>
      <p:sp>
        <p:nvSpPr>
          <p:cNvPr id="290" name="Google Shape;290;p47"/>
          <p:cNvSpPr txBox="1"/>
          <p:nvPr>
            <p:ph idx="1" type="body"/>
          </p:nvPr>
        </p:nvSpPr>
        <p:spPr>
          <a:xfrm>
            <a:off x="280350" y="1266450"/>
            <a:ext cx="8520600" cy="33390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ja"/>
              <a:t>10</a:t>
            </a:r>
            <a:r>
              <a:rPr lang="ja"/>
              <a:t>/10 (金)15:00〜</a:t>
            </a:r>
            <a:endParaRPr/>
          </a:p>
          <a:p>
            <a:pPr indent="-290830" lvl="1" marL="914400" rtl="0" algn="l">
              <a:spcBef>
                <a:spcPts val="0"/>
              </a:spcBef>
              <a:spcAft>
                <a:spcPts val="0"/>
              </a:spcAft>
              <a:buSzPct val="100000"/>
              <a:buChar char="○"/>
            </a:pPr>
            <a:r>
              <a:rPr lang="ja"/>
              <a:t>「OSS活動の重み付け」狙いの整理</a:t>
            </a:r>
            <a:endParaRPr/>
          </a:p>
          <a:p>
            <a:pPr indent="-290830" lvl="2" marL="1371600" rtl="0" algn="l">
              <a:spcBef>
                <a:spcPts val="0"/>
              </a:spcBef>
              <a:spcAft>
                <a:spcPts val="0"/>
              </a:spcAft>
              <a:buSzPct val="100000"/>
              <a:buChar char="■"/>
            </a:pPr>
            <a:r>
              <a:rPr lang="ja"/>
              <a:t>「ペルソナ企業・産業分野の狙い」のスタックや指標の整理を進めて、それをベースにペルソナ企業を再整理</a:t>
            </a:r>
            <a:endParaRPr/>
          </a:p>
          <a:p>
            <a:pPr indent="-290830" lvl="2" marL="1371600" rtl="0" algn="l">
              <a:spcBef>
                <a:spcPts val="0"/>
              </a:spcBef>
              <a:spcAft>
                <a:spcPts val="0"/>
              </a:spcAft>
              <a:buSzPct val="100000"/>
              <a:buChar char="■"/>
            </a:pPr>
            <a:r>
              <a:rPr lang="ja"/>
              <a:t>今回のたたき台を元にもらった意見を反映してペルソナ企業の重み付けを最終版に向けてブラッシュアップしたい</a:t>
            </a:r>
            <a:endParaRPr/>
          </a:p>
          <a:p>
            <a:pPr indent="-290830" lvl="2" marL="1371600" rtl="0" algn="l">
              <a:spcBef>
                <a:spcPts val="0"/>
              </a:spcBef>
              <a:spcAft>
                <a:spcPts val="0"/>
              </a:spcAft>
              <a:buSzPct val="100000"/>
              <a:buChar char="■"/>
            </a:pPr>
            <a:r>
              <a:rPr lang="ja"/>
              <a:t>さらに先にはOSS を自社ホスティングしていきたい企業については、ペルソナ企業という切り口ではなく、OSS を使ってどのような戦略を取るかによる切り口に変わりそう</a:t>
            </a:r>
            <a:endParaRPr/>
          </a:p>
          <a:p>
            <a:pPr indent="-290830" lvl="1" marL="914400" rtl="0" algn="l">
              <a:spcBef>
                <a:spcPts val="0"/>
              </a:spcBef>
              <a:spcAft>
                <a:spcPts val="0"/>
              </a:spcAft>
              <a:buSzPct val="100000"/>
              <a:buChar char="○"/>
            </a:pPr>
            <a:r>
              <a:rPr lang="ja"/>
              <a:t>OSPO 立ち上げ事例紹介 LT について</a:t>
            </a:r>
            <a:endParaRPr/>
          </a:p>
          <a:p>
            <a:pPr indent="-290830" lvl="2" marL="1371600" rtl="0" algn="l">
              <a:spcBef>
                <a:spcPts val="0"/>
              </a:spcBef>
              <a:spcAft>
                <a:spcPts val="0"/>
              </a:spcAft>
              <a:buSzPct val="100000"/>
              <a:buChar char="■"/>
            </a:pPr>
            <a:r>
              <a:rPr lang="ja"/>
              <a:t>OSPO Japan WG のイベントでやりたい</a:t>
            </a:r>
            <a:endParaRPr/>
          </a:p>
          <a:p>
            <a:pPr indent="-290830" lvl="2" marL="1371600" rtl="0" algn="l">
              <a:spcBef>
                <a:spcPts val="0"/>
              </a:spcBef>
              <a:spcAft>
                <a:spcPts val="0"/>
              </a:spcAft>
              <a:buSzPct val="100000"/>
              <a:buChar char="■"/>
            </a:pPr>
            <a:r>
              <a:rPr lang="ja"/>
              <a:t>LF Japan Community Days、OSSJ 共同セッションにて紹介する</a:t>
            </a:r>
            <a:endParaRPr/>
          </a:p>
          <a:p>
            <a:pPr indent="-290830" lvl="2" marL="1371600" rtl="0" algn="l">
              <a:spcBef>
                <a:spcPts val="0"/>
              </a:spcBef>
              <a:spcAft>
                <a:spcPts val="0"/>
              </a:spcAft>
              <a:buSzPct val="100000"/>
              <a:buChar char="■"/>
            </a:pPr>
            <a:r>
              <a:rPr lang="ja"/>
              <a:t>IPA にも紹介してもらうのもありかも</a:t>
            </a:r>
            <a:endParaRPr/>
          </a:p>
          <a:p>
            <a:pPr indent="-290830" lvl="3" marL="1828800" rtl="0" algn="l">
              <a:spcBef>
                <a:spcPts val="0"/>
              </a:spcBef>
              <a:spcAft>
                <a:spcPts val="0"/>
              </a:spcAft>
              <a:buSzPct val="100000"/>
              <a:buChar char="●"/>
            </a:pPr>
            <a:r>
              <a:rPr lang="ja" u="sng">
                <a:solidFill>
                  <a:schemeClr val="hlink"/>
                </a:solidFill>
                <a:hlinkClick r:id="rId3"/>
              </a:rPr>
              <a:t>https://www.ipa.go.jp/event/2025/briefing-ospo-workshop20251002.html</a:t>
            </a:r>
            <a:r>
              <a:rPr lang="ja"/>
              <a:t> </a:t>
            </a:r>
            <a:endParaRPr/>
          </a:p>
          <a:p>
            <a:pPr indent="-290830" lvl="1" marL="914400" rtl="0" algn="l">
              <a:spcBef>
                <a:spcPts val="0"/>
              </a:spcBef>
              <a:spcAft>
                <a:spcPts val="0"/>
              </a:spcAft>
              <a:buSzPct val="100000"/>
              <a:buChar char="○"/>
            </a:pPr>
            <a:r>
              <a:rPr lang="ja"/>
              <a:t>OSPO 立ち上げ</a:t>
            </a:r>
            <a:endParaRPr/>
          </a:p>
          <a:p>
            <a:pPr indent="-290830" lvl="2" marL="1371600" rtl="0" algn="l">
              <a:spcBef>
                <a:spcPts val="0"/>
              </a:spcBef>
              <a:spcAft>
                <a:spcPts val="0"/>
              </a:spcAft>
              <a:buSzPct val="100000"/>
              <a:buChar char="■"/>
            </a:pPr>
            <a:r>
              <a:rPr lang="ja"/>
              <a:t>2025レポートでも LACK OF EXECUTIVE BUY-IN が挙がっていた</a:t>
            </a:r>
            <a:endParaRPr/>
          </a:p>
          <a:p>
            <a:pPr indent="-290830" lvl="3" marL="1828800" rtl="0" algn="l">
              <a:spcBef>
                <a:spcPts val="0"/>
              </a:spcBef>
              <a:spcAft>
                <a:spcPts val="0"/>
              </a:spcAft>
              <a:buSzPct val="100000"/>
              <a:buChar char="●"/>
            </a:pPr>
            <a:r>
              <a:rPr lang="ja" u="sng">
                <a:solidFill>
                  <a:schemeClr val="hlink"/>
                </a:solidFill>
                <a:hlinkClick r:id="rId4"/>
              </a:rPr>
              <a:t>https://www.linuxfoundation.org/hubfs/Research%20Reports/LFResearch_StateofOSPO_082025.pdf?hsLang=en</a:t>
            </a:r>
            <a:r>
              <a:rPr lang="ja"/>
              <a:t> </a:t>
            </a:r>
            <a:endParaRPr/>
          </a:p>
          <a:p>
            <a:pPr indent="-290830" lvl="1" marL="914400" rtl="0" algn="l">
              <a:spcBef>
                <a:spcPts val="0"/>
              </a:spcBef>
              <a:spcAft>
                <a:spcPts val="0"/>
              </a:spcAft>
              <a:buSzPct val="100000"/>
              <a:buChar char="○"/>
            </a:pPr>
            <a:r>
              <a:rPr lang="ja"/>
              <a:t>AI と OSPO の関係は？</a:t>
            </a:r>
            <a:endParaRPr/>
          </a:p>
          <a:p>
            <a:pPr indent="-290830" lvl="2" marL="1371600" rtl="0" algn="l">
              <a:spcBef>
                <a:spcPts val="0"/>
              </a:spcBef>
              <a:spcAft>
                <a:spcPts val="0"/>
              </a:spcAft>
              <a:buSzPct val="100000"/>
              <a:buChar char="■"/>
            </a:pPr>
            <a:r>
              <a:rPr lang="ja"/>
              <a:t>ライセンスが気になるので OSPO に声がかかる</a:t>
            </a:r>
            <a:endParaRPr/>
          </a:p>
          <a:p>
            <a:pPr indent="-290830" lvl="2" marL="1371600" rtl="0" algn="l">
              <a:spcBef>
                <a:spcPts val="0"/>
              </a:spcBef>
              <a:spcAft>
                <a:spcPts val="0"/>
              </a:spcAft>
              <a:buSzPct val="100000"/>
              <a:buChar char="■"/>
            </a:pPr>
            <a:r>
              <a:rPr lang="ja"/>
              <a:t>AI 戦略を進めるために OSS が必須だから</a:t>
            </a:r>
            <a:r>
              <a:rPr lang="ja"/>
              <a:t>声がかかる</a:t>
            </a:r>
            <a:endParaRPr/>
          </a:p>
          <a:p>
            <a:pPr indent="-290830" lvl="2" marL="1371600" rtl="0" algn="l">
              <a:spcBef>
                <a:spcPts val="0"/>
              </a:spcBef>
              <a:spcAft>
                <a:spcPts val="0"/>
              </a:spcAft>
              <a:buSzPct val="100000"/>
              <a:buChar char="■"/>
            </a:pPr>
            <a:r>
              <a:rPr lang="ja"/>
              <a:t>Open Data が関連するので OSPO に声がかかる</a:t>
            </a:r>
            <a:endParaRPr/>
          </a:p>
          <a:p>
            <a:pPr indent="-290830" lvl="2" marL="1371600" rtl="0" algn="l">
              <a:spcBef>
                <a:spcPts val="0"/>
              </a:spcBef>
              <a:spcAft>
                <a:spcPts val="0"/>
              </a:spcAft>
              <a:buSzPct val="100000"/>
              <a:buChar char="■"/>
            </a:pPr>
            <a:r>
              <a:rPr lang="ja"/>
              <a:t>AI の専門部門がないと</a:t>
            </a:r>
            <a:r>
              <a:rPr lang="ja"/>
              <a:t> OSPO に声がかかる？</a:t>
            </a:r>
            <a:endParaRPr/>
          </a:p>
          <a:p>
            <a:pPr indent="-290830" lvl="1" marL="914400" rtl="0" algn="l">
              <a:spcBef>
                <a:spcPts val="0"/>
              </a:spcBef>
              <a:spcAft>
                <a:spcPts val="0"/>
              </a:spcAft>
              <a:buSzPct val="100000"/>
              <a:buChar char="○"/>
            </a:pPr>
            <a:r>
              <a:rPr lang="ja"/>
              <a:t>まとめかた議論の続き</a:t>
            </a:r>
            <a:endParaRPr/>
          </a:p>
        </p:txBody>
      </p:sp>
      <p:sp>
        <p:nvSpPr>
          <p:cNvPr id="291" name="Google Shape;291;p47"/>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202504</a:t>
            </a:r>
            <a:endParaRPr sz="800">
              <a:latin typeface="Open Sans Medium"/>
              <a:ea typeface="Open Sans Medium"/>
              <a:cs typeface="Open Sans Medium"/>
              <a:sym typeface="Open Sans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次回について</a:t>
            </a:r>
            <a:endParaRPr/>
          </a:p>
        </p:txBody>
      </p:sp>
      <p:sp>
        <p:nvSpPr>
          <p:cNvPr id="297" name="Google Shape;297;p48"/>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10/？(金)15:00〜</a:t>
            </a:r>
            <a:endParaRPr/>
          </a:p>
          <a:p>
            <a:pPr indent="-317500" lvl="1" marL="914400" rtl="0" algn="l">
              <a:spcBef>
                <a:spcPts val="0"/>
              </a:spcBef>
              <a:spcAft>
                <a:spcPts val="0"/>
              </a:spcAft>
              <a:buSzPts val="1400"/>
              <a:buChar char="○"/>
            </a:pPr>
            <a:r>
              <a:rPr lang="ja"/>
              <a:t>「OSS活動の重み付け」狙いの整理</a:t>
            </a:r>
            <a:endParaRPr/>
          </a:p>
          <a:p>
            <a:pPr indent="-317500" lvl="2" marL="1371600" rtl="0" algn="l">
              <a:spcBef>
                <a:spcPts val="0"/>
              </a:spcBef>
              <a:spcAft>
                <a:spcPts val="0"/>
              </a:spcAft>
              <a:buSzPts val="1400"/>
              <a:buChar char="■"/>
            </a:pPr>
            <a:r>
              <a:rPr lang="ja"/>
              <a:t>「ペルソナ企業・産業分野の狙い」のスタックや指標の整理を進めて、それをベースにペルソナ企業を再整理</a:t>
            </a:r>
            <a:endParaRPr/>
          </a:p>
          <a:p>
            <a:pPr indent="-317500" lvl="2" marL="1371600" rtl="0" algn="l">
              <a:spcBef>
                <a:spcPts val="0"/>
              </a:spcBef>
              <a:spcAft>
                <a:spcPts val="0"/>
              </a:spcAft>
              <a:buSzPts val="1400"/>
              <a:buChar char="■"/>
            </a:pPr>
            <a:r>
              <a:rPr lang="ja"/>
              <a:t>今回のたたき台を元にもらった意見を反映してペルソナ企業の重み付けを最終版に向けてブラッシュアップしたい</a:t>
            </a:r>
            <a:endParaRPr/>
          </a:p>
          <a:p>
            <a:pPr indent="-317500" lvl="2" marL="1371600" rtl="0" algn="l">
              <a:spcBef>
                <a:spcPts val="0"/>
              </a:spcBef>
              <a:spcAft>
                <a:spcPts val="0"/>
              </a:spcAft>
              <a:buSzPts val="1400"/>
              <a:buChar char="■"/>
            </a:pPr>
            <a:r>
              <a:rPr lang="ja"/>
              <a:t>さらに先にはOSS を自社ホスティングしていきたい企業については、ペルソナ企業という切り口ではなく、OSS を使ってどのような戦略を取るかによる切り口に変わりそう</a:t>
            </a:r>
            <a:endParaRPr/>
          </a:p>
          <a:p>
            <a:pPr indent="-317500" lvl="1" marL="914400" rtl="0" algn="l">
              <a:spcBef>
                <a:spcPts val="0"/>
              </a:spcBef>
              <a:spcAft>
                <a:spcPts val="0"/>
              </a:spcAft>
              <a:buSzPts val="1400"/>
              <a:buChar char="○"/>
            </a:pPr>
            <a:r>
              <a:rPr lang="ja"/>
              <a:t>まとめかた議論の続き</a:t>
            </a:r>
            <a:endParaRPr/>
          </a:p>
        </p:txBody>
      </p:sp>
      <p:sp>
        <p:nvSpPr>
          <p:cNvPr id="298" name="Google Shape;298;p48"/>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202504</a:t>
            </a:r>
            <a:endParaRPr sz="800">
              <a:latin typeface="Open Sans Medium"/>
              <a:ea typeface="Open Sans Medium"/>
              <a:cs typeface="Open Sans Medium"/>
              <a:sym typeface="Open Sans Medium"/>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2" name="Shape 302"/>
        <p:cNvGrpSpPr/>
        <p:nvPr/>
      </p:nvGrpSpPr>
      <p:grpSpPr>
        <a:xfrm>
          <a:off x="0" y="0"/>
          <a:ext cx="0" cy="0"/>
          <a:chOff x="0" y="0"/>
          <a:chExt cx="0" cy="0"/>
        </a:xfrm>
      </p:grpSpPr>
      <p:sp>
        <p:nvSpPr>
          <p:cNvPr id="303" name="Google Shape;303;p4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9</a:t>
            </a:r>
            <a:r>
              <a:rPr lang="ja"/>
              <a:t>月アジェンダ</a:t>
            </a:r>
            <a:endParaRPr/>
          </a:p>
        </p:txBody>
      </p:sp>
      <p:sp>
        <p:nvSpPr>
          <p:cNvPr id="304" name="Google Shape;304;p49"/>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9/</a:t>
            </a:r>
            <a:r>
              <a:rPr lang="ja"/>
              <a:t>12？</a:t>
            </a:r>
            <a:r>
              <a:rPr lang="ja"/>
              <a:t>(金)15:00〜</a:t>
            </a:r>
            <a:endParaRPr/>
          </a:p>
          <a:p>
            <a:pPr indent="-317500" lvl="1" marL="914400" rtl="0" algn="l">
              <a:spcBef>
                <a:spcPts val="0"/>
              </a:spcBef>
              <a:spcAft>
                <a:spcPts val="0"/>
              </a:spcAft>
              <a:buSzPts val="1400"/>
              <a:buChar char="○"/>
            </a:pPr>
            <a:r>
              <a:rPr lang="ja"/>
              <a:t>「OSS活動の重み付け」狙いの整理</a:t>
            </a:r>
            <a:endParaRPr/>
          </a:p>
          <a:p>
            <a:pPr indent="-317500" lvl="2" marL="1371600" rtl="0" algn="l">
              <a:spcBef>
                <a:spcPts val="0"/>
              </a:spcBef>
              <a:spcAft>
                <a:spcPts val="0"/>
              </a:spcAft>
              <a:buSzPts val="1400"/>
              <a:buChar char="■"/>
            </a:pPr>
            <a:r>
              <a:rPr lang="ja"/>
              <a:t>「ペルソナ企業・産業分野の狙い」のスタックや指標の整理を進めて、それをベースにペルソナ企業を再整理</a:t>
            </a:r>
            <a:endParaRPr/>
          </a:p>
          <a:p>
            <a:pPr indent="-317500" lvl="2" marL="1371600" rtl="0" algn="l">
              <a:spcBef>
                <a:spcPts val="0"/>
              </a:spcBef>
              <a:spcAft>
                <a:spcPts val="0"/>
              </a:spcAft>
              <a:buSzPts val="1400"/>
              <a:buChar char="■"/>
            </a:pPr>
            <a:r>
              <a:rPr lang="ja"/>
              <a:t>今回のたたき台を元にもらった意見を反映して</a:t>
            </a:r>
            <a:r>
              <a:rPr lang="ja"/>
              <a:t>ペルソナ企業の</a:t>
            </a:r>
            <a:r>
              <a:rPr lang="ja"/>
              <a:t>重み付けを最終版に向けてブラッシュアップしたい</a:t>
            </a:r>
            <a:endParaRPr/>
          </a:p>
          <a:p>
            <a:pPr indent="-317500" lvl="2" marL="1371600" rtl="0" algn="l">
              <a:spcBef>
                <a:spcPts val="0"/>
              </a:spcBef>
              <a:spcAft>
                <a:spcPts val="0"/>
              </a:spcAft>
              <a:buSzPts val="1400"/>
              <a:buChar char="■"/>
            </a:pPr>
            <a:r>
              <a:rPr lang="ja"/>
              <a:t>さらに先にはOSS を自社ホスティングしていきたい企業については、ペルソナ企業という切り口ではなく、OSS を使ってどのような戦略を取るかによる切り口に変わりそう</a:t>
            </a:r>
            <a:endParaRPr/>
          </a:p>
          <a:p>
            <a:pPr indent="-317500" lvl="1" marL="914400" rtl="0" algn="l">
              <a:spcBef>
                <a:spcPts val="0"/>
              </a:spcBef>
              <a:spcAft>
                <a:spcPts val="0"/>
              </a:spcAft>
              <a:buSzPts val="1400"/>
              <a:buChar char="○"/>
            </a:pPr>
            <a:r>
              <a:rPr lang="ja"/>
              <a:t>まとめかた議論の続き</a:t>
            </a:r>
            <a:endParaRPr/>
          </a:p>
        </p:txBody>
      </p:sp>
      <p:sp>
        <p:nvSpPr>
          <p:cNvPr id="305" name="Google Shape;305;p49"/>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202504</a:t>
            </a:r>
            <a:endParaRPr sz="800">
              <a:latin typeface="Open Sans Medium"/>
              <a:ea typeface="Open Sans Medium"/>
              <a:cs typeface="Open Sans Medium"/>
              <a:sym typeface="Open Sans Medium"/>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9" name="Shape 309"/>
        <p:cNvGrpSpPr/>
        <p:nvPr/>
      </p:nvGrpSpPr>
      <p:grpSpPr>
        <a:xfrm>
          <a:off x="0" y="0"/>
          <a:ext cx="0" cy="0"/>
          <a:chOff x="0" y="0"/>
          <a:chExt cx="0" cy="0"/>
        </a:xfrm>
      </p:grpSpPr>
      <p:sp>
        <p:nvSpPr>
          <p:cNvPr id="310" name="Google Shape;310;p5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8月アジェンダ</a:t>
            </a:r>
            <a:endParaRPr/>
          </a:p>
        </p:txBody>
      </p:sp>
      <p:sp>
        <p:nvSpPr>
          <p:cNvPr id="311" name="Google Shape;311;p50"/>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8/8(金)15:00〜</a:t>
            </a:r>
            <a:endParaRPr/>
          </a:p>
          <a:p>
            <a:pPr indent="-317500" lvl="1" marL="914400" rtl="0" algn="l">
              <a:spcBef>
                <a:spcPts val="0"/>
              </a:spcBef>
              <a:spcAft>
                <a:spcPts val="0"/>
              </a:spcAft>
              <a:buSzPts val="1400"/>
              <a:buChar char="○"/>
            </a:pPr>
            <a:r>
              <a:rPr lang="ja"/>
              <a:t>「OSS活動の重み付け」狙いの整理</a:t>
            </a:r>
            <a:endParaRPr/>
          </a:p>
          <a:p>
            <a:pPr indent="-317500" lvl="2" marL="1371600" rtl="0" algn="l">
              <a:spcBef>
                <a:spcPts val="0"/>
              </a:spcBef>
              <a:spcAft>
                <a:spcPts val="0"/>
              </a:spcAft>
              <a:buSzPts val="1400"/>
              <a:buChar char="■"/>
            </a:pPr>
            <a:r>
              <a:rPr lang="ja"/>
              <a:t>「ペルソナ企業・産業分野の狙い」のスタックや指標の整理を進めて、それをベースにペルソナ企業を再整理</a:t>
            </a:r>
            <a:endParaRPr/>
          </a:p>
          <a:p>
            <a:pPr indent="-317500" lvl="2" marL="1371600" rtl="0" algn="l">
              <a:spcBef>
                <a:spcPts val="0"/>
              </a:spcBef>
              <a:spcAft>
                <a:spcPts val="0"/>
              </a:spcAft>
              <a:buSzPts val="1400"/>
              <a:buChar char="■"/>
            </a:pPr>
            <a:r>
              <a:rPr lang="ja"/>
              <a:t>今日までの議論を元にペルソナ企業の再整理版を元に重み付けを見直し・整形する</a:t>
            </a:r>
            <a:endParaRPr/>
          </a:p>
          <a:p>
            <a:pPr indent="-317500" lvl="1" marL="914400" rtl="0" algn="l">
              <a:spcBef>
                <a:spcPts val="0"/>
              </a:spcBef>
              <a:spcAft>
                <a:spcPts val="0"/>
              </a:spcAft>
              <a:buSzPts val="1400"/>
              <a:buChar char="○"/>
            </a:pPr>
            <a:r>
              <a:rPr lang="ja"/>
              <a:t>まとめかた議論の続き</a:t>
            </a:r>
            <a:endParaRPr/>
          </a:p>
        </p:txBody>
      </p:sp>
      <p:sp>
        <p:nvSpPr>
          <p:cNvPr id="312" name="Google Shape;312;p50"/>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202504</a:t>
            </a:r>
            <a:endParaRPr sz="800">
              <a:latin typeface="Open Sans Medium"/>
              <a:ea typeface="Open Sans Medium"/>
              <a:cs typeface="Open Sans Medium"/>
              <a:sym typeface="Open Sans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6" name="Shape 316"/>
        <p:cNvGrpSpPr/>
        <p:nvPr/>
      </p:nvGrpSpPr>
      <p:grpSpPr>
        <a:xfrm>
          <a:off x="0" y="0"/>
          <a:ext cx="0" cy="0"/>
          <a:chOff x="0" y="0"/>
          <a:chExt cx="0" cy="0"/>
        </a:xfrm>
      </p:grpSpPr>
      <p:sp>
        <p:nvSpPr>
          <p:cNvPr id="317" name="Google Shape;317;p5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6月アジェンダ</a:t>
            </a:r>
            <a:endParaRPr/>
          </a:p>
        </p:txBody>
      </p:sp>
      <p:sp>
        <p:nvSpPr>
          <p:cNvPr id="318" name="Google Shape;318;p51"/>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6</a:t>
            </a:r>
            <a:r>
              <a:rPr lang="ja"/>
              <a:t>/13(金)15:00〜</a:t>
            </a:r>
            <a:endParaRPr/>
          </a:p>
          <a:p>
            <a:pPr indent="-317500" lvl="1" marL="914400" rtl="0" algn="l">
              <a:spcBef>
                <a:spcPts val="0"/>
              </a:spcBef>
              <a:spcAft>
                <a:spcPts val="0"/>
              </a:spcAft>
              <a:buSzPts val="1400"/>
              <a:buChar char="○"/>
            </a:pPr>
            <a:r>
              <a:rPr lang="ja"/>
              <a:t>「OSS活動の重み付け」狙いの整理</a:t>
            </a:r>
            <a:endParaRPr/>
          </a:p>
          <a:p>
            <a:pPr indent="-317500" lvl="2" marL="1371600" rtl="0" algn="l">
              <a:spcBef>
                <a:spcPts val="0"/>
              </a:spcBef>
              <a:spcAft>
                <a:spcPts val="0"/>
              </a:spcAft>
              <a:buSzPts val="1400"/>
              <a:buChar char="■"/>
            </a:pPr>
            <a:r>
              <a:rPr lang="ja"/>
              <a:t>「ペルソナ企業・産業分野の狙い（整理用）」のスタックや指標の整理を進めて、それをベースにペルソナ企業を再整理</a:t>
            </a:r>
            <a:endParaRPr/>
          </a:p>
          <a:p>
            <a:pPr indent="-317500" lvl="2" marL="1371600" rtl="0" algn="l">
              <a:spcBef>
                <a:spcPts val="0"/>
              </a:spcBef>
              <a:spcAft>
                <a:spcPts val="0"/>
              </a:spcAft>
              <a:buSzPts val="1400"/>
              <a:buChar char="■"/>
            </a:pPr>
            <a:r>
              <a:rPr lang="ja"/>
              <a:t>今日までの議論を元にペルソナ企業の再整理版の叩き台をつくってくる（タカノリ）</a:t>
            </a:r>
            <a:endParaRPr/>
          </a:p>
          <a:p>
            <a:pPr indent="-317500" lvl="1" marL="914400" rtl="0" algn="l">
              <a:spcBef>
                <a:spcPts val="0"/>
              </a:spcBef>
              <a:spcAft>
                <a:spcPts val="0"/>
              </a:spcAft>
              <a:buSzPts val="1400"/>
              <a:buChar char="○"/>
            </a:pPr>
            <a:r>
              <a:rPr lang="ja"/>
              <a:t>まとめかた議論の続き</a:t>
            </a:r>
            <a:endParaRPr/>
          </a:p>
        </p:txBody>
      </p:sp>
      <p:sp>
        <p:nvSpPr>
          <p:cNvPr id="319" name="Google Shape;319;p51"/>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202504</a:t>
            </a:r>
            <a:endParaRPr sz="800">
              <a:latin typeface="Open Sans Medium"/>
              <a:ea typeface="Open Sans Medium"/>
              <a:cs typeface="Open Sans Medium"/>
              <a:sym typeface="Open Sans Medium"/>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3" name="Shape 323"/>
        <p:cNvGrpSpPr/>
        <p:nvPr/>
      </p:nvGrpSpPr>
      <p:grpSpPr>
        <a:xfrm>
          <a:off x="0" y="0"/>
          <a:ext cx="0" cy="0"/>
          <a:chOff x="0" y="0"/>
          <a:chExt cx="0" cy="0"/>
        </a:xfrm>
      </p:grpSpPr>
      <p:sp>
        <p:nvSpPr>
          <p:cNvPr id="324" name="Google Shape;324;p5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5月アジェンダ</a:t>
            </a:r>
            <a:endParaRPr/>
          </a:p>
        </p:txBody>
      </p:sp>
      <p:sp>
        <p:nvSpPr>
          <p:cNvPr id="325" name="Google Shape;325;p52"/>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ja"/>
              <a:t>「OSS活動の重み付け」狙いの整理</a:t>
            </a:r>
            <a:endParaRPr/>
          </a:p>
          <a:p>
            <a:pPr indent="-317500" lvl="1" marL="914400" rtl="0" algn="l">
              <a:spcBef>
                <a:spcPts val="0"/>
              </a:spcBef>
              <a:spcAft>
                <a:spcPts val="0"/>
              </a:spcAft>
              <a:buSzPts val="1400"/>
              <a:buAutoNum type="alphaLcPeriod"/>
            </a:pPr>
            <a:r>
              <a:rPr lang="ja"/>
              <a:t>「ペルソナ企業・産業分野の狙い（整理用）」のスタックや指標の整理を進めて、それをベースにペルソナ企業を再整理</a:t>
            </a:r>
            <a:endParaRPr/>
          </a:p>
          <a:p>
            <a:pPr indent="-342900" lvl="0" marL="457200" rtl="0" algn="l">
              <a:spcBef>
                <a:spcPts val="0"/>
              </a:spcBef>
              <a:spcAft>
                <a:spcPts val="0"/>
              </a:spcAft>
              <a:buSzPts val="1800"/>
              <a:buAutoNum type="arabicPeriod"/>
            </a:pPr>
            <a:r>
              <a:rPr lang="ja"/>
              <a:t>まとめかた議論の続き</a:t>
            </a:r>
            <a:endParaRPr/>
          </a:p>
          <a:p>
            <a:pPr indent="-342900" lvl="0" marL="457200" rtl="0" algn="l">
              <a:spcBef>
                <a:spcPts val="0"/>
              </a:spcBef>
              <a:spcAft>
                <a:spcPts val="0"/>
              </a:spcAft>
              <a:buSzPts val="1800"/>
              <a:buAutoNum type="arabicPeriod"/>
            </a:pPr>
            <a:r>
              <a:rPr lang="ja"/>
              <a:t>次回について</a:t>
            </a:r>
            <a:endParaRPr/>
          </a:p>
        </p:txBody>
      </p:sp>
      <p:sp>
        <p:nvSpPr>
          <p:cNvPr id="326" name="Google Shape;326;p52"/>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202504</a:t>
            </a:r>
            <a:endParaRPr sz="800">
              <a:latin typeface="Open Sans Medium"/>
              <a:ea typeface="Open Sans Medium"/>
              <a:cs typeface="Open Sans Medium"/>
              <a:sym typeface="Open Sans Mediu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0" name="Shape 330"/>
        <p:cNvGrpSpPr/>
        <p:nvPr/>
      </p:nvGrpSpPr>
      <p:grpSpPr>
        <a:xfrm>
          <a:off x="0" y="0"/>
          <a:ext cx="0" cy="0"/>
          <a:chOff x="0" y="0"/>
          <a:chExt cx="0" cy="0"/>
        </a:xfrm>
      </p:grpSpPr>
      <p:sp>
        <p:nvSpPr>
          <p:cNvPr id="331" name="Google Shape;331;p5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4月アジェンダ</a:t>
            </a:r>
            <a:endParaRPr/>
          </a:p>
        </p:txBody>
      </p:sp>
      <p:sp>
        <p:nvSpPr>
          <p:cNvPr id="332" name="Google Shape;332;p53"/>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ja"/>
              <a:t>「OSS活動の重み付け」狙いの整理</a:t>
            </a:r>
            <a:endParaRPr/>
          </a:p>
          <a:p>
            <a:pPr indent="-317500" lvl="1" marL="914400" rtl="0" algn="l">
              <a:spcBef>
                <a:spcPts val="0"/>
              </a:spcBef>
              <a:spcAft>
                <a:spcPts val="0"/>
              </a:spcAft>
              <a:buSzPts val="1400"/>
              <a:buAutoNum type="alphaLcPeriod"/>
            </a:pPr>
            <a:r>
              <a:rPr lang="ja"/>
              <a:t>ペルソナ企業　×　想定戦略(戦略レベルによって複数ありえる)　</a:t>
            </a:r>
            <a:endParaRPr/>
          </a:p>
          <a:p>
            <a:pPr indent="-317500" lvl="2" marL="1371600" rtl="0" algn="l">
              <a:spcBef>
                <a:spcPts val="0"/>
              </a:spcBef>
              <a:spcAft>
                <a:spcPts val="0"/>
              </a:spcAft>
              <a:buSzPts val="1400"/>
              <a:buAutoNum type="romanLcPeriod"/>
            </a:pPr>
            <a:r>
              <a:rPr lang="ja"/>
              <a:t>ペルソナ企業・産業分野の狙い（整理用）をスタックごとに分けて特徴を抽出した（途中）</a:t>
            </a:r>
            <a:endParaRPr/>
          </a:p>
          <a:p>
            <a:pPr indent="-342900" lvl="0" marL="457200" rtl="0" algn="l">
              <a:spcBef>
                <a:spcPts val="0"/>
              </a:spcBef>
              <a:spcAft>
                <a:spcPts val="0"/>
              </a:spcAft>
              <a:buSzPts val="1800"/>
              <a:buAutoNum type="arabicPeriod"/>
            </a:pPr>
            <a:r>
              <a:rPr lang="ja"/>
              <a:t>まとめかた議論の続き</a:t>
            </a:r>
            <a:endParaRPr/>
          </a:p>
          <a:p>
            <a:pPr indent="-342900" lvl="0" marL="457200" rtl="0" algn="l">
              <a:spcBef>
                <a:spcPts val="0"/>
              </a:spcBef>
              <a:spcAft>
                <a:spcPts val="0"/>
              </a:spcAft>
              <a:buSzPts val="1800"/>
              <a:buAutoNum type="arabicPeriod"/>
            </a:pPr>
            <a:r>
              <a:rPr lang="ja"/>
              <a:t>次回について</a:t>
            </a:r>
            <a:endParaRPr/>
          </a:p>
        </p:txBody>
      </p:sp>
      <p:sp>
        <p:nvSpPr>
          <p:cNvPr id="333" name="Google Shape;333;p53"/>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202504</a:t>
            </a:r>
            <a:endParaRPr sz="800">
              <a:latin typeface="Open Sans Medium"/>
              <a:ea typeface="Open Sans Medium"/>
              <a:cs typeface="Open Sans Medium"/>
              <a:sym typeface="Open Sans Medium"/>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7" name="Shape 337"/>
        <p:cNvGrpSpPr/>
        <p:nvPr/>
      </p:nvGrpSpPr>
      <p:grpSpPr>
        <a:xfrm>
          <a:off x="0" y="0"/>
          <a:ext cx="0" cy="0"/>
          <a:chOff x="0" y="0"/>
          <a:chExt cx="0" cy="0"/>
        </a:xfrm>
      </p:grpSpPr>
      <p:sp>
        <p:nvSpPr>
          <p:cNvPr id="338" name="Google Shape;338;p54"/>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次回について</a:t>
            </a:r>
            <a:endParaRPr/>
          </a:p>
        </p:txBody>
      </p:sp>
      <p:sp>
        <p:nvSpPr>
          <p:cNvPr id="339" name="Google Shape;339;p54"/>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5/9(金)15:00〜</a:t>
            </a:r>
            <a:endParaRPr/>
          </a:p>
          <a:p>
            <a:pPr indent="-317500" lvl="1" marL="914400" rtl="0" algn="l">
              <a:spcBef>
                <a:spcPts val="0"/>
              </a:spcBef>
              <a:spcAft>
                <a:spcPts val="0"/>
              </a:spcAft>
              <a:buSzPts val="1400"/>
              <a:buChar char="○"/>
            </a:pPr>
            <a:r>
              <a:rPr lang="ja"/>
              <a:t>「OSS活動の重み付け」狙いの整理</a:t>
            </a:r>
            <a:endParaRPr/>
          </a:p>
          <a:p>
            <a:pPr indent="-317500" lvl="2" marL="1371600" rtl="0" algn="l">
              <a:spcBef>
                <a:spcPts val="0"/>
              </a:spcBef>
              <a:spcAft>
                <a:spcPts val="0"/>
              </a:spcAft>
              <a:buSzPts val="1400"/>
              <a:buChar char="■"/>
            </a:pPr>
            <a:r>
              <a:rPr lang="ja"/>
              <a:t>「ペルソナ企業・産業分野の狙い（整理用）」のスタックや指標の整理を進めて、それをベースにペルソナ企業を再整理</a:t>
            </a:r>
            <a:endParaRPr/>
          </a:p>
          <a:p>
            <a:pPr indent="-317500" lvl="1" marL="914400" rtl="0" algn="l">
              <a:spcBef>
                <a:spcPts val="0"/>
              </a:spcBef>
              <a:spcAft>
                <a:spcPts val="0"/>
              </a:spcAft>
              <a:buSzPts val="1400"/>
              <a:buChar char="○"/>
            </a:pPr>
            <a:r>
              <a:rPr lang="ja"/>
              <a:t>まとめかた議論の続き</a:t>
            </a:r>
            <a:endParaRPr/>
          </a:p>
        </p:txBody>
      </p:sp>
      <p:sp>
        <p:nvSpPr>
          <p:cNvPr id="340" name="Google Shape;340;p54"/>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202504</a:t>
            </a:r>
            <a:endParaRPr sz="800">
              <a:latin typeface="Open Sans Medium"/>
              <a:ea typeface="Open Sans Medium"/>
              <a:cs typeface="Open Sans Medium"/>
              <a:sym typeface="Open Sans Medium"/>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4" name="Shape 344"/>
        <p:cNvGrpSpPr/>
        <p:nvPr/>
      </p:nvGrpSpPr>
      <p:grpSpPr>
        <a:xfrm>
          <a:off x="0" y="0"/>
          <a:ext cx="0" cy="0"/>
          <a:chOff x="0" y="0"/>
          <a:chExt cx="0" cy="0"/>
        </a:xfrm>
      </p:grpSpPr>
      <p:sp>
        <p:nvSpPr>
          <p:cNvPr id="345" name="Google Shape;345;p5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3</a:t>
            </a:r>
            <a:r>
              <a:rPr lang="ja"/>
              <a:t>月アジェンダ</a:t>
            </a:r>
            <a:endParaRPr/>
          </a:p>
        </p:txBody>
      </p:sp>
      <p:sp>
        <p:nvSpPr>
          <p:cNvPr id="346" name="Google Shape;346;p55"/>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ja"/>
              <a:t>「OSS活動の重み付け」の8行目の見直し議論</a:t>
            </a:r>
            <a:endParaRPr/>
          </a:p>
          <a:p>
            <a:pPr indent="-317500" lvl="1" marL="914400" rtl="0" algn="l">
              <a:spcBef>
                <a:spcPts val="0"/>
              </a:spcBef>
              <a:spcAft>
                <a:spcPts val="0"/>
              </a:spcAft>
              <a:buSzPts val="1400"/>
              <a:buAutoNum type="alphaLcPeriod"/>
            </a:pPr>
            <a:r>
              <a:rPr lang="ja"/>
              <a:t>ペルソナ企業　×　想定戦略(戦略レベルによって複数ありえる)　で発散しそう</a:t>
            </a:r>
            <a:endParaRPr/>
          </a:p>
          <a:p>
            <a:pPr indent="-342900" lvl="0" marL="457200" rtl="0" algn="l">
              <a:spcBef>
                <a:spcPts val="0"/>
              </a:spcBef>
              <a:spcAft>
                <a:spcPts val="0"/>
              </a:spcAft>
              <a:buSzPts val="1800"/>
              <a:buAutoNum type="arabicPeriod"/>
            </a:pPr>
            <a:r>
              <a:rPr lang="ja"/>
              <a:t>「OSS活動の重み付け」全体的なところを見直し議論</a:t>
            </a:r>
            <a:endParaRPr/>
          </a:p>
          <a:p>
            <a:pPr indent="-342900" lvl="0" marL="457200" rtl="0" algn="l">
              <a:spcBef>
                <a:spcPts val="0"/>
              </a:spcBef>
              <a:spcAft>
                <a:spcPts val="0"/>
              </a:spcAft>
              <a:buSzPts val="1800"/>
              <a:buAutoNum type="arabicPeriod"/>
            </a:pPr>
            <a:r>
              <a:rPr lang="ja"/>
              <a:t>まとめかた議論の続き</a:t>
            </a:r>
            <a:endParaRPr/>
          </a:p>
          <a:p>
            <a:pPr indent="-342900" lvl="0" marL="457200" rtl="0" algn="l">
              <a:spcBef>
                <a:spcPts val="0"/>
              </a:spcBef>
              <a:spcAft>
                <a:spcPts val="0"/>
              </a:spcAft>
              <a:buSzPts val="1800"/>
              <a:buAutoNum type="arabicPeriod"/>
            </a:pPr>
            <a:r>
              <a:rPr lang="ja"/>
              <a:t>次回について</a:t>
            </a:r>
            <a:endParaRPr/>
          </a:p>
        </p:txBody>
      </p:sp>
      <p:sp>
        <p:nvSpPr>
          <p:cNvPr id="347" name="Google Shape;347;p55"/>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202503</a:t>
            </a:r>
            <a:endParaRPr sz="800">
              <a:latin typeface="Open Sans Medium"/>
              <a:ea typeface="Open Sans Medium"/>
              <a:cs typeface="Open Sans Medium"/>
              <a:sym typeface="Open Sans Medium"/>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1" name="Shape 351"/>
        <p:cNvGrpSpPr/>
        <p:nvPr/>
      </p:nvGrpSpPr>
      <p:grpSpPr>
        <a:xfrm>
          <a:off x="0" y="0"/>
          <a:ext cx="0" cy="0"/>
          <a:chOff x="0" y="0"/>
          <a:chExt cx="0" cy="0"/>
        </a:xfrm>
      </p:grpSpPr>
      <p:sp>
        <p:nvSpPr>
          <p:cNvPr id="352" name="Google Shape;352;p5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重み付けシート　８行目「狙い」</a:t>
            </a:r>
            <a:endParaRPr/>
          </a:p>
        </p:txBody>
      </p:sp>
      <p:sp>
        <p:nvSpPr>
          <p:cNvPr id="353" name="Google Shape;353;p56"/>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狙いを絞ったほうが良いのではないか。</a:t>
            </a:r>
            <a:endParaRPr/>
          </a:p>
          <a:p>
            <a:pPr indent="-317500" lvl="1" marL="914400" rtl="0" algn="l">
              <a:spcBef>
                <a:spcPts val="0"/>
              </a:spcBef>
              <a:spcAft>
                <a:spcPts val="0"/>
              </a:spcAft>
              <a:buSzPts val="1400"/>
              <a:buChar char="○"/>
            </a:pPr>
            <a:r>
              <a:rPr lang="ja"/>
              <a:t>たとえば「人材確保」としたら各業界・各企業で共通の狙いになってしまう。</a:t>
            </a:r>
            <a:endParaRPr/>
          </a:p>
          <a:p>
            <a:pPr indent="-317500" lvl="1" marL="914400" rtl="0" algn="l">
              <a:spcBef>
                <a:spcPts val="0"/>
              </a:spcBef>
              <a:spcAft>
                <a:spcPts val="0"/>
              </a:spcAft>
              <a:buSzPts val="1400"/>
              <a:buChar char="○"/>
            </a:pPr>
            <a:r>
              <a:rPr lang="ja"/>
              <a:t>一番の狙いとしてまとめ直してはどうか。</a:t>
            </a:r>
            <a:endParaRPr/>
          </a:p>
          <a:p>
            <a:pPr indent="-342900" lvl="0" marL="457200" rtl="0" algn="l">
              <a:spcBef>
                <a:spcPts val="0"/>
              </a:spcBef>
              <a:spcAft>
                <a:spcPts val="0"/>
              </a:spcAft>
              <a:buSzPts val="1800"/>
              <a:buChar char="●"/>
            </a:pPr>
            <a:r>
              <a:rPr lang="ja"/>
              <a:t>事業概要を書き、一番の狙いがあり、そのための取り組みとするとまとまりが良い。</a:t>
            </a:r>
            <a:endParaRPr/>
          </a:p>
          <a:p>
            <a:pPr indent="-342900" lvl="0" marL="457200" rtl="0" algn="l">
              <a:spcBef>
                <a:spcPts val="0"/>
              </a:spcBef>
              <a:spcAft>
                <a:spcPts val="0"/>
              </a:spcAft>
              <a:buSzPts val="1800"/>
              <a:buChar char="●"/>
            </a:pPr>
            <a:r>
              <a:rPr lang="ja"/>
              <a:t>各企業間の関わりを整理したら、各企業の狙いが見えているか（顧客が購入する際の組み合わせ）</a:t>
            </a:r>
            <a:endParaRPr/>
          </a:p>
        </p:txBody>
      </p:sp>
      <p:sp>
        <p:nvSpPr>
          <p:cNvPr id="354" name="Google Shape;354;p56"/>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202503</a:t>
            </a:r>
            <a:endParaRPr sz="800">
              <a:latin typeface="Open Sans Medium"/>
              <a:ea typeface="Open Sans Medium"/>
              <a:cs typeface="Open Sans Medium"/>
              <a:sym typeface="Open Sans Medium"/>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8" name="Shape 358"/>
        <p:cNvGrpSpPr/>
        <p:nvPr/>
      </p:nvGrpSpPr>
      <p:grpSpPr>
        <a:xfrm>
          <a:off x="0" y="0"/>
          <a:ext cx="0" cy="0"/>
          <a:chOff x="0" y="0"/>
          <a:chExt cx="0" cy="0"/>
        </a:xfrm>
      </p:grpSpPr>
      <p:sp>
        <p:nvSpPr>
          <p:cNvPr id="359" name="Google Shape;359;p5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OSS Strategy 議論活動の成果のまとめかた相談</a:t>
            </a:r>
            <a:endParaRPr/>
          </a:p>
        </p:txBody>
      </p:sp>
      <p:sp>
        <p:nvSpPr>
          <p:cNvPr id="360" name="Google Shape;360;p57"/>
          <p:cNvSpPr txBox="1"/>
          <p:nvPr>
            <p:ph idx="1" type="body"/>
          </p:nvPr>
        </p:nvSpPr>
        <p:spPr>
          <a:xfrm>
            <a:off x="280350" y="1266450"/>
            <a:ext cx="8520600" cy="3339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ja"/>
              <a:t>想定読者：</a:t>
            </a:r>
            <a:endParaRPr/>
          </a:p>
          <a:p>
            <a:pPr indent="-317500" lvl="1" marL="914400" rtl="0" algn="l">
              <a:spcBef>
                <a:spcPts val="0"/>
              </a:spcBef>
              <a:spcAft>
                <a:spcPts val="0"/>
              </a:spcAft>
              <a:buSzPts val="1400"/>
              <a:buChar char="○"/>
            </a:pPr>
            <a:r>
              <a:rPr lang="ja"/>
              <a:t>案：OSS Strategyを始めたい日本人向け</a:t>
            </a:r>
            <a:endParaRPr/>
          </a:p>
          <a:p>
            <a:pPr indent="-317500" lvl="2" marL="1371600" rtl="0" algn="l">
              <a:spcBef>
                <a:spcPts val="0"/>
              </a:spcBef>
              <a:spcAft>
                <a:spcPts val="0"/>
              </a:spcAft>
              <a:buSzPts val="1400"/>
              <a:buChar char="■"/>
            </a:pPr>
            <a:r>
              <a:rPr lang="ja"/>
              <a:t>Cレベルに向けた意識付けに使用されそう</a:t>
            </a:r>
            <a:endParaRPr/>
          </a:p>
          <a:p>
            <a:pPr indent="-317500" lvl="1" marL="914400" rtl="0" algn="l">
              <a:spcBef>
                <a:spcPts val="0"/>
              </a:spcBef>
              <a:spcAft>
                <a:spcPts val="0"/>
              </a:spcAft>
              <a:buSzPts val="1400"/>
              <a:buChar char="○"/>
            </a:pPr>
            <a:r>
              <a:rPr lang="ja"/>
              <a:t>案：（IPAのOSS戦略セミナーに参加する方にヒアリングしてみる）</a:t>
            </a:r>
            <a:endParaRPr/>
          </a:p>
          <a:p>
            <a:pPr indent="-342900" lvl="0" marL="457200" rtl="0" algn="l">
              <a:spcBef>
                <a:spcPts val="0"/>
              </a:spcBef>
              <a:spcAft>
                <a:spcPts val="0"/>
              </a:spcAft>
              <a:buSzPts val="1800"/>
              <a:buChar char="●"/>
            </a:pPr>
            <a:r>
              <a:rPr lang="ja"/>
              <a:t>出力形式：</a:t>
            </a:r>
            <a:endParaRPr/>
          </a:p>
          <a:p>
            <a:pPr indent="-317500" lvl="1" marL="914400" rtl="0" algn="l">
              <a:spcBef>
                <a:spcPts val="0"/>
              </a:spcBef>
              <a:spcAft>
                <a:spcPts val="0"/>
              </a:spcAft>
              <a:buSzPts val="1400"/>
              <a:buChar char="○"/>
            </a:pPr>
            <a:r>
              <a:rPr lang="ja"/>
              <a:t>まずは、スライド形式で。</a:t>
            </a:r>
            <a:endParaRPr/>
          </a:p>
          <a:p>
            <a:pPr indent="-317500" lvl="1" marL="914400" rtl="0" algn="l">
              <a:spcBef>
                <a:spcPts val="0"/>
              </a:spcBef>
              <a:spcAft>
                <a:spcPts val="0"/>
              </a:spcAft>
              <a:buSzPts val="1400"/>
              <a:buChar char="○"/>
            </a:pPr>
            <a:r>
              <a:rPr lang="ja"/>
              <a:t>付録や補足として、スプレッドシートやドキュメントは欲しい。</a:t>
            </a:r>
            <a:endParaRPr/>
          </a:p>
          <a:p>
            <a:pPr indent="-342900" lvl="0" marL="457200" rtl="0" algn="l">
              <a:spcBef>
                <a:spcPts val="0"/>
              </a:spcBef>
              <a:spcAft>
                <a:spcPts val="0"/>
              </a:spcAft>
              <a:buSzPts val="1800"/>
              <a:buChar char="●"/>
            </a:pPr>
            <a:r>
              <a:rPr lang="ja"/>
              <a:t>配布場所：TODO Group経由？　Speakerdeck？</a:t>
            </a:r>
            <a:endParaRPr/>
          </a:p>
          <a:p>
            <a:pPr indent="-317500" lvl="1" marL="914400" rtl="0" algn="l">
              <a:spcBef>
                <a:spcPts val="0"/>
              </a:spcBef>
              <a:spcAft>
                <a:spcPts val="0"/>
              </a:spcAft>
              <a:buSzPts val="1400"/>
              <a:buChar char="○"/>
            </a:pPr>
            <a:r>
              <a:rPr lang="ja"/>
              <a:t>（補足：OSPO FAQはまだ未配布。）</a:t>
            </a:r>
            <a:endParaRPr/>
          </a:p>
          <a:p>
            <a:pPr indent="-317500" lvl="1" marL="914400" rtl="0" algn="l">
              <a:spcBef>
                <a:spcPts val="0"/>
              </a:spcBef>
              <a:spcAft>
                <a:spcPts val="0"/>
              </a:spcAft>
              <a:buSzPts val="1400"/>
              <a:buChar char="○"/>
            </a:pPr>
            <a:r>
              <a:rPr lang="ja"/>
              <a:t>案：TODO Groupで日本用に用意してもらえたら、そこが良さそう。</a:t>
            </a:r>
            <a:endParaRPr/>
          </a:p>
          <a:p>
            <a:pPr indent="-342900" lvl="0" marL="457200" rtl="0" algn="l">
              <a:spcBef>
                <a:spcPts val="0"/>
              </a:spcBef>
              <a:spcAft>
                <a:spcPts val="0"/>
              </a:spcAft>
              <a:buSzPts val="1800"/>
              <a:buChar char="●"/>
            </a:pPr>
            <a:r>
              <a:rPr lang="ja"/>
              <a:t>発表候補：</a:t>
            </a:r>
            <a:endParaRPr/>
          </a:p>
          <a:p>
            <a:pPr indent="-317500" lvl="1" marL="914400" rtl="0" algn="l">
              <a:spcBef>
                <a:spcPts val="0"/>
              </a:spcBef>
              <a:spcAft>
                <a:spcPts val="0"/>
              </a:spcAft>
              <a:buSzPts val="1400"/>
              <a:buChar char="○"/>
            </a:pPr>
            <a:r>
              <a:rPr lang="ja"/>
              <a:t>OSPO Con w/ OSSummit NA/Europe/Japan</a:t>
            </a:r>
            <a:endParaRPr/>
          </a:p>
          <a:p>
            <a:pPr indent="-317500" lvl="1" marL="914400" rtl="0" algn="l">
              <a:spcBef>
                <a:spcPts val="0"/>
              </a:spcBef>
              <a:spcAft>
                <a:spcPts val="0"/>
              </a:spcAft>
              <a:buSzPts val="1400"/>
              <a:buChar char="○"/>
            </a:pPr>
            <a:r>
              <a:rPr lang="ja"/>
              <a:t>TODO OSPO Book Meeting</a:t>
            </a:r>
            <a:endParaRPr/>
          </a:p>
        </p:txBody>
      </p:sp>
      <p:sp>
        <p:nvSpPr>
          <p:cNvPr id="361" name="Google Shape;361;p57"/>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202503</a:t>
            </a:r>
            <a:endParaRPr sz="800">
              <a:latin typeface="Open Sans Medium"/>
              <a:ea typeface="Open Sans Medium"/>
              <a:cs typeface="Open Sans Medium"/>
              <a:sym typeface="Open Sans Mediu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5" name="Shape 365"/>
        <p:cNvGrpSpPr/>
        <p:nvPr/>
      </p:nvGrpSpPr>
      <p:grpSpPr>
        <a:xfrm>
          <a:off x="0" y="0"/>
          <a:ext cx="0" cy="0"/>
          <a:chOff x="0" y="0"/>
          <a:chExt cx="0" cy="0"/>
        </a:xfrm>
      </p:grpSpPr>
      <p:sp>
        <p:nvSpPr>
          <p:cNvPr id="366" name="Google Shape;366;p5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次回について</a:t>
            </a:r>
            <a:endParaRPr/>
          </a:p>
        </p:txBody>
      </p:sp>
      <p:sp>
        <p:nvSpPr>
          <p:cNvPr id="367" name="Google Shape;367;p58"/>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4/11(金)15:00〜</a:t>
            </a:r>
            <a:endParaRPr/>
          </a:p>
          <a:p>
            <a:pPr indent="-317500" lvl="1" marL="914400" rtl="0" algn="l">
              <a:spcBef>
                <a:spcPts val="0"/>
              </a:spcBef>
              <a:spcAft>
                <a:spcPts val="0"/>
              </a:spcAft>
              <a:buSzPts val="1400"/>
              <a:buChar char="○"/>
            </a:pPr>
            <a:r>
              <a:rPr lang="ja"/>
              <a:t>「OSS活動の重み付け」</a:t>
            </a:r>
            <a:r>
              <a:rPr lang="ja"/>
              <a:t>狙いの整理</a:t>
            </a:r>
            <a:endParaRPr/>
          </a:p>
          <a:p>
            <a:pPr indent="-317500" lvl="1" marL="914400" rtl="0" algn="l">
              <a:spcBef>
                <a:spcPts val="0"/>
              </a:spcBef>
              <a:spcAft>
                <a:spcPts val="0"/>
              </a:spcAft>
              <a:buSzPts val="1400"/>
              <a:buChar char="○"/>
            </a:pPr>
            <a:r>
              <a:rPr lang="ja"/>
              <a:t>まとめかた議論の続き</a:t>
            </a:r>
            <a:endParaRPr/>
          </a:p>
        </p:txBody>
      </p:sp>
      <p:sp>
        <p:nvSpPr>
          <p:cNvPr id="368" name="Google Shape;368;p58"/>
          <p:cNvSpPr/>
          <p:nvPr/>
        </p:nvSpPr>
        <p:spPr>
          <a:xfrm>
            <a:off x="7700175" y="45250"/>
            <a:ext cx="671100" cy="173400"/>
          </a:xfrm>
          <a:prstGeom prst="rect">
            <a:avLst/>
          </a:prstGeom>
          <a:gradFill>
            <a:gsLst>
              <a:gs pos="0">
                <a:schemeClr val="lt1">
                  <a:alpha val="32000"/>
                </a:schemeClr>
              </a:gs>
              <a:gs pos="91000">
                <a:schemeClr val="lt1">
                  <a:alpha val="32000"/>
                </a:schemeClr>
              </a:gs>
              <a:gs pos="100000">
                <a:schemeClr val="accent6">
                  <a:alpha val="32000"/>
                </a:schemeClr>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ja" sz="800">
                <a:latin typeface="Open Sans Medium"/>
                <a:ea typeface="Open Sans Medium"/>
                <a:cs typeface="Open Sans Medium"/>
                <a:sym typeface="Open Sans Medium"/>
              </a:rPr>
              <a:t>202503</a:t>
            </a:r>
            <a:endParaRPr sz="800">
              <a:latin typeface="Open Sans Medium"/>
              <a:ea typeface="Open Sans Medium"/>
              <a:cs typeface="Open Sans Medium"/>
              <a:sym typeface="Open Sans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2" name="Shape 372"/>
        <p:cNvGrpSpPr/>
        <p:nvPr/>
      </p:nvGrpSpPr>
      <p:grpSpPr>
        <a:xfrm>
          <a:off x="0" y="0"/>
          <a:ext cx="0" cy="0"/>
          <a:chOff x="0" y="0"/>
          <a:chExt cx="0" cy="0"/>
        </a:xfrm>
      </p:grpSpPr>
      <p:sp>
        <p:nvSpPr>
          <p:cNvPr id="373" name="Google Shape;373;p5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2月アジェンダ</a:t>
            </a:r>
            <a:endParaRPr/>
          </a:p>
        </p:txBody>
      </p:sp>
      <p:sp>
        <p:nvSpPr>
          <p:cNvPr id="374" name="Google Shape;374;p59"/>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ja"/>
              <a:t>前回(1/10)を簡単に振り返り</a:t>
            </a:r>
            <a:endParaRPr/>
          </a:p>
          <a:p>
            <a:pPr indent="-317500" lvl="1" marL="914400" rtl="0" algn="l">
              <a:spcBef>
                <a:spcPts val="0"/>
              </a:spcBef>
              <a:spcAft>
                <a:spcPts val="0"/>
              </a:spcAft>
              <a:buSzPts val="1400"/>
              <a:buAutoNum type="alphaLcPeriod"/>
            </a:pPr>
            <a:r>
              <a:rPr lang="ja"/>
              <a:t>「OSS活動の重み付け」の項目の追加コメントあり</a:t>
            </a:r>
            <a:endParaRPr/>
          </a:p>
          <a:p>
            <a:pPr indent="-342900" lvl="0" marL="457200" rtl="0" algn="l">
              <a:spcBef>
                <a:spcPts val="0"/>
              </a:spcBef>
              <a:spcAft>
                <a:spcPts val="0"/>
              </a:spcAft>
              <a:buSzPts val="1800"/>
              <a:buAutoNum type="arabicPeriod"/>
            </a:pPr>
            <a:r>
              <a:rPr lang="ja"/>
              <a:t>「OSS活動の</a:t>
            </a:r>
            <a:r>
              <a:rPr lang="ja"/>
              <a:t>重み付け</a:t>
            </a:r>
            <a:r>
              <a:rPr lang="ja"/>
              <a:t>」</a:t>
            </a:r>
            <a:r>
              <a:rPr lang="ja"/>
              <a:t>のつづき</a:t>
            </a:r>
            <a:endParaRPr/>
          </a:p>
          <a:p>
            <a:pPr indent="-317500" lvl="1" marL="914400" rtl="0" algn="l">
              <a:spcBef>
                <a:spcPts val="0"/>
              </a:spcBef>
              <a:spcAft>
                <a:spcPts val="0"/>
              </a:spcAft>
              <a:buSzPts val="1400"/>
              <a:buAutoNum type="alphaLcPeriod"/>
            </a:pPr>
            <a:r>
              <a:rPr lang="ja"/>
              <a:t>コントリビューション活動</a:t>
            </a:r>
            <a:r>
              <a:rPr lang="ja"/>
              <a:t>項目の整理</a:t>
            </a:r>
            <a:endParaRPr/>
          </a:p>
          <a:p>
            <a:pPr indent="-317500" lvl="1" marL="914400" rtl="0" algn="l">
              <a:spcBef>
                <a:spcPts val="0"/>
              </a:spcBef>
              <a:spcAft>
                <a:spcPts val="0"/>
              </a:spcAft>
              <a:buSzPts val="1400"/>
              <a:buAutoNum type="alphaLcPeriod"/>
            </a:pPr>
            <a:r>
              <a:rPr lang="ja"/>
              <a:t>これまでの成果のまとめかたの相談</a:t>
            </a:r>
            <a:endParaRPr/>
          </a:p>
          <a:p>
            <a:pPr indent="-342900" lvl="0" marL="457200" rtl="0" algn="l">
              <a:spcBef>
                <a:spcPts val="0"/>
              </a:spcBef>
              <a:spcAft>
                <a:spcPts val="0"/>
              </a:spcAft>
              <a:buSzPts val="1800"/>
              <a:buAutoNum type="arabicPeriod"/>
            </a:pPr>
            <a:r>
              <a:rPr lang="ja"/>
              <a:t>次回について</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8" name="Shape 378"/>
        <p:cNvGrpSpPr/>
        <p:nvPr/>
      </p:nvGrpSpPr>
      <p:grpSpPr>
        <a:xfrm>
          <a:off x="0" y="0"/>
          <a:ext cx="0" cy="0"/>
          <a:chOff x="0" y="0"/>
          <a:chExt cx="0" cy="0"/>
        </a:xfrm>
      </p:grpSpPr>
      <p:sp>
        <p:nvSpPr>
          <p:cNvPr id="379" name="Google Shape;379;p6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OSS Strategy </a:t>
            </a:r>
            <a:r>
              <a:rPr lang="ja"/>
              <a:t>議論活動の成果のまとめかた相談</a:t>
            </a:r>
            <a:endParaRPr/>
          </a:p>
        </p:txBody>
      </p:sp>
      <p:sp>
        <p:nvSpPr>
          <p:cNvPr id="380" name="Google Shape;380;p60"/>
          <p:cNvSpPr txBox="1"/>
          <p:nvPr>
            <p:ph idx="1" type="body"/>
          </p:nvPr>
        </p:nvSpPr>
        <p:spPr>
          <a:xfrm>
            <a:off x="280350" y="1266450"/>
            <a:ext cx="8520600" cy="3339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ja"/>
              <a:t>想定読者：</a:t>
            </a:r>
            <a:endParaRPr/>
          </a:p>
          <a:p>
            <a:pPr indent="-317500" lvl="1" marL="914400" rtl="0" algn="l">
              <a:spcBef>
                <a:spcPts val="0"/>
              </a:spcBef>
              <a:spcAft>
                <a:spcPts val="0"/>
              </a:spcAft>
              <a:buSzPts val="1400"/>
              <a:buChar char="○"/>
            </a:pPr>
            <a:r>
              <a:rPr lang="ja"/>
              <a:t>案：OSS Strategyを始めたい日本人向け</a:t>
            </a:r>
            <a:endParaRPr/>
          </a:p>
          <a:p>
            <a:pPr indent="-317500" lvl="2" marL="1371600" rtl="0" algn="l">
              <a:spcBef>
                <a:spcPts val="0"/>
              </a:spcBef>
              <a:spcAft>
                <a:spcPts val="0"/>
              </a:spcAft>
              <a:buSzPts val="1400"/>
              <a:buChar char="■"/>
            </a:pPr>
            <a:r>
              <a:rPr lang="ja"/>
              <a:t>Cレベルに向けた意識付けに使用されそう</a:t>
            </a:r>
            <a:endParaRPr/>
          </a:p>
          <a:p>
            <a:pPr indent="-317500" lvl="1" marL="914400" rtl="0" algn="l">
              <a:spcBef>
                <a:spcPts val="0"/>
              </a:spcBef>
              <a:spcAft>
                <a:spcPts val="0"/>
              </a:spcAft>
              <a:buSzPts val="1400"/>
              <a:buChar char="○"/>
            </a:pPr>
            <a:r>
              <a:rPr lang="ja"/>
              <a:t>案：</a:t>
            </a:r>
            <a:r>
              <a:rPr lang="ja"/>
              <a:t>（IPAのOSS戦略セミナーに参加する方にヒアリングしてみる）</a:t>
            </a:r>
            <a:endParaRPr/>
          </a:p>
          <a:p>
            <a:pPr indent="-342900" lvl="0" marL="457200" rtl="0" algn="l">
              <a:spcBef>
                <a:spcPts val="0"/>
              </a:spcBef>
              <a:spcAft>
                <a:spcPts val="0"/>
              </a:spcAft>
              <a:buSzPts val="1800"/>
              <a:buChar char="●"/>
            </a:pPr>
            <a:r>
              <a:rPr lang="ja"/>
              <a:t>出力形式：</a:t>
            </a:r>
            <a:endParaRPr/>
          </a:p>
          <a:p>
            <a:pPr indent="-317500" lvl="1" marL="914400" rtl="0" algn="l">
              <a:spcBef>
                <a:spcPts val="0"/>
              </a:spcBef>
              <a:spcAft>
                <a:spcPts val="0"/>
              </a:spcAft>
              <a:buSzPts val="1400"/>
              <a:buChar char="○"/>
            </a:pPr>
            <a:r>
              <a:rPr lang="ja"/>
              <a:t>まずは、スライド形式で。</a:t>
            </a:r>
            <a:endParaRPr/>
          </a:p>
          <a:p>
            <a:pPr indent="-317500" lvl="1" marL="914400" rtl="0" algn="l">
              <a:spcBef>
                <a:spcPts val="0"/>
              </a:spcBef>
              <a:spcAft>
                <a:spcPts val="0"/>
              </a:spcAft>
              <a:buSzPts val="1400"/>
              <a:buChar char="○"/>
            </a:pPr>
            <a:r>
              <a:rPr lang="ja"/>
              <a:t>付録や補足として、スプレッドシートやドキュメントは欲しい。</a:t>
            </a:r>
            <a:endParaRPr/>
          </a:p>
          <a:p>
            <a:pPr indent="-342900" lvl="0" marL="457200" rtl="0" algn="l">
              <a:spcBef>
                <a:spcPts val="0"/>
              </a:spcBef>
              <a:spcAft>
                <a:spcPts val="0"/>
              </a:spcAft>
              <a:buSzPts val="1800"/>
              <a:buChar char="●"/>
            </a:pPr>
            <a:r>
              <a:rPr lang="ja"/>
              <a:t>配布場所：TODO Group経由？　Speakerdeck？</a:t>
            </a:r>
            <a:endParaRPr/>
          </a:p>
          <a:p>
            <a:pPr indent="-317500" lvl="1" marL="914400" rtl="0" algn="l">
              <a:spcBef>
                <a:spcPts val="0"/>
              </a:spcBef>
              <a:spcAft>
                <a:spcPts val="0"/>
              </a:spcAft>
              <a:buSzPts val="1400"/>
              <a:buChar char="○"/>
            </a:pPr>
            <a:r>
              <a:rPr lang="ja"/>
              <a:t>（補足：OSPO FAQはまだ未配布。）</a:t>
            </a:r>
            <a:endParaRPr/>
          </a:p>
          <a:p>
            <a:pPr indent="-317500" lvl="1" marL="914400" rtl="0" algn="l">
              <a:spcBef>
                <a:spcPts val="0"/>
              </a:spcBef>
              <a:spcAft>
                <a:spcPts val="0"/>
              </a:spcAft>
              <a:buSzPts val="1400"/>
              <a:buChar char="○"/>
            </a:pPr>
            <a:r>
              <a:rPr lang="ja"/>
              <a:t>案：TODO Groupで日本用に用意してもらえたら、そこが良さそう。</a:t>
            </a:r>
            <a:endParaRPr/>
          </a:p>
          <a:p>
            <a:pPr indent="-342900" lvl="0" marL="457200" rtl="0" algn="l">
              <a:spcBef>
                <a:spcPts val="0"/>
              </a:spcBef>
              <a:spcAft>
                <a:spcPts val="0"/>
              </a:spcAft>
              <a:buSzPts val="1800"/>
              <a:buChar char="●"/>
            </a:pPr>
            <a:r>
              <a:rPr lang="ja"/>
              <a:t>発表候補：</a:t>
            </a:r>
            <a:endParaRPr/>
          </a:p>
          <a:p>
            <a:pPr indent="-317500" lvl="1" marL="914400" rtl="0" algn="l">
              <a:spcBef>
                <a:spcPts val="0"/>
              </a:spcBef>
              <a:spcAft>
                <a:spcPts val="0"/>
              </a:spcAft>
              <a:buSzPts val="1400"/>
              <a:buChar char="○"/>
            </a:pPr>
            <a:r>
              <a:rPr lang="ja"/>
              <a:t>OSPO Con w/ OSSummit NA/Europe/Japan</a:t>
            </a:r>
            <a:endParaRPr/>
          </a:p>
          <a:p>
            <a:pPr indent="-317500" lvl="1" marL="914400" rtl="0" algn="l">
              <a:spcBef>
                <a:spcPts val="0"/>
              </a:spcBef>
              <a:spcAft>
                <a:spcPts val="0"/>
              </a:spcAft>
              <a:buSzPts val="1400"/>
              <a:buChar char="○"/>
            </a:pPr>
            <a:r>
              <a:rPr lang="ja"/>
              <a:t>TODO OSPO Book Meeting</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4" name="Shape 384"/>
        <p:cNvGrpSpPr/>
        <p:nvPr/>
      </p:nvGrpSpPr>
      <p:grpSpPr>
        <a:xfrm>
          <a:off x="0" y="0"/>
          <a:ext cx="0" cy="0"/>
          <a:chOff x="0" y="0"/>
          <a:chExt cx="0" cy="0"/>
        </a:xfrm>
      </p:grpSpPr>
      <p:sp>
        <p:nvSpPr>
          <p:cNvPr id="385" name="Google Shape;385;p61"/>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次回について</a:t>
            </a:r>
            <a:endParaRPr/>
          </a:p>
        </p:txBody>
      </p:sp>
      <p:sp>
        <p:nvSpPr>
          <p:cNvPr id="386" name="Google Shape;386;p61"/>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3/14</a:t>
            </a:r>
            <a:r>
              <a:rPr lang="ja"/>
              <a:t>(金)15:00〜</a:t>
            </a:r>
            <a:endParaRPr/>
          </a:p>
          <a:p>
            <a:pPr indent="-317500" lvl="1" marL="914400" rtl="0" algn="l">
              <a:spcBef>
                <a:spcPts val="0"/>
              </a:spcBef>
              <a:spcAft>
                <a:spcPts val="0"/>
              </a:spcAft>
              <a:buSzPts val="1400"/>
              <a:buChar char="○"/>
            </a:pPr>
            <a:r>
              <a:rPr lang="ja"/>
              <a:t>「OSS活動の重み付け」</a:t>
            </a:r>
            <a:r>
              <a:rPr lang="ja"/>
              <a:t>の8行目の見直し議論</a:t>
            </a:r>
            <a:endParaRPr/>
          </a:p>
          <a:p>
            <a:pPr indent="-317500" lvl="2" marL="1371600" rtl="0" algn="l">
              <a:spcBef>
                <a:spcPts val="0"/>
              </a:spcBef>
              <a:spcAft>
                <a:spcPts val="0"/>
              </a:spcAft>
              <a:buSzPts val="1400"/>
              <a:buChar char="■"/>
            </a:pPr>
            <a:r>
              <a:rPr lang="ja"/>
              <a:t>ペルソナ企業　×　想定戦略(戦略レベルによって複数ありえる)　で発散しそう</a:t>
            </a:r>
            <a:endParaRPr/>
          </a:p>
          <a:p>
            <a:pPr indent="-317500" lvl="1" marL="914400" rtl="0" algn="l">
              <a:spcBef>
                <a:spcPts val="0"/>
              </a:spcBef>
              <a:spcAft>
                <a:spcPts val="0"/>
              </a:spcAft>
              <a:buSzPts val="1400"/>
              <a:buChar char="○"/>
            </a:pPr>
            <a:r>
              <a:rPr lang="ja"/>
              <a:t>「OSS活動の重み付け」全体的なところを見直し議論</a:t>
            </a:r>
            <a:endParaRPr/>
          </a:p>
          <a:p>
            <a:pPr indent="-317500" lvl="1" marL="914400" rtl="0" algn="l">
              <a:spcBef>
                <a:spcPts val="0"/>
              </a:spcBef>
              <a:spcAft>
                <a:spcPts val="0"/>
              </a:spcAft>
              <a:buSzPts val="1400"/>
              <a:buChar char="○"/>
            </a:pPr>
            <a:r>
              <a:rPr lang="ja"/>
              <a:t>まとめかた議論の続き</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0" name="Shape 390"/>
        <p:cNvGrpSpPr/>
        <p:nvPr/>
      </p:nvGrpSpPr>
      <p:grpSpPr>
        <a:xfrm>
          <a:off x="0" y="0"/>
          <a:ext cx="0" cy="0"/>
          <a:chOff x="0" y="0"/>
          <a:chExt cx="0" cy="0"/>
        </a:xfrm>
      </p:grpSpPr>
      <p:sp>
        <p:nvSpPr>
          <p:cNvPr id="391" name="Google Shape;391;p6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1月アジェンダ</a:t>
            </a:r>
            <a:endParaRPr/>
          </a:p>
        </p:txBody>
      </p:sp>
      <p:sp>
        <p:nvSpPr>
          <p:cNvPr id="392" name="Google Shape;392;p62"/>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ja"/>
              <a:t>OSS Strategy のご紹介＋質疑応答</a:t>
            </a:r>
            <a:endParaRPr/>
          </a:p>
          <a:p>
            <a:pPr indent="-342900" lvl="0" marL="457200" rtl="0" algn="l">
              <a:spcBef>
                <a:spcPts val="0"/>
              </a:spcBef>
              <a:spcAft>
                <a:spcPts val="0"/>
              </a:spcAft>
              <a:buSzPts val="1800"/>
              <a:buAutoNum type="arabicPeriod"/>
            </a:pPr>
            <a:r>
              <a:rPr lang="ja"/>
              <a:t>「OSS活動の重み付け」のつづき</a:t>
            </a:r>
            <a:endParaRPr/>
          </a:p>
          <a:p>
            <a:pPr indent="-317500" lvl="1" marL="914400" rtl="0" algn="l">
              <a:spcBef>
                <a:spcPts val="0"/>
              </a:spcBef>
              <a:spcAft>
                <a:spcPts val="0"/>
              </a:spcAft>
              <a:buSzPts val="1400"/>
              <a:buAutoNum type="alphaLcPeriod"/>
            </a:pPr>
            <a:r>
              <a:rPr lang="ja"/>
              <a:t>コントリビューション活動の追加議論</a:t>
            </a:r>
            <a:endParaRPr/>
          </a:p>
          <a:p>
            <a:pPr indent="-317500" lvl="1" marL="914400" rtl="0" algn="l">
              <a:spcBef>
                <a:spcPts val="0"/>
              </a:spcBef>
              <a:spcAft>
                <a:spcPts val="0"/>
              </a:spcAft>
              <a:buSzPts val="1400"/>
              <a:buAutoNum type="alphaLcPeriod"/>
            </a:pPr>
            <a:r>
              <a:rPr lang="ja"/>
              <a:t>埋まっていないところを埋める</a:t>
            </a:r>
            <a:endParaRPr/>
          </a:p>
          <a:p>
            <a:pPr indent="-342900" lvl="0" marL="457200" rtl="0" algn="l">
              <a:spcBef>
                <a:spcPts val="0"/>
              </a:spcBef>
              <a:spcAft>
                <a:spcPts val="0"/>
              </a:spcAft>
              <a:buSzPts val="1800"/>
              <a:buAutoNum type="arabicPeriod"/>
            </a:pPr>
            <a:r>
              <a:rPr lang="ja"/>
              <a:t>今後について</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6" name="Shape 396"/>
        <p:cNvGrpSpPr/>
        <p:nvPr/>
      </p:nvGrpSpPr>
      <p:grpSpPr>
        <a:xfrm>
          <a:off x="0" y="0"/>
          <a:ext cx="0" cy="0"/>
          <a:chOff x="0" y="0"/>
          <a:chExt cx="0" cy="0"/>
        </a:xfrm>
      </p:grpSpPr>
      <p:sp>
        <p:nvSpPr>
          <p:cNvPr id="397" name="Google Shape;397;p6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9月</a:t>
            </a:r>
            <a:r>
              <a:rPr lang="ja"/>
              <a:t>アジェンダ</a:t>
            </a:r>
            <a:endParaRPr/>
          </a:p>
        </p:txBody>
      </p:sp>
      <p:sp>
        <p:nvSpPr>
          <p:cNvPr id="398" name="Google Shape;398;p63"/>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ja"/>
              <a:t>10/18 の OSPOjp </a:t>
            </a:r>
            <a:r>
              <a:rPr lang="ja"/>
              <a:t>Meetup（OpenChain JP Co-located event）について</a:t>
            </a:r>
            <a:endParaRPr/>
          </a:p>
          <a:p>
            <a:pPr indent="-342900" lvl="0" marL="457200" rtl="0" algn="l">
              <a:spcBef>
                <a:spcPts val="0"/>
              </a:spcBef>
              <a:spcAft>
                <a:spcPts val="0"/>
              </a:spcAft>
              <a:buSzPts val="1800"/>
              <a:buAutoNum type="arabicPeriod"/>
            </a:pPr>
            <a:r>
              <a:rPr lang="ja"/>
              <a:t>重み付けのつづき</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2" name="Shape 402"/>
        <p:cNvGrpSpPr/>
        <p:nvPr/>
      </p:nvGrpSpPr>
      <p:grpSpPr>
        <a:xfrm>
          <a:off x="0" y="0"/>
          <a:ext cx="0" cy="0"/>
          <a:chOff x="0" y="0"/>
          <a:chExt cx="0" cy="0"/>
        </a:xfrm>
      </p:grpSpPr>
      <p:sp>
        <p:nvSpPr>
          <p:cNvPr id="403" name="Google Shape;403;p6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2300"/>
              <a:t>10/18 の OSPOjp Meetup（OpenChain JP Co-located event）</a:t>
            </a:r>
            <a:endParaRPr sz="2300"/>
          </a:p>
        </p:txBody>
      </p:sp>
      <p:sp>
        <p:nvSpPr>
          <p:cNvPr id="404" name="Google Shape;404;p64"/>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3"/>
              </a:buClr>
              <a:buSzPts val="1800"/>
              <a:buChar char="■"/>
            </a:pPr>
            <a:r>
              <a:rPr lang="ja"/>
              <a:t>Ana (TODO Group LF member) </a:t>
            </a:r>
            <a:r>
              <a:rPr lang="ja"/>
              <a:t>招待OK。</a:t>
            </a:r>
            <a:endParaRPr/>
          </a:p>
          <a:p>
            <a:pPr indent="-342900" lvl="0" marL="457200" rtl="0" algn="l">
              <a:spcBef>
                <a:spcPts val="0"/>
              </a:spcBef>
              <a:spcAft>
                <a:spcPts val="0"/>
              </a:spcAft>
              <a:buClr>
                <a:schemeClr val="accent3"/>
              </a:buClr>
              <a:buSzPts val="1800"/>
              <a:buChar char="■"/>
            </a:pPr>
            <a:r>
              <a:rPr lang="ja"/>
              <a:t>アジェンダ案</a:t>
            </a:r>
            <a:endParaRPr/>
          </a:p>
          <a:p>
            <a:pPr indent="-317500" lvl="1" marL="914400" rtl="0" algn="l">
              <a:spcBef>
                <a:spcPts val="0"/>
              </a:spcBef>
              <a:spcAft>
                <a:spcPts val="0"/>
              </a:spcAft>
              <a:buSzPts val="1400"/>
              <a:buChar char="○"/>
            </a:pPr>
            <a:r>
              <a:rPr lang="ja"/>
              <a:t>グローバル活動を紹介いただく。by Ana</a:t>
            </a:r>
            <a:endParaRPr/>
          </a:p>
          <a:p>
            <a:pPr indent="-317500" lvl="1" marL="914400" rtl="0" algn="l">
              <a:spcBef>
                <a:spcPts val="0"/>
              </a:spcBef>
              <a:spcAft>
                <a:spcPts val="0"/>
              </a:spcAft>
              <a:buSzPts val="1400"/>
              <a:buChar char="○"/>
            </a:pPr>
            <a:r>
              <a:rPr lang="ja"/>
              <a:t>OSPOjp の</a:t>
            </a:r>
            <a:r>
              <a:rPr lang="ja"/>
              <a:t>活動紹介 (スライドはEnglishで)。by Motai, Owada</a:t>
            </a:r>
            <a:endParaRPr/>
          </a:p>
          <a:p>
            <a:pPr indent="-317500" lvl="2" marL="1371600" rtl="0" algn="l">
              <a:spcBef>
                <a:spcPts val="0"/>
              </a:spcBef>
              <a:spcAft>
                <a:spcPts val="0"/>
              </a:spcAft>
              <a:buSzPts val="1400"/>
              <a:buChar char="■"/>
            </a:pPr>
            <a:r>
              <a:rPr lang="ja"/>
              <a:t>OSPOjp </a:t>
            </a:r>
            <a:r>
              <a:rPr lang="ja"/>
              <a:t>活動のアウトプットはどう示すかを相談したい。</a:t>
            </a:r>
            <a:endParaRPr/>
          </a:p>
          <a:p>
            <a:pPr indent="-317500" lvl="1" marL="914400" rtl="0" algn="l">
              <a:spcBef>
                <a:spcPts val="0"/>
              </a:spcBef>
              <a:spcAft>
                <a:spcPts val="0"/>
              </a:spcAft>
              <a:buSzPts val="1400"/>
              <a:buChar char="○"/>
            </a:pPr>
            <a:r>
              <a:rPr lang="ja"/>
              <a:t>LT大会。Anaに聞いてもらいたいもあり。</a:t>
            </a:r>
            <a:endParaRPr/>
          </a:p>
          <a:p>
            <a:pPr indent="-317500" lvl="2" marL="1371600" rtl="0" algn="l">
              <a:spcBef>
                <a:spcPts val="0"/>
              </a:spcBef>
              <a:spcAft>
                <a:spcPts val="0"/>
              </a:spcAft>
              <a:buSzPts val="1400"/>
              <a:buChar char="■"/>
            </a:pPr>
            <a:r>
              <a:rPr lang="ja"/>
              <a:t>アンケートは英語と日本語で表示。その場で集計して盛り上げる。</a:t>
            </a:r>
            <a:endParaRPr/>
          </a:p>
          <a:p>
            <a:pPr indent="-317500" lvl="2" marL="1371600" rtl="0" algn="l">
              <a:spcBef>
                <a:spcPts val="0"/>
              </a:spcBef>
              <a:spcAft>
                <a:spcPts val="0"/>
              </a:spcAft>
              <a:buSzPts val="1400"/>
              <a:buChar char="■"/>
            </a:pPr>
            <a:r>
              <a:rPr lang="ja"/>
              <a:t>話したい人がいれば、話してもらう。</a:t>
            </a:r>
            <a:endParaRPr/>
          </a:p>
          <a:p>
            <a:pPr indent="-317500" lvl="1" marL="914400" rtl="0" algn="l">
              <a:spcBef>
                <a:spcPts val="0"/>
              </a:spcBef>
              <a:spcAft>
                <a:spcPts val="0"/>
              </a:spcAft>
              <a:buSzPts val="1400"/>
              <a:buChar char="○"/>
            </a:pPr>
            <a:r>
              <a:rPr lang="ja"/>
              <a:t>OSPO何でも相談会 その2。</a:t>
            </a:r>
            <a:endParaRPr/>
          </a:p>
          <a:p>
            <a:pPr indent="-317500" lvl="1" marL="914400" rtl="0" algn="l">
              <a:spcBef>
                <a:spcPts val="0"/>
              </a:spcBef>
              <a:spcAft>
                <a:spcPts val="0"/>
              </a:spcAft>
              <a:buSzPts val="1400"/>
              <a:buChar char="○"/>
            </a:pPr>
            <a:r>
              <a:rPr lang="ja"/>
              <a:t>（</a:t>
            </a:r>
            <a:r>
              <a:rPr lang="ja"/>
              <a:t>いつもの人たちしか</a:t>
            </a:r>
            <a:r>
              <a:rPr lang="ja"/>
              <a:t>集まらなければ）いつもの活動。</a:t>
            </a:r>
            <a:endParaRPr/>
          </a:p>
          <a:p>
            <a:pPr indent="-342900" lvl="0" marL="457200" rtl="0" algn="l">
              <a:spcBef>
                <a:spcPts val="0"/>
              </a:spcBef>
              <a:spcAft>
                <a:spcPts val="0"/>
              </a:spcAft>
              <a:buClr>
                <a:schemeClr val="accent3"/>
              </a:buClr>
              <a:buSzPts val="1800"/>
              <a:buChar char="■"/>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8" name="Shape 408"/>
        <p:cNvGrpSpPr/>
        <p:nvPr/>
      </p:nvGrpSpPr>
      <p:grpSpPr>
        <a:xfrm>
          <a:off x="0" y="0"/>
          <a:ext cx="0" cy="0"/>
          <a:chOff x="0" y="0"/>
          <a:chExt cx="0" cy="0"/>
        </a:xfrm>
      </p:grpSpPr>
      <p:sp>
        <p:nvSpPr>
          <p:cNvPr id="409" name="Google Shape;409;p65"/>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8</a:t>
            </a:r>
            <a:r>
              <a:rPr lang="ja"/>
              <a:t>月の</a:t>
            </a:r>
            <a:r>
              <a:rPr lang="ja"/>
              <a:t>ふりかえり</a:t>
            </a:r>
            <a:endParaRPr/>
          </a:p>
        </p:txBody>
      </p:sp>
      <p:sp>
        <p:nvSpPr>
          <p:cNvPr id="410" name="Google Shape;410;p65"/>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分野ごとのOSS活動の重みを表にまとめてみる。</a:t>
            </a:r>
            <a:endParaRPr/>
          </a:p>
          <a:p>
            <a:pPr indent="-317500" lvl="1" marL="914400" rtl="0" algn="l">
              <a:spcBef>
                <a:spcPts val="0"/>
              </a:spcBef>
              <a:spcAft>
                <a:spcPts val="0"/>
              </a:spcAft>
              <a:buSzPts val="1400"/>
              <a:buChar char="○"/>
            </a:pPr>
            <a:r>
              <a:rPr lang="ja"/>
              <a:t>シート：</a:t>
            </a:r>
            <a:r>
              <a:rPr lang="ja" u="sng">
                <a:solidFill>
                  <a:schemeClr val="hlink"/>
                </a:solidFill>
                <a:hlinkClick r:id="rId3"/>
              </a:rPr>
              <a:t>OSPO Japan Local Meetup - OSS Strategy, 重みづけシート</a:t>
            </a:r>
            <a:endParaRPr/>
          </a:p>
          <a:p>
            <a:pPr indent="-317500" lvl="2" marL="1371600" rtl="0" algn="l">
              <a:spcBef>
                <a:spcPts val="0"/>
              </a:spcBef>
              <a:spcAft>
                <a:spcPts val="0"/>
              </a:spcAft>
              <a:buSzPts val="1400"/>
              <a:buChar char="■"/>
            </a:pPr>
            <a:r>
              <a:rPr lang="ja"/>
              <a:t>※ライセンスを定義してから公開しましょう。</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4" name="Shape 414"/>
        <p:cNvGrpSpPr/>
        <p:nvPr/>
      </p:nvGrpSpPr>
      <p:grpSpPr>
        <a:xfrm>
          <a:off x="0" y="0"/>
          <a:ext cx="0" cy="0"/>
          <a:chOff x="0" y="0"/>
          <a:chExt cx="0" cy="0"/>
        </a:xfrm>
      </p:grpSpPr>
      <p:sp>
        <p:nvSpPr>
          <p:cNvPr id="415" name="Google Shape;415;p6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イメージ図（優先度の入力は適当です）</a:t>
            </a:r>
            <a:endParaRPr/>
          </a:p>
        </p:txBody>
      </p:sp>
      <p:pic>
        <p:nvPicPr>
          <p:cNvPr id="416" name="Google Shape;416;p66"/>
          <p:cNvPicPr preferRelativeResize="0"/>
          <p:nvPr/>
        </p:nvPicPr>
        <p:blipFill>
          <a:blip r:embed="rId3">
            <a:alphaModFix/>
          </a:blip>
          <a:stretch>
            <a:fillRect/>
          </a:stretch>
        </p:blipFill>
        <p:spPr>
          <a:xfrm>
            <a:off x="495300" y="1135287"/>
            <a:ext cx="7753351" cy="36013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0" name="Shape 420"/>
        <p:cNvGrpSpPr/>
        <p:nvPr/>
      </p:nvGrpSpPr>
      <p:grpSpPr>
        <a:xfrm>
          <a:off x="0" y="0"/>
          <a:ext cx="0" cy="0"/>
          <a:chOff x="0" y="0"/>
          <a:chExt cx="0" cy="0"/>
        </a:xfrm>
      </p:grpSpPr>
      <p:sp>
        <p:nvSpPr>
          <p:cNvPr id="421" name="Google Shape;421;p6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7月</a:t>
            </a:r>
            <a:r>
              <a:rPr lang="ja"/>
              <a:t>ふりかえり</a:t>
            </a:r>
            <a:endParaRPr/>
          </a:p>
        </p:txBody>
      </p:sp>
      <p:sp>
        <p:nvSpPr>
          <p:cNvPr id="422" name="Google Shape;422;p67"/>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”重み”は違うものの、</a:t>
            </a:r>
            <a:r>
              <a:rPr lang="ja"/>
              <a:t>活動に分野を超えた共通点がある。</a:t>
            </a:r>
            <a:endParaRPr/>
          </a:p>
          <a:p>
            <a:pPr indent="-317500" lvl="1" marL="914400" rtl="0" algn="l">
              <a:spcBef>
                <a:spcPts val="0"/>
              </a:spcBef>
              <a:spcAft>
                <a:spcPts val="0"/>
              </a:spcAft>
              <a:buSzPts val="1400"/>
              <a:buChar char="○"/>
            </a:pPr>
            <a:r>
              <a:rPr lang="ja"/>
              <a:t>重み：◯◯分野ではスポンサーシップの方がパッチ投稿より重要。</a:t>
            </a:r>
            <a:endParaRPr/>
          </a:p>
          <a:p>
            <a:pPr indent="-317500" lvl="1" marL="914400" rtl="0" algn="l">
              <a:spcBef>
                <a:spcPts val="0"/>
              </a:spcBef>
              <a:spcAft>
                <a:spcPts val="0"/>
              </a:spcAft>
              <a:buSzPts val="1400"/>
              <a:buChar char="○"/>
            </a:pPr>
            <a:r>
              <a:rPr lang="ja"/>
              <a:t>分野ごとの重みを比較したら面白そう。</a:t>
            </a:r>
            <a:endParaRPr/>
          </a:p>
          <a:p>
            <a:pPr indent="-317500" lvl="1" marL="914400" rtl="0" algn="l">
              <a:spcBef>
                <a:spcPts val="0"/>
              </a:spcBef>
              <a:spcAft>
                <a:spcPts val="0"/>
              </a:spcAft>
              <a:buSzPts val="1400"/>
              <a:buChar char="○"/>
            </a:pPr>
            <a:r>
              <a:rPr lang="ja"/>
              <a:t>重みの違いがなぜ生まれるかを考察したら新しい知見が得られそう。</a:t>
            </a:r>
            <a:endParaRPr/>
          </a:p>
          <a:p>
            <a:pPr indent="-342900" lvl="0" marL="457200" rtl="0" algn="l">
              <a:spcBef>
                <a:spcPts val="0"/>
              </a:spcBef>
              <a:spcAft>
                <a:spcPts val="0"/>
              </a:spcAft>
              <a:buSzPts val="1800"/>
              <a:buChar char="●"/>
            </a:pPr>
            <a:r>
              <a:rPr lang="ja"/>
              <a:t>参考：</a:t>
            </a:r>
            <a:endParaRPr/>
          </a:p>
          <a:p>
            <a:pPr indent="-317500" lvl="1" marL="914400" rtl="0" algn="l">
              <a:spcBef>
                <a:spcPts val="0"/>
              </a:spcBef>
              <a:spcAft>
                <a:spcPts val="0"/>
              </a:spcAft>
              <a:buSzPts val="1400"/>
              <a:buChar char="○"/>
            </a:pPr>
            <a:r>
              <a:rPr lang="ja" u="sng">
                <a:solidFill>
                  <a:schemeClr val="hlink"/>
                </a:solidFill>
                <a:hlinkClick r:id="rId3"/>
              </a:rPr>
              <a:t>オープンソースプログラムオフィス (Open Source Program Office; OSPO) の定義とガイド</a:t>
            </a:r>
            <a:r>
              <a:rPr lang="ja"/>
              <a:t> </a:t>
            </a:r>
            <a:br>
              <a:rPr lang="ja"/>
            </a:br>
            <a:r>
              <a:rPr lang="ja" sz="1200">
                <a:solidFill>
                  <a:srgbClr val="1F2328"/>
                </a:solidFill>
                <a:highlight>
                  <a:srgbClr val="FFFFFF"/>
                </a:highlight>
                <a:latin typeface="Arial"/>
                <a:ea typeface="Arial"/>
                <a:cs typeface="Arial"/>
                <a:sym typeface="Arial"/>
              </a:rPr>
              <a:t>[WHY] 外部に対しては、OSPO は組織とオープンソースコミュニティの重要な架け橋となって、組織がオープンソースソフトウェアの良き世話役となることや、オープンソースの採用によるリスクの最小化しながら利益を最大限に享受することを確実にする手助けをします。内部的には、....</a:t>
            </a:r>
            <a:endParaRPr/>
          </a:p>
          <a:p>
            <a:pPr indent="-342900" lvl="0" marL="457200" rtl="0" algn="l">
              <a:spcBef>
                <a:spcPts val="0"/>
              </a:spcBef>
              <a:spcAft>
                <a:spcPts val="0"/>
              </a:spcAft>
              <a:buSzPts val="1800"/>
              <a:buChar char="●"/>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6" name="Shape 426"/>
        <p:cNvGrpSpPr/>
        <p:nvPr/>
      </p:nvGrpSpPr>
      <p:grpSpPr>
        <a:xfrm>
          <a:off x="0" y="0"/>
          <a:ext cx="0" cy="0"/>
          <a:chOff x="0" y="0"/>
          <a:chExt cx="0" cy="0"/>
        </a:xfrm>
      </p:grpSpPr>
      <p:sp>
        <p:nvSpPr>
          <p:cNvPr id="427" name="Google Shape;427;p6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8月</a:t>
            </a:r>
            <a:r>
              <a:rPr lang="ja"/>
              <a:t>メモ</a:t>
            </a:r>
            <a:endParaRPr/>
          </a:p>
        </p:txBody>
      </p:sp>
      <p:sp>
        <p:nvSpPr>
          <p:cNvPr id="428" name="Google Shape;428;p68"/>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ソフトウェアの位置づけの変化により、戦略がかわってくるか。</a:t>
            </a:r>
            <a:endParaRPr/>
          </a:p>
          <a:p>
            <a:pPr indent="-317500" lvl="1" marL="914400" rtl="0" algn="l">
              <a:spcBef>
                <a:spcPts val="0"/>
              </a:spcBef>
              <a:spcAft>
                <a:spcPts val="0"/>
              </a:spcAft>
              <a:buSzPts val="1400"/>
              <a:buChar char="○"/>
            </a:pPr>
            <a:r>
              <a:rPr lang="ja"/>
              <a:t>AI</a:t>
            </a:r>
            <a:r>
              <a:rPr lang="ja"/>
              <a:t>での例）</a:t>
            </a:r>
            <a:r>
              <a:rPr lang="ja"/>
              <a:t>codeware, promptware, …, agentware</a:t>
            </a:r>
            <a:endParaRPr/>
          </a:p>
          <a:p>
            <a:pPr indent="-317500" lvl="1" marL="914400" rtl="0" algn="l">
              <a:spcBef>
                <a:spcPts val="0"/>
              </a:spcBef>
              <a:spcAft>
                <a:spcPts val="0"/>
              </a:spcAft>
              <a:buSzPts val="1400"/>
              <a:buChar char="○"/>
            </a:pPr>
            <a:r>
              <a:rPr lang="ja" u="sng">
                <a:solidFill>
                  <a:schemeClr val="hlink"/>
                </a:solidFill>
                <a:hlinkClick r:id="rId3"/>
              </a:rPr>
              <a:t>https://arxiv.org/pdf/2402.15943</a:t>
            </a:r>
            <a:br>
              <a:rPr lang="ja"/>
            </a:br>
            <a:r>
              <a:rPr lang="ja"/>
              <a:t>Sotware2.0以降のAI周りでオープンソース化みたいな話としてこういう動きがでてるのかなぁと。Model Openness Framework </a:t>
            </a:r>
            <a:endParaRPr/>
          </a:p>
          <a:p>
            <a:pPr indent="-317500" lvl="2" marL="1371600" rtl="0" algn="l">
              <a:spcBef>
                <a:spcPts val="0"/>
              </a:spcBef>
              <a:spcAft>
                <a:spcPts val="0"/>
              </a:spcAft>
              <a:buSzPts val="1400"/>
              <a:buChar char="■"/>
            </a:pPr>
            <a:r>
              <a:rPr lang="ja" u="sng">
                <a:solidFill>
                  <a:schemeClr val="hlink"/>
                </a:solidFill>
                <a:hlinkClick r:id="rId4"/>
              </a:rPr>
              <a:t>https://lfaidata.foundation/blog/2024/04/17/introducing-the-model-openness-framework-promoting-completeness-and-openness-for-reproducibility-transparency-and-usability-in-ai/</a:t>
            </a:r>
            <a:endParaRPr/>
          </a:p>
          <a:p>
            <a:pPr indent="-342900" lvl="0" marL="457200" rtl="0" algn="l">
              <a:spcBef>
                <a:spcPts val="0"/>
              </a:spcBef>
              <a:spcAft>
                <a:spcPts val="0"/>
              </a:spcAft>
              <a:buSzPts val="1800"/>
              <a:buChar char="●"/>
            </a:pPr>
            <a:r>
              <a:rPr lang="ja"/>
              <a:t>SIerの活動がOSS利用にとどまっているケースが散見される</a:t>
            </a:r>
            <a:endParaRPr/>
          </a:p>
          <a:p>
            <a:pPr indent="-317500" lvl="1" marL="914400" rtl="0" algn="l">
              <a:spcBef>
                <a:spcPts val="0"/>
              </a:spcBef>
              <a:spcAft>
                <a:spcPts val="0"/>
              </a:spcAft>
              <a:buSzPts val="1400"/>
              <a:buChar char="○"/>
            </a:pPr>
            <a:r>
              <a:rPr lang="ja"/>
              <a:t>OSSがSustanable であればいいが、実はOSSが破綻している場合はまずい。</a:t>
            </a:r>
            <a:endParaRPr/>
          </a:p>
          <a:p>
            <a:pPr indent="-342900" lvl="0" marL="457200" rtl="0" algn="l">
              <a:spcBef>
                <a:spcPts val="0"/>
              </a:spcBef>
              <a:spcAft>
                <a:spcPts val="0"/>
              </a:spcAft>
              <a:buSzPts val="1800"/>
              <a:buChar char="●"/>
            </a:pPr>
            <a:r>
              <a:rPr lang="ja"/>
              <a:t>次回 9/13</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2" name="Shape 432"/>
        <p:cNvGrpSpPr/>
        <p:nvPr/>
      </p:nvGrpSpPr>
      <p:grpSpPr>
        <a:xfrm>
          <a:off x="0" y="0"/>
          <a:ext cx="0" cy="0"/>
          <a:chOff x="0" y="0"/>
          <a:chExt cx="0" cy="0"/>
        </a:xfrm>
      </p:grpSpPr>
      <p:sp>
        <p:nvSpPr>
          <p:cNvPr id="433" name="Google Shape;433;p6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9月</a:t>
            </a:r>
            <a:r>
              <a:rPr lang="ja"/>
              <a:t>メモ</a:t>
            </a:r>
            <a:endParaRPr/>
          </a:p>
        </p:txBody>
      </p:sp>
      <p:sp>
        <p:nvSpPr>
          <p:cNvPr id="434" name="Google Shape;434;p69"/>
          <p:cNvSpPr txBox="1"/>
          <p:nvPr>
            <p:ph idx="1" type="body"/>
          </p:nvPr>
        </p:nvSpPr>
        <p:spPr>
          <a:xfrm>
            <a:off x="280350" y="1266450"/>
            <a:ext cx="8520600" cy="3339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ja"/>
              <a:t>表を埋めてみました。</a:t>
            </a:r>
            <a:endParaRPr/>
          </a:p>
          <a:p>
            <a:pPr indent="-317500" lvl="1" marL="914400" rtl="0" algn="l">
              <a:spcBef>
                <a:spcPts val="0"/>
              </a:spcBef>
              <a:spcAft>
                <a:spcPts val="0"/>
              </a:spcAft>
              <a:buSzPts val="1400"/>
              <a:buChar char="○"/>
            </a:pPr>
            <a:r>
              <a:rPr lang="ja"/>
              <a:t>事業ラインごとにOSSへの取り込みが異なるので会社としてこうだとは言えない。</a:t>
            </a:r>
            <a:endParaRPr/>
          </a:p>
          <a:p>
            <a:pPr indent="-342900" lvl="0" marL="457200" rtl="0" algn="l">
              <a:spcBef>
                <a:spcPts val="0"/>
              </a:spcBef>
              <a:spcAft>
                <a:spcPts val="0"/>
              </a:spcAft>
              <a:buSzPts val="1800"/>
              <a:buFont typeface="Open Sans"/>
              <a:buChar char="●"/>
            </a:pPr>
            <a:r>
              <a:rPr b="1" lang="ja">
                <a:latin typeface="Open Sans"/>
                <a:ea typeface="Open Sans"/>
                <a:cs typeface="Open Sans"/>
                <a:sym typeface="Open Sans"/>
              </a:rPr>
              <a:t>埋めながら迷うところを議論していくことに価値がある。</a:t>
            </a:r>
            <a:endParaRPr b="1">
              <a:latin typeface="Open Sans"/>
              <a:ea typeface="Open Sans"/>
              <a:cs typeface="Open Sans"/>
              <a:sym typeface="Open Sans"/>
            </a:endParaRPr>
          </a:p>
          <a:p>
            <a:pPr indent="-317500" lvl="1" marL="914400" rtl="0" algn="l">
              <a:spcBef>
                <a:spcPts val="0"/>
              </a:spcBef>
              <a:spcAft>
                <a:spcPts val="0"/>
              </a:spcAft>
              <a:buSzPts val="1400"/>
              <a:buChar char="○"/>
            </a:pPr>
            <a:r>
              <a:rPr lang="ja"/>
              <a:t>自分の関連事業関連か否かでOSSへの貢献が変わってくる。</a:t>
            </a:r>
            <a:endParaRPr/>
          </a:p>
          <a:p>
            <a:pPr indent="-317500" lvl="1" marL="914400" rtl="0" algn="l">
              <a:spcBef>
                <a:spcPts val="0"/>
              </a:spcBef>
              <a:spcAft>
                <a:spcPts val="0"/>
              </a:spcAft>
              <a:buSzPts val="1400"/>
              <a:buChar char="○"/>
            </a:pPr>
            <a:r>
              <a:rPr lang="ja"/>
              <a:t>例えば、pytorchを重要とする企業とそうじゃない企業で重みが変わってくる。</a:t>
            </a:r>
            <a:endParaRPr/>
          </a:p>
          <a:p>
            <a:pPr indent="-342900" lvl="0" marL="457200" rtl="0" algn="l">
              <a:spcBef>
                <a:spcPts val="0"/>
              </a:spcBef>
              <a:spcAft>
                <a:spcPts val="0"/>
              </a:spcAft>
              <a:buSzPts val="1800"/>
              <a:buChar char="●"/>
            </a:pPr>
            <a:r>
              <a:rPr lang="ja"/>
              <a:t>コメント</a:t>
            </a:r>
            <a:endParaRPr/>
          </a:p>
          <a:p>
            <a:pPr indent="-317500" lvl="1" marL="914400" rtl="0" algn="l">
              <a:spcBef>
                <a:spcPts val="0"/>
              </a:spcBef>
              <a:spcAft>
                <a:spcPts val="0"/>
              </a:spcAft>
              <a:buSzPts val="1400"/>
              <a:buChar char="○"/>
            </a:pPr>
            <a:r>
              <a:rPr lang="ja"/>
              <a:t>ペルソナ企業の狙いを定めてみると変わってくる？</a:t>
            </a:r>
            <a:br>
              <a:rPr lang="ja"/>
            </a:br>
            <a:r>
              <a:rPr lang="ja"/>
              <a:t>具体的なOSSの活用戦略にするとわかりやすいかなと思いました。</a:t>
            </a:r>
            <a:endParaRPr/>
          </a:p>
          <a:p>
            <a:pPr indent="-317500" lvl="1" marL="914400" rtl="0" algn="l">
              <a:spcBef>
                <a:spcPts val="0"/>
              </a:spcBef>
              <a:spcAft>
                <a:spcPts val="0"/>
              </a:spcAft>
              <a:buSzPts val="1400"/>
              <a:buChar char="○"/>
            </a:pPr>
            <a:r>
              <a:rPr lang="ja"/>
              <a:t>ペルソナ企業として分けたがペルソナ事業として分けるべき？</a:t>
            </a:r>
            <a:endParaRPr/>
          </a:p>
          <a:p>
            <a:pPr indent="-317500" lvl="1" marL="914400" rtl="0" algn="l">
              <a:spcBef>
                <a:spcPts val="0"/>
              </a:spcBef>
              <a:spcAft>
                <a:spcPts val="0"/>
              </a:spcAft>
              <a:buClr>
                <a:schemeClr val="accent2"/>
              </a:buClr>
              <a:buSzPts val="1400"/>
              <a:buChar char="○"/>
            </a:pPr>
            <a:r>
              <a:rPr lang="ja">
                <a:solidFill>
                  <a:schemeClr val="accent2"/>
                </a:solidFill>
              </a:rPr>
              <a:t>「コミュニティ開発」はコミュニティ分類すると変わるか？ーー＞来月：分け方の議論と埋めて確かめてみる</a:t>
            </a:r>
            <a:endParaRPr>
              <a:solidFill>
                <a:schemeClr val="accent2"/>
              </a:solidFill>
            </a:endParaRPr>
          </a:p>
          <a:p>
            <a:pPr indent="-317500" lvl="2" marL="1371600" rtl="0" algn="l">
              <a:spcBef>
                <a:spcPts val="0"/>
              </a:spcBef>
              <a:spcAft>
                <a:spcPts val="0"/>
              </a:spcAft>
              <a:buClr>
                <a:schemeClr val="accent2"/>
              </a:buClr>
              <a:buSzPts val="1400"/>
              <a:buChar char="■"/>
            </a:pPr>
            <a:r>
              <a:rPr lang="ja">
                <a:solidFill>
                  <a:schemeClr val="accent2"/>
                </a:solidFill>
              </a:rPr>
              <a:t>AIコミュニティ、Linuxコミュニティ、Cloudコミュニティ</a:t>
            </a:r>
            <a:endParaRPr>
              <a:solidFill>
                <a:schemeClr val="accent2"/>
              </a:solidFill>
            </a:endParaRPr>
          </a:p>
          <a:p>
            <a:pPr indent="-317500" lvl="2" marL="1371600" rtl="0" algn="l">
              <a:spcBef>
                <a:spcPts val="0"/>
              </a:spcBef>
              <a:spcAft>
                <a:spcPts val="0"/>
              </a:spcAft>
              <a:buClr>
                <a:schemeClr val="accent2"/>
              </a:buClr>
              <a:buSzPts val="1400"/>
              <a:buChar char="■"/>
            </a:pPr>
            <a:r>
              <a:rPr lang="ja">
                <a:solidFill>
                  <a:schemeClr val="accent2"/>
                </a:solidFill>
              </a:rPr>
              <a:t>OpenChainのようなコミュニティ</a:t>
            </a:r>
            <a:endParaRPr>
              <a:solidFill>
                <a:schemeClr val="accent2"/>
              </a:solidFill>
            </a:endParaRPr>
          </a:p>
          <a:p>
            <a:pPr indent="-342900" lvl="0" marL="457200" rtl="0" algn="l">
              <a:spcBef>
                <a:spcPts val="0"/>
              </a:spcBef>
              <a:spcAft>
                <a:spcPts val="0"/>
              </a:spcAft>
              <a:buClr>
                <a:schemeClr val="dk1"/>
              </a:buClr>
              <a:buSzPts val="1800"/>
              <a:buChar char="●"/>
            </a:pPr>
            <a:r>
              <a:rPr lang="ja">
                <a:solidFill>
                  <a:schemeClr val="dk1"/>
                </a:solidFill>
              </a:rPr>
              <a:t>次回は 10/18 OSPOjp です。</a:t>
            </a:r>
            <a:endParaRPr>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8" name="Shape 438"/>
        <p:cNvGrpSpPr/>
        <p:nvPr/>
      </p:nvGrpSpPr>
      <p:grpSpPr>
        <a:xfrm>
          <a:off x="0" y="0"/>
          <a:ext cx="0" cy="0"/>
          <a:chOff x="0" y="0"/>
          <a:chExt cx="0" cy="0"/>
        </a:xfrm>
      </p:grpSpPr>
      <p:sp>
        <p:nvSpPr>
          <p:cNvPr id="439" name="Google Shape;439;p70"/>
          <p:cNvSpPr txBox="1"/>
          <p:nvPr>
            <p:ph type="ctrTitle"/>
          </p:nvPr>
        </p:nvSpPr>
        <p:spPr>
          <a:xfrm>
            <a:off x="2943050" y="1444250"/>
            <a:ext cx="3258000" cy="1537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ja"/>
              <a:t>現在の</a:t>
            </a:r>
            <a:br>
              <a:rPr lang="ja"/>
            </a:br>
            <a:r>
              <a:rPr lang="ja"/>
              <a:t>議論トピック</a:t>
            </a:r>
            <a:endParaRPr/>
          </a:p>
        </p:txBody>
      </p:sp>
      <p:sp>
        <p:nvSpPr>
          <p:cNvPr id="440" name="Google Shape;440;p70"/>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4" name="Shape 444"/>
        <p:cNvGrpSpPr/>
        <p:nvPr/>
      </p:nvGrpSpPr>
      <p:grpSpPr>
        <a:xfrm>
          <a:off x="0" y="0"/>
          <a:ext cx="0" cy="0"/>
          <a:chOff x="0" y="0"/>
          <a:chExt cx="0" cy="0"/>
        </a:xfrm>
      </p:grpSpPr>
      <p:sp>
        <p:nvSpPr>
          <p:cNvPr id="445" name="Google Shape;445;p7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OSPO導入StrategyとOSS Strategy</a:t>
            </a:r>
            <a:endParaRPr/>
          </a:p>
        </p:txBody>
      </p:sp>
      <p:sp>
        <p:nvSpPr>
          <p:cNvPr id="446" name="Google Shape;446;p71"/>
          <p:cNvSpPr txBox="1"/>
          <p:nvPr>
            <p:ph idx="1" type="body"/>
          </p:nvPr>
        </p:nvSpPr>
        <p:spPr>
          <a:xfrm>
            <a:off x="311700" y="1152475"/>
            <a:ext cx="4790400" cy="3416400"/>
          </a:xfrm>
          <a:prstGeom prst="rect">
            <a:avLst/>
          </a:prstGeom>
          <a:ln cap="flat" cmpd="sng" w="9525">
            <a:solidFill>
              <a:schemeClr val="lt2"/>
            </a:solidFill>
            <a:prstDash val="solid"/>
            <a:round/>
            <a:headEnd len="sm" w="sm" type="none"/>
            <a:tailEnd len="sm" w="sm" type="none"/>
          </a:ln>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ja"/>
              <a:t>ビジネスにとって大事なOSSを認識する</a:t>
            </a:r>
            <a:endParaRPr/>
          </a:p>
          <a:p>
            <a:pPr indent="-342900" lvl="0" marL="457200" rtl="0" algn="l">
              <a:spcBef>
                <a:spcPts val="0"/>
              </a:spcBef>
              <a:spcAft>
                <a:spcPts val="0"/>
              </a:spcAft>
              <a:buSzPts val="1800"/>
              <a:buAutoNum type="arabicPeriod"/>
            </a:pPr>
            <a:r>
              <a:rPr lang="ja"/>
              <a:t>どう関与していくか</a:t>
            </a:r>
            <a:endParaRPr/>
          </a:p>
          <a:p>
            <a:pPr indent="-317500" lvl="1" marL="914400" rtl="0" algn="l">
              <a:spcBef>
                <a:spcPts val="0"/>
              </a:spcBef>
              <a:spcAft>
                <a:spcPts val="0"/>
              </a:spcAft>
              <a:buSzPts val="1400"/>
              <a:buAutoNum type="alphaLcPeriod"/>
            </a:pPr>
            <a:r>
              <a:rPr lang="ja"/>
              <a:t>コントリビューション</a:t>
            </a:r>
            <a:endParaRPr/>
          </a:p>
          <a:p>
            <a:pPr indent="-317500" lvl="1" marL="914400" rtl="0" algn="l">
              <a:spcBef>
                <a:spcPts val="0"/>
              </a:spcBef>
              <a:spcAft>
                <a:spcPts val="0"/>
              </a:spcAft>
              <a:buSzPts val="1400"/>
              <a:buAutoNum type="alphaLcPeriod"/>
            </a:pPr>
            <a:r>
              <a:rPr lang="ja"/>
              <a:t>ファウンデーション・スポンサー</a:t>
            </a:r>
            <a:endParaRPr/>
          </a:p>
          <a:p>
            <a:pPr indent="-317500" lvl="1" marL="914400" rtl="0" algn="l">
              <a:spcBef>
                <a:spcPts val="0"/>
              </a:spcBef>
              <a:spcAft>
                <a:spcPts val="0"/>
              </a:spcAft>
              <a:buSzPts val="1400"/>
              <a:buAutoNum type="alphaLcPeriod"/>
            </a:pPr>
            <a:r>
              <a:rPr lang="ja"/>
              <a:t>メンテナー・・・</a:t>
            </a:r>
            <a:endParaRPr/>
          </a:p>
          <a:p>
            <a:pPr indent="-342900" lvl="0" marL="457200" rtl="0" algn="l">
              <a:spcBef>
                <a:spcPts val="0"/>
              </a:spcBef>
              <a:spcAft>
                <a:spcPts val="0"/>
              </a:spcAft>
              <a:buSzPts val="1800"/>
              <a:buAutoNum type="arabicPeriod"/>
            </a:pPr>
            <a:r>
              <a:rPr lang="ja"/>
              <a:t>関与に向けて企業の中で何をしていくか</a:t>
            </a:r>
            <a:endParaRPr/>
          </a:p>
          <a:p>
            <a:pPr indent="-317500" lvl="1" marL="914400" rtl="0" algn="l">
              <a:spcBef>
                <a:spcPts val="0"/>
              </a:spcBef>
              <a:spcAft>
                <a:spcPts val="0"/>
              </a:spcAft>
              <a:buSzPts val="1400"/>
              <a:buAutoNum type="alphaLcPeriod"/>
            </a:pPr>
            <a:r>
              <a:rPr lang="ja"/>
              <a:t>ルール・プロセス</a:t>
            </a:r>
            <a:endParaRPr/>
          </a:p>
          <a:p>
            <a:pPr indent="-317500" lvl="1" marL="914400" rtl="0" algn="l">
              <a:spcBef>
                <a:spcPts val="0"/>
              </a:spcBef>
              <a:spcAft>
                <a:spcPts val="0"/>
              </a:spcAft>
              <a:buSzPts val="1400"/>
              <a:buAutoNum type="alphaLcPeriod"/>
            </a:pPr>
            <a:r>
              <a:rPr lang="ja"/>
              <a:t>KPI</a:t>
            </a:r>
            <a:endParaRPr/>
          </a:p>
          <a:p>
            <a:pPr indent="-317500" lvl="1" marL="914400" rtl="0" algn="l">
              <a:spcBef>
                <a:spcPts val="0"/>
              </a:spcBef>
              <a:spcAft>
                <a:spcPts val="0"/>
              </a:spcAft>
              <a:buSzPts val="1400"/>
              <a:buAutoNum type="alphaLcPeriod"/>
            </a:pPr>
            <a:r>
              <a:rPr lang="ja"/>
              <a:t>組織・社内体制</a:t>
            </a:r>
            <a:r>
              <a:rPr lang="ja"/>
              <a:t>・社内連携</a:t>
            </a:r>
            <a:endParaRPr/>
          </a:p>
          <a:p>
            <a:pPr indent="-317500" lvl="1" marL="914400" rtl="0" algn="l">
              <a:spcBef>
                <a:spcPts val="0"/>
              </a:spcBef>
              <a:spcAft>
                <a:spcPts val="0"/>
              </a:spcAft>
              <a:buSzPts val="1400"/>
              <a:buAutoNum type="alphaLcPeriod"/>
            </a:pPr>
            <a:r>
              <a:rPr lang="ja"/>
              <a:t>コンプライアンス</a:t>
            </a:r>
            <a:endParaRPr/>
          </a:p>
          <a:p>
            <a:pPr indent="-342900" lvl="0" marL="457200" rtl="0" algn="l">
              <a:spcBef>
                <a:spcPts val="0"/>
              </a:spcBef>
              <a:spcAft>
                <a:spcPts val="0"/>
              </a:spcAft>
              <a:buSzPts val="1800"/>
              <a:buAutoNum type="arabicPeriod"/>
            </a:pPr>
            <a:r>
              <a:rPr lang="ja"/>
              <a:t>何をするOSPOが必要か？</a:t>
            </a:r>
            <a:endParaRPr/>
          </a:p>
        </p:txBody>
      </p:sp>
      <p:sp>
        <p:nvSpPr>
          <p:cNvPr id="447" name="Google Shape;447;p71"/>
          <p:cNvSpPr txBox="1"/>
          <p:nvPr>
            <p:ph idx="1" type="body"/>
          </p:nvPr>
        </p:nvSpPr>
        <p:spPr>
          <a:xfrm>
            <a:off x="5211300" y="1152475"/>
            <a:ext cx="3474000" cy="1947000"/>
          </a:xfrm>
          <a:prstGeom prst="rect">
            <a:avLst/>
          </a:prstGeom>
          <a:ln cap="flat" cmpd="sng" w="38100">
            <a:solidFill>
              <a:schemeClr val="accent3"/>
            </a:solidFill>
            <a:prstDash val="solid"/>
            <a:round/>
            <a:headEnd len="sm" w="sm" type="none"/>
            <a:tailEnd len="sm" w="sm" type="none"/>
          </a:ln>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ja"/>
              <a:t>製品・サービスとOSS戦略を議論すべきか？</a:t>
            </a:r>
            <a:endParaRPr/>
          </a:p>
          <a:p>
            <a:pPr indent="-317500" lvl="1" marL="914400" rtl="0" algn="l">
              <a:spcBef>
                <a:spcPts val="0"/>
              </a:spcBef>
              <a:spcAft>
                <a:spcPts val="0"/>
              </a:spcAft>
              <a:buSzPts val="1400"/>
              <a:buAutoNum type="alphaLcPeriod"/>
            </a:pPr>
            <a:r>
              <a:rPr lang="ja"/>
              <a:t>次回はOSS strategyとしてどうまとめていくか。</a:t>
            </a:r>
            <a:endParaRPr/>
          </a:p>
          <a:p>
            <a:pPr indent="-317500" lvl="1" marL="914400" rtl="0" algn="l">
              <a:spcBef>
                <a:spcPts val="0"/>
              </a:spcBef>
              <a:spcAft>
                <a:spcPts val="0"/>
              </a:spcAft>
              <a:buSzPts val="1400"/>
              <a:buAutoNum type="alphaLcPeriod"/>
            </a:pPr>
            <a:r>
              <a:rPr lang="ja"/>
              <a:t>OSPO StrategyはQAの方で勧めていく。</a:t>
            </a:r>
            <a:endParaRPr/>
          </a:p>
        </p:txBody>
      </p:sp>
      <p:sp>
        <p:nvSpPr>
          <p:cNvPr id="448" name="Google Shape;448;p71"/>
          <p:cNvSpPr txBox="1"/>
          <p:nvPr/>
        </p:nvSpPr>
        <p:spPr>
          <a:xfrm>
            <a:off x="5201850" y="3615925"/>
            <a:ext cx="3724800" cy="9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chemeClr val="dk1"/>
                </a:solidFill>
                <a:latin typeface="Open Sans"/>
                <a:ea typeface="Open Sans"/>
                <a:cs typeface="Open Sans"/>
                <a:sym typeface="Open Sans"/>
              </a:rPr>
              <a:t>OSS Strategyの課題を議論します</a:t>
            </a:r>
            <a:br>
              <a:rPr lang="ja" sz="1800">
                <a:solidFill>
                  <a:schemeClr val="dk1"/>
                </a:solidFill>
                <a:latin typeface="Open Sans"/>
                <a:ea typeface="Open Sans"/>
                <a:cs typeface="Open Sans"/>
                <a:sym typeface="Open Sans"/>
              </a:rPr>
            </a:br>
            <a:r>
              <a:rPr lang="ja" sz="1800">
                <a:solidFill>
                  <a:schemeClr val="dk1"/>
                </a:solidFill>
                <a:latin typeface="Open Sans"/>
                <a:ea typeface="Open Sans"/>
                <a:cs typeface="Open Sans"/>
                <a:sym typeface="Open Sans"/>
              </a:rPr>
              <a:t>OSPO組織設立や活動の課題は</a:t>
            </a:r>
            <a:br>
              <a:rPr lang="ja" sz="1800">
                <a:solidFill>
                  <a:schemeClr val="dk1"/>
                </a:solidFill>
                <a:latin typeface="Open Sans"/>
                <a:ea typeface="Open Sans"/>
                <a:cs typeface="Open Sans"/>
                <a:sym typeface="Open Sans"/>
              </a:rPr>
            </a:br>
            <a:r>
              <a:rPr lang="ja" sz="1800">
                <a:solidFill>
                  <a:schemeClr val="dk1"/>
                </a:solidFill>
                <a:latin typeface="Open Sans"/>
                <a:ea typeface="Open Sans"/>
                <a:cs typeface="Open Sans"/>
                <a:sym typeface="Open Sans"/>
              </a:rPr>
              <a:t>議論いたしません（今はね）</a:t>
            </a:r>
            <a:endParaRPr sz="1800">
              <a:solidFill>
                <a:schemeClr val="dk1"/>
              </a:solidFill>
              <a:latin typeface="Open Sans"/>
              <a:ea typeface="Open Sans"/>
              <a:cs typeface="Open Sans"/>
              <a:sym typeface="Open Sans"/>
            </a:endParaRPr>
          </a:p>
        </p:txBody>
      </p:sp>
      <p:sp>
        <p:nvSpPr>
          <p:cNvPr id="449" name="Google Shape;449;p71"/>
          <p:cNvSpPr txBox="1"/>
          <p:nvPr/>
        </p:nvSpPr>
        <p:spPr>
          <a:xfrm>
            <a:off x="6871950" y="794340"/>
            <a:ext cx="205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a:solidFill>
                  <a:schemeClr val="accent3"/>
                </a:solidFill>
              </a:rPr>
              <a:t>こちらを議論します</a:t>
            </a:r>
            <a:endParaRPr>
              <a:solidFill>
                <a:schemeClr val="accent3"/>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3" name="Shape 453"/>
        <p:cNvGrpSpPr/>
        <p:nvPr/>
      </p:nvGrpSpPr>
      <p:grpSpPr>
        <a:xfrm>
          <a:off x="0" y="0"/>
          <a:ext cx="0" cy="0"/>
          <a:chOff x="0" y="0"/>
          <a:chExt cx="0" cy="0"/>
        </a:xfrm>
      </p:grpSpPr>
      <p:sp>
        <p:nvSpPr>
          <p:cNvPr id="454" name="Google Shape;454;p72"/>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ja"/>
              <a:t>成果のまとめ方</a:t>
            </a:r>
            <a:endParaRPr/>
          </a:p>
        </p:txBody>
      </p:sp>
      <p:sp>
        <p:nvSpPr>
          <p:cNvPr id="455" name="Google Shape;455;p72"/>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u="sng">
                <a:solidFill>
                  <a:schemeClr val="hlink"/>
                </a:solidFill>
                <a:hlinkClick r:id="rId3"/>
              </a:rPr>
              <a:t>Spreadsheet</a:t>
            </a:r>
            <a:r>
              <a:rPr lang="ja"/>
              <a:t> </a:t>
            </a:r>
            <a:r>
              <a:rPr lang="ja"/>
              <a:t>からスライドを作成</a:t>
            </a:r>
            <a:endParaRPr/>
          </a:p>
          <a:p>
            <a:pPr indent="-342900" lvl="0" marL="457200" rtl="0" algn="l">
              <a:spcBef>
                <a:spcPts val="0"/>
              </a:spcBef>
              <a:spcAft>
                <a:spcPts val="0"/>
              </a:spcAft>
              <a:buSzPts val="1800"/>
              <a:buChar char="●"/>
            </a:pPr>
            <a:r>
              <a:rPr lang="ja"/>
              <a:t>簡単に作成してみました</a:t>
            </a:r>
            <a:endParaRPr/>
          </a:p>
          <a:p>
            <a:pPr indent="-342900" lvl="0" marL="457200" rtl="0" algn="l">
              <a:spcBef>
                <a:spcPts val="0"/>
              </a:spcBef>
              <a:spcAft>
                <a:spcPts val="0"/>
              </a:spcAft>
              <a:buSzPts val="1800"/>
              <a:buChar char="●"/>
            </a:pPr>
            <a:r>
              <a:rPr lang="ja"/>
              <a:t>ブラッシュアップしていきたく</a:t>
            </a:r>
            <a:endParaRPr/>
          </a:p>
        </p:txBody>
      </p:sp>
      <p:sp>
        <p:nvSpPr>
          <p:cNvPr id="456" name="Google Shape;456;p72"/>
          <p:cNvSpPr/>
          <p:nvPr/>
        </p:nvSpPr>
        <p:spPr>
          <a:xfrm>
            <a:off x="4540050" y="2862900"/>
            <a:ext cx="2280600" cy="2280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2次</a:t>
            </a:r>
            <a:endParaRPr>
              <a:latin typeface="Open Sans"/>
              <a:ea typeface="Open Sans"/>
              <a:cs typeface="Open Sans"/>
              <a:sym typeface="Open Sans"/>
            </a:endParaRPr>
          </a:p>
        </p:txBody>
      </p:sp>
      <p:sp>
        <p:nvSpPr>
          <p:cNvPr id="457" name="Google Shape;457;p72"/>
          <p:cNvSpPr/>
          <p:nvPr/>
        </p:nvSpPr>
        <p:spPr>
          <a:xfrm>
            <a:off x="8051100" y="3611150"/>
            <a:ext cx="1092900" cy="10929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OSS</a:t>
            </a:r>
            <a:endParaRPr>
              <a:latin typeface="Open Sans"/>
              <a:ea typeface="Open Sans"/>
              <a:cs typeface="Open Sans"/>
              <a:sym typeface="Open Sans"/>
            </a:endParaRPr>
          </a:p>
        </p:txBody>
      </p:sp>
      <p:sp>
        <p:nvSpPr>
          <p:cNvPr id="458" name="Google Shape;458;p72"/>
          <p:cNvSpPr/>
          <p:nvPr/>
        </p:nvSpPr>
        <p:spPr>
          <a:xfrm>
            <a:off x="6072400" y="2862900"/>
            <a:ext cx="2280600" cy="2280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br>
              <a:rPr lang="ja">
                <a:latin typeface="Open Sans"/>
                <a:ea typeface="Open Sans"/>
                <a:cs typeface="Open Sans"/>
                <a:sym typeface="Open Sans"/>
              </a:rPr>
            </a:br>
            <a:r>
              <a:rPr lang="ja">
                <a:latin typeface="Open Sans"/>
                <a:ea typeface="Open Sans"/>
                <a:cs typeface="Open Sans"/>
                <a:sym typeface="Open Sans"/>
              </a:rPr>
              <a:t>1次</a:t>
            </a:r>
            <a:endParaRPr>
              <a:latin typeface="Open Sans"/>
              <a:ea typeface="Open Sans"/>
              <a:cs typeface="Open Sans"/>
              <a:sym typeface="Open Sans"/>
            </a:endParaRPr>
          </a:p>
        </p:txBody>
      </p:sp>
      <p:sp>
        <p:nvSpPr>
          <p:cNvPr id="459" name="Google Shape;459;p72"/>
          <p:cNvSpPr/>
          <p:nvPr/>
        </p:nvSpPr>
        <p:spPr>
          <a:xfrm>
            <a:off x="2746350" y="2862900"/>
            <a:ext cx="2280600" cy="2280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3次</a:t>
            </a:r>
            <a:endParaRPr>
              <a:latin typeface="Open Sans"/>
              <a:ea typeface="Open Sans"/>
              <a:cs typeface="Open Sans"/>
              <a:sym typeface="Open Sans"/>
            </a:endParaRPr>
          </a:p>
        </p:txBody>
      </p:sp>
      <p:sp>
        <p:nvSpPr>
          <p:cNvPr id="460" name="Google Shape;460;p72"/>
          <p:cNvSpPr/>
          <p:nvPr/>
        </p:nvSpPr>
        <p:spPr>
          <a:xfrm>
            <a:off x="5157750" y="1176125"/>
            <a:ext cx="2280600" cy="2280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2次</a:t>
            </a:r>
            <a:endParaRPr>
              <a:latin typeface="Open Sans"/>
              <a:ea typeface="Open Sans"/>
              <a:cs typeface="Open Sans"/>
              <a:sym typeface="Open Sans"/>
            </a:endParaRPr>
          </a:p>
        </p:txBody>
      </p:sp>
      <p:sp>
        <p:nvSpPr>
          <p:cNvPr id="461" name="Google Shape;461;p72"/>
          <p:cNvSpPr/>
          <p:nvPr/>
        </p:nvSpPr>
        <p:spPr>
          <a:xfrm>
            <a:off x="6336400" y="0"/>
            <a:ext cx="2280600" cy="2280600"/>
          </a:xfrm>
          <a:prstGeom prst="ellipse">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Open Sans"/>
                <a:ea typeface="Open Sans"/>
                <a:cs typeface="Open Sans"/>
                <a:sym typeface="Open Sans"/>
              </a:rPr>
              <a:t>ビジネス</a:t>
            </a:r>
            <a:endParaRPr>
              <a:latin typeface="Open Sans"/>
              <a:ea typeface="Open Sans"/>
              <a:cs typeface="Open Sans"/>
              <a:sym typeface="Open Sans"/>
            </a:endParaRPr>
          </a:p>
          <a:p>
            <a:pPr indent="0" lvl="0" marL="0" rtl="0" algn="ctr">
              <a:spcBef>
                <a:spcPts val="0"/>
              </a:spcBef>
              <a:spcAft>
                <a:spcPts val="0"/>
              </a:spcAft>
              <a:buNone/>
            </a:pPr>
            <a:r>
              <a:rPr lang="ja">
                <a:latin typeface="Open Sans"/>
                <a:ea typeface="Open Sans"/>
                <a:cs typeface="Open Sans"/>
                <a:sym typeface="Open Sans"/>
              </a:rPr>
              <a:t>3次</a:t>
            </a:r>
            <a:endParaRPr>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