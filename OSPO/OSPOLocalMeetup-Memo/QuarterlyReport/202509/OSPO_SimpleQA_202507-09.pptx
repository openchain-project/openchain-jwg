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Tahoma"/>
      <p:regular r:id="rId16"/>
      <p:bold r:id="rId17"/>
    </p:embeddedFont>
    <p:embeddedFont>
      <p:font typeface="Quattrocento Sans"/>
      <p:regular r:id="rId18"/>
      <p:bold r:id="rId19"/>
      <p:italic r:id="rId20"/>
      <p:boldItalic r:id="rId21"/>
    </p:embeddedFont>
    <p:embeddedFont>
      <p:font typeface="Open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QuattrocentoSans-italic.fntdata"/><Relationship Id="rId22" Type="http://schemas.openxmlformats.org/officeDocument/2006/relationships/font" Target="fonts/OpenSans-regular.fntdata"/><Relationship Id="rId21" Type="http://schemas.openxmlformats.org/officeDocument/2006/relationships/font" Target="fonts/QuattrocentoSans-boldItalic.fntdata"/><Relationship Id="rId24" Type="http://schemas.openxmlformats.org/officeDocument/2006/relationships/font" Target="fonts/OpenSans-italic.fntdata"/><Relationship Id="rId23"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Tahoma-bold.fntdata"/><Relationship Id="rId16" Type="http://schemas.openxmlformats.org/officeDocument/2006/relationships/font" Target="fonts/Tahoma-regular.fntdata"/><Relationship Id="rId19" Type="http://schemas.openxmlformats.org/officeDocument/2006/relationships/font" Target="fonts/QuattrocentoSans-bold.fntdata"/><Relationship Id="rId18" Type="http://schemas.openxmlformats.org/officeDocument/2006/relationships/font" Target="fonts/Quattrocento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35c0d7cfaa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 name="Google Shape;38;g35c0d7cfaa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6055ed00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6055ed00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6e9b96d9c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6e9b96d9c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771a78e2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771a78e2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771a78e22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771a78e22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80c79551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80c79551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80c795518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80c795518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0c795518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80c795518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0c795518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80c795518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80c795518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80c795518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page">
  <p:cSld name="Titlepage">
    <p:spTree>
      <p:nvGrpSpPr>
        <p:cNvPr id="6" name="Shape 6"/>
        <p:cNvGrpSpPr/>
        <p:nvPr/>
      </p:nvGrpSpPr>
      <p:grpSpPr>
        <a:xfrm>
          <a:off x="0" y="0"/>
          <a:ext cx="0" cy="0"/>
          <a:chOff x="0" y="0"/>
          <a:chExt cx="0" cy="0"/>
        </a:xfrm>
      </p:grpSpPr>
      <p:sp>
        <p:nvSpPr>
          <p:cNvPr id="7" name="Google Shape;7;p2"/>
          <p:cNvSpPr txBox="1"/>
          <p:nvPr>
            <p:ph type="ctrTitle"/>
          </p:nvPr>
        </p:nvSpPr>
        <p:spPr>
          <a:xfrm>
            <a:off x="524140" y="1352038"/>
            <a:ext cx="8095800" cy="1080300"/>
          </a:xfrm>
          <a:prstGeom prst="rect">
            <a:avLst/>
          </a:prstGeom>
          <a:noFill/>
          <a:ln>
            <a:noFill/>
          </a:ln>
        </p:spPr>
        <p:txBody>
          <a:bodyPr anchorCtr="0" anchor="b" bIns="0" lIns="19625" spcFirstLastPara="1" rIns="19625" wrap="square" tIns="0">
            <a:noAutofit/>
          </a:bodyPr>
          <a:lstStyle>
            <a:lvl1pPr lvl="0" marR="0" rtl="0" algn="l">
              <a:spcBef>
                <a:spcPts val="0"/>
              </a:spcBef>
              <a:spcAft>
                <a:spcPts val="0"/>
              </a:spcAft>
              <a:buSzPts val="1100"/>
              <a:buNone/>
              <a:defRPr b="0" i="0" sz="2000" u="none" cap="none" strike="noStrike">
                <a:solidFill>
                  <a:schemeClr val="dk1"/>
                </a:solidFill>
                <a:latin typeface="Quattrocento Sans"/>
                <a:ea typeface="Quattrocento Sans"/>
                <a:cs typeface="Quattrocento Sans"/>
                <a:sym typeface="Quattrocento Sans"/>
              </a:defRPr>
            </a:lvl1pPr>
            <a:lvl2pPr lvl="1" marR="0" rtl="0" algn="l">
              <a:spcBef>
                <a:spcPts val="0"/>
              </a:spcBef>
              <a:spcAft>
                <a:spcPts val="0"/>
              </a:spcAft>
              <a:buSzPts val="1100"/>
              <a:buNone/>
              <a:defRPr b="0" i="0" sz="1800" u="none" cap="none" strike="noStrike">
                <a:solidFill>
                  <a:schemeClr val="dk2"/>
                </a:solidFill>
                <a:latin typeface="Arial"/>
                <a:ea typeface="Arial"/>
                <a:cs typeface="Arial"/>
                <a:sym typeface="Arial"/>
              </a:defRPr>
            </a:lvl2pPr>
            <a:lvl3pPr lvl="2" marR="0" rtl="0" algn="l">
              <a:spcBef>
                <a:spcPts val="0"/>
              </a:spcBef>
              <a:spcAft>
                <a:spcPts val="0"/>
              </a:spcAft>
              <a:buSzPts val="1100"/>
              <a:buNone/>
              <a:defRPr b="0" i="0" sz="1800" u="none" cap="none" strike="noStrike">
                <a:solidFill>
                  <a:schemeClr val="dk2"/>
                </a:solidFill>
                <a:latin typeface="Arial"/>
                <a:ea typeface="Arial"/>
                <a:cs typeface="Arial"/>
                <a:sym typeface="Arial"/>
              </a:defRPr>
            </a:lvl3pPr>
            <a:lvl4pPr lvl="3" marR="0" rtl="0" algn="l">
              <a:spcBef>
                <a:spcPts val="0"/>
              </a:spcBef>
              <a:spcAft>
                <a:spcPts val="0"/>
              </a:spcAft>
              <a:buSzPts val="1100"/>
              <a:buNone/>
              <a:defRPr b="0" i="0" sz="1800" u="none" cap="none" strike="noStrike">
                <a:solidFill>
                  <a:schemeClr val="dk2"/>
                </a:solidFill>
                <a:latin typeface="Arial"/>
                <a:ea typeface="Arial"/>
                <a:cs typeface="Arial"/>
                <a:sym typeface="Arial"/>
              </a:defRPr>
            </a:lvl4pPr>
            <a:lvl5pPr lvl="4" marR="0" rtl="0" algn="l">
              <a:spcBef>
                <a:spcPts val="0"/>
              </a:spcBef>
              <a:spcAft>
                <a:spcPts val="0"/>
              </a:spcAft>
              <a:buSzPts val="1100"/>
              <a:buNone/>
              <a:defRPr b="0" i="0" sz="1800" u="none" cap="none" strike="noStrike">
                <a:solidFill>
                  <a:schemeClr val="dk2"/>
                </a:solidFill>
                <a:latin typeface="Arial"/>
                <a:ea typeface="Arial"/>
                <a:cs typeface="Arial"/>
                <a:sym typeface="Arial"/>
              </a:defRPr>
            </a:lvl5pPr>
            <a:lvl6pPr lvl="5" marR="0" rtl="0" algn="l">
              <a:spcBef>
                <a:spcPts val="0"/>
              </a:spcBef>
              <a:spcAft>
                <a:spcPts val="0"/>
              </a:spcAft>
              <a:buSzPts val="1100"/>
              <a:buNone/>
              <a:defRPr b="0" i="0" sz="2000" u="none" cap="none" strike="noStrike">
                <a:solidFill>
                  <a:schemeClr val="dk2"/>
                </a:solidFill>
                <a:latin typeface="Arial"/>
                <a:ea typeface="Arial"/>
                <a:cs typeface="Arial"/>
                <a:sym typeface="Arial"/>
              </a:defRPr>
            </a:lvl6pPr>
            <a:lvl7pPr lvl="6" marR="0" rtl="0" algn="l">
              <a:spcBef>
                <a:spcPts val="0"/>
              </a:spcBef>
              <a:spcAft>
                <a:spcPts val="0"/>
              </a:spcAft>
              <a:buSzPts val="1100"/>
              <a:buNone/>
              <a:defRPr b="0" i="0" sz="2000" u="none" cap="none" strike="noStrike">
                <a:solidFill>
                  <a:schemeClr val="dk2"/>
                </a:solidFill>
                <a:latin typeface="Arial"/>
                <a:ea typeface="Arial"/>
                <a:cs typeface="Arial"/>
                <a:sym typeface="Arial"/>
              </a:defRPr>
            </a:lvl7pPr>
            <a:lvl8pPr lvl="7" marR="0" rtl="0" algn="l">
              <a:spcBef>
                <a:spcPts val="0"/>
              </a:spcBef>
              <a:spcAft>
                <a:spcPts val="0"/>
              </a:spcAft>
              <a:buSzPts val="1100"/>
              <a:buNone/>
              <a:defRPr b="0" i="0" sz="2000" u="none" cap="none" strike="noStrike">
                <a:solidFill>
                  <a:schemeClr val="dk2"/>
                </a:solidFill>
                <a:latin typeface="Arial"/>
                <a:ea typeface="Arial"/>
                <a:cs typeface="Arial"/>
                <a:sym typeface="Arial"/>
              </a:defRPr>
            </a:lvl8pPr>
            <a:lvl9pPr lvl="8" marR="0" rtl="0" algn="l">
              <a:spcBef>
                <a:spcPts val="0"/>
              </a:spcBef>
              <a:spcAft>
                <a:spcPts val="0"/>
              </a:spcAft>
              <a:buSzPts val="1100"/>
              <a:buNone/>
              <a:defRPr b="0" i="0" sz="2000" u="none" cap="none" strike="noStrike">
                <a:solidFill>
                  <a:schemeClr val="dk2"/>
                </a:solidFill>
                <a:latin typeface="Arial"/>
                <a:ea typeface="Arial"/>
                <a:cs typeface="Arial"/>
                <a:sym typeface="Arial"/>
              </a:defRPr>
            </a:lvl9pPr>
          </a:lstStyle>
          <a:p/>
        </p:txBody>
      </p:sp>
      <p:sp>
        <p:nvSpPr>
          <p:cNvPr id="8" name="Google Shape;8;p2"/>
          <p:cNvSpPr txBox="1"/>
          <p:nvPr>
            <p:ph idx="1" type="subTitle"/>
          </p:nvPr>
        </p:nvSpPr>
        <p:spPr>
          <a:xfrm>
            <a:off x="524140" y="2696740"/>
            <a:ext cx="8095800" cy="810300"/>
          </a:xfrm>
          <a:prstGeom prst="rect">
            <a:avLst/>
          </a:prstGeom>
          <a:noFill/>
          <a:ln>
            <a:noFill/>
          </a:ln>
        </p:spPr>
        <p:txBody>
          <a:bodyPr anchorCtr="0" anchor="t" bIns="0" lIns="19625" spcFirstLastPara="1" rIns="19625" wrap="square" tIns="0">
            <a:noAutofit/>
          </a:bodyPr>
          <a:lstStyle>
            <a:lvl1pPr lvl="0" marR="0" rtl="0" algn="l">
              <a:spcBef>
                <a:spcPts val="300"/>
              </a:spcBef>
              <a:spcAft>
                <a:spcPts val="0"/>
              </a:spcAft>
              <a:buSzPts val="1100"/>
              <a:buNone/>
              <a:defRPr b="0" i="0" sz="1400" u="none" cap="none" strike="noStrike">
                <a:solidFill>
                  <a:schemeClr val="dk1"/>
                </a:solidFill>
                <a:latin typeface="Quattrocento Sans"/>
                <a:ea typeface="Quattrocento Sans"/>
                <a:cs typeface="Quattrocento Sans"/>
                <a:sym typeface="Quattrocento Sans"/>
              </a:defRPr>
            </a:lvl1pPr>
            <a:lvl2pPr lvl="1" marR="0" rtl="0" algn="l">
              <a:spcBef>
                <a:spcPts val="300"/>
              </a:spcBef>
              <a:spcAft>
                <a:spcPts val="0"/>
              </a:spcAft>
              <a:buClr>
                <a:schemeClr val="dk1"/>
              </a:buClr>
              <a:buSzPts val="1400"/>
              <a:buFont typeface="Quattrocento Sans"/>
              <a:buChar char="–"/>
              <a:defRPr b="0" i="0" sz="1400" u="none" cap="none" strike="noStrike">
                <a:solidFill>
                  <a:schemeClr val="dk1"/>
                </a:solidFill>
                <a:latin typeface="Quattrocento Sans"/>
                <a:ea typeface="Quattrocento Sans"/>
                <a:cs typeface="Quattrocento Sans"/>
                <a:sym typeface="Quattrocento Sans"/>
              </a:defRPr>
            </a:lvl2pPr>
            <a:lvl3pPr lvl="2" marR="0" rtl="0" algn="l">
              <a:spcBef>
                <a:spcPts val="300"/>
              </a:spcBef>
              <a:spcAft>
                <a:spcPts val="0"/>
              </a:spcAft>
              <a:buClr>
                <a:schemeClr val="dk1"/>
              </a:buClr>
              <a:buSzPts val="1400"/>
              <a:buFont typeface="Quattrocento Sans"/>
              <a:buChar char="•"/>
              <a:defRPr b="0" i="0" sz="1400" u="none" cap="none" strike="noStrike">
                <a:solidFill>
                  <a:schemeClr val="dk1"/>
                </a:solidFill>
                <a:latin typeface="Quattrocento Sans"/>
                <a:ea typeface="Quattrocento Sans"/>
                <a:cs typeface="Quattrocento Sans"/>
                <a:sym typeface="Quattrocento Sans"/>
              </a:defRPr>
            </a:lvl3pPr>
            <a:lvl4pPr lvl="3" marR="0" rtl="0" algn="l">
              <a:spcBef>
                <a:spcPts val="200"/>
              </a:spcBef>
              <a:spcAft>
                <a:spcPts val="0"/>
              </a:spcAft>
              <a:buSzPts val="1100"/>
              <a:buNone/>
              <a:defRPr b="0" i="0" sz="1100" u="none" cap="none" strike="noStrike">
                <a:solidFill>
                  <a:schemeClr val="dk1"/>
                </a:solidFill>
                <a:latin typeface="Quattrocento Sans"/>
                <a:ea typeface="Quattrocento Sans"/>
                <a:cs typeface="Quattrocento Sans"/>
                <a:sym typeface="Quattrocento Sans"/>
              </a:defRPr>
            </a:lvl4pPr>
            <a:lvl5pPr lvl="4" marR="0" rtl="0" algn="l">
              <a:spcBef>
                <a:spcPts val="200"/>
              </a:spcBef>
              <a:spcAft>
                <a:spcPts val="0"/>
              </a:spcAft>
              <a:buSzPts val="1100"/>
              <a:buNone/>
              <a:defRPr b="0" i="0" sz="1100" u="none" cap="none" strike="noStrike">
                <a:solidFill>
                  <a:schemeClr val="dk1"/>
                </a:solidFill>
                <a:latin typeface="Quattrocento Sans"/>
                <a:ea typeface="Quattrocento Sans"/>
                <a:cs typeface="Quattrocento Sans"/>
                <a:sym typeface="Quattrocento Sans"/>
              </a:defRPr>
            </a:lvl5pPr>
            <a:lvl6pPr lvl="5" marR="0" rtl="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6pPr>
            <a:lvl7pPr lvl="6" marR="0" rtl="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7pPr>
            <a:lvl8pPr lvl="7" marR="0" rtl="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8pPr>
            <a:lvl9pPr lvl="8" marR="0" rtl="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9pPr>
          </a:lstStyle>
          <a:p/>
        </p:txBody>
      </p:sp>
      <p:cxnSp>
        <p:nvCxnSpPr>
          <p:cNvPr id="9" name="Google Shape;9;p2"/>
          <p:cNvCxnSpPr/>
          <p:nvPr/>
        </p:nvCxnSpPr>
        <p:spPr>
          <a:xfrm>
            <a:off x="269860" y="2572346"/>
            <a:ext cx="8635500" cy="0"/>
          </a:xfrm>
          <a:prstGeom prst="straightConnector1">
            <a:avLst/>
          </a:prstGeom>
          <a:noFill/>
          <a:ln cap="flat" cmpd="sng" w="9525">
            <a:solidFill>
              <a:srgbClr val="333333"/>
            </a:solidFill>
            <a:prstDash val="solid"/>
            <a:round/>
            <a:headEnd len="sm" w="sm" type="none"/>
            <a:tailEnd len="sm" w="sm" type="none"/>
          </a:ln>
        </p:spPr>
      </p:cxnSp>
      <p:sp>
        <p:nvSpPr>
          <p:cNvPr id="10" name="Google Shape;10;p2"/>
          <p:cNvSpPr txBox="1"/>
          <p:nvPr/>
        </p:nvSpPr>
        <p:spPr>
          <a:xfrm>
            <a:off x="161918" y="4806000"/>
            <a:ext cx="48576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fld id="{00000000-1234-1234-1234-123412341234}" type="slidenum">
              <a:rPr b="1" i="0" lang="ja" sz="1200" u="none" cap="none" strike="noStrike">
                <a:solidFill>
                  <a:srgbClr val="7F7F7F"/>
                </a:solidFill>
                <a:latin typeface="Quattrocento Sans"/>
                <a:ea typeface="Quattrocento Sans"/>
                <a:cs typeface="Quattrocento Sans"/>
                <a:sym typeface="Quattrocento Sans"/>
              </a:rPr>
              <a:t>‹#›</a:t>
            </a:fld>
            <a:r>
              <a:rPr b="1" i="0" lang="ja" sz="1200" u="none" cap="none" strike="noStrike">
                <a:solidFill>
                  <a:srgbClr val="7F7F7F"/>
                </a:solidFill>
                <a:latin typeface="Quattrocento Sans"/>
                <a:ea typeface="Quattrocento Sans"/>
                <a:cs typeface="Quattrocento Sans"/>
                <a:sym typeface="Quattrocento Sans"/>
              </a:rPr>
              <a:t>  </a:t>
            </a:r>
            <a:r>
              <a:rPr b="0" i="0" lang="ja" sz="1200" u="none" cap="none" strike="noStrike">
                <a:solidFill>
                  <a:srgbClr val="7FD13B"/>
                </a:solidFill>
                <a:latin typeface="Open Sans"/>
                <a:ea typeface="Open Sans"/>
                <a:cs typeface="Open Sans"/>
                <a:sym typeface="Open Sans"/>
              </a:rPr>
              <a:t>▇</a:t>
            </a:r>
            <a:r>
              <a:rPr b="0" i="0" lang="ja" sz="1200" u="none" cap="none" strike="noStrike">
                <a:solidFill>
                  <a:srgbClr val="EA157A"/>
                </a:solidFill>
                <a:latin typeface="Open Sans"/>
                <a:ea typeface="Open Sans"/>
                <a:cs typeface="Open Sans"/>
                <a:sym typeface="Open Sans"/>
              </a:rPr>
              <a:t>▇</a:t>
            </a:r>
            <a:r>
              <a:rPr b="0" i="0" lang="ja" sz="1200" u="none" cap="none" strike="noStrike">
                <a:solidFill>
                  <a:srgbClr val="007DEA"/>
                </a:solidFill>
                <a:latin typeface="Open Sans"/>
                <a:ea typeface="Open Sans"/>
                <a:cs typeface="Open Sans"/>
                <a:sym typeface="Open Sans"/>
              </a:rPr>
              <a:t>▇</a:t>
            </a:r>
            <a:r>
              <a:rPr b="0" i="0" lang="ja" sz="1200" u="none" cap="none" strike="noStrike">
                <a:solidFill>
                  <a:srgbClr val="7FD13B"/>
                </a:solidFill>
                <a:latin typeface="Open Sans"/>
                <a:ea typeface="Open Sans"/>
                <a:cs typeface="Open Sans"/>
                <a:sym typeface="Open Sans"/>
              </a:rPr>
              <a:t> </a:t>
            </a:r>
            <a:r>
              <a:rPr b="0" i="0" lang="ja" sz="1200" u="none" cap="none" strike="noStrike">
                <a:solidFill>
                  <a:schemeClr val="dk1"/>
                </a:solidFill>
                <a:latin typeface="Open Sans"/>
                <a:ea typeface="Open Sans"/>
                <a:cs typeface="Open Sans"/>
                <a:sym typeface="Open Sans"/>
              </a:rPr>
              <a:t>The OpenChain project Japan work group / CC BY 4.0</a:t>
            </a:r>
            <a:endParaRPr b="0" i="0" sz="1200" u="none" cap="none" strike="noStrike">
              <a:solidFill>
                <a:srgbClr val="A5A5A5"/>
              </a:solidFill>
              <a:latin typeface="Open Sans"/>
              <a:ea typeface="Open Sans"/>
              <a:cs typeface="Open Sans"/>
              <a:sym typeface="Open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ddlePage_1_white">
  <p:cSld name="7_MiddlePage_1_white">
    <p:spTree>
      <p:nvGrpSpPr>
        <p:cNvPr id="11" name="Shape 11"/>
        <p:cNvGrpSpPr/>
        <p:nvPr/>
      </p:nvGrpSpPr>
      <p:grpSpPr>
        <a:xfrm>
          <a:off x="0" y="0"/>
          <a:ext cx="0" cy="0"/>
          <a:chOff x="0" y="0"/>
          <a:chExt cx="0" cy="0"/>
        </a:xfrm>
      </p:grpSpPr>
      <p:sp>
        <p:nvSpPr>
          <p:cNvPr id="12" name="Google Shape;12;p3"/>
          <p:cNvSpPr txBox="1"/>
          <p:nvPr>
            <p:ph type="title"/>
          </p:nvPr>
        </p:nvSpPr>
        <p:spPr>
          <a:xfrm>
            <a:off x="432000" y="34524"/>
            <a:ext cx="8280000" cy="59430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100"/>
              <a:buNone/>
              <a:defRPr b="0" i="0" sz="1800" u="none" cap="none" strike="noStrike">
                <a:solidFill>
                  <a:schemeClr val="dk1"/>
                </a:solidFill>
                <a:latin typeface="Tahoma"/>
                <a:ea typeface="Tahoma"/>
                <a:cs typeface="Tahoma"/>
                <a:sym typeface="Tahoma"/>
              </a:defRPr>
            </a:lvl1pPr>
            <a:lvl2pPr lvl="1" marR="0" rtl="0" algn="l">
              <a:spcBef>
                <a:spcPts val="0"/>
              </a:spcBef>
              <a:spcAft>
                <a:spcPts val="0"/>
              </a:spcAft>
              <a:buSzPts val="1100"/>
              <a:buNone/>
              <a:defRPr b="0" i="0" sz="1800" u="none" cap="none" strike="noStrike">
                <a:solidFill>
                  <a:schemeClr val="dk2"/>
                </a:solidFill>
                <a:latin typeface="Arial"/>
                <a:ea typeface="Arial"/>
                <a:cs typeface="Arial"/>
                <a:sym typeface="Arial"/>
              </a:defRPr>
            </a:lvl2pPr>
            <a:lvl3pPr lvl="2" marR="0" rtl="0" algn="l">
              <a:spcBef>
                <a:spcPts val="0"/>
              </a:spcBef>
              <a:spcAft>
                <a:spcPts val="0"/>
              </a:spcAft>
              <a:buSzPts val="1100"/>
              <a:buNone/>
              <a:defRPr b="0" i="0" sz="1800" u="none" cap="none" strike="noStrike">
                <a:solidFill>
                  <a:schemeClr val="dk2"/>
                </a:solidFill>
                <a:latin typeface="Arial"/>
                <a:ea typeface="Arial"/>
                <a:cs typeface="Arial"/>
                <a:sym typeface="Arial"/>
              </a:defRPr>
            </a:lvl3pPr>
            <a:lvl4pPr lvl="3" marR="0" rtl="0" algn="l">
              <a:spcBef>
                <a:spcPts val="0"/>
              </a:spcBef>
              <a:spcAft>
                <a:spcPts val="0"/>
              </a:spcAft>
              <a:buSzPts val="1100"/>
              <a:buNone/>
              <a:defRPr b="0" i="0" sz="1800" u="none" cap="none" strike="noStrike">
                <a:solidFill>
                  <a:schemeClr val="dk2"/>
                </a:solidFill>
                <a:latin typeface="Arial"/>
                <a:ea typeface="Arial"/>
                <a:cs typeface="Arial"/>
                <a:sym typeface="Arial"/>
              </a:defRPr>
            </a:lvl4pPr>
            <a:lvl5pPr lvl="4" marR="0" rtl="0" algn="l">
              <a:spcBef>
                <a:spcPts val="0"/>
              </a:spcBef>
              <a:spcAft>
                <a:spcPts val="0"/>
              </a:spcAft>
              <a:buSzPts val="1100"/>
              <a:buNone/>
              <a:defRPr b="0" i="0" sz="1800" u="none" cap="none" strike="noStrike">
                <a:solidFill>
                  <a:schemeClr val="dk2"/>
                </a:solidFill>
                <a:latin typeface="Arial"/>
                <a:ea typeface="Arial"/>
                <a:cs typeface="Arial"/>
                <a:sym typeface="Arial"/>
              </a:defRPr>
            </a:lvl5pPr>
            <a:lvl6pPr lvl="5" marR="0" rtl="0" algn="l">
              <a:spcBef>
                <a:spcPts val="0"/>
              </a:spcBef>
              <a:spcAft>
                <a:spcPts val="0"/>
              </a:spcAft>
              <a:buSzPts val="1100"/>
              <a:buNone/>
              <a:defRPr b="0" i="0" sz="2000" u="none" cap="none" strike="noStrike">
                <a:solidFill>
                  <a:schemeClr val="dk2"/>
                </a:solidFill>
                <a:latin typeface="Arial"/>
                <a:ea typeface="Arial"/>
                <a:cs typeface="Arial"/>
                <a:sym typeface="Arial"/>
              </a:defRPr>
            </a:lvl6pPr>
            <a:lvl7pPr lvl="6" marR="0" rtl="0" algn="l">
              <a:spcBef>
                <a:spcPts val="0"/>
              </a:spcBef>
              <a:spcAft>
                <a:spcPts val="0"/>
              </a:spcAft>
              <a:buSzPts val="1100"/>
              <a:buNone/>
              <a:defRPr b="0" i="0" sz="2000" u="none" cap="none" strike="noStrike">
                <a:solidFill>
                  <a:schemeClr val="dk2"/>
                </a:solidFill>
                <a:latin typeface="Arial"/>
                <a:ea typeface="Arial"/>
                <a:cs typeface="Arial"/>
                <a:sym typeface="Arial"/>
              </a:defRPr>
            </a:lvl7pPr>
            <a:lvl8pPr lvl="7" marR="0" rtl="0" algn="l">
              <a:spcBef>
                <a:spcPts val="0"/>
              </a:spcBef>
              <a:spcAft>
                <a:spcPts val="0"/>
              </a:spcAft>
              <a:buSzPts val="1100"/>
              <a:buNone/>
              <a:defRPr b="0" i="0" sz="2000" u="none" cap="none" strike="noStrike">
                <a:solidFill>
                  <a:schemeClr val="dk2"/>
                </a:solidFill>
                <a:latin typeface="Arial"/>
                <a:ea typeface="Arial"/>
                <a:cs typeface="Arial"/>
                <a:sym typeface="Arial"/>
              </a:defRPr>
            </a:lvl8pPr>
            <a:lvl9pPr lvl="8" marR="0" rtl="0" algn="l">
              <a:spcBef>
                <a:spcPts val="0"/>
              </a:spcBef>
              <a:spcAft>
                <a:spcPts val="0"/>
              </a:spcAft>
              <a:buSzPts val="1100"/>
              <a:buNone/>
              <a:defRPr b="0" i="0" sz="2000" u="none" cap="none" strike="noStrike">
                <a:solidFill>
                  <a:schemeClr val="dk2"/>
                </a:solidFill>
                <a:latin typeface="Arial"/>
                <a:ea typeface="Arial"/>
                <a:cs typeface="Arial"/>
                <a:sym typeface="Arial"/>
              </a:defRPr>
            </a:lvl9pPr>
          </a:lstStyle>
          <a:p/>
        </p:txBody>
      </p:sp>
      <p:cxnSp>
        <p:nvCxnSpPr>
          <p:cNvPr id="13" name="Google Shape;13;p3"/>
          <p:cNvCxnSpPr/>
          <p:nvPr/>
        </p:nvCxnSpPr>
        <p:spPr>
          <a:xfrm>
            <a:off x="269860" y="681698"/>
            <a:ext cx="8635500" cy="0"/>
          </a:xfrm>
          <a:prstGeom prst="straightConnector1">
            <a:avLst/>
          </a:prstGeom>
          <a:noFill/>
          <a:ln cap="flat" cmpd="sng" w="9525">
            <a:solidFill>
              <a:srgbClr val="333333"/>
            </a:solidFill>
            <a:prstDash val="solid"/>
            <a:round/>
            <a:headEnd len="sm" w="sm" type="none"/>
            <a:tailEnd len="sm" w="sm" type="none"/>
          </a:ln>
        </p:spPr>
      </p:cxnSp>
      <p:sp>
        <p:nvSpPr>
          <p:cNvPr id="14" name="Google Shape;14;p3"/>
          <p:cNvSpPr txBox="1"/>
          <p:nvPr/>
        </p:nvSpPr>
        <p:spPr>
          <a:xfrm>
            <a:off x="161918" y="4806000"/>
            <a:ext cx="48576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fld id="{00000000-1234-1234-1234-123412341234}" type="slidenum">
              <a:rPr b="1" i="0" lang="ja" sz="1200" u="none" cap="none" strike="noStrike">
                <a:solidFill>
                  <a:srgbClr val="7F7F7F"/>
                </a:solidFill>
                <a:latin typeface="Quattrocento Sans"/>
                <a:ea typeface="Quattrocento Sans"/>
                <a:cs typeface="Quattrocento Sans"/>
                <a:sym typeface="Quattrocento Sans"/>
              </a:rPr>
              <a:t>‹#›</a:t>
            </a:fld>
            <a:r>
              <a:rPr b="1" i="0" lang="ja" sz="1200" u="none" cap="none" strike="noStrike">
                <a:solidFill>
                  <a:srgbClr val="7F7F7F"/>
                </a:solidFill>
                <a:latin typeface="Quattrocento Sans"/>
                <a:ea typeface="Quattrocento Sans"/>
                <a:cs typeface="Quattrocento Sans"/>
                <a:sym typeface="Quattrocento Sans"/>
              </a:rPr>
              <a:t>  </a:t>
            </a:r>
            <a:r>
              <a:rPr b="0" i="0" lang="ja" sz="1200" u="none" cap="none" strike="noStrike">
                <a:solidFill>
                  <a:srgbClr val="7FD13B"/>
                </a:solidFill>
                <a:latin typeface="Open Sans"/>
                <a:ea typeface="Open Sans"/>
                <a:cs typeface="Open Sans"/>
                <a:sym typeface="Open Sans"/>
              </a:rPr>
              <a:t>▇</a:t>
            </a:r>
            <a:r>
              <a:rPr b="0" i="0" lang="ja" sz="1200" u="none" cap="none" strike="noStrike">
                <a:solidFill>
                  <a:srgbClr val="EA157A"/>
                </a:solidFill>
                <a:latin typeface="Open Sans"/>
                <a:ea typeface="Open Sans"/>
                <a:cs typeface="Open Sans"/>
                <a:sym typeface="Open Sans"/>
              </a:rPr>
              <a:t>▇</a:t>
            </a:r>
            <a:r>
              <a:rPr b="0" i="0" lang="ja" sz="1200" u="none" cap="none" strike="noStrike">
                <a:solidFill>
                  <a:srgbClr val="007DEA"/>
                </a:solidFill>
                <a:latin typeface="Open Sans"/>
                <a:ea typeface="Open Sans"/>
                <a:cs typeface="Open Sans"/>
                <a:sym typeface="Open Sans"/>
              </a:rPr>
              <a:t>▇</a:t>
            </a:r>
            <a:r>
              <a:rPr b="0" i="0" lang="ja" sz="1200" u="none" cap="none" strike="noStrike">
                <a:solidFill>
                  <a:srgbClr val="7FD13B"/>
                </a:solidFill>
                <a:latin typeface="Open Sans"/>
                <a:ea typeface="Open Sans"/>
                <a:cs typeface="Open Sans"/>
                <a:sym typeface="Open Sans"/>
              </a:rPr>
              <a:t> </a:t>
            </a:r>
            <a:r>
              <a:rPr b="0" i="0" lang="ja" sz="1200" u="none" cap="none" strike="noStrike">
                <a:solidFill>
                  <a:schemeClr val="dk1"/>
                </a:solidFill>
                <a:latin typeface="Open Sans"/>
                <a:ea typeface="Open Sans"/>
                <a:cs typeface="Open Sans"/>
                <a:sym typeface="Open Sans"/>
              </a:rPr>
              <a:t>The OpenChain project Japan work group / CC BY 4.0</a:t>
            </a:r>
            <a:endParaRPr b="0" i="0" sz="1200" u="none" cap="none" strike="noStrike">
              <a:solidFill>
                <a:srgbClr val="A5A5A5"/>
              </a:solidFill>
              <a:latin typeface="Open Sans"/>
              <a:ea typeface="Open Sans"/>
              <a:cs typeface="Open Sans"/>
              <a:sym typeface="Open Sans"/>
            </a:endParaRPr>
          </a:p>
        </p:txBody>
      </p:sp>
      <p:sp>
        <p:nvSpPr>
          <p:cNvPr id="15" name="Google Shape;15;p3"/>
          <p:cNvSpPr txBox="1"/>
          <p:nvPr/>
        </p:nvSpPr>
        <p:spPr>
          <a:xfrm>
            <a:off x="7114375" y="4778975"/>
            <a:ext cx="18945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ja" sz="1400" u="none" cap="none" strike="noStrike">
                <a:solidFill>
                  <a:schemeClr val="dk1"/>
                </a:solidFill>
                <a:latin typeface="Quattrocento Sans"/>
                <a:ea typeface="Quattrocento Sans"/>
                <a:cs typeface="Quattrocento Sans"/>
                <a:sym typeface="Quattrocento Sans"/>
              </a:rPr>
              <a:t>2022/</a:t>
            </a:r>
            <a:r>
              <a:rPr lang="ja">
                <a:solidFill>
                  <a:schemeClr val="dk1"/>
                </a:solidFill>
                <a:latin typeface="Quattrocento Sans"/>
                <a:ea typeface="Quattrocento Sans"/>
                <a:cs typeface="Quattrocento Sans"/>
                <a:sym typeface="Quattrocento Sans"/>
              </a:rPr>
              <a:t>3/31-</a:t>
            </a:r>
            <a:r>
              <a:rPr b="0" i="0" lang="ja" sz="1400" u="none" cap="none" strike="noStrike">
                <a:solidFill>
                  <a:schemeClr val="dk1"/>
                </a:solidFill>
                <a:latin typeface="Quattrocento Sans"/>
                <a:ea typeface="Quattrocento Sans"/>
                <a:cs typeface="Quattrocento Sans"/>
                <a:sym typeface="Quattrocento Sans"/>
              </a:rPr>
              <a:t>4/</a:t>
            </a:r>
            <a:r>
              <a:rPr lang="ja">
                <a:solidFill>
                  <a:schemeClr val="dk1"/>
                </a:solidFill>
                <a:latin typeface="Quattrocento Sans"/>
                <a:ea typeface="Quattrocento Sans"/>
                <a:cs typeface="Quattrocento Sans"/>
                <a:sym typeface="Quattrocento Sans"/>
              </a:rPr>
              <a:t>30調査</a:t>
            </a:r>
            <a:endParaRPr sz="11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ddlePage_1_white　CC-BY">
  <p:cSld name="6_MiddlePage_1_white">
    <p:spTree>
      <p:nvGrpSpPr>
        <p:cNvPr id="16" name="Shape 16"/>
        <p:cNvGrpSpPr/>
        <p:nvPr/>
      </p:nvGrpSpPr>
      <p:grpSpPr>
        <a:xfrm>
          <a:off x="0" y="0"/>
          <a:ext cx="0" cy="0"/>
          <a:chOff x="0" y="0"/>
          <a:chExt cx="0" cy="0"/>
        </a:xfrm>
      </p:grpSpPr>
      <p:sp>
        <p:nvSpPr>
          <p:cNvPr id="17" name="Google Shape;17;p4"/>
          <p:cNvSpPr txBox="1"/>
          <p:nvPr>
            <p:ph type="title"/>
          </p:nvPr>
        </p:nvSpPr>
        <p:spPr>
          <a:xfrm>
            <a:off x="432000" y="34524"/>
            <a:ext cx="8280000" cy="59430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100"/>
              <a:buNone/>
              <a:defRPr b="0" i="0" sz="1800" u="none" cap="none" strike="noStrike">
                <a:solidFill>
                  <a:schemeClr val="dk1"/>
                </a:solidFill>
                <a:latin typeface="Tahoma"/>
                <a:ea typeface="Tahoma"/>
                <a:cs typeface="Tahoma"/>
                <a:sym typeface="Tahoma"/>
              </a:defRPr>
            </a:lvl1pPr>
            <a:lvl2pPr lvl="1" marR="0" rtl="0" algn="l">
              <a:spcBef>
                <a:spcPts val="0"/>
              </a:spcBef>
              <a:spcAft>
                <a:spcPts val="0"/>
              </a:spcAft>
              <a:buSzPts val="1100"/>
              <a:buNone/>
              <a:defRPr b="0" i="0" sz="1800" u="none" cap="none" strike="noStrike">
                <a:solidFill>
                  <a:schemeClr val="dk2"/>
                </a:solidFill>
                <a:latin typeface="Arial"/>
                <a:ea typeface="Arial"/>
                <a:cs typeface="Arial"/>
                <a:sym typeface="Arial"/>
              </a:defRPr>
            </a:lvl2pPr>
            <a:lvl3pPr lvl="2" marR="0" rtl="0" algn="l">
              <a:spcBef>
                <a:spcPts val="0"/>
              </a:spcBef>
              <a:spcAft>
                <a:spcPts val="0"/>
              </a:spcAft>
              <a:buSzPts val="1100"/>
              <a:buNone/>
              <a:defRPr b="0" i="0" sz="1800" u="none" cap="none" strike="noStrike">
                <a:solidFill>
                  <a:schemeClr val="dk2"/>
                </a:solidFill>
                <a:latin typeface="Arial"/>
                <a:ea typeface="Arial"/>
                <a:cs typeface="Arial"/>
                <a:sym typeface="Arial"/>
              </a:defRPr>
            </a:lvl3pPr>
            <a:lvl4pPr lvl="3" marR="0" rtl="0" algn="l">
              <a:spcBef>
                <a:spcPts val="0"/>
              </a:spcBef>
              <a:spcAft>
                <a:spcPts val="0"/>
              </a:spcAft>
              <a:buSzPts val="1100"/>
              <a:buNone/>
              <a:defRPr b="0" i="0" sz="1800" u="none" cap="none" strike="noStrike">
                <a:solidFill>
                  <a:schemeClr val="dk2"/>
                </a:solidFill>
                <a:latin typeface="Arial"/>
                <a:ea typeface="Arial"/>
                <a:cs typeface="Arial"/>
                <a:sym typeface="Arial"/>
              </a:defRPr>
            </a:lvl4pPr>
            <a:lvl5pPr lvl="4" marR="0" rtl="0" algn="l">
              <a:spcBef>
                <a:spcPts val="0"/>
              </a:spcBef>
              <a:spcAft>
                <a:spcPts val="0"/>
              </a:spcAft>
              <a:buSzPts val="1100"/>
              <a:buNone/>
              <a:defRPr b="0" i="0" sz="1800" u="none" cap="none" strike="noStrike">
                <a:solidFill>
                  <a:schemeClr val="dk2"/>
                </a:solidFill>
                <a:latin typeface="Arial"/>
                <a:ea typeface="Arial"/>
                <a:cs typeface="Arial"/>
                <a:sym typeface="Arial"/>
              </a:defRPr>
            </a:lvl5pPr>
            <a:lvl6pPr lvl="5" marR="0" rtl="0" algn="l">
              <a:spcBef>
                <a:spcPts val="0"/>
              </a:spcBef>
              <a:spcAft>
                <a:spcPts val="0"/>
              </a:spcAft>
              <a:buSzPts val="1100"/>
              <a:buNone/>
              <a:defRPr b="0" i="0" sz="2000" u="none" cap="none" strike="noStrike">
                <a:solidFill>
                  <a:schemeClr val="dk2"/>
                </a:solidFill>
                <a:latin typeface="Arial"/>
                <a:ea typeface="Arial"/>
                <a:cs typeface="Arial"/>
                <a:sym typeface="Arial"/>
              </a:defRPr>
            </a:lvl6pPr>
            <a:lvl7pPr lvl="6" marR="0" rtl="0" algn="l">
              <a:spcBef>
                <a:spcPts val="0"/>
              </a:spcBef>
              <a:spcAft>
                <a:spcPts val="0"/>
              </a:spcAft>
              <a:buSzPts val="1100"/>
              <a:buNone/>
              <a:defRPr b="0" i="0" sz="2000" u="none" cap="none" strike="noStrike">
                <a:solidFill>
                  <a:schemeClr val="dk2"/>
                </a:solidFill>
                <a:latin typeface="Arial"/>
                <a:ea typeface="Arial"/>
                <a:cs typeface="Arial"/>
                <a:sym typeface="Arial"/>
              </a:defRPr>
            </a:lvl7pPr>
            <a:lvl8pPr lvl="7" marR="0" rtl="0" algn="l">
              <a:spcBef>
                <a:spcPts val="0"/>
              </a:spcBef>
              <a:spcAft>
                <a:spcPts val="0"/>
              </a:spcAft>
              <a:buSzPts val="1100"/>
              <a:buNone/>
              <a:defRPr b="0" i="0" sz="2000" u="none" cap="none" strike="noStrike">
                <a:solidFill>
                  <a:schemeClr val="dk2"/>
                </a:solidFill>
                <a:latin typeface="Arial"/>
                <a:ea typeface="Arial"/>
                <a:cs typeface="Arial"/>
                <a:sym typeface="Arial"/>
              </a:defRPr>
            </a:lvl8pPr>
            <a:lvl9pPr lvl="8" marR="0" rtl="0" algn="l">
              <a:spcBef>
                <a:spcPts val="0"/>
              </a:spcBef>
              <a:spcAft>
                <a:spcPts val="0"/>
              </a:spcAft>
              <a:buSzPts val="1100"/>
              <a:buNone/>
              <a:defRPr b="0" i="0" sz="2000" u="none" cap="none" strike="noStrike">
                <a:solidFill>
                  <a:schemeClr val="dk2"/>
                </a:solidFill>
                <a:latin typeface="Arial"/>
                <a:ea typeface="Arial"/>
                <a:cs typeface="Arial"/>
                <a:sym typeface="Arial"/>
              </a:defRPr>
            </a:lvl9pPr>
          </a:lstStyle>
          <a:p/>
        </p:txBody>
      </p:sp>
      <p:sp>
        <p:nvSpPr>
          <p:cNvPr id="18" name="Google Shape;18;p4"/>
          <p:cNvSpPr txBox="1"/>
          <p:nvPr>
            <p:ph idx="1" type="body"/>
          </p:nvPr>
        </p:nvSpPr>
        <p:spPr>
          <a:xfrm>
            <a:off x="432000" y="792368"/>
            <a:ext cx="8280000" cy="3835800"/>
          </a:xfrm>
          <a:prstGeom prst="rect">
            <a:avLst/>
          </a:prstGeom>
          <a:noFill/>
          <a:ln>
            <a:noFill/>
          </a:ln>
        </p:spPr>
        <p:txBody>
          <a:bodyPr anchorCtr="0" anchor="t" bIns="24875" lIns="49625" spcFirstLastPara="1" rIns="49625" wrap="square" tIns="24875">
            <a:noAutofit/>
          </a:bodyPr>
          <a:lstStyle>
            <a:lvl1pPr indent="-342900" lvl="0" marL="457200" marR="0" rtl="0" algn="l">
              <a:spcBef>
                <a:spcPts val="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1pPr>
            <a:lvl2pPr indent="-323850" lvl="1" marL="914400" marR="0" rtl="0" algn="l">
              <a:spcBef>
                <a:spcPts val="0"/>
              </a:spcBef>
              <a:spcAft>
                <a:spcPts val="0"/>
              </a:spcAft>
              <a:buClr>
                <a:schemeClr val="dk1"/>
              </a:buClr>
              <a:buSzPts val="1500"/>
              <a:buFont typeface="Arial"/>
              <a:buChar char="•"/>
              <a:defRPr b="0" i="0" sz="1500" u="none" cap="none" strike="noStrike">
                <a:solidFill>
                  <a:schemeClr val="dk1"/>
                </a:solidFill>
                <a:latin typeface="Quattrocento Sans"/>
                <a:ea typeface="Quattrocento Sans"/>
                <a:cs typeface="Quattrocento Sans"/>
                <a:sym typeface="Quattrocento Sans"/>
              </a:defRPr>
            </a:lvl2pPr>
            <a:lvl3pPr indent="-304800" lvl="2" marL="1371600" marR="0" rtl="0" algn="l">
              <a:spcBef>
                <a:spcPts val="0"/>
              </a:spcBef>
              <a:spcAft>
                <a:spcPts val="0"/>
              </a:spcAft>
              <a:buClr>
                <a:schemeClr val="dk1"/>
              </a:buClr>
              <a:buSzPts val="1200"/>
              <a:buFont typeface="Arial"/>
              <a:buChar char="•"/>
              <a:defRPr b="0" i="0" sz="1200" u="none" cap="none" strike="noStrike">
                <a:solidFill>
                  <a:schemeClr val="dk1"/>
                </a:solidFill>
                <a:latin typeface="Quattrocento Sans"/>
                <a:ea typeface="Quattrocento Sans"/>
                <a:cs typeface="Quattrocento Sans"/>
                <a:sym typeface="Quattrocento Sans"/>
              </a:defRPr>
            </a:lvl3pPr>
            <a:lvl4pPr indent="-298450" lvl="3" marL="1828800" marR="0" rtl="0" algn="l">
              <a:spcBef>
                <a:spcPts val="0"/>
              </a:spcBef>
              <a:spcAft>
                <a:spcPts val="0"/>
              </a:spcAft>
              <a:buClr>
                <a:schemeClr val="dk1"/>
              </a:buClr>
              <a:buSzPts val="1100"/>
              <a:buFont typeface="Arial"/>
              <a:buChar char="•"/>
              <a:defRPr b="0" i="0" sz="1100" u="none" cap="none" strike="noStrike">
                <a:solidFill>
                  <a:schemeClr val="dk1"/>
                </a:solidFill>
                <a:latin typeface="Quattrocento Sans"/>
                <a:ea typeface="Quattrocento Sans"/>
                <a:cs typeface="Quattrocento Sans"/>
                <a:sym typeface="Quattrocento Sans"/>
              </a:defRPr>
            </a:lvl4pPr>
            <a:lvl5pPr indent="-298450" lvl="4" marL="2286000" marR="0" rtl="0" algn="l">
              <a:spcBef>
                <a:spcPts val="0"/>
              </a:spcBef>
              <a:spcAft>
                <a:spcPts val="0"/>
              </a:spcAft>
              <a:buClr>
                <a:schemeClr val="dk1"/>
              </a:buClr>
              <a:buSzPts val="1100"/>
              <a:buFont typeface="Arial"/>
              <a:buChar char="•"/>
              <a:defRPr b="0" i="0" sz="1100" u="none" cap="none" strike="noStrike">
                <a:solidFill>
                  <a:schemeClr val="dk1"/>
                </a:solidFill>
                <a:latin typeface="Quattrocento Sans"/>
                <a:ea typeface="Quattrocento Sans"/>
                <a:cs typeface="Quattrocento Sans"/>
                <a:sym typeface="Quattrocento Sans"/>
              </a:defRPr>
            </a:lvl5pPr>
            <a:lvl6pPr indent="-298450" lvl="5" marL="2743200" marR="0" rtl="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6pPr>
            <a:lvl7pPr indent="-298450" lvl="6" marL="3200400" marR="0" rtl="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7pPr>
            <a:lvl8pPr indent="-298450" lvl="7" marL="3657600" marR="0" rtl="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8pPr>
            <a:lvl9pPr indent="-298450" lvl="8" marL="4114800" marR="0" rtl="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9pPr>
          </a:lstStyle>
          <a:p/>
        </p:txBody>
      </p:sp>
      <p:cxnSp>
        <p:nvCxnSpPr>
          <p:cNvPr id="19" name="Google Shape;19;p4"/>
          <p:cNvCxnSpPr/>
          <p:nvPr/>
        </p:nvCxnSpPr>
        <p:spPr>
          <a:xfrm>
            <a:off x="269860" y="681698"/>
            <a:ext cx="8635500" cy="0"/>
          </a:xfrm>
          <a:prstGeom prst="straightConnector1">
            <a:avLst/>
          </a:prstGeom>
          <a:noFill/>
          <a:ln cap="flat" cmpd="sng" w="9525">
            <a:solidFill>
              <a:srgbClr val="333333"/>
            </a:solidFill>
            <a:prstDash val="solid"/>
            <a:round/>
            <a:headEnd len="sm" w="sm" type="none"/>
            <a:tailEnd len="sm" w="sm" type="none"/>
          </a:ln>
        </p:spPr>
      </p:cxnSp>
      <p:sp>
        <p:nvSpPr>
          <p:cNvPr id="20" name="Google Shape;20;p4"/>
          <p:cNvSpPr txBox="1"/>
          <p:nvPr/>
        </p:nvSpPr>
        <p:spPr>
          <a:xfrm>
            <a:off x="161918" y="4806000"/>
            <a:ext cx="48576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fld id="{00000000-1234-1234-1234-123412341234}" type="slidenum">
              <a:rPr b="1" lang="ja" sz="1200">
                <a:solidFill>
                  <a:srgbClr val="7F7F7F"/>
                </a:solidFill>
                <a:latin typeface="Quattrocento Sans"/>
                <a:ea typeface="Quattrocento Sans"/>
                <a:cs typeface="Quattrocento Sans"/>
                <a:sym typeface="Quattrocento Sans"/>
              </a:rPr>
              <a:t>‹#›</a:t>
            </a:fld>
            <a:r>
              <a:rPr b="1" lang="ja" sz="1200">
                <a:solidFill>
                  <a:srgbClr val="7F7F7F"/>
                </a:solidFill>
                <a:latin typeface="Quattrocento Sans"/>
                <a:ea typeface="Quattrocento Sans"/>
                <a:cs typeface="Quattrocento Sans"/>
                <a:sym typeface="Quattrocento Sans"/>
              </a:rPr>
              <a:t>  </a:t>
            </a:r>
            <a:r>
              <a:rPr lang="ja" sz="1200">
                <a:solidFill>
                  <a:srgbClr val="7FD13B"/>
                </a:solidFill>
                <a:latin typeface="Open Sans"/>
                <a:ea typeface="Open Sans"/>
                <a:cs typeface="Open Sans"/>
                <a:sym typeface="Open Sans"/>
              </a:rPr>
              <a:t>▇</a:t>
            </a:r>
            <a:r>
              <a:rPr lang="ja" sz="1200">
                <a:solidFill>
                  <a:srgbClr val="EA157A"/>
                </a:solidFill>
                <a:latin typeface="Open Sans"/>
                <a:ea typeface="Open Sans"/>
                <a:cs typeface="Open Sans"/>
                <a:sym typeface="Open Sans"/>
              </a:rPr>
              <a:t>▇</a:t>
            </a:r>
            <a:r>
              <a:rPr lang="ja" sz="1200">
                <a:solidFill>
                  <a:srgbClr val="007DEA"/>
                </a:solidFill>
                <a:latin typeface="Open Sans"/>
                <a:ea typeface="Open Sans"/>
                <a:cs typeface="Open Sans"/>
                <a:sym typeface="Open Sans"/>
              </a:rPr>
              <a:t>▇</a:t>
            </a:r>
            <a:r>
              <a:rPr lang="ja" sz="1200">
                <a:solidFill>
                  <a:srgbClr val="7FD13B"/>
                </a:solidFill>
                <a:latin typeface="Open Sans"/>
                <a:ea typeface="Open Sans"/>
                <a:cs typeface="Open Sans"/>
                <a:sym typeface="Open Sans"/>
              </a:rPr>
              <a:t> </a:t>
            </a:r>
            <a:r>
              <a:rPr lang="ja" sz="1200">
                <a:solidFill>
                  <a:schemeClr val="dk1"/>
                </a:solidFill>
                <a:latin typeface="Open Sans"/>
                <a:ea typeface="Open Sans"/>
                <a:cs typeface="Open Sans"/>
                <a:sym typeface="Open Sans"/>
              </a:rPr>
              <a:t>The OpenChain project Japan work group / CC BY 4.0</a:t>
            </a:r>
            <a:r>
              <a:rPr lang="ja" sz="1200">
                <a:solidFill>
                  <a:srgbClr val="7FD13B"/>
                </a:solidFill>
                <a:latin typeface="Open Sans"/>
                <a:ea typeface="Open Sans"/>
                <a:cs typeface="Open Sans"/>
                <a:sym typeface="Open Sans"/>
              </a:rPr>
              <a:t> </a:t>
            </a:r>
            <a:endParaRPr sz="1200">
              <a:solidFill>
                <a:srgbClr val="A5A5A5"/>
              </a:solidFill>
              <a:latin typeface="Open Sans"/>
              <a:ea typeface="Open Sans"/>
              <a:cs typeface="Open Sans"/>
              <a:sym typeface="Open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
  <p:cSld name="ユーザー設定レイアウト">
    <p:spTree>
      <p:nvGrpSpPr>
        <p:cNvPr id="21" name="Shape 2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ddlePage_1_white　CC0">
  <p:cSld name="8_MiddlePage_1_white">
    <p:spTree>
      <p:nvGrpSpPr>
        <p:cNvPr id="22" name="Shape 22"/>
        <p:cNvGrpSpPr/>
        <p:nvPr/>
      </p:nvGrpSpPr>
      <p:grpSpPr>
        <a:xfrm>
          <a:off x="0" y="0"/>
          <a:ext cx="0" cy="0"/>
          <a:chOff x="0" y="0"/>
          <a:chExt cx="0" cy="0"/>
        </a:xfrm>
      </p:grpSpPr>
      <p:sp>
        <p:nvSpPr>
          <p:cNvPr id="23" name="Google Shape;23;p6"/>
          <p:cNvSpPr txBox="1"/>
          <p:nvPr>
            <p:ph type="title"/>
          </p:nvPr>
        </p:nvSpPr>
        <p:spPr>
          <a:xfrm>
            <a:off x="432000" y="34524"/>
            <a:ext cx="8280000" cy="59430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100"/>
              <a:buNone/>
              <a:defRPr b="0" i="0" sz="1800" u="none" cap="none" strike="noStrike">
                <a:solidFill>
                  <a:schemeClr val="dk1"/>
                </a:solidFill>
                <a:latin typeface="Tahoma"/>
                <a:ea typeface="Tahoma"/>
                <a:cs typeface="Tahoma"/>
                <a:sym typeface="Tahoma"/>
              </a:defRPr>
            </a:lvl1pPr>
            <a:lvl2pPr lvl="1" marR="0" rtl="0" algn="l">
              <a:spcBef>
                <a:spcPts val="0"/>
              </a:spcBef>
              <a:spcAft>
                <a:spcPts val="0"/>
              </a:spcAft>
              <a:buSzPts val="1100"/>
              <a:buNone/>
              <a:defRPr b="0" i="0" sz="1800" u="none" cap="none" strike="noStrike">
                <a:solidFill>
                  <a:schemeClr val="dk2"/>
                </a:solidFill>
                <a:latin typeface="Arial"/>
                <a:ea typeface="Arial"/>
                <a:cs typeface="Arial"/>
                <a:sym typeface="Arial"/>
              </a:defRPr>
            </a:lvl2pPr>
            <a:lvl3pPr lvl="2" marR="0" rtl="0" algn="l">
              <a:spcBef>
                <a:spcPts val="0"/>
              </a:spcBef>
              <a:spcAft>
                <a:spcPts val="0"/>
              </a:spcAft>
              <a:buSzPts val="1100"/>
              <a:buNone/>
              <a:defRPr b="0" i="0" sz="1800" u="none" cap="none" strike="noStrike">
                <a:solidFill>
                  <a:schemeClr val="dk2"/>
                </a:solidFill>
                <a:latin typeface="Arial"/>
                <a:ea typeface="Arial"/>
                <a:cs typeface="Arial"/>
                <a:sym typeface="Arial"/>
              </a:defRPr>
            </a:lvl3pPr>
            <a:lvl4pPr lvl="3" marR="0" rtl="0" algn="l">
              <a:spcBef>
                <a:spcPts val="0"/>
              </a:spcBef>
              <a:spcAft>
                <a:spcPts val="0"/>
              </a:spcAft>
              <a:buSzPts val="1100"/>
              <a:buNone/>
              <a:defRPr b="0" i="0" sz="1800" u="none" cap="none" strike="noStrike">
                <a:solidFill>
                  <a:schemeClr val="dk2"/>
                </a:solidFill>
                <a:latin typeface="Arial"/>
                <a:ea typeface="Arial"/>
                <a:cs typeface="Arial"/>
                <a:sym typeface="Arial"/>
              </a:defRPr>
            </a:lvl4pPr>
            <a:lvl5pPr lvl="4" marR="0" rtl="0" algn="l">
              <a:spcBef>
                <a:spcPts val="0"/>
              </a:spcBef>
              <a:spcAft>
                <a:spcPts val="0"/>
              </a:spcAft>
              <a:buSzPts val="1100"/>
              <a:buNone/>
              <a:defRPr b="0" i="0" sz="1800" u="none" cap="none" strike="noStrike">
                <a:solidFill>
                  <a:schemeClr val="dk2"/>
                </a:solidFill>
                <a:latin typeface="Arial"/>
                <a:ea typeface="Arial"/>
                <a:cs typeface="Arial"/>
                <a:sym typeface="Arial"/>
              </a:defRPr>
            </a:lvl5pPr>
            <a:lvl6pPr lvl="5" marR="0" rtl="0" algn="l">
              <a:spcBef>
                <a:spcPts val="0"/>
              </a:spcBef>
              <a:spcAft>
                <a:spcPts val="0"/>
              </a:spcAft>
              <a:buSzPts val="1100"/>
              <a:buNone/>
              <a:defRPr b="0" i="0" sz="2000" u="none" cap="none" strike="noStrike">
                <a:solidFill>
                  <a:schemeClr val="dk2"/>
                </a:solidFill>
                <a:latin typeface="Arial"/>
                <a:ea typeface="Arial"/>
                <a:cs typeface="Arial"/>
                <a:sym typeface="Arial"/>
              </a:defRPr>
            </a:lvl6pPr>
            <a:lvl7pPr lvl="6" marR="0" rtl="0" algn="l">
              <a:spcBef>
                <a:spcPts val="0"/>
              </a:spcBef>
              <a:spcAft>
                <a:spcPts val="0"/>
              </a:spcAft>
              <a:buSzPts val="1100"/>
              <a:buNone/>
              <a:defRPr b="0" i="0" sz="2000" u="none" cap="none" strike="noStrike">
                <a:solidFill>
                  <a:schemeClr val="dk2"/>
                </a:solidFill>
                <a:latin typeface="Arial"/>
                <a:ea typeface="Arial"/>
                <a:cs typeface="Arial"/>
                <a:sym typeface="Arial"/>
              </a:defRPr>
            </a:lvl7pPr>
            <a:lvl8pPr lvl="7" marR="0" rtl="0" algn="l">
              <a:spcBef>
                <a:spcPts val="0"/>
              </a:spcBef>
              <a:spcAft>
                <a:spcPts val="0"/>
              </a:spcAft>
              <a:buSzPts val="1100"/>
              <a:buNone/>
              <a:defRPr b="0" i="0" sz="2000" u="none" cap="none" strike="noStrike">
                <a:solidFill>
                  <a:schemeClr val="dk2"/>
                </a:solidFill>
                <a:latin typeface="Arial"/>
                <a:ea typeface="Arial"/>
                <a:cs typeface="Arial"/>
                <a:sym typeface="Arial"/>
              </a:defRPr>
            </a:lvl8pPr>
            <a:lvl9pPr lvl="8" marR="0" rtl="0" algn="l">
              <a:spcBef>
                <a:spcPts val="0"/>
              </a:spcBef>
              <a:spcAft>
                <a:spcPts val="0"/>
              </a:spcAft>
              <a:buSzPts val="1100"/>
              <a:buNone/>
              <a:defRPr b="0" i="0" sz="2000" u="none" cap="none" strike="noStrike">
                <a:solidFill>
                  <a:schemeClr val="dk2"/>
                </a:solidFill>
                <a:latin typeface="Arial"/>
                <a:ea typeface="Arial"/>
                <a:cs typeface="Arial"/>
                <a:sym typeface="Arial"/>
              </a:defRPr>
            </a:lvl9pPr>
          </a:lstStyle>
          <a:p/>
        </p:txBody>
      </p:sp>
      <p:cxnSp>
        <p:nvCxnSpPr>
          <p:cNvPr id="24" name="Google Shape;24;p6"/>
          <p:cNvCxnSpPr/>
          <p:nvPr/>
        </p:nvCxnSpPr>
        <p:spPr>
          <a:xfrm>
            <a:off x="269860" y="681698"/>
            <a:ext cx="8635500" cy="0"/>
          </a:xfrm>
          <a:prstGeom prst="straightConnector1">
            <a:avLst/>
          </a:prstGeom>
          <a:noFill/>
          <a:ln cap="flat" cmpd="sng" w="9525">
            <a:solidFill>
              <a:srgbClr val="333333"/>
            </a:solidFill>
            <a:prstDash val="solid"/>
            <a:round/>
            <a:headEnd len="sm" w="sm" type="none"/>
            <a:tailEnd len="sm" w="sm" type="none"/>
          </a:ln>
        </p:spPr>
      </p:cxnSp>
      <p:sp>
        <p:nvSpPr>
          <p:cNvPr id="25" name="Google Shape;25;p6"/>
          <p:cNvSpPr/>
          <p:nvPr/>
        </p:nvSpPr>
        <p:spPr>
          <a:xfrm>
            <a:off x="8382000" y="4883214"/>
            <a:ext cx="108300" cy="10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ja" sz="900">
                <a:solidFill>
                  <a:srgbClr val="FFFFFF"/>
                </a:solidFill>
                <a:latin typeface="Quattrocento Sans"/>
                <a:ea typeface="Quattrocento Sans"/>
                <a:cs typeface="Quattrocento Sans"/>
                <a:sym typeface="Quattrocento Sans"/>
              </a:rPr>
              <a:t>CONFIDENTIAL</a:t>
            </a:r>
            <a:endParaRPr sz="1100"/>
          </a:p>
        </p:txBody>
      </p:sp>
      <p:sp>
        <p:nvSpPr>
          <p:cNvPr id="26" name="Google Shape;26;p6"/>
          <p:cNvSpPr txBox="1"/>
          <p:nvPr/>
        </p:nvSpPr>
        <p:spPr>
          <a:xfrm>
            <a:off x="161918" y="4806000"/>
            <a:ext cx="48576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fld id="{00000000-1234-1234-1234-123412341234}" type="slidenum">
              <a:rPr b="1" lang="ja" sz="1300">
                <a:solidFill>
                  <a:srgbClr val="7F7F7F"/>
                </a:solidFill>
                <a:latin typeface="Quattrocento Sans"/>
                <a:ea typeface="Quattrocento Sans"/>
                <a:cs typeface="Quattrocento Sans"/>
                <a:sym typeface="Quattrocento Sans"/>
              </a:rPr>
              <a:t>‹#›</a:t>
            </a:fld>
            <a:r>
              <a:rPr b="1" lang="ja" sz="1300">
                <a:solidFill>
                  <a:srgbClr val="7F7F7F"/>
                </a:solidFill>
                <a:latin typeface="Quattrocento Sans"/>
                <a:ea typeface="Quattrocento Sans"/>
                <a:cs typeface="Quattrocento Sans"/>
                <a:sym typeface="Quattrocento Sans"/>
              </a:rPr>
              <a:t>  </a:t>
            </a:r>
            <a:r>
              <a:rPr lang="ja" sz="1300">
                <a:solidFill>
                  <a:srgbClr val="7FD13B"/>
                </a:solidFill>
                <a:latin typeface="Open Sans"/>
                <a:ea typeface="Open Sans"/>
                <a:cs typeface="Open Sans"/>
                <a:sym typeface="Open Sans"/>
              </a:rPr>
              <a:t>▇</a:t>
            </a:r>
            <a:r>
              <a:rPr lang="ja" sz="1300">
                <a:solidFill>
                  <a:srgbClr val="EA157A"/>
                </a:solidFill>
                <a:latin typeface="Open Sans"/>
                <a:ea typeface="Open Sans"/>
                <a:cs typeface="Open Sans"/>
                <a:sym typeface="Open Sans"/>
              </a:rPr>
              <a:t>▇</a:t>
            </a:r>
            <a:r>
              <a:rPr lang="ja" sz="1300">
                <a:solidFill>
                  <a:srgbClr val="007DEA"/>
                </a:solidFill>
                <a:latin typeface="Open Sans"/>
                <a:ea typeface="Open Sans"/>
                <a:cs typeface="Open Sans"/>
                <a:sym typeface="Open Sans"/>
              </a:rPr>
              <a:t>▇</a:t>
            </a:r>
            <a:r>
              <a:rPr lang="ja" sz="1300">
                <a:solidFill>
                  <a:srgbClr val="7FD13B"/>
                </a:solidFill>
                <a:latin typeface="Open Sans"/>
                <a:ea typeface="Open Sans"/>
                <a:cs typeface="Open Sans"/>
                <a:sym typeface="Open Sans"/>
              </a:rPr>
              <a:t> </a:t>
            </a:r>
            <a:r>
              <a:rPr lang="ja" sz="1300">
                <a:solidFill>
                  <a:schemeClr val="dk1"/>
                </a:solidFill>
                <a:latin typeface="Open Sans"/>
                <a:ea typeface="Open Sans"/>
                <a:cs typeface="Open Sans"/>
                <a:sym typeface="Open Sans"/>
              </a:rPr>
              <a:t>The OpenChain project Japan work group / CC0-1.0</a:t>
            </a:r>
            <a:endParaRPr sz="1200">
              <a:solidFill>
                <a:srgbClr val="A5A5A5"/>
              </a:solidFill>
              <a:latin typeface="Open Sans"/>
              <a:ea typeface="Open Sans"/>
              <a:cs typeface="Open Sans"/>
              <a:sym typeface="Open Sans"/>
            </a:endParaRPr>
          </a:p>
        </p:txBody>
      </p:sp>
      <p:sp>
        <p:nvSpPr>
          <p:cNvPr id="27" name="Google Shape;27;p6"/>
          <p:cNvSpPr txBox="1"/>
          <p:nvPr>
            <p:ph idx="1" type="body"/>
          </p:nvPr>
        </p:nvSpPr>
        <p:spPr>
          <a:xfrm>
            <a:off x="432000" y="792368"/>
            <a:ext cx="8280000" cy="3835800"/>
          </a:xfrm>
          <a:prstGeom prst="rect">
            <a:avLst/>
          </a:prstGeom>
          <a:noFill/>
          <a:ln>
            <a:noFill/>
          </a:ln>
        </p:spPr>
        <p:txBody>
          <a:bodyPr anchorCtr="0" anchor="t" bIns="24875" lIns="49625" spcFirstLastPara="1" rIns="49625" wrap="square" tIns="24875">
            <a:noAutofit/>
          </a:bodyPr>
          <a:lstStyle>
            <a:lvl1pPr indent="-342900" lvl="0" marL="457200" marR="0" algn="l">
              <a:spcBef>
                <a:spcPts val="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1pPr>
            <a:lvl2pPr indent="-323850" lvl="1" marL="914400" marR="0" algn="l">
              <a:spcBef>
                <a:spcPts val="0"/>
              </a:spcBef>
              <a:spcAft>
                <a:spcPts val="0"/>
              </a:spcAft>
              <a:buClr>
                <a:schemeClr val="dk1"/>
              </a:buClr>
              <a:buSzPts val="1500"/>
              <a:buFont typeface="Arial"/>
              <a:buChar char="•"/>
              <a:defRPr b="0" i="0" sz="1500" u="none" cap="none" strike="noStrike">
                <a:solidFill>
                  <a:schemeClr val="dk1"/>
                </a:solidFill>
                <a:latin typeface="Quattrocento Sans"/>
                <a:ea typeface="Quattrocento Sans"/>
                <a:cs typeface="Quattrocento Sans"/>
                <a:sym typeface="Quattrocento Sans"/>
              </a:defRPr>
            </a:lvl2pPr>
            <a:lvl3pPr indent="-304800" lvl="2" marL="1371600" marR="0" algn="l">
              <a:spcBef>
                <a:spcPts val="0"/>
              </a:spcBef>
              <a:spcAft>
                <a:spcPts val="0"/>
              </a:spcAft>
              <a:buClr>
                <a:schemeClr val="dk1"/>
              </a:buClr>
              <a:buSzPts val="1200"/>
              <a:buFont typeface="Arial"/>
              <a:buChar char="•"/>
              <a:defRPr b="0" i="0" sz="1200" u="none" cap="none" strike="noStrike">
                <a:solidFill>
                  <a:schemeClr val="dk1"/>
                </a:solidFill>
                <a:latin typeface="Quattrocento Sans"/>
                <a:ea typeface="Quattrocento Sans"/>
                <a:cs typeface="Quattrocento Sans"/>
                <a:sym typeface="Quattrocento Sans"/>
              </a:defRPr>
            </a:lvl3pPr>
            <a:lvl4pPr indent="-298450" lvl="3" marL="1828800" marR="0" algn="l">
              <a:spcBef>
                <a:spcPts val="0"/>
              </a:spcBef>
              <a:spcAft>
                <a:spcPts val="0"/>
              </a:spcAft>
              <a:buClr>
                <a:schemeClr val="dk1"/>
              </a:buClr>
              <a:buSzPts val="1100"/>
              <a:buFont typeface="Arial"/>
              <a:buChar char="•"/>
              <a:defRPr b="0" i="0" sz="1100" u="none" cap="none" strike="noStrike">
                <a:solidFill>
                  <a:schemeClr val="dk1"/>
                </a:solidFill>
                <a:latin typeface="Quattrocento Sans"/>
                <a:ea typeface="Quattrocento Sans"/>
                <a:cs typeface="Quattrocento Sans"/>
                <a:sym typeface="Quattrocento Sans"/>
              </a:defRPr>
            </a:lvl4pPr>
            <a:lvl5pPr indent="-298450" lvl="4" marL="2286000" marR="0" algn="l">
              <a:spcBef>
                <a:spcPts val="0"/>
              </a:spcBef>
              <a:spcAft>
                <a:spcPts val="0"/>
              </a:spcAft>
              <a:buClr>
                <a:schemeClr val="dk1"/>
              </a:buClr>
              <a:buSzPts val="1100"/>
              <a:buFont typeface="Arial"/>
              <a:buChar char="•"/>
              <a:defRPr b="0" i="0" sz="1100" u="none" cap="none" strike="noStrike">
                <a:solidFill>
                  <a:schemeClr val="dk1"/>
                </a:solidFill>
                <a:latin typeface="Quattrocento Sans"/>
                <a:ea typeface="Quattrocento Sans"/>
                <a:cs typeface="Quattrocento Sans"/>
                <a:sym typeface="Quattrocento Sans"/>
              </a:defRPr>
            </a:lvl5pPr>
            <a:lvl6pPr indent="-298450" lvl="5" marL="2743200" marR="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6pPr>
            <a:lvl7pPr indent="-298450" lvl="6" marL="3200400" marR="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7pPr>
            <a:lvl8pPr indent="-298450" lvl="7" marL="3657600" marR="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8pPr>
            <a:lvl9pPr indent="-298450" lvl="8" marL="4114800" marR="0" algn="l">
              <a:spcBef>
                <a:spcPts val="200"/>
              </a:spcBef>
              <a:spcAft>
                <a:spcPts val="0"/>
              </a:spcAft>
              <a:buClr>
                <a:schemeClr val="dk1"/>
              </a:buClr>
              <a:buSzPts val="1100"/>
              <a:buFont typeface="Quattrocento Sans"/>
              <a:buChar char="»"/>
              <a:defRPr b="0" i="0" sz="1100" u="none" cap="none" strike="noStrike">
                <a:solidFill>
                  <a:schemeClr val="dk1"/>
                </a:solidFill>
                <a:latin typeface="Quattrocento Sans"/>
                <a:ea typeface="Quattrocento Sans"/>
                <a:cs typeface="Quattrocento Sans"/>
                <a:sym typeface="Quattrocento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5200"/>
              <a:buChar char="●"/>
              <a:defRPr sz="5200"/>
            </a:lvl1pPr>
            <a:lvl2pPr lvl="1" rtl="0" algn="ctr">
              <a:spcBef>
                <a:spcPts val="0"/>
              </a:spcBef>
              <a:spcAft>
                <a:spcPts val="0"/>
              </a:spcAft>
              <a:buSzPts val="5200"/>
              <a:buChar char="○"/>
              <a:defRPr sz="5200"/>
            </a:lvl2pPr>
            <a:lvl3pPr lvl="2" rtl="0" algn="ctr">
              <a:spcBef>
                <a:spcPts val="0"/>
              </a:spcBef>
              <a:spcAft>
                <a:spcPts val="0"/>
              </a:spcAft>
              <a:buSzPts val="5200"/>
              <a:buChar char="■"/>
              <a:defRPr sz="5200"/>
            </a:lvl3pPr>
            <a:lvl4pPr lvl="3" rtl="0" algn="ctr">
              <a:spcBef>
                <a:spcPts val="0"/>
              </a:spcBef>
              <a:spcAft>
                <a:spcPts val="0"/>
              </a:spcAft>
              <a:buSzPts val="5200"/>
              <a:buChar char="●"/>
              <a:defRPr sz="5200"/>
            </a:lvl4pPr>
            <a:lvl5pPr lvl="4" rtl="0" algn="ctr">
              <a:spcBef>
                <a:spcPts val="0"/>
              </a:spcBef>
              <a:spcAft>
                <a:spcPts val="0"/>
              </a:spcAft>
              <a:buSzPts val="5200"/>
              <a:buChar char="○"/>
              <a:defRPr sz="5200"/>
            </a:lvl5pPr>
            <a:lvl6pPr lvl="5" rtl="0" algn="ctr">
              <a:spcBef>
                <a:spcPts val="0"/>
              </a:spcBef>
              <a:spcAft>
                <a:spcPts val="0"/>
              </a:spcAft>
              <a:buSzPts val="5200"/>
              <a:buChar char="■"/>
              <a:defRPr sz="5200"/>
            </a:lvl6pPr>
            <a:lvl7pPr lvl="6" rtl="0" algn="ctr">
              <a:spcBef>
                <a:spcPts val="0"/>
              </a:spcBef>
              <a:spcAft>
                <a:spcPts val="0"/>
              </a:spcAft>
              <a:buSzPts val="5200"/>
              <a:buChar char="●"/>
              <a:defRPr sz="5200"/>
            </a:lvl7pPr>
            <a:lvl8pPr lvl="7" rtl="0" algn="ctr">
              <a:spcBef>
                <a:spcPts val="0"/>
              </a:spcBef>
              <a:spcAft>
                <a:spcPts val="0"/>
              </a:spcAft>
              <a:buSzPts val="5200"/>
              <a:buChar char="○"/>
              <a:defRPr sz="5200"/>
            </a:lvl8pPr>
            <a:lvl9pPr lvl="8" rtl="0" algn="ctr">
              <a:spcBef>
                <a:spcPts val="0"/>
              </a:spcBef>
              <a:spcAft>
                <a:spcPts val="0"/>
              </a:spcAft>
              <a:buSzPts val="5200"/>
              <a:buChar char="■"/>
              <a:defRPr sz="5200"/>
            </a:lvl9pPr>
          </a:lstStyle>
          <a:p/>
        </p:txBody>
      </p:sp>
      <p:sp>
        <p:nvSpPr>
          <p:cNvPr id="30" name="Google Shape;30;p7"/>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8"/>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34" name="Google Shape;34;p8"/>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35" name="Google Shape;35;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lf-automotivelinux.atlassian.net/wiki/spaces/OSPO/pages/397082627/Publications#OSS-%26-OSPO-Promotion-Slides-for-Automotive-Compani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ja.wikipedia.org/wiki/%E7%BE%A4%E7%9B%B2%E8%B1%A1%E3%82%92%E8%A9%95%E3%81%99" TargetMode="External"/><Relationship Id="rId4" Type="http://schemas.openxmlformats.org/officeDocument/2006/relationships/hyperlink" Target="https://en.wikipedia.org/wiki/Blind_men_and_an_elephan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9"/>
          <p:cNvSpPr txBox="1"/>
          <p:nvPr>
            <p:ph type="title"/>
          </p:nvPr>
        </p:nvSpPr>
        <p:spPr>
          <a:xfrm>
            <a:off x="432000" y="34524"/>
            <a:ext cx="8280000" cy="594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ja" sz="1400"/>
              <a:t>5/23</a:t>
            </a:r>
            <a:r>
              <a:rPr lang="ja" sz="1400"/>
              <a:t>にコメント欄に記載＆発言をさせてただいた「SBOM管理プロセス」を絵に整理してみました</a:t>
            </a:r>
            <a:endParaRPr sz="1400"/>
          </a:p>
          <a:p>
            <a:pPr indent="0" lvl="0" marL="0" rtl="0" algn="l">
              <a:spcBef>
                <a:spcPts val="0"/>
              </a:spcBef>
              <a:spcAft>
                <a:spcPts val="0"/>
              </a:spcAft>
              <a:buNone/>
            </a:pPr>
            <a:r>
              <a:rPr lang="ja" sz="1400"/>
              <a:t>アドバイスやコメントを頂けますと幸いです</a:t>
            </a:r>
            <a:endParaRPr sz="1400"/>
          </a:p>
        </p:txBody>
      </p:sp>
      <p:sp>
        <p:nvSpPr>
          <p:cNvPr id="41" name="Google Shape;41;p9"/>
          <p:cNvSpPr/>
          <p:nvPr/>
        </p:nvSpPr>
        <p:spPr>
          <a:xfrm>
            <a:off x="1132238" y="2468650"/>
            <a:ext cx="1343700" cy="5943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調達</a:t>
            </a:r>
            <a:r>
              <a:rPr lang="ja"/>
              <a:t>部門</a:t>
            </a:r>
            <a:endParaRPr/>
          </a:p>
        </p:txBody>
      </p:sp>
      <p:sp>
        <p:nvSpPr>
          <p:cNvPr id="42" name="Google Shape;42;p9"/>
          <p:cNvSpPr/>
          <p:nvPr/>
        </p:nvSpPr>
        <p:spPr>
          <a:xfrm>
            <a:off x="203400" y="1722425"/>
            <a:ext cx="712500" cy="594300"/>
          </a:xfrm>
          <a:prstGeom prst="foldedCorner">
            <a:avLst>
              <a:gd fmla="val 3019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000"/>
              <a:t>発注部品</a:t>
            </a:r>
            <a:endParaRPr sz="1000"/>
          </a:p>
          <a:p>
            <a:pPr indent="0" lvl="0" marL="0" rtl="0" algn="ctr">
              <a:spcBef>
                <a:spcPts val="0"/>
              </a:spcBef>
              <a:spcAft>
                <a:spcPts val="0"/>
              </a:spcAft>
              <a:buNone/>
            </a:pPr>
            <a:r>
              <a:rPr lang="ja" sz="1000"/>
              <a:t>SBOM</a:t>
            </a:r>
            <a:endParaRPr sz="1000"/>
          </a:p>
        </p:txBody>
      </p:sp>
      <p:sp>
        <p:nvSpPr>
          <p:cNvPr id="43" name="Google Shape;43;p9"/>
          <p:cNvSpPr/>
          <p:nvPr/>
        </p:nvSpPr>
        <p:spPr>
          <a:xfrm>
            <a:off x="203400" y="2468650"/>
            <a:ext cx="712500" cy="594300"/>
          </a:xfrm>
          <a:prstGeom prst="foldedCorner">
            <a:avLst>
              <a:gd fmla="val 3019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1000">
                <a:solidFill>
                  <a:schemeClr val="dk1"/>
                </a:solidFill>
              </a:rPr>
              <a:t>発注部品</a:t>
            </a:r>
            <a:endParaRPr sz="1000">
              <a:solidFill>
                <a:schemeClr val="dk1"/>
              </a:solidFill>
            </a:endParaRPr>
          </a:p>
          <a:p>
            <a:pPr indent="0" lvl="0" marL="0" rtl="0" algn="ctr">
              <a:spcBef>
                <a:spcPts val="0"/>
              </a:spcBef>
              <a:spcAft>
                <a:spcPts val="0"/>
              </a:spcAft>
              <a:buClr>
                <a:schemeClr val="dk1"/>
              </a:buClr>
              <a:buSzPts val="1100"/>
              <a:buFont typeface="Arial"/>
              <a:buNone/>
            </a:pPr>
            <a:r>
              <a:rPr lang="ja" sz="1000">
                <a:solidFill>
                  <a:schemeClr val="dk1"/>
                </a:solidFill>
              </a:rPr>
              <a:t>SBOM</a:t>
            </a:r>
            <a:endParaRPr/>
          </a:p>
        </p:txBody>
      </p:sp>
      <p:sp>
        <p:nvSpPr>
          <p:cNvPr id="44" name="Google Shape;44;p9"/>
          <p:cNvSpPr/>
          <p:nvPr/>
        </p:nvSpPr>
        <p:spPr>
          <a:xfrm>
            <a:off x="203400" y="3214875"/>
            <a:ext cx="712500" cy="594300"/>
          </a:xfrm>
          <a:prstGeom prst="foldedCorner">
            <a:avLst>
              <a:gd fmla="val 3019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OSS</a:t>
            </a:r>
            <a:endParaRPr/>
          </a:p>
          <a:p>
            <a:pPr indent="0" lvl="0" marL="0" rtl="0" algn="ctr">
              <a:spcBef>
                <a:spcPts val="0"/>
              </a:spcBef>
              <a:spcAft>
                <a:spcPts val="0"/>
              </a:spcAft>
              <a:buNone/>
            </a:pPr>
            <a:r>
              <a:rPr lang="ja"/>
              <a:t>SBOM</a:t>
            </a:r>
            <a:endParaRPr/>
          </a:p>
        </p:txBody>
      </p:sp>
      <p:sp>
        <p:nvSpPr>
          <p:cNvPr id="45" name="Google Shape;45;p9"/>
          <p:cNvSpPr/>
          <p:nvPr/>
        </p:nvSpPr>
        <p:spPr>
          <a:xfrm>
            <a:off x="2525224" y="2468650"/>
            <a:ext cx="1343700" cy="5943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設計</a:t>
            </a:r>
            <a:r>
              <a:rPr lang="ja"/>
              <a:t>部門</a:t>
            </a:r>
            <a:endParaRPr/>
          </a:p>
        </p:txBody>
      </p:sp>
      <p:sp>
        <p:nvSpPr>
          <p:cNvPr id="46" name="Google Shape;46;p9"/>
          <p:cNvSpPr/>
          <p:nvPr/>
        </p:nvSpPr>
        <p:spPr>
          <a:xfrm>
            <a:off x="3918210" y="2468650"/>
            <a:ext cx="1343700" cy="5943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開発</a:t>
            </a:r>
            <a:r>
              <a:rPr lang="ja"/>
              <a:t>部門</a:t>
            </a:r>
            <a:endParaRPr/>
          </a:p>
        </p:txBody>
      </p:sp>
      <p:sp>
        <p:nvSpPr>
          <p:cNvPr id="47" name="Google Shape;47;p9"/>
          <p:cNvSpPr/>
          <p:nvPr/>
        </p:nvSpPr>
        <p:spPr>
          <a:xfrm>
            <a:off x="6664326" y="2468650"/>
            <a:ext cx="1343700" cy="5943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出荷</a:t>
            </a:r>
            <a:r>
              <a:rPr lang="ja"/>
              <a:t>部門</a:t>
            </a:r>
            <a:endParaRPr/>
          </a:p>
        </p:txBody>
      </p:sp>
      <p:sp>
        <p:nvSpPr>
          <p:cNvPr id="48" name="Google Shape;48;p9"/>
          <p:cNvSpPr txBox="1"/>
          <p:nvPr/>
        </p:nvSpPr>
        <p:spPr>
          <a:xfrm>
            <a:off x="-66162" y="4039850"/>
            <a:ext cx="1251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a:t>（上流）</a:t>
            </a:r>
            <a:endParaRPr/>
          </a:p>
          <a:p>
            <a:pPr indent="0" lvl="0" marL="0" rtl="0" algn="ctr">
              <a:spcBef>
                <a:spcPts val="0"/>
              </a:spcBef>
              <a:spcAft>
                <a:spcPts val="0"/>
              </a:spcAft>
              <a:buNone/>
            </a:pPr>
            <a:r>
              <a:rPr lang="ja"/>
              <a:t>部品メーカ</a:t>
            </a:r>
            <a:endParaRPr/>
          </a:p>
          <a:p>
            <a:pPr indent="0" lvl="0" marL="0" rtl="0" algn="ctr">
              <a:spcBef>
                <a:spcPts val="0"/>
              </a:spcBef>
              <a:spcAft>
                <a:spcPts val="0"/>
              </a:spcAft>
              <a:buNone/>
            </a:pPr>
            <a:r>
              <a:rPr lang="ja"/>
              <a:t>リポジトリ</a:t>
            </a:r>
            <a:endParaRPr/>
          </a:p>
        </p:txBody>
      </p:sp>
      <p:sp>
        <p:nvSpPr>
          <p:cNvPr id="49" name="Google Shape;49;p9"/>
          <p:cNvSpPr/>
          <p:nvPr/>
        </p:nvSpPr>
        <p:spPr>
          <a:xfrm>
            <a:off x="8173367" y="2468650"/>
            <a:ext cx="712500" cy="594300"/>
          </a:xfrm>
          <a:prstGeom prst="foldedCorner">
            <a:avLst>
              <a:gd fmla="val 3019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製品</a:t>
            </a:r>
            <a:endParaRPr/>
          </a:p>
          <a:p>
            <a:pPr indent="0" lvl="0" marL="0" rtl="0" algn="ctr">
              <a:spcBef>
                <a:spcPts val="0"/>
              </a:spcBef>
              <a:spcAft>
                <a:spcPts val="0"/>
              </a:spcAft>
              <a:buNone/>
            </a:pPr>
            <a:r>
              <a:rPr lang="ja"/>
              <a:t>SBOM</a:t>
            </a:r>
            <a:endParaRPr/>
          </a:p>
        </p:txBody>
      </p:sp>
      <p:sp>
        <p:nvSpPr>
          <p:cNvPr id="50" name="Google Shape;50;p9"/>
          <p:cNvSpPr txBox="1"/>
          <p:nvPr/>
        </p:nvSpPr>
        <p:spPr>
          <a:xfrm>
            <a:off x="7602163" y="4162675"/>
            <a:ext cx="1428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a:t>（</a:t>
            </a:r>
            <a:r>
              <a:rPr lang="ja"/>
              <a:t>下</a:t>
            </a:r>
            <a:r>
              <a:rPr lang="ja"/>
              <a:t>流）</a:t>
            </a:r>
            <a:endParaRPr/>
          </a:p>
          <a:p>
            <a:pPr indent="0" lvl="0" marL="0" rtl="0" algn="l">
              <a:spcBef>
                <a:spcPts val="0"/>
              </a:spcBef>
              <a:spcAft>
                <a:spcPts val="0"/>
              </a:spcAft>
              <a:buNone/>
            </a:pPr>
            <a:r>
              <a:rPr lang="ja"/>
              <a:t>納品先・お客様</a:t>
            </a:r>
            <a:endParaRPr/>
          </a:p>
        </p:txBody>
      </p:sp>
      <p:sp>
        <p:nvSpPr>
          <p:cNvPr id="51" name="Google Shape;51;p9"/>
          <p:cNvSpPr txBox="1"/>
          <p:nvPr/>
        </p:nvSpPr>
        <p:spPr>
          <a:xfrm>
            <a:off x="1073282" y="3151200"/>
            <a:ext cx="12354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u="sng"/>
              <a:t>発注部品のSBOM発注/受領管理</a:t>
            </a:r>
            <a:endParaRPr b="1" sz="1000" u="sng"/>
          </a:p>
          <a:p>
            <a:pPr indent="0" lvl="0" marL="0" rtl="0" algn="ctr">
              <a:spcBef>
                <a:spcPts val="0"/>
              </a:spcBef>
              <a:spcAft>
                <a:spcPts val="0"/>
              </a:spcAft>
              <a:buNone/>
            </a:pPr>
            <a:r>
              <a:rPr lang="ja" sz="1000"/>
              <a:t>（発注時に確実にSBOMを要求して受領する、VUP時などに確実にSBOMを受領する）</a:t>
            </a:r>
            <a:endParaRPr sz="1000"/>
          </a:p>
        </p:txBody>
      </p:sp>
      <p:sp>
        <p:nvSpPr>
          <p:cNvPr id="52" name="Google Shape;52;p9"/>
          <p:cNvSpPr txBox="1"/>
          <p:nvPr/>
        </p:nvSpPr>
        <p:spPr>
          <a:xfrm>
            <a:off x="2525224" y="3151200"/>
            <a:ext cx="12354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u="sng"/>
              <a:t>発注部品のSBOM</a:t>
            </a:r>
            <a:r>
              <a:rPr b="1" lang="ja" sz="1000" u="sng"/>
              <a:t>記載内容</a:t>
            </a:r>
            <a:r>
              <a:rPr b="1" lang="ja" sz="1000" u="sng"/>
              <a:t>管理</a:t>
            </a:r>
            <a:endParaRPr b="1" sz="1000" u="sng"/>
          </a:p>
          <a:p>
            <a:pPr indent="0" lvl="0" marL="0" rtl="0" algn="ctr">
              <a:spcBef>
                <a:spcPts val="0"/>
              </a:spcBef>
              <a:spcAft>
                <a:spcPts val="0"/>
              </a:spcAft>
              <a:buNone/>
            </a:pPr>
            <a:r>
              <a:rPr lang="ja" sz="1000"/>
              <a:t>（</a:t>
            </a:r>
            <a:r>
              <a:rPr lang="ja" sz="1000"/>
              <a:t>部品の脆弱性管理/対処・顕在化時に部品メーカへ連絡、など</a:t>
            </a:r>
            <a:r>
              <a:rPr lang="ja" sz="1000"/>
              <a:t>）</a:t>
            </a:r>
            <a:endParaRPr sz="1000"/>
          </a:p>
        </p:txBody>
      </p:sp>
      <p:sp>
        <p:nvSpPr>
          <p:cNvPr id="53" name="Google Shape;53;p9"/>
          <p:cNvSpPr txBox="1"/>
          <p:nvPr/>
        </p:nvSpPr>
        <p:spPr>
          <a:xfrm>
            <a:off x="3868804" y="3151200"/>
            <a:ext cx="12354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u="sng"/>
              <a:t>製品SBOMの作成管理</a:t>
            </a:r>
            <a:endParaRPr b="1" sz="1000" u="sng"/>
          </a:p>
          <a:p>
            <a:pPr indent="0" lvl="0" marL="0" rtl="0" algn="l">
              <a:spcBef>
                <a:spcPts val="0"/>
              </a:spcBef>
              <a:spcAft>
                <a:spcPts val="0"/>
              </a:spcAft>
              <a:buNone/>
            </a:pPr>
            <a:r>
              <a:rPr lang="ja" sz="1000"/>
              <a:t>（</a:t>
            </a:r>
            <a:r>
              <a:rPr lang="ja" sz="1000"/>
              <a:t>SBOM作成に責任を持つ、開発時のOSSバージョンをFIXして、納品する製品のSBOMを作成、など）</a:t>
            </a:r>
            <a:endParaRPr sz="1000"/>
          </a:p>
        </p:txBody>
      </p:sp>
      <p:sp>
        <p:nvSpPr>
          <p:cNvPr id="54" name="Google Shape;54;p9"/>
          <p:cNvSpPr txBox="1"/>
          <p:nvPr/>
        </p:nvSpPr>
        <p:spPr>
          <a:xfrm>
            <a:off x="6664326" y="3151200"/>
            <a:ext cx="12354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u="sng"/>
              <a:t>製品のSBOM管理</a:t>
            </a:r>
            <a:endParaRPr b="1" sz="1000" u="sng"/>
          </a:p>
          <a:p>
            <a:pPr indent="0" lvl="0" marL="0" rtl="0" algn="l">
              <a:spcBef>
                <a:spcPts val="0"/>
              </a:spcBef>
              <a:spcAft>
                <a:spcPts val="0"/>
              </a:spcAft>
              <a:buNone/>
            </a:pPr>
            <a:r>
              <a:rPr lang="ja" sz="1000"/>
              <a:t>（</a:t>
            </a:r>
            <a:r>
              <a:rPr lang="ja" sz="1000"/>
              <a:t>製品SBMの納品管理、納品した製品SBOMのバージョン管理、製品VUP時にSBOMを確実に納品する、</a:t>
            </a:r>
            <a:r>
              <a:rPr lang="ja" sz="1000"/>
              <a:t>など）</a:t>
            </a:r>
            <a:endParaRPr sz="1000"/>
          </a:p>
        </p:txBody>
      </p:sp>
      <p:sp>
        <p:nvSpPr>
          <p:cNvPr id="55" name="Google Shape;55;p9"/>
          <p:cNvSpPr/>
          <p:nvPr/>
        </p:nvSpPr>
        <p:spPr>
          <a:xfrm>
            <a:off x="5311195" y="2468650"/>
            <a:ext cx="1343700" cy="594300"/>
          </a:xfrm>
          <a:prstGeom prst="homePlat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品質管理</a:t>
            </a:r>
            <a:endParaRPr/>
          </a:p>
          <a:p>
            <a:pPr indent="0" lvl="0" marL="0" rtl="0" algn="ctr">
              <a:spcBef>
                <a:spcPts val="0"/>
              </a:spcBef>
              <a:spcAft>
                <a:spcPts val="0"/>
              </a:spcAft>
              <a:buNone/>
            </a:pPr>
            <a:r>
              <a:rPr lang="ja"/>
              <a:t>部門</a:t>
            </a:r>
            <a:endParaRPr/>
          </a:p>
        </p:txBody>
      </p:sp>
      <p:sp>
        <p:nvSpPr>
          <p:cNvPr id="56" name="Google Shape;56;p9"/>
          <p:cNvSpPr/>
          <p:nvPr/>
        </p:nvSpPr>
        <p:spPr>
          <a:xfrm>
            <a:off x="1215125" y="1025050"/>
            <a:ext cx="6792900" cy="331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OSPO</a:t>
            </a:r>
            <a:endParaRPr/>
          </a:p>
        </p:txBody>
      </p:sp>
      <p:sp>
        <p:nvSpPr>
          <p:cNvPr id="57" name="Google Shape;57;p9"/>
          <p:cNvSpPr txBox="1"/>
          <p:nvPr/>
        </p:nvSpPr>
        <p:spPr>
          <a:xfrm>
            <a:off x="1867450" y="1280625"/>
            <a:ext cx="5734800" cy="8004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SzPts val="1000"/>
              <a:buChar char="●"/>
            </a:pPr>
            <a:r>
              <a:rPr b="1" lang="ja" sz="1000"/>
              <a:t>部品調達から製品出荷までの「SBOM管理プロセス」のルール化・ガイドライン等の制定</a:t>
            </a:r>
            <a:endParaRPr b="1" sz="1000"/>
          </a:p>
          <a:p>
            <a:pPr indent="-292100" lvl="0" marL="457200" rtl="0" algn="l">
              <a:spcBef>
                <a:spcPts val="0"/>
              </a:spcBef>
              <a:spcAft>
                <a:spcPts val="0"/>
              </a:spcAft>
              <a:buSzPts val="1000"/>
              <a:buChar char="●"/>
            </a:pPr>
            <a:r>
              <a:rPr b="1" lang="ja" sz="1000"/>
              <a:t>「SBOM管理プロセス」の統制、異常時の対処・改善</a:t>
            </a:r>
            <a:endParaRPr b="1" sz="1000"/>
          </a:p>
          <a:p>
            <a:pPr indent="-292100" lvl="0" marL="457200" rtl="0" algn="l">
              <a:spcBef>
                <a:spcPts val="0"/>
              </a:spcBef>
              <a:spcAft>
                <a:spcPts val="0"/>
              </a:spcAft>
              <a:buSzPts val="1000"/>
              <a:buChar char="●"/>
            </a:pPr>
            <a:r>
              <a:rPr b="1" lang="ja" sz="1000"/>
              <a:t>「SBOM管理プロセス」の改良・効率化の検討</a:t>
            </a:r>
            <a:endParaRPr b="1" sz="1000"/>
          </a:p>
          <a:p>
            <a:pPr indent="-292100" lvl="0" marL="457200" rtl="0" algn="l">
              <a:spcBef>
                <a:spcPts val="0"/>
              </a:spcBef>
              <a:spcAft>
                <a:spcPts val="0"/>
              </a:spcAft>
              <a:buSzPts val="1000"/>
              <a:buChar char="●"/>
            </a:pPr>
            <a:r>
              <a:rPr b="1" lang="ja" sz="1000">
                <a:solidFill>
                  <a:schemeClr val="dk1"/>
                </a:solidFill>
              </a:rPr>
              <a:t>「SBOM管理プロセス」に必要なツールの検討・</a:t>
            </a:r>
            <a:r>
              <a:rPr b="1" lang="ja" sz="1000"/>
              <a:t>評価・調達・導入</a:t>
            </a:r>
            <a:endParaRPr b="1" sz="1000"/>
          </a:p>
        </p:txBody>
      </p:sp>
      <p:sp>
        <p:nvSpPr>
          <p:cNvPr id="58" name="Google Shape;58;p9"/>
          <p:cNvSpPr txBox="1"/>
          <p:nvPr/>
        </p:nvSpPr>
        <p:spPr>
          <a:xfrm>
            <a:off x="5266565" y="3151200"/>
            <a:ext cx="12354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u="sng"/>
              <a:t>製品のSBOM</a:t>
            </a:r>
            <a:r>
              <a:rPr b="1" lang="ja" sz="1000" u="sng"/>
              <a:t>品質</a:t>
            </a:r>
            <a:r>
              <a:rPr b="1" lang="ja" sz="1000" u="sng"/>
              <a:t>管理</a:t>
            </a:r>
            <a:endParaRPr b="1" sz="1000" u="sng"/>
          </a:p>
          <a:p>
            <a:pPr indent="0" lvl="0" marL="0" rtl="0" algn="ctr">
              <a:spcBef>
                <a:spcPts val="0"/>
              </a:spcBef>
              <a:spcAft>
                <a:spcPts val="0"/>
              </a:spcAft>
              <a:buNone/>
            </a:pPr>
            <a:r>
              <a:rPr lang="ja" sz="1000" u="sng"/>
              <a:t>（添付不備・会社ガイドライン等の違反が無いかのチェック）</a:t>
            </a:r>
            <a:endParaRPr sz="1000" u="sng"/>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0"/>
          <p:cNvSpPr txBox="1"/>
          <p:nvPr>
            <p:ph type="title"/>
          </p:nvPr>
        </p:nvSpPr>
        <p:spPr>
          <a:xfrm>
            <a:off x="432000" y="34524"/>
            <a:ext cx="8280000" cy="594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ja"/>
              <a:t>5/23</a:t>
            </a:r>
            <a:r>
              <a:rPr lang="ja"/>
              <a:t>のチャットメモ（発言者情報を除いたもの）</a:t>
            </a:r>
            <a:endParaRPr/>
          </a:p>
        </p:txBody>
      </p:sp>
      <p:sp>
        <p:nvSpPr>
          <p:cNvPr id="64" name="Google Shape;64;p10"/>
          <p:cNvSpPr txBox="1"/>
          <p:nvPr>
            <p:ph idx="1" type="body"/>
          </p:nvPr>
        </p:nvSpPr>
        <p:spPr>
          <a:xfrm>
            <a:off x="432000" y="792368"/>
            <a:ext cx="8280000" cy="3835800"/>
          </a:xfrm>
          <a:prstGeom prst="rect">
            <a:avLst/>
          </a:prstGeom>
        </p:spPr>
        <p:txBody>
          <a:bodyPr anchorCtr="0" anchor="t" bIns="24875" lIns="49625" spcFirstLastPara="1" rIns="49625" wrap="square" tIns="24875">
            <a:normAutofit fontScale="55000" lnSpcReduction="10000"/>
          </a:bodyPr>
          <a:lstStyle/>
          <a:p>
            <a:pPr indent="-291465" lvl="0" marL="457200" rtl="0" algn="l">
              <a:lnSpc>
                <a:spcPct val="115000"/>
              </a:lnSpc>
              <a:spcBef>
                <a:spcPts val="0"/>
              </a:spcBef>
              <a:spcAft>
                <a:spcPts val="0"/>
              </a:spcAft>
              <a:buSzPct val="100000"/>
              <a:buChar char="●"/>
            </a:pPr>
            <a:r>
              <a:rPr lang="ja"/>
              <a:t>お金にならないって話がありましたが、Slackで共有してくださった情報だと、日本はお金になるところまでOSS活動しないといけないと思うんですよね</a:t>
            </a:r>
            <a:endParaRPr/>
          </a:p>
          <a:p>
            <a:pPr indent="-291465" lvl="0" marL="457200" rtl="0" algn="l">
              <a:lnSpc>
                <a:spcPct val="115000"/>
              </a:lnSpc>
              <a:spcBef>
                <a:spcPts val="0"/>
              </a:spcBef>
              <a:spcAft>
                <a:spcPts val="0"/>
              </a:spcAft>
              <a:buSzPct val="100000"/>
              <a:buChar char="●"/>
            </a:pPr>
            <a:r>
              <a:rPr lang="ja"/>
              <a:t>OSPO的活動の主体がプロフィットセンターにあると、コミュニティ活動するのは説明がより難しくなりがちな印象。</a:t>
            </a:r>
            <a:endParaRPr/>
          </a:p>
          <a:p>
            <a:pPr indent="-280987" lvl="1" marL="914400" rtl="0" algn="l">
              <a:lnSpc>
                <a:spcPct val="115000"/>
              </a:lnSpc>
              <a:spcBef>
                <a:spcPts val="0"/>
              </a:spcBef>
              <a:spcAft>
                <a:spcPts val="0"/>
              </a:spcAft>
              <a:buSzPct val="100000"/>
              <a:buChar char="○"/>
            </a:pPr>
            <a:r>
              <a:rPr lang="ja"/>
              <a:t>その要因は色々あると思いますが。</a:t>
            </a:r>
            <a:endParaRPr/>
          </a:p>
          <a:p>
            <a:pPr indent="-291465" lvl="0" marL="457200" rtl="0" algn="l">
              <a:lnSpc>
                <a:spcPct val="115000"/>
              </a:lnSpc>
              <a:spcBef>
                <a:spcPts val="0"/>
              </a:spcBef>
              <a:spcAft>
                <a:spcPts val="0"/>
              </a:spcAft>
              <a:buSzPct val="100000"/>
              <a:buChar char="●"/>
            </a:pPr>
            <a:r>
              <a:rPr lang="ja"/>
              <a:t>会社(グループ会社含む)のなかで，事業によってもステージが変わってくるので，「グループ横断活動」に落とし込むところが，いろいろと悩ましいです</a:t>
            </a:r>
            <a:endParaRPr/>
          </a:p>
          <a:p>
            <a:pPr indent="-291465" lvl="0" marL="457200" rtl="0" algn="l">
              <a:lnSpc>
                <a:spcPct val="115000"/>
              </a:lnSpc>
              <a:spcBef>
                <a:spcPts val="0"/>
              </a:spcBef>
              <a:spcAft>
                <a:spcPts val="0"/>
              </a:spcAft>
              <a:buSzPct val="100000"/>
              <a:buChar char="●"/>
            </a:pPr>
            <a:r>
              <a:rPr lang="ja"/>
              <a:t>ごくまれによくありますね。&gt; 「それ、OSPOで考えてよ」という丸投げ</a:t>
            </a:r>
            <a:endParaRPr/>
          </a:p>
          <a:p>
            <a:pPr indent="-291465" lvl="0" marL="457200" rtl="0" algn="l">
              <a:lnSpc>
                <a:spcPct val="115000"/>
              </a:lnSpc>
              <a:spcBef>
                <a:spcPts val="0"/>
              </a:spcBef>
              <a:spcAft>
                <a:spcPts val="0"/>
              </a:spcAft>
              <a:buSzPct val="100000"/>
              <a:buChar char="●"/>
            </a:pPr>
            <a:r>
              <a:rPr lang="ja"/>
              <a:t>SBOM の管理を OSPO が担当するのですか？と言う質問が「SBOMに関する責任を OSPO が持つのですか？」ということも含意しうる表現なので、回答が混乱するのかもしれないとおもいました…</a:t>
            </a:r>
            <a:endParaRPr/>
          </a:p>
          <a:p>
            <a:pPr indent="-291465" lvl="0" marL="457200" rtl="0" algn="l">
              <a:lnSpc>
                <a:spcPct val="115000"/>
              </a:lnSpc>
              <a:spcBef>
                <a:spcPts val="0"/>
              </a:spcBef>
              <a:spcAft>
                <a:spcPts val="0"/>
              </a:spcAft>
              <a:buSzPct val="100000"/>
              <a:buChar char="●"/>
            </a:pPr>
            <a:r>
              <a:rPr lang="ja"/>
              <a:t>弊社でもまさに議論されている状況で、個別対応するリソースはないので、全社のSBOMの窓口としてのOSPOを構えたいと思っています。</a:t>
            </a:r>
            <a:endParaRPr/>
          </a:p>
          <a:p>
            <a:pPr indent="-280987" lvl="1" marL="914400" rtl="0" algn="l">
              <a:lnSpc>
                <a:spcPct val="115000"/>
              </a:lnSpc>
              <a:spcBef>
                <a:spcPts val="0"/>
              </a:spcBef>
              <a:spcAft>
                <a:spcPts val="0"/>
              </a:spcAft>
              <a:buSzPct val="100000"/>
              <a:buChar char="○"/>
            </a:pPr>
            <a:r>
              <a:rPr lang="ja"/>
              <a:t>受けた問い合わせをどう捌くかはこれから検討しています。。</a:t>
            </a:r>
            <a:endParaRPr/>
          </a:p>
          <a:p>
            <a:pPr indent="-291465" lvl="0" marL="457200" rtl="0" algn="l">
              <a:lnSpc>
                <a:spcPct val="115000"/>
              </a:lnSpc>
              <a:spcBef>
                <a:spcPts val="0"/>
              </a:spcBef>
              <a:spcAft>
                <a:spcPts val="0"/>
              </a:spcAft>
              <a:buSzPct val="100000"/>
              <a:buChar char="●"/>
            </a:pPr>
            <a:r>
              <a:rPr lang="ja"/>
              <a:t>(開発)現場は，誰かがやってくれるのであれば それを期待すると思うのですよね．役割と責任の整理が必要になりますよね</a:t>
            </a:r>
            <a:endParaRPr/>
          </a:p>
          <a:p>
            <a:pPr indent="-291465" lvl="0" marL="457200" rtl="0" algn="l">
              <a:lnSpc>
                <a:spcPct val="115000"/>
              </a:lnSpc>
              <a:spcBef>
                <a:spcPts val="0"/>
              </a:spcBef>
              <a:spcAft>
                <a:spcPts val="0"/>
              </a:spcAft>
              <a:buSzPct val="100000"/>
              <a:buChar char="●"/>
            </a:pPr>
            <a:r>
              <a:rPr lang="ja"/>
              <a:t>SBOMを「作る」、「提出する」、というのは開発者の責任として、開発者サイドとしても同意ですが、CI/CDの中で自動化するためのガイドとかあると、更には実装されてると嬉しいです。（GitHubのように）</a:t>
            </a:r>
            <a:endParaRPr/>
          </a:p>
          <a:p>
            <a:pPr indent="-291465" lvl="0" marL="457200" rtl="0" algn="l">
              <a:lnSpc>
                <a:spcPct val="115000"/>
              </a:lnSpc>
              <a:spcBef>
                <a:spcPts val="0"/>
              </a:spcBef>
              <a:spcAft>
                <a:spcPts val="0"/>
              </a:spcAft>
              <a:buSzPct val="100000"/>
              <a:buChar char="●"/>
            </a:pPr>
            <a:r>
              <a:rPr lang="ja"/>
              <a:t>前職 での OSPO は SBOM に関する管理の責任は持ってなかったように思います。</a:t>
            </a:r>
            <a:br>
              <a:rPr lang="ja"/>
            </a:br>
            <a:r>
              <a:rPr lang="ja"/>
              <a:t>た</a:t>
            </a:r>
            <a:r>
              <a:rPr lang="ja"/>
              <a:t>だし、OSPO 関連 / SBOM 含む「ベストプラクティス」「プラットフォーム」を管理するのが役割でした</a:t>
            </a:r>
            <a:endParaRPr/>
          </a:p>
          <a:p>
            <a:pPr indent="-280987" lvl="1" marL="914400" rtl="0" algn="l">
              <a:lnSpc>
                <a:spcPct val="115000"/>
              </a:lnSpc>
              <a:spcBef>
                <a:spcPts val="0"/>
              </a:spcBef>
              <a:spcAft>
                <a:spcPts val="0"/>
              </a:spcAft>
              <a:buSzPct val="100000"/>
              <a:buChar char="○"/>
            </a:pPr>
            <a:r>
              <a:rPr lang="ja"/>
              <a:t>(SBOM自体を管理するわけではない)</a:t>
            </a:r>
            <a:endParaRPr/>
          </a:p>
          <a:p>
            <a:pPr indent="-291465" lvl="0" marL="457200" rtl="0" algn="l">
              <a:lnSpc>
                <a:spcPct val="115000"/>
              </a:lnSpc>
              <a:spcBef>
                <a:spcPts val="0"/>
              </a:spcBef>
              <a:spcAft>
                <a:spcPts val="0"/>
              </a:spcAft>
              <a:buSzPct val="100000"/>
              <a:buChar char="●"/>
            </a:pPr>
            <a:r>
              <a:rPr lang="ja"/>
              <a:t>PSIRTみたいな部門（セキュリティ部門？or 調達部門？）があれば、そちらの方がOSPOよりSBOMの主管になるべきと思っています。</a:t>
            </a:r>
            <a:endParaRPr/>
          </a:p>
          <a:p>
            <a:pPr indent="-291465" lvl="0" marL="457200" rtl="0" algn="l">
              <a:lnSpc>
                <a:spcPct val="115000"/>
              </a:lnSpc>
              <a:spcBef>
                <a:spcPts val="0"/>
              </a:spcBef>
              <a:spcAft>
                <a:spcPts val="0"/>
              </a:spcAft>
              <a:buSzPct val="100000"/>
              <a:buChar char="●"/>
            </a:pPr>
            <a:r>
              <a:rPr lang="ja"/>
              <a:t>自動化するにあたって、ある組織で使うSBOMに対する要件はnormalizeされているべきで、この意味でTelcoWGのSBOMガイドが私の業界にも参考になると考えています。これはOSPOがリードするべきと（個人的には）考えています（が、弊社OSPOチーム内でもコンセンサスにはできていません）</a:t>
            </a:r>
            <a:endParaRPr/>
          </a:p>
          <a:p>
            <a:pPr indent="-291465" lvl="0" marL="457200" rtl="0" algn="l">
              <a:lnSpc>
                <a:spcPct val="115000"/>
              </a:lnSpc>
              <a:spcBef>
                <a:spcPts val="0"/>
              </a:spcBef>
              <a:spcAft>
                <a:spcPts val="0"/>
              </a:spcAft>
              <a:buSzPct val="100000"/>
              <a:buChar char="●"/>
            </a:pPr>
            <a:r>
              <a:rPr lang="ja"/>
              <a:t>Replying to "PSIRTみたいな部門（セキュリティ部門？or 調達部門？）があれば、そちらの方がOSPOよりSBO...":</a:t>
            </a:r>
            <a:br>
              <a:rPr lang="ja"/>
            </a:br>
            <a:r>
              <a:rPr lang="ja"/>
              <a:t>	なぜか？というをもう少し詳しく教えていただけますか？</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1"/>
          <p:cNvSpPr txBox="1"/>
          <p:nvPr>
            <p:ph type="title"/>
          </p:nvPr>
        </p:nvSpPr>
        <p:spPr>
          <a:xfrm>
            <a:off x="432000" y="34524"/>
            <a:ext cx="8280000" cy="594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ja"/>
              <a:t>7/11</a:t>
            </a:r>
            <a:endParaRPr/>
          </a:p>
        </p:txBody>
      </p:sp>
      <p:sp>
        <p:nvSpPr>
          <p:cNvPr id="70" name="Google Shape;70;p11"/>
          <p:cNvSpPr txBox="1"/>
          <p:nvPr>
            <p:ph idx="1" type="body"/>
          </p:nvPr>
        </p:nvSpPr>
        <p:spPr>
          <a:xfrm>
            <a:off x="432000" y="792368"/>
            <a:ext cx="8280000" cy="3835800"/>
          </a:xfrm>
          <a:prstGeom prst="rect">
            <a:avLst/>
          </a:prstGeom>
        </p:spPr>
        <p:txBody>
          <a:bodyPr anchorCtr="0" anchor="t" bIns="24875" lIns="49625" spcFirstLastPara="1" rIns="49625" wrap="square" tIns="24875">
            <a:normAutofit fontScale="70000" lnSpcReduction="20000"/>
          </a:bodyPr>
          <a:lstStyle/>
          <a:p>
            <a:pPr indent="-308610" lvl="0" marL="457200" rtl="0" algn="l">
              <a:lnSpc>
                <a:spcPct val="115000"/>
              </a:lnSpc>
              <a:spcBef>
                <a:spcPts val="0"/>
              </a:spcBef>
              <a:spcAft>
                <a:spcPts val="0"/>
              </a:spcAft>
              <a:buSzPct val="100000"/>
              <a:buChar char="•"/>
            </a:pPr>
            <a:r>
              <a:rPr lang="ja"/>
              <a:t>OSPO</a:t>
            </a:r>
            <a:r>
              <a:rPr lang="ja"/>
              <a:t>が成熟すると、OSSに関わる対応について見識を発揮して検討をリードする組織となる</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ja"/>
              <a:t>以下、チャットメモ</a:t>
            </a:r>
            <a:endParaRPr/>
          </a:p>
          <a:p>
            <a:pPr indent="-308610" lvl="0" marL="457200" rtl="0" algn="l">
              <a:lnSpc>
                <a:spcPct val="115000"/>
              </a:lnSpc>
              <a:spcBef>
                <a:spcPts val="0"/>
              </a:spcBef>
              <a:spcAft>
                <a:spcPts val="0"/>
              </a:spcAft>
              <a:buSzPct val="100000"/>
              <a:buChar char="•"/>
            </a:pPr>
            <a:r>
              <a:rPr lang="ja"/>
              <a:t>調達部門は形式的な体裁のみ確認するとして、それを使った脆弱性管理などを別の部門（セキュリティ部門など）が行っているのであれば、それもこのフローに入れるべきと思います</a:t>
            </a:r>
            <a:endParaRPr/>
          </a:p>
          <a:p>
            <a:pPr indent="-308610" lvl="0" marL="457200" rtl="0" algn="l">
              <a:lnSpc>
                <a:spcPct val="115000"/>
              </a:lnSpc>
              <a:spcBef>
                <a:spcPts val="0"/>
              </a:spcBef>
              <a:spcAft>
                <a:spcPts val="0"/>
              </a:spcAft>
              <a:buSzPct val="100000"/>
              <a:buChar char="•"/>
            </a:pPr>
            <a:r>
              <a:rPr lang="ja"/>
              <a:t>空欄がないかどうかチェックします</a:t>
            </a:r>
            <a:endParaRPr/>
          </a:p>
          <a:p>
            <a:pPr indent="-308610" lvl="0" marL="457200" rtl="0" algn="l">
              <a:lnSpc>
                <a:spcPct val="115000"/>
              </a:lnSpc>
              <a:spcBef>
                <a:spcPts val="0"/>
              </a:spcBef>
              <a:spcAft>
                <a:spcPts val="0"/>
              </a:spcAft>
              <a:buSzPct val="100000"/>
              <a:buChar char="•"/>
            </a:pPr>
            <a:r>
              <a:rPr lang="ja"/>
              <a:t>OSPOがもつ機能については、同じ業界でもけっこう揺れがありますね。自動車業界４社の例がAGLのPublicationsのここにあります。</a:t>
            </a:r>
            <a:endParaRPr/>
          </a:p>
          <a:p>
            <a:pPr indent="-295275" lvl="1" marL="914400" rtl="0" algn="l">
              <a:lnSpc>
                <a:spcPct val="115000"/>
              </a:lnSpc>
              <a:spcBef>
                <a:spcPts val="0"/>
              </a:spcBef>
              <a:spcAft>
                <a:spcPts val="0"/>
              </a:spcAft>
              <a:buSzPct val="100000"/>
              <a:buChar char="•"/>
            </a:pPr>
            <a:r>
              <a:rPr lang="ja" u="sng">
                <a:solidFill>
                  <a:schemeClr val="hlink"/>
                </a:solidFill>
                <a:hlinkClick r:id="rId3"/>
              </a:rPr>
              <a:t>https://lf-automotivelinux.atlassian.net/wiki/spaces/OSPO/pages/397082627/Publications#OSS-%26-OSPO-Promotion-Slides-for-Automotive-Companies</a:t>
            </a:r>
            <a:endParaRPr/>
          </a:p>
          <a:p>
            <a:pPr indent="-295275" lvl="1" marL="914400" rtl="0" algn="l">
              <a:lnSpc>
                <a:spcPct val="115000"/>
              </a:lnSpc>
              <a:spcBef>
                <a:spcPts val="0"/>
              </a:spcBef>
              <a:spcAft>
                <a:spcPts val="0"/>
              </a:spcAft>
              <a:buSzPct val="100000"/>
              <a:buChar char="•"/>
            </a:pPr>
            <a:r>
              <a:rPr lang="ja"/>
              <a:t>”Showcase” というやつです。</a:t>
            </a:r>
            <a:endParaRPr/>
          </a:p>
          <a:p>
            <a:pPr indent="-308610" lvl="0" marL="457200" rtl="0" algn="l">
              <a:lnSpc>
                <a:spcPct val="115000"/>
              </a:lnSpc>
              <a:spcBef>
                <a:spcPts val="0"/>
              </a:spcBef>
              <a:spcAft>
                <a:spcPts val="0"/>
              </a:spcAft>
              <a:buSzPct val="100000"/>
              <a:buChar char="•"/>
            </a:pPr>
            <a:r>
              <a:rPr lang="ja"/>
              <a:t>上記の資料の表だとSBOM管理は Compliance が該当しますが "Leading" or "Support" でばらついているのが見えると思います。</a:t>
            </a:r>
            <a:endParaRPr/>
          </a:p>
          <a:p>
            <a:pPr indent="-308610" lvl="0" marL="457200" rtl="0" algn="l">
              <a:lnSpc>
                <a:spcPct val="115000"/>
              </a:lnSpc>
              <a:spcBef>
                <a:spcPts val="0"/>
              </a:spcBef>
              <a:spcAft>
                <a:spcPts val="0"/>
              </a:spcAft>
              <a:buSzPct val="100000"/>
              <a:buChar char="•"/>
            </a:pPr>
            <a:r>
              <a:rPr lang="ja"/>
              <a:t>調達と発注と開発が実は同一人物だったり、、、</a:t>
            </a:r>
            <a:endParaRPr/>
          </a:p>
          <a:p>
            <a:pPr indent="-308610" lvl="0" marL="457200" rtl="0" algn="l">
              <a:lnSpc>
                <a:spcPct val="115000"/>
              </a:lnSpc>
              <a:spcBef>
                <a:spcPts val="0"/>
              </a:spcBef>
              <a:spcAft>
                <a:spcPts val="0"/>
              </a:spcAft>
              <a:buSzPct val="100000"/>
              <a:buChar char="•"/>
            </a:pPr>
            <a:r>
              <a:rPr lang="ja"/>
              <a:t>「SBOMは私たちの知っているBOMとは違うんだよ」問題？</a:t>
            </a:r>
            <a:endParaRPr/>
          </a:p>
          <a:p>
            <a:pPr indent="-308610" lvl="0" marL="457200" rtl="0" algn="l">
              <a:lnSpc>
                <a:spcPct val="115000"/>
              </a:lnSpc>
              <a:spcBef>
                <a:spcPts val="0"/>
              </a:spcBef>
              <a:spcAft>
                <a:spcPts val="0"/>
              </a:spcAft>
              <a:buSzPct val="100000"/>
              <a:buChar char="•"/>
            </a:pPr>
            <a:r>
              <a:rPr lang="ja"/>
              <a:t>OSPOは、「早めに関わってある程度コントロールしておかないと変な方向に決まってしまってあとで苦労する」 ことを経験上知っているから関わっている…ていうニュアンスあったりしませんか？</a:t>
            </a:r>
            <a:endParaRPr/>
          </a:p>
          <a:p>
            <a:pPr indent="-308610" lvl="0" marL="457200" rtl="0" algn="l">
              <a:lnSpc>
                <a:spcPct val="115000"/>
              </a:lnSpc>
              <a:spcBef>
                <a:spcPts val="0"/>
              </a:spcBef>
              <a:spcAft>
                <a:spcPts val="0"/>
              </a:spcAft>
              <a:buSzPct val="100000"/>
              <a:buChar char="•"/>
            </a:pPr>
            <a:r>
              <a:rPr lang="ja"/>
              <a:t>他の部門に働きかけることは重要なのではなく、OSSの価値を高めるアイテム（SBOM)が正しく運用されるために必要であれば、Leadingを行っている、というのが正しいのでは？</a:t>
            </a:r>
            <a:endParaRPr/>
          </a:p>
          <a:p>
            <a:pPr indent="-308610" lvl="0" marL="457200" rtl="0" algn="l">
              <a:lnSpc>
                <a:spcPct val="115000"/>
              </a:lnSpc>
              <a:spcBef>
                <a:spcPts val="0"/>
              </a:spcBef>
              <a:spcAft>
                <a:spcPts val="0"/>
              </a:spcAft>
              <a:buSzPct val="100000"/>
              <a:buChar char="•"/>
            </a:pPr>
            <a:r>
              <a:rPr lang="ja"/>
              <a:t>すみません、今の議論には参加できていません。私から見ると、そういう理想的な異世界もあるのかな、という感じです</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2"/>
          <p:cNvSpPr txBox="1"/>
          <p:nvPr>
            <p:ph type="title"/>
          </p:nvPr>
        </p:nvSpPr>
        <p:spPr>
          <a:xfrm>
            <a:off x="432000" y="34524"/>
            <a:ext cx="8280000" cy="594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ja"/>
              <a:t>8/22</a:t>
            </a:r>
            <a:endParaRPr/>
          </a:p>
        </p:txBody>
      </p:sp>
      <p:sp>
        <p:nvSpPr>
          <p:cNvPr id="76" name="Google Shape;76;p12"/>
          <p:cNvSpPr txBox="1"/>
          <p:nvPr>
            <p:ph idx="1" type="body"/>
          </p:nvPr>
        </p:nvSpPr>
        <p:spPr>
          <a:xfrm>
            <a:off x="432000" y="792368"/>
            <a:ext cx="8280000" cy="3835800"/>
          </a:xfrm>
          <a:prstGeom prst="rect">
            <a:avLst/>
          </a:prstGeom>
        </p:spPr>
        <p:txBody>
          <a:bodyPr anchorCtr="0" anchor="t" bIns="24875" lIns="49625" spcFirstLastPara="1" rIns="49625" wrap="square" tIns="24875">
            <a:normAutofit lnSpcReduction="10000"/>
          </a:bodyPr>
          <a:lstStyle/>
          <a:p>
            <a:pPr indent="-342900" lvl="0" marL="457200" rtl="0" algn="l">
              <a:spcBef>
                <a:spcPts val="0"/>
              </a:spcBef>
              <a:spcAft>
                <a:spcPts val="0"/>
              </a:spcAft>
              <a:buSzPts val="1800"/>
              <a:buChar char="•"/>
            </a:pPr>
            <a:r>
              <a:rPr lang="ja"/>
              <a:t>OSPO</a:t>
            </a:r>
            <a:r>
              <a:rPr lang="ja"/>
              <a:t>の役割として、OSSによって生じた変化に組織が適合・適応するようにすることがあるので、セキュリティについても、対応する部門が形成され、機能するようになれば、OSPOが関わる必要性がなくなるという考え方もある</a:t>
            </a:r>
            <a:endParaRPr/>
          </a:p>
          <a:p>
            <a:pPr indent="-342900" lvl="0" marL="457200" rtl="0" algn="l">
              <a:spcBef>
                <a:spcPts val="0"/>
              </a:spcBef>
              <a:spcAft>
                <a:spcPts val="0"/>
              </a:spcAft>
              <a:buSzPts val="1800"/>
              <a:buChar char="•"/>
            </a:pPr>
            <a:r>
              <a:rPr lang="ja"/>
              <a:t>OSPOはOSS以外にも活動が広がってゆくのか？　➡　YES</a:t>
            </a:r>
            <a:endParaRPr/>
          </a:p>
          <a:p>
            <a:pPr indent="-323850" lvl="1" marL="914400" rtl="0" algn="l">
              <a:spcBef>
                <a:spcPts val="0"/>
              </a:spcBef>
              <a:spcAft>
                <a:spcPts val="0"/>
              </a:spcAft>
              <a:buSzPts val="1500"/>
              <a:buChar char="•"/>
            </a:pPr>
            <a:r>
              <a:rPr lang="ja"/>
              <a:t>外部からの変化、外部の活動とうまくかかわってゆくという意味でOpenな活動に対するProgram Office = Open </a:t>
            </a:r>
            <a:r>
              <a:rPr lang="ja"/>
              <a:t>Collaboration</a:t>
            </a:r>
            <a:r>
              <a:rPr lang="ja"/>
              <a:t> Program Office</a:t>
            </a:r>
            <a:endParaRPr/>
          </a:p>
          <a:p>
            <a:pPr indent="-342900" lvl="0" marL="457200" rtl="0" algn="l">
              <a:spcBef>
                <a:spcPts val="0"/>
              </a:spcBef>
              <a:spcAft>
                <a:spcPts val="0"/>
              </a:spcAft>
              <a:buSzPts val="1800"/>
              <a:buChar char="•"/>
            </a:pPr>
            <a:r>
              <a:rPr lang="ja"/>
              <a:t>主体的に動くのは各事業部（各部門）であって、OSPOはその支援を行う</a:t>
            </a:r>
            <a:endParaRPr/>
          </a:p>
          <a:p>
            <a:pPr indent="-323850" lvl="1" marL="914400" rtl="0" algn="l">
              <a:spcBef>
                <a:spcPts val="0"/>
              </a:spcBef>
              <a:spcAft>
                <a:spcPts val="0"/>
              </a:spcAft>
              <a:buSzPts val="1500"/>
              <a:buChar char="•"/>
            </a:pPr>
            <a:r>
              <a:rPr lang="ja"/>
              <a:t>全社の連携や、先行的な取り組みを行うのがOSPO</a:t>
            </a:r>
            <a:endParaRPr/>
          </a:p>
          <a:p>
            <a:pPr indent="-323850" lvl="1" marL="914400" rtl="0" algn="l">
              <a:spcBef>
                <a:spcPts val="0"/>
              </a:spcBef>
              <a:spcAft>
                <a:spcPts val="0"/>
              </a:spcAft>
              <a:buSzPts val="1500"/>
              <a:buChar char="•"/>
            </a:pPr>
            <a:r>
              <a:rPr lang="ja"/>
              <a:t>コアエンジニアを育てる・擁護する？というのもOSPOの役割だろう</a:t>
            </a:r>
            <a:endParaRPr/>
          </a:p>
          <a:p>
            <a:pPr indent="-342900" lvl="0" marL="457200" rtl="0" algn="l">
              <a:spcBef>
                <a:spcPts val="0"/>
              </a:spcBef>
              <a:spcAft>
                <a:spcPts val="0"/>
              </a:spcAft>
              <a:buSzPts val="1800"/>
              <a:buChar char="•"/>
            </a:pPr>
            <a:r>
              <a:rPr lang="ja"/>
              <a:t>OSPOの活動費は業績連動となることの危険性</a:t>
            </a:r>
            <a:endParaRPr/>
          </a:p>
          <a:p>
            <a:pPr indent="-323850" lvl="1" marL="914400" rtl="0" algn="l">
              <a:spcBef>
                <a:spcPts val="0"/>
              </a:spcBef>
              <a:spcAft>
                <a:spcPts val="0"/>
              </a:spcAft>
              <a:buSzPts val="1500"/>
              <a:buChar char="•"/>
            </a:pPr>
            <a:r>
              <a:rPr lang="ja"/>
              <a:t>Openな世界につながっていることがOSPO活動の基盤なので、一定の活動は維持しないといけないはず</a:t>
            </a:r>
            <a:endParaRPr/>
          </a:p>
          <a:p>
            <a:pPr indent="-323850" lvl="1" marL="914400" rtl="0" algn="l">
              <a:spcBef>
                <a:spcPts val="0"/>
              </a:spcBef>
              <a:spcAft>
                <a:spcPts val="0"/>
              </a:spcAft>
              <a:buSzPts val="1500"/>
              <a:buChar char="•"/>
            </a:pPr>
            <a:r>
              <a:rPr lang="ja"/>
              <a:t>投資と考えるべきで、業績に応じて抑えるというのは良くない。続けなければ成長が無い</a:t>
            </a:r>
            <a:endParaRPr/>
          </a:p>
          <a:p>
            <a:pPr indent="-323850" lvl="1" marL="914400" rtl="0" algn="l">
              <a:spcBef>
                <a:spcPts val="0"/>
              </a:spcBef>
              <a:spcAft>
                <a:spcPts val="0"/>
              </a:spcAft>
              <a:buSzPts val="1500"/>
              <a:buChar char="•"/>
            </a:pPr>
            <a:r>
              <a:rPr lang="ja"/>
              <a:t>OSS活動が事業に密接に関連していることの理解を得て、実績を示せると安定する</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3"/>
          <p:cNvSpPr txBox="1"/>
          <p:nvPr>
            <p:ph type="title"/>
          </p:nvPr>
        </p:nvSpPr>
        <p:spPr>
          <a:xfrm>
            <a:off x="432000" y="34524"/>
            <a:ext cx="8280000" cy="594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ja"/>
              <a:t>8/22</a:t>
            </a:r>
            <a:endParaRPr/>
          </a:p>
        </p:txBody>
      </p:sp>
      <p:sp>
        <p:nvSpPr>
          <p:cNvPr id="82" name="Google Shape;82;p13"/>
          <p:cNvSpPr txBox="1"/>
          <p:nvPr>
            <p:ph idx="1" type="body"/>
          </p:nvPr>
        </p:nvSpPr>
        <p:spPr>
          <a:xfrm>
            <a:off x="432000" y="792368"/>
            <a:ext cx="8280000" cy="3835800"/>
          </a:xfrm>
          <a:prstGeom prst="rect">
            <a:avLst/>
          </a:prstGeom>
        </p:spPr>
        <p:txBody>
          <a:bodyPr anchorCtr="0" anchor="t" bIns="24875" lIns="49625" spcFirstLastPara="1" rIns="49625" wrap="square" tIns="24875">
            <a:noAutofit/>
          </a:bodyPr>
          <a:lstStyle/>
          <a:p>
            <a:pPr indent="-342900" lvl="0" marL="457200" rtl="0" algn="l">
              <a:spcBef>
                <a:spcPts val="0"/>
              </a:spcBef>
              <a:spcAft>
                <a:spcPts val="0"/>
              </a:spcAft>
              <a:buSzPts val="1800"/>
              <a:buChar char="•"/>
            </a:pPr>
            <a:r>
              <a:rPr lang="ja"/>
              <a:t>OSPOが扱う様々なアイテムのうち、事業部門や会社自体がビジネスやガバナンス的に重要視されるアイテムは個別の組織に移管されて運用される方がいい、ということはありますか？もしそうなら、どういうアイテムが移管の対象になりうるかを検討するのもあるのかもしれません</a:t>
            </a:r>
            <a:endParaRPr/>
          </a:p>
          <a:p>
            <a:pPr indent="-323850" lvl="1" marL="914400" rtl="0" algn="l">
              <a:spcBef>
                <a:spcPts val="0"/>
              </a:spcBef>
              <a:spcAft>
                <a:spcPts val="0"/>
              </a:spcAft>
              <a:buSzPts val="1500"/>
              <a:buChar char="•"/>
            </a:pPr>
            <a:r>
              <a:rPr lang="ja"/>
              <a:t>直接事業に役立つものはその事業部に移管するといいと思う</a:t>
            </a:r>
            <a:endParaRPr/>
          </a:p>
          <a:p>
            <a:pPr indent="-323850" lvl="1" marL="914400" rtl="0" algn="l">
              <a:spcBef>
                <a:spcPts val="0"/>
              </a:spcBef>
              <a:spcAft>
                <a:spcPts val="0"/>
              </a:spcAft>
              <a:buSzPts val="1500"/>
              <a:buChar char="•"/>
            </a:pPr>
            <a:r>
              <a:rPr lang="ja"/>
              <a:t>OSPOでないと出来ないことは、事業部がまだ考えていないことで将来必要なこと</a:t>
            </a:r>
            <a:endParaRPr/>
          </a:p>
          <a:p>
            <a:pPr indent="-304800" lvl="2" marL="1371600" rtl="0" algn="l">
              <a:spcBef>
                <a:spcPts val="0"/>
              </a:spcBef>
              <a:spcAft>
                <a:spcPts val="0"/>
              </a:spcAft>
              <a:buSzPts val="1200"/>
              <a:buChar char="•"/>
            </a:pPr>
            <a:r>
              <a:rPr lang="ja"/>
              <a:t>OSSをハンドリングできるエンジニアや人材を一定数確保すること、そのカルチャーを維持すること</a:t>
            </a:r>
            <a:endParaRPr/>
          </a:p>
          <a:p>
            <a:pPr indent="-323850" lvl="1" marL="914400" rtl="0" algn="l">
              <a:spcBef>
                <a:spcPts val="0"/>
              </a:spcBef>
              <a:spcAft>
                <a:spcPts val="0"/>
              </a:spcAft>
              <a:buSzPts val="1500"/>
              <a:buChar char="•"/>
            </a:pPr>
            <a:r>
              <a:rPr lang="ja"/>
              <a:t>全社経営戦略にOSPOのOSS戦略検討＆推進機能が集約されると良いと思う</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432000" y="34524"/>
            <a:ext cx="8280000" cy="594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ja"/>
              <a:t>9/19 </a:t>
            </a:r>
            <a:endParaRPr/>
          </a:p>
        </p:txBody>
      </p:sp>
      <p:sp>
        <p:nvSpPr>
          <p:cNvPr id="88" name="Google Shape;88;p14"/>
          <p:cNvSpPr txBox="1"/>
          <p:nvPr>
            <p:ph idx="1" type="body"/>
          </p:nvPr>
        </p:nvSpPr>
        <p:spPr>
          <a:xfrm>
            <a:off x="432000" y="792368"/>
            <a:ext cx="8280000" cy="3835800"/>
          </a:xfrm>
          <a:prstGeom prst="rect">
            <a:avLst/>
          </a:prstGeom>
        </p:spPr>
        <p:txBody>
          <a:bodyPr anchorCtr="0" anchor="t" bIns="24875" lIns="49625" spcFirstLastPara="1" rIns="49625" wrap="square" tIns="24875">
            <a:normAutofit/>
          </a:bodyPr>
          <a:lstStyle/>
          <a:p>
            <a:pPr indent="-342900" lvl="0" marL="457200" rtl="0" algn="l">
              <a:spcBef>
                <a:spcPts val="0"/>
              </a:spcBef>
              <a:spcAft>
                <a:spcPts val="0"/>
              </a:spcAft>
              <a:buSzPts val="1800"/>
              <a:buChar char="•"/>
            </a:pPr>
            <a:r>
              <a:rPr lang="ja"/>
              <a:t>OSSに対する理解が「</a:t>
            </a:r>
            <a:r>
              <a:rPr lang="ja" u="sng">
                <a:solidFill>
                  <a:schemeClr val="hlink"/>
                </a:solidFill>
                <a:hlinkClick r:id="rId3"/>
              </a:rPr>
              <a:t>群盲象を評す</a:t>
            </a:r>
            <a:r>
              <a:rPr lang="ja"/>
              <a:t>」”</a:t>
            </a:r>
            <a:r>
              <a:rPr lang="ja" u="sng">
                <a:solidFill>
                  <a:schemeClr val="hlink"/>
                </a:solidFill>
                <a:hlinkClick r:id="rId4"/>
              </a:rPr>
              <a:t>Blind men and an elephant</a:t>
            </a:r>
            <a:r>
              <a:rPr lang="ja"/>
              <a:t>”状態になることが多いのでは</a:t>
            </a:r>
            <a:endParaRPr/>
          </a:p>
          <a:p>
            <a:pPr indent="-323850" lvl="1" marL="914400" rtl="0" algn="l">
              <a:spcBef>
                <a:spcPts val="0"/>
              </a:spcBef>
              <a:spcAft>
                <a:spcPts val="0"/>
              </a:spcAft>
              <a:buSzPts val="1500"/>
              <a:buChar char="•"/>
            </a:pPr>
            <a:r>
              <a:rPr lang="ja"/>
              <a:t>（コメント）「群盲象を評す」は国によって教訓が異なるので、グローバルな説明に使うには気を付ける必要がありそう</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432000" y="34524"/>
            <a:ext cx="8280000" cy="594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ja"/>
              <a:t>9/19 </a:t>
            </a:r>
            <a:endParaRPr/>
          </a:p>
        </p:txBody>
      </p:sp>
      <p:sp>
        <p:nvSpPr>
          <p:cNvPr id="94" name="Google Shape;94;p15"/>
          <p:cNvSpPr txBox="1"/>
          <p:nvPr>
            <p:ph idx="1" type="body"/>
          </p:nvPr>
        </p:nvSpPr>
        <p:spPr>
          <a:xfrm>
            <a:off x="432000" y="792368"/>
            <a:ext cx="8280000" cy="3835800"/>
          </a:xfrm>
          <a:prstGeom prst="rect">
            <a:avLst/>
          </a:prstGeom>
        </p:spPr>
        <p:txBody>
          <a:bodyPr anchorCtr="0" anchor="t" bIns="24875" lIns="49625" spcFirstLastPara="1" rIns="49625" wrap="square" tIns="24875">
            <a:normAutofit/>
          </a:bodyPr>
          <a:lstStyle/>
          <a:p>
            <a:pPr indent="-342900" lvl="0" marL="457200" rtl="0" algn="l">
              <a:spcBef>
                <a:spcPts val="0"/>
              </a:spcBef>
              <a:spcAft>
                <a:spcPts val="0"/>
              </a:spcAft>
              <a:buSzPts val="1800"/>
              <a:buChar char="•"/>
            </a:pPr>
            <a:r>
              <a:rPr lang="ja"/>
              <a:t>OSPOとは</a:t>
            </a:r>
            <a:br>
              <a:rPr lang="ja"/>
            </a:br>
            <a:r>
              <a:rPr lang="ja"/>
              <a:t>「OSSによって生じた変化に企業活動が適合・適応するように働きかける集団」</a:t>
            </a:r>
            <a:endParaRPr/>
          </a:p>
          <a:p>
            <a:pPr indent="-342900" lvl="0" marL="457200" rtl="0" algn="l">
              <a:spcBef>
                <a:spcPts val="0"/>
              </a:spcBef>
              <a:spcAft>
                <a:spcPts val="0"/>
              </a:spcAft>
              <a:buSzPts val="1800"/>
              <a:buChar char="•"/>
            </a:pPr>
            <a:r>
              <a:rPr lang="ja"/>
              <a:t>適合・適応の目指す状態は企業によって異なり、そのためOSPOの活動（姿）が異なってくる（Your OSPO is not My OSPO）</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432000" y="34524"/>
            <a:ext cx="8280000" cy="594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ja"/>
              <a:t>9/19 </a:t>
            </a:r>
            <a:endParaRPr/>
          </a:p>
        </p:txBody>
      </p:sp>
      <p:sp>
        <p:nvSpPr>
          <p:cNvPr id="100" name="Google Shape;100;p16"/>
          <p:cNvSpPr txBox="1"/>
          <p:nvPr>
            <p:ph idx="1" type="body"/>
          </p:nvPr>
        </p:nvSpPr>
        <p:spPr>
          <a:xfrm>
            <a:off x="432000" y="792368"/>
            <a:ext cx="8280000" cy="3835800"/>
          </a:xfrm>
          <a:prstGeom prst="rect">
            <a:avLst/>
          </a:prstGeom>
        </p:spPr>
        <p:txBody>
          <a:bodyPr anchorCtr="0" anchor="t" bIns="24875" lIns="49625" spcFirstLastPara="1" rIns="49625" wrap="square" tIns="24875">
            <a:normAutofit/>
          </a:bodyPr>
          <a:lstStyle/>
          <a:p>
            <a:pPr indent="-342900" lvl="0" marL="457200" rtl="0" algn="l">
              <a:spcBef>
                <a:spcPts val="0"/>
              </a:spcBef>
              <a:spcAft>
                <a:spcPts val="0"/>
              </a:spcAft>
              <a:buSzPts val="1800"/>
              <a:buChar char="•"/>
            </a:pPr>
            <a:r>
              <a:rPr lang="ja"/>
              <a:t>「目指す状態」は企業内の立場によって、異なることがある</a:t>
            </a:r>
            <a:endParaRPr/>
          </a:p>
          <a:p>
            <a:pPr indent="-323850" lvl="1" marL="914400" rtl="0" algn="l">
              <a:spcBef>
                <a:spcPts val="0"/>
              </a:spcBef>
              <a:spcAft>
                <a:spcPts val="0"/>
              </a:spcAft>
              <a:buSzPts val="1500"/>
              <a:buChar char="•"/>
            </a:pPr>
            <a:r>
              <a:rPr lang="ja"/>
              <a:t>経営層はリスク対策、R＆DはInovation加速、商品開発は効率的なコンプライアンス対応、OSPOはOSS・コミュニティ活動連携戦略を含む経営戦略、など</a:t>
            </a:r>
            <a:endParaRPr/>
          </a:p>
          <a:p>
            <a:pPr indent="-323850" lvl="1" marL="914400" rtl="0" algn="l">
              <a:spcBef>
                <a:spcPts val="0"/>
              </a:spcBef>
              <a:spcAft>
                <a:spcPts val="0"/>
              </a:spcAft>
              <a:buSzPts val="1500"/>
              <a:buChar char="•"/>
            </a:pPr>
            <a:r>
              <a:rPr lang="ja"/>
              <a:t>これは、OSSに対する理解が一致していないことに起因すると考えられる</a:t>
            </a:r>
            <a:endParaRPr/>
          </a:p>
          <a:p>
            <a:pPr indent="-323850" lvl="1" marL="914400" rtl="0" algn="l">
              <a:spcBef>
                <a:spcPts val="0"/>
              </a:spcBef>
              <a:spcAft>
                <a:spcPts val="0"/>
              </a:spcAft>
              <a:buSzPts val="1500"/>
              <a:buChar char="•"/>
            </a:pPr>
            <a:r>
              <a:rPr lang="ja"/>
              <a:t>（コメント）この違いをブリッジするというのがOSPOの役割（定義）になるのかもしれない</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type="title"/>
          </p:nvPr>
        </p:nvSpPr>
        <p:spPr>
          <a:xfrm>
            <a:off x="432000" y="34524"/>
            <a:ext cx="8280000" cy="594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ja"/>
              <a:t>9/19 </a:t>
            </a:r>
            <a:endParaRPr/>
          </a:p>
        </p:txBody>
      </p:sp>
      <p:sp>
        <p:nvSpPr>
          <p:cNvPr id="106" name="Google Shape;106;p17"/>
          <p:cNvSpPr txBox="1"/>
          <p:nvPr>
            <p:ph idx="1" type="body"/>
          </p:nvPr>
        </p:nvSpPr>
        <p:spPr>
          <a:xfrm>
            <a:off x="432000" y="792368"/>
            <a:ext cx="8280000" cy="3835800"/>
          </a:xfrm>
          <a:prstGeom prst="rect">
            <a:avLst/>
          </a:prstGeom>
        </p:spPr>
        <p:txBody>
          <a:bodyPr anchorCtr="0" anchor="t" bIns="24875" lIns="49625" spcFirstLastPara="1" rIns="49625" wrap="square" tIns="24875">
            <a:normAutofit/>
          </a:bodyPr>
          <a:lstStyle/>
          <a:p>
            <a:pPr indent="-342900" lvl="0" marL="457200" rtl="0" algn="l">
              <a:spcBef>
                <a:spcPts val="0"/>
              </a:spcBef>
              <a:spcAft>
                <a:spcPts val="0"/>
              </a:spcAft>
              <a:buSzPts val="1800"/>
              <a:buChar char="•"/>
            </a:pPr>
            <a:r>
              <a:rPr lang="ja"/>
              <a:t>OSPOのスタートの仕方によってもOSPOの活動が異なってくる</a:t>
            </a:r>
            <a:endParaRPr/>
          </a:p>
          <a:p>
            <a:pPr indent="-323850" lvl="1" marL="914400" rtl="0" algn="l">
              <a:spcBef>
                <a:spcPts val="0"/>
              </a:spcBef>
              <a:spcAft>
                <a:spcPts val="0"/>
              </a:spcAft>
              <a:buSzPts val="1500"/>
              <a:buChar char="•"/>
            </a:pPr>
            <a:r>
              <a:rPr lang="ja"/>
              <a:t>2020年ぐらいまでは、OSPO（のような活動）が企業の発展＆存続に必須であるとの危機感を持った有志が草の根活動としてOSPOを開始し、徐々に公式活動としての認知を得ていく形が主流だった（Bottom Up OSPO）</a:t>
            </a:r>
            <a:endParaRPr/>
          </a:p>
          <a:p>
            <a:pPr indent="-323850" lvl="1" marL="914400" rtl="0" algn="l">
              <a:spcBef>
                <a:spcPts val="0"/>
              </a:spcBef>
              <a:spcAft>
                <a:spcPts val="0"/>
              </a:spcAft>
              <a:buSzPts val="1500"/>
              <a:buChar char="•"/>
            </a:pPr>
            <a:r>
              <a:rPr lang="ja"/>
              <a:t>近年は、OSPOが必要との認識が業界に広がり、経営判断としてOSPOを立ち上げるケースが出てきている（Top Down OSPO）</a:t>
            </a:r>
            <a:endParaRPr/>
          </a:p>
          <a:p>
            <a:pPr indent="-304800" lvl="2" marL="1371600" rtl="0" algn="l">
              <a:spcBef>
                <a:spcPts val="0"/>
              </a:spcBef>
              <a:spcAft>
                <a:spcPts val="0"/>
              </a:spcAft>
              <a:buSzPts val="1200"/>
              <a:buChar char="•"/>
            </a:pPr>
            <a:r>
              <a:rPr lang="ja"/>
              <a:t>（コメント）このケースは実際にあるのか。実例が知りたい</a:t>
            </a:r>
            <a:endParaRPr/>
          </a:p>
          <a:p>
            <a:pPr indent="-323850" lvl="1" marL="914400" rtl="0" algn="l">
              <a:spcBef>
                <a:spcPts val="0"/>
              </a:spcBef>
              <a:spcAft>
                <a:spcPts val="0"/>
              </a:spcAft>
              <a:buSzPts val="1500"/>
              <a:buChar char="•"/>
            </a:pPr>
            <a:r>
              <a:rPr lang="ja"/>
              <a:t>Bottom Up OSPOはOSS戦略を目指し、Top Down OSPOは経営層の目指すところを目指す傾向にあるのではないか</a:t>
            </a:r>
            <a:endParaRPr/>
          </a:p>
          <a:p>
            <a:pPr indent="-304800" lvl="2" marL="1371600" rtl="0" algn="l">
              <a:spcBef>
                <a:spcPts val="0"/>
              </a:spcBef>
              <a:spcAft>
                <a:spcPts val="0"/>
              </a:spcAft>
              <a:buSzPts val="1200"/>
              <a:buChar char="•"/>
            </a:pPr>
            <a:r>
              <a:rPr lang="ja"/>
              <a:t>経営層がOSSをリスクと思っていると、ガバナンス先行でOSS貢献とかは二の次になりそう</a:t>
            </a:r>
            <a:endParaRPr/>
          </a:p>
          <a:p>
            <a:pPr indent="-304800" lvl="2" marL="1371600" rtl="0" algn="l">
              <a:spcBef>
                <a:spcPts val="0"/>
              </a:spcBef>
              <a:spcAft>
                <a:spcPts val="0"/>
              </a:spcAft>
              <a:buSzPts val="1200"/>
              <a:buChar char="•"/>
            </a:pPr>
            <a:r>
              <a:rPr lang="ja"/>
              <a:t>結局、経営層がOSSコミュニティがどう動くのか、その中で自社がどう動くべきかを理解しているかどうか、に依存する？</a:t>
            </a:r>
            <a:endParaRPr/>
          </a:p>
          <a:p>
            <a:pPr indent="-304800" lvl="2" marL="1371600" rtl="0" algn="l">
              <a:spcBef>
                <a:spcPts val="0"/>
              </a:spcBef>
              <a:spcAft>
                <a:spcPts val="0"/>
              </a:spcAft>
              <a:buSzPts val="1200"/>
              <a:buChar char="•"/>
            </a:pPr>
            <a:r>
              <a:rPr lang="ja"/>
              <a:t>ソフトの側が、大きな技術の流れを作っているのか、それとも特定顧客への対応に過ぎないのかは、大きな違いになると思います。</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432000" y="34524"/>
            <a:ext cx="8280000" cy="594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ja"/>
              <a:t>9/19 </a:t>
            </a:r>
            <a:endParaRPr/>
          </a:p>
        </p:txBody>
      </p:sp>
      <p:sp>
        <p:nvSpPr>
          <p:cNvPr id="112" name="Google Shape;112;p18"/>
          <p:cNvSpPr txBox="1"/>
          <p:nvPr>
            <p:ph idx="1" type="body"/>
          </p:nvPr>
        </p:nvSpPr>
        <p:spPr>
          <a:xfrm>
            <a:off x="432000" y="792368"/>
            <a:ext cx="8280000" cy="3835800"/>
          </a:xfrm>
          <a:prstGeom prst="rect">
            <a:avLst/>
          </a:prstGeom>
        </p:spPr>
        <p:txBody>
          <a:bodyPr anchorCtr="0" anchor="t" bIns="24875" lIns="49625" spcFirstLastPara="1" rIns="49625" wrap="square" tIns="24875">
            <a:normAutofit/>
          </a:bodyPr>
          <a:lstStyle/>
          <a:p>
            <a:pPr indent="-342900" lvl="0" marL="457200" rtl="0" algn="l">
              <a:spcBef>
                <a:spcPts val="0"/>
              </a:spcBef>
              <a:spcAft>
                <a:spcPts val="0"/>
              </a:spcAft>
              <a:buSzPts val="1800"/>
              <a:buChar char="•"/>
            </a:pPr>
            <a:r>
              <a:rPr lang="ja"/>
              <a:t>ここまで書いたような</a:t>
            </a:r>
            <a:r>
              <a:rPr lang="ja"/>
              <a:t>状況がOSPO活動が簡単に進まない要因ではないか</a:t>
            </a:r>
            <a:endParaRPr/>
          </a:p>
          <a:p>
            <a:pPr indent="-342900" lvl="0" marL="457200" rtl="0" algn="l">
              <a:spcBef>
                <a:spcPts val="0"/>
              </a:spcBef>
              <a:spcAft>
                <a:spcPts val="0"/>
              </a:spcAft>
              <a:buSzPts val="1800"/>
              <a:buChar char="•"/>
            </a:pPr>
            <a:r>
              <a:rPr lang="ja"/>
              <a:t>業界ごとのガイドライン（？）があると良いのでは？</a:t>
            </a:r>
            <a:endParaRPr/>
          </a:p>
          <a:p>
            <a:pPr indent="-323850" lvl="1" marL="914400" rtl="0" algn="l">
              <a:spcBef>
                <a:spcPts val="0"/>
              </a:spcBef>
              <a:spcAft>
                <a:spcPts val="0"/>
              </a:spcAft>
              <a:buSzPts val="1500"/>
              <a:buChar char="•"/>
            </a:pPr>
            <a:r>
              <a:rPr lang="ja"/>
              <a:t>プラクティス集（？）</a:t>
            </a:r>
            <a:endParaRPr/>
          </a:p>
          <a:p>
            <a:pPr indent="-342900" lvl="0" marL="457200" rtl="0" algn="l">
              <a:spcBef>
                <a:spcPts val="0"/>
              </a:spcBef>
              <a:spcAft>
                <a:spcPts val="0"/>
              </a:spcAft>
              <a:buSzPts val="1800"/>
              <a:buChar char="•"/>
            </a:pPr>
            <a:r>
              <a:rPr lang="ja"/>
              <a:t>OSPOは事業活動の類型ごとにある程度類似するのだろうか？</a:t>
            </a:r>
            <a:endParaRPr/>
          </a:p>
          <a:p>
            <a:pPr indent="-342900" lvl="0" marL="457200" rtl="0" algn="l">
              <a:spcBef>
                <a:spcPts val="0"/>
              </a:spcBef>
              <a:spcAft>
                <a:spcPts val="0"/>
              </a:spcAft>
              <a:buSzPts val="1800"/>
              <a:buChar char="•"/>
            </a:pPr>
            <a:r>
              <a:rPr lang="ja"/>
              <a:t>OSPOを立ち上げる際に、同業他社にOSPOがある、という情報が社内説得材料として役立つ　➡　情報を集められないか</a:t>
            </a:r>
            <a:endParaRPr/>
          </a:p>
          <a:p>
            <a:pPr indent="-323850" lvl="1" marL="914400" rtl="0" algn="l">
              <a:spcBef>
                <a:spcPts val="0"/>
              </a:spcBef>
              <a:spcAft>
                <a:spcPts val="0"/>
              </a:spcAft>
              <a:buSzPts val="1500"/>
              <a:buChar char="•"/>
            </a:pPr>
            <a:r>
              <a:rPr lang="ja"/>
              <a:t>これが、OpenChainの会合でのLightning Talkの始まり</a:t>
            </a:r>
            <a:endParaRPr/>
          </a:p>
        </p:txBody>
      </p:sp>
      <p:pic>
        <p:nvPicPr>
          <p:cNvPr id="113" name="Google Shape;113;p18"/>
          <p:cNvPicPr preferRelativeResize="0"/>
          <p:nvPr/>
        </p:nvPicPr>
        <p:blipFill>
          <a:blip r:embed="rId3">
            <a:alphaModFix/>
          </a:blip>
          <a:stretch>
            <a:fillRect/>
          </a:stretch>
        </p:blipFill>
        <p:spPr>
          <a:xfrm>
            <a:off x="5674825" y="3129000"/>
            <a:ext cx="3734849" cy="20910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penChain Japan Work Group">
  <a:themeElements>
    <a:clrScheme name="ユーザー定義 1">
      <a:dk1>
        <a:srgbClr val="000000"/>
      </a:dk1>
      <a:lt1>
        <a:srgbClr val="FFFFFF"/>
      </a:lt1>
      <a:dk2>
        <a:srgbClr val="4E5B6F"/>
      </a:dk2>
      <a:lt2>
        <a:srgbClr val="D6ECFF"/>
      </a:lt2>
      <a:accent1>
        <a:srgbClr val="007DEA"/>
      </a:accent1>
      <a:accent2>
        <a:srgbClr val="FCB95D"/>
      </a:accent2>
      <a:accent3>
        <a:srgbClr val="FF0000"/>
      </a:accent3>
      <a:accent4>
        <a:srgbClr val="007DEA"/>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