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omments/comment1.xml" ContentType="application/vnd.openxmlformats-officedocument.presentationml.comments+xml"/>
  <Override PartName="/ppt/notesSlides/notesSlide30.xml" ContentType="application/vnd.openxmlformats-officedocument.presentationml.notesSlide+xml"/>
  <Override PartName="/ppt/comments/comment2.xml" ContentType="application/vnd.openxmlformats-officedocument.presentationml.comment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omments/comment3.xml" ContentType="application/vnd.openxmlformats-officedocument.presentationml.comment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omments/comment4.xml" ContentType="application/vnd.openxmlformats-officedocument.presentationml.comment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omments/comment5.xml" ContentType="application/vnd.openxmlformats-officedocument.presentationml.comment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5" r:id="rId1"/>
  </p:sldMasterIdLst>
  <p:notesMasterIdLst>
    <p:notesMasterId r:id="rId6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sldSz cx="9144000" cy="5143500" type="screen16x9"/>
  <p:notesSz cx="6858000" cy="9144000"/>
  <p:embeddedFontLst>
    <p:embeddedFont>
      <p:font typeface="Open Sans" panose="020B0606030504020204" pitchFamily="34" charset="0"/>
      <p:regular r:id="rId69"/>
      <p:bold r:id="rId70"/>
      <p:italic r:id="rId71"/>
      <p:boldItalic r:id="rId72"/>
    </p:embeddedFont>
    <p:embeddedFont>
      <p:font typeface="Quattrocento Sans" panose="020B0502050000020003" pitchFamily="34" charset="0"/>
      <p:regular r:id="rId73"/>
      <p:bold r:id="rId74"/>
      <p:italic r:id="rId75"/>
      <p:boldItalic r:id="rId76"/>
    </p:embeddedFont>
    <p:embeddedFont>
      <p:font typeface="Tahoma" panose="020B0604030504040204" pitchFamily="34" charset="0"/>
      <p:regular r:id="rId77"/>
      <p:bold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sayuki Kuwata" initials="" lastIdx="1" clrIdx="0"/>
  <p:cmAuthor id="1" name="小泉悟" initials="" lastIdx="1" clrIdx="1"/>
  <p:cmAuthor id="2" name="匿名" initials="" lastIdx="2" clrIdx="2"/>
  <p:cmAuthor id="3" name="Naomichi Shima" initials="" lastIdx="3" clrIdx="3"/>
  <p:cmAuthor id="4" name="Shu Muto" initials="" lastIdx="4"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A691572-F3AE-4C50-9FBC-A2B79843BC87}">
  <a:tblStyle styleId="{FA691572-F3AE-4C50-9FBC-A2B79843BC8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5" autoAdjust="0"/>
    <p:restoredTop sz="84995" autoAdjust="0"/>
  </p:normalViewPr>
  <p:slideViewPr>
    <p:cSldViewPr snapToGrid="0">
      <p:cViewPr>
        <p:scale>
          <a:sx n="77" d="100"/>
          <a:sy n="77" d="100"/>
        </p:scale>
        <p:origin x="288" y="-3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6.fntdata"/><Relationship Id="rId79"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1.fntdata"/><Relationship Id="rId77"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4.fntdata"/><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2.fntdata"/><Relationship Id="rId75" Type="http://schemas.openxmlformats.org/officeDocument/2006/relationships/font" Target="fonts/font7.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5.fntdata"/><Relationship Id="rId78" Type="http://schemas.openxmlformats.org/officeDocument/2006/relationships/font" Target="fonts/font10.fntdata"/><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8.fntdata"/><Relationship Id="rId7" Type="http://schemas.openxmlformats.org/officeDocument/2006/relationships/slide" Target="slides/slide6.xml"/><Relationship Id="rId71" Type="http://schemas.openxmlformats.org/officeDocument/2006/relationships/font" Target="fonts/font3.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3-03-24T07:47:05.858" idx="1">
    <p:pos x="6000" y="0"/>
    <p:text>"Creating open source programs" has been reordered so that English and Japanese are written side by side.</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3-03-24T07:04:51.618" idx="1">
    <p:pos x="272" y="578"/>
    <p:text>I thought this might be another question that comes up quite a bit earlier.</p:text>
  </p:cm>
</p:cmLst>
</file>

<file path=ppt/comments/comment3.xml><?xml version="1.0" encoding="utf-8"?>
<p:cmLst xmlns:a="http://schemas.openxmlformats.org/drawingml/2006/main" xmlns:r="http://schemas.openxmlformats.org/officeDocument/2006/relationships" xmlns:p="http://schemas.openxmlformats.org/presentationml/2006/main">
  <p:cm authorId="3" dt="2025-02-28T06:54:30.928" idx="1">
    <p:pos x="343" y="115"/>
    <p:text>"We (OSPO) have to stick our nose in it, or something will get weird," and the OSPO goes out of its way to attack various parts of the company.</p:text>
  </p:cm>
  <p:cm authorId="3" dt="2025-04-25T06:58:38.198" idx="2">
    <p:pos x="6000" y="100"/>
    <p:text>Normally, the OSPO is in charge of software configuration management for OSS license compliance, and the security staff is in charge of software configuration management for security measures.
However, if each of them makes rules and spreads them independently, it may lead to double management and force developers to do unnecessary work, so it would be efficient if the OSPO, the security staff, and the quality assurance staff work together to manage SBOMs.</p:text>
  </p:cm>
  <p:cm authorId="2" dt="2025-05-23T06:36:10.507" idx="1">
    <p:pos x="6000" y="0"/>
    <p:text>Our company is starting to think that there may be multiple cases of "SBOM management". How about your case??? (our company has not implemented SBOM management, so this is a brain simulation)
・Management of receipt of SBOMs from suppliers (ensure receipt at VUP, etc.)
・Management of SBOMs (inform suppliers of vulnerabilities, etc.)
・Management of SBOMs delivered to suppliers (SBOM creation)
・Management of SBOMs delivered to suppliers</p:text>
  </p:cm>
  <p:cm authorId="2" dt="2025-05-23T06:36:10.507" idx="2">
    <p:pos x="6000" y="0"/>
    <p:text>daikoku@kddi</p:text>
  </p:cm>
</p:cmLst>
</file>

<file path=ppt/comments/comment4.xml><?xml version="1.0" encoding="utf-8"?>
<p:cmLst xmlns:a="http://schemas.openxmlformats.org/drawingml/2006/main" xmlns:r="http://schemas.openxmlformats.org/officeDocument/2006/relationships" xmlns:p="http://schemas.openxmlformats.org/presentationml/2006/main">
  <p:cm authorId="4" dt="2025-07-11T06:30:22.951" idx="1">
    <p:pos x="3317" y="1985"/>
    <p:text>Comment 1: I don't know if the quality control department can check if the SBOM is correct.
Comment 2: Maybe the OSPO will provide a point of view to check?</p:text>
  </p:cm>
  <p:cm authorId="4" dt="2025-07-11T06:37:05.253" idx="2">
    <p:pos x="713" y="1555"/>
    <p:text>"Purchasing"?</p:text>
  </p:cm>
  <p:cm authorId="4" dt="2025-07-11T06:37:51.596" idx="4">
    <p:pos x="713" y="1655"/>
    <p:text>Either way, it would be better to define what the department does.</p:text>
  </p:cm>
  <p:cm authorId="4" dt="2025-07-11T06:40:11.726" idx="3">
    <p:pos x="2468" y="1555"/>
    <p:text>In a HW manufacturing company, the design department and the manufacturing department are different.</p:text>
  </p:cm>
</p:cmLst>
</file>

<file path=ppt/comments/comment5.xml><?xml version="1.0" encoding="utf-8"?>
<p:cmLst xmlns:a="http://schemas.openxmlformats.org/drawingml/2006/main" xmlns:r="http://schemas.openxmlformats.org/officeDocument/2006/relationships" xmlns:p="http://schemas.openxmlformats.org/presentationml/2006/main">
  <p:cm authorId="3" dt="2025-08-22T06:56:16.077" idx="3">
    <p:pos x="272" y="499"/>
    <p:text>[memo]
Open Technology Program Office
It could be OxPO after all. There was also talk in the chat.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880"/>
            </a:lvl1pPr>
            <a:lvl2pPr marL="914400" lvl="1" indent="-298450">
              <a:spcBef>
                <a:spcPts val="0"/>
              </a:spcBef>
              <a:spcAft>
                <a:spcPts val="0"/>
              </a:spcAft>
              <a:buSzPts val="1100"/>
              <a:buChar char="○"/>
              <a:defRPr sz="880"/>
            </a:lvl2pPr>
            <a:lvl3pPr marL="1371600" lvl="2" indent="-298450">
              <a:spcBef>
                <a:spcPts val="0"/>
              </a:spcBef>
              <a:spcAft>
                <a:spcPts val="0"/>
              </a:spcAft>
              <a:buSzPts val="1100"/>
              <a:buChar char="■"/>
              <a:defRPr sz="880"/>
            </a:lvl3pPr>
            <a:lvl4pPr marL="1828800" lvl="3" indent="-298450">
              <a:spcBef>
                <a:spcPts val="0"/>
              </a:spcBef>
              <a:spcAft>
                <a:spcPts val="0"/>
              </a:spcAft>
              <a:buSzPts val="1100"/>
              <a:buChar char="●"/>
              <a:defRPr sz="880"/>
            </a:lvl4pPr>
            <a:lvl5pPr marL="2286000" lvl="4" indent="-298450">
              <a:spcBef>
                <a:spcPts val="0"/>
              </a:spcBef>
              <a:spcAft>
                <a:spcPts val="0"/>
              </a:spcAft>
              <a:buSzPts val="1100"/>
              <a:buChar char="○"/>
              <a:defRPr sz="880"/>
            </a:lvl5pPr>
            <a:lvl6pPr marL="2743200" lvl="5" indent="-298450">
              <a:spcBef>
                <a:spcPts val="0"/>
              </a:spcBef>
              <a:spcAft>
                <a:spcPts val="0"/>
              </a:spcAft>
              <a:buSzPts val="1100"/>
              <a:buChar char="■"/>
              <a:defRPr sz="880"/>
            </a:lvl6pPr>
            <a:lvl7pPr marL="3200400" lvl="6" indent="-298450">
              <a:spcBef>
                <a:spcPts val="0"/>
              </a:spcBef>
              <a:spcAft>
                <a:spcPts val="0"/>
              </a:spcAft>
              <a:buSzPts val="1100"/>
              <a:buChar char="●"/>
              <a:defRPr sz="880"/>
            </a:lvl7pPr>
            <a:lvl8pPr marL="3657600" lvl="7" indent="-298450">
              <a:spcBef>
                <a:spcPts val="0"/>
              </a:spcBef>
              <a:spcAft>
                <a:spcPts val="0"/>
              </a:spcAft>
              <a:buSzPts val="1100"/>
              <a:buChar char="○"/>
              <a:defRPr sz="880"/>
            </a:lvl8pPr>
            <a:lvl9pPr marL="4114800" lvl="8" indent="-298450">
              <a:spcBef>
                <a:spcPts val="0"/>
              </a:spcBef>
              <a:spcAft>
                <a:spcPts val="0"/>
              </a:spcAft>
              <a:buSzPts val="1100"/>
              <a:buChar char="■"/>
              <a:defRPr sz="88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g2236ade486f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 name="Google Shape;38;g2236ade486f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g2a015e4621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 name="Google Shape;47;g2a015e4621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254956648f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g254956648f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54956648f7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54956648f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9401e88956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9401e88956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a92ebe1b9b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a92ebe1b9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a92ebe1b9b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a92ebe1b9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b3737c280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b3737c280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b9b95d1ac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b9b95d1ac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c577ff357d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c577ff357d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c577ff357d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c577ff357d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cfc935c5a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cfc935c5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dfcfbf3a3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dfcfbf3a3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77a2174cf6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77a2174cf6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77a2174cf6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77a2174cf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0ad83334a6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0ad83334a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476228fa94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476228fa94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37522eb0ab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37522eb0ab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0a898e1ef4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0a898e1ef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254956648f7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254956648f7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5c549a864b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5c549a864b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5c549a864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25c549a864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54956648f7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254956648f7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37522eb0a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37522eb0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2236ade486f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2236ade486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2236ade486f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2236ade486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236ade486f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2236ade486f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236ade486f_18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236ade486f_18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18c359ebf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18c359ebf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2236ade486f_26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2236ade486f_2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0af68e1ca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30af68e1ca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2bee1ff5b5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2bee1ff5b5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bee1ff5b57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2bee1ff5b57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2bee1ff5b57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2bee1ff5b57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2bee1ff5b57_0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2bee1ff5b57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2bee1ff5b57_0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2bee1ff5b57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2bee1ff5b57_0_2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2bee1ff5b57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2bee1ff5b57_0_2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2bee1ff5b57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bee1ff5b57_0_2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2bee1ff5b57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2bee1ff5b57_0_2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2bee1ff5b57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2bee1ff5b57_0_2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2bee1ff5b57_0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2dac8796248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 name="Google Shape;614;g2dac879624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2e8c9ccbaa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0" name="Google Shape;620;g2e8c9ccbaa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2e8c9ccbaaa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g2e8c9ccbaaa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278450f32d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 name="Google Shape;632;g278450f32d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g2f56cd2d54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8" name="Google Shape;638;g2f56cd2d5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30c3e7bee0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30c3e7bee0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g3185006858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0" name="Google Shape;650;g3185006858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31850068586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6" name="Google Shape;656;g3185006858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328e9fc7e8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2" name="Google Shape;662;g328e9fc7e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328e9fc7e82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 name="Google Shape;668;g328e9fc7e8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g328e9fc7e82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4" name="Google Shape;674;g328e9fc7e82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33e09741be6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33e09741be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35c0d7cfaa6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35c0d7cfaa6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36055ed005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9" name="Google Shape;709;g36055ed005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g36e9b96d9c8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5" name="Google Shape;715;g36e9b96d9c8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3771a78e22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1" name="Google Shape;721;g3771a78e22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3771a78e220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7" name="Google Shape;727;g3771a78e22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g380c795518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3" name="Google Shape;733;g380c795518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380c7955185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380c7955185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g380c7955185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5" name="Google Shape;745;g380c795518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380c7955185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1" name="Google Shape;751;g380c795518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380c7955185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380c7955185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39cb34cae1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4" name="Google Shape;764;g39cb34cae1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39a22bfb26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39a22bfb26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page">
  <p:cSld name="Titlepage">
    <p:spTree>
      <p:nvGrpSpPr>
        <p:cNvPr id="1" name="Shape 6"/>
        <p:cNvGrpSpPr/>
        <p:nvPr/>
      </p:nvGrpSpPr>
      <p:grpSpPr>
        <a:xfrm>
          <a:off x="0" y="0"/>
          <a:ext cx="0" cy="0"/>
          <a:chOff x="0" y="0"/>
          <a:chExt cx="0" cy="0"/>
        </a:xfrm>
      </p:grpSpPr>
      <p:sp>
        <p:nvSpPr>
          <p:cNvPr id="7" name="Google Shape;7;p2"/>
          <p:cNvSpPr txBox="1">
            <a:spLocks noGrp="1"/>
          </p:cNvSpPr>
          <p:nvPr>
            <p:ph type="ctrTitle"/>
          </p:nvPr>
        </p:nvSpPr>
        <p:spPr>
          <a:xfrm>
            <a:off x="524140" y="1352038"/>
            <a:ext cx="8095800" cy="1080300"/>
          </a:xfrm>
          <a:prstGeom prst="rect">
            <a:avLst/>
          </a:prstGeom>
          <a:noFill/>
          <a:ln>
            <a:noFill/>
          </a:ln>
        </p:spPr>
        <p:txBody>
          <a:bodyPr spcFirstLastPara="1" wrap="square" lIns="19625" tIns="0" rIns="19625" bIns="0" anchor="b" anchorCtr="0">
            <a:noAutofit/>
          </a:bodyPr>
          <a:lstStyle>
            <a:lvl1pPr marR="0" lvl="0" algn="l" rtl="0">
              <a:spcBef>
                <a:spcPts val="0"/>
              </a:spcBef>
              <a:spcAft>
                <a:spcPts val="0"/>
              </a:spcAft>
              <a:buSzPts val="1100"/>
              <a:buNone/>
              <a:defRPr sz="1600" b="0" i="0" u="none" strike="noStrike" cap="none">
                <a:solidFill>
                  <a:schemeClr val="dk1"/>
                </a:solidFill>
                <a:latin typeface="Quattrocento Sans"/>
                <a:ea typeface="Quattrocento Sans"/>
                <a:cs typeface="Quattrocento Sans"/>
                <a:sym typeface="Quattrocento Sans"/>
              </a:defRPr>
            </a:lvl1pPr>
            <a:lvl2pPr marR="0" lvl="1" algn="l" rtl="0">
              <a:spcBef>
                <a:spcPts val="0"/>
              </a:spcBef>
              <a:spcAft>
                <a:spcPts val="0"/>
              </a:spcAft>
              <a:buSzPts val="1100"/>
              <a:buNone/>
              <a:defRPr sz="1440" b="0" i="0" u="none" strike="noStrike" cap="none">
                <a:solidFill>
                  <a:schemeClr val="dk2"/>
                </a:solidFill>
                <a:latin typeface="Arial"/>
                <a:ea typeface="Arial"/>
                <a:cs typeface="Arial"/>
                <a:sym typeface="Arial"/>
              </a:defRPr>
            </a:lvl2pPr>
            <a:lvl3pPr marR="0" lvl="2" algn="l" rtl="0">
              <a:spcBef>
                <a:spcPts val="0"/>
              </a:spcBef>
              <a:spcAft>
                <a:spcPts val="0"/>
              </a:spcAft>
              <a:buSzPts val="1100"/>
              <a:buNone/>
              <a:defRPr sz="1440" b="0" i="0" u="none" strike="noStrike" cap="none">
                <a:solidFill>
                  <a:schemeClr val="dk2"/>
                </a:solidFill>
                <a:latin typeface="Arial"/>
                <a:ea typeface="Arial"/>
                <a:cs typeface="Arial"/>
                <a:sym typeface="Arial"/>
              </a:defRPr>
            </a:lvl3pPr>
            <a:lvl4pPr marR="0" lvl="3" algn="l" rtl="0">
              <a:spcBef>
                <a:spcPts val="0"/>
              </a:spcBef>
              <a:spcAft>
                <a:spcPts val="0"/>
              </a:spcAft>
              <a:buSzPts val="1100"/>
              <a:buNone/>
              <a:defRPr sz="1440" b="0" i="0" u="none" strike="noStrike" cap="none">
                <a:solidFill>
                  <a:schemeClr val="dk2"/>
                </a:solidFill>
                <a:latin typeface="Arial"/>
                <a:ea typeface="Arial"/>
                <a:cs typeface="Arial"/>
                <a:sym typeface="Arial"/>
              </a:defRPr>
            </a:lvl4pPr>
            <a:lvl5pPr marR="0" lvl="4" algn="l" rtl="0">
              <a:spcBef>
                <a:spcPts val="0"/>
              </a:spcBef>
              <a:spcAft>
                <a:spcPts val="0"/>
              </a:spcAft>
              <a:buSzPts val="1100"/>
              <a:buNone/>
              <a:defRPr sz="1440" b="0" i="0" u="none" strike="noStrike" cap="none">
                <a:solidFill>
                  <a:schemeClr val="dk2"/>
                </a:solidFill>
                <a:latin typeface="Arial"/>
                <a:ea typeface="Arial"/>
                <a:cs typeface="Arial"/>
                <a:sym typeface="Arial"/>
              </a:defRPr>
            </a:lvl5pPr>
            <a:lvl6pPr marR="0" lvl="5" algn="l" rtl="0">
              <a:spcBef>
                <a:spcPts val="0"/>
              </a:spcBef>
              <a:spcAft>
                <a:spcPts val="0"/>
              </a:spcAft>
              <a:buSzPts val="1100"/>
              <a:buNone/>
              <a:defRPr sz="1600" b="0" i="0" u="none" strike="noStrike" cap="none">
                <a:solidFill>
                  <a:schemeClr val="dk2"/>
                </a:solidFill>
                <a:latin typeface="Arial"/>
                <a:ea typeface="Arial"/>
                <a:cs typeface="Arial"/>
                <a:sym typeface="Arial"/>
              </a:defRPr>
            </a:lvl6pPr>
            <a:lvl7pPr marR="0" lvl="6" algn="l" rtl="0">
              <a:spcBef>
                <a:spcPts val="0"/>
              </a:spcBef>
              <a:spcAft>
                <a:spcPts val="0"/>
              </a:spcAft>
              <a:buSzPts val="1100"/>
              <a:buNone/>
              <a:defRPr sz="1600" b="0" i="0" u="none" strike="noStrike" cap="none">
                <a:solidFill>
                  <a:schemeClr val="dk2"/>
                </a:solidFill>
                <a:latin typeface="Arial"/>
                <a:ea typeface="Arial"/>
                <a:cs typeface="Arial"/>
                <a:sym typeface="Arial"/>
              </a:defRPr>
            </a:lvl7pPr>
            <a:lvl8pPr marR="0" lvl="7" algn="l" rtl="0">
              <a:spcBef>
                <a:spcPts val="0"/>
              </a:spcBef>
              <a:spcAft>
                <a:spcPts val="0"/>
              </a:spcAft>
              <a:buSzPts val="1100"/>
              <a:buNone/>
              <a:defRPr sz="1600" b="0" i="0" u="none" strike="noStrike" cap="none">
                <a:solidFill>
                  <a:schemeClr val="dk2"/>
                </a:solidFill>
                <a:latin typeface="Arial"/>
                <a:ea typeface="Arial"/>
                <a:cs typeface="Arial"/>
                <a:sym typeface="Arial"/>
              </a:defRPr>
            </a:lvl8pPr>
            <a:lvl9pPr marR="0" lvl="8" algn="l" rtl="0">
              <a:spcBef>
                <a:spcPts val="0"/>
              </a:spcBef>
              <a:spcAft>
                <a:spcPts val="0"/>
              </a:spcAft>
              <a:buSzPts val="1100"/>
              <a:buNone/>
              <a:defRPr sz="1600" b="0" i="0" u="none" strike="noStrike" cap="none">
                <a:solidFill>
                  <a:schemeClr val="dk2"/>
                </a:solidFill>
                <a:latin typeface="Arial"/>
                <a:ea typeface="Arial"/>
                <a:cs typeface="Arial"/>
                <a:sym typeface="Arial"/>
              </a:defRPr>
            </a:lvl9pPr>
          </a:lstStyle>
          <a:p>
            <a:endParaRPr/>
          </a:p>
        </p:txBody>
      </p:sp>
      <p:sp>
        <p:nvSpPr>
          <p:cNvPr id="8" name="Google Shape;8;p2"/>
          <p:cNvSpPr txBox="1">
            <a:spLocks noGrp="1"/>
          </p:cNvSpPr>
          <p:nvPr>
            <p:ph type="subTitle" idx="1"/>
          </p:nvPr>
        </p:nvSpPr>
        <p:spPr>
          <a:xfrm>
            <a:off x="524140" y="2696740"/>
            <a:ext cx="8095800" cy="810300"/>
          </a:xfrm>
          <a:prstGeom prst="rect">
            <a:avLst/>
          </a:prstGeom>
          <a:noFill/>
          <a:ln>
            <a:noFill/>
          </a:ln>
        </p:spPr>
        <p:txBody>
          <a:bodyPr spcFirstLastPara="1" wrap="square" lIns="19625" tIns="0" rIns="19625" bIns="0" anchor="t" anchorCtr="0">
            <a:noAutofit/>
          </a:bodyPr>
          <a:lstStyle>
            <a:lvl1pPr marR="0" lvl="0" algn="l" rtl="0">
              <a:spcBef>
                <a:spcPts val="300"/>
              </a:spcBef>
              <a:spcAft>
                <a:spcPts val="0"/>
              </a:spcAft>
              <a:buSzPts val="1100"/>
              <a:buNone/>
              <a:defRPr sz="1120" b="0" i="0" u="none" strike="noStrike" cap="none">
                <a:solidFill>
                  <a:schemeClr val="dk1"/>
                </a:solidFill>
                <a:latin typeface="Quattrocento Sans"/>
                <a:ea typeface="Quattrocento Sans"/>
                <a:cs typeface="Quattrocento Sans"/>
                <a:sym typeface="Quattrocento Sans"/>
              </a:defRPr>
            </a:lvl1pPr>
            <a:lvl2pPr marR="0" lvl="1" algn="l" rtl="0">
              <a:spcBef>
                <a:spcPts val="300"/>
              </a:spcBef>
              <a:spcAft>
                <a:spcPts val="0"/>
              </a:spcAft>
              <a:buClr>
                <a:schemeClr val="dk1"/>
              </a:buClr>
              <a:buSzPts val="1400"/>
              <a:buFont typeface="Quattrocento Sans"/>
              <a:buChar char="–"/>
              <a:defRPr sz="1120" b="0" i="0" u="none" strike="noStrike" cap="none">
                <a:solidFill>
                  <a:schemeClr val="dk1"/>
                </a:solidFill>
                <a:latin typeface="Quattrocento Sans"/>
                <a:ea typeface="Quattrocento Sans"/>
                <a:cs typeface="Quattrocento Sans"/>
                <a:sym typeface="Quattrocento Sans"/>
              </a:defRPr>
            </a:lvl2pPr>
            <a:lvl3pPr marR="0" lvl="2" algn="l" rtl="0">
              <a:spcBef>
                <a:spcPts val="300"/>
              </a:spcBef>
              <a:spcAft>
                <a:spcPts val="0"/>
              </a:spcAft>
              <a:buClr>
                <a:schemeClr val="dk1"/>
              </a:buClr>
              <a:buSzPts val="1400"/>
              <a:buFont typeface="Quattrocento Sans"/>
              <a:buChar char="•"/>
              <a:defRPr sz="1120" b="0" i="0" u="none" strike="noStrike" cap="none">
                <a:solidFill>
                  <a:schemeClr val="dk1"/>
                </a:solidFill>
                <a:latin typeface="Quattrocento Sans"/>
                <a:ea typeface="Quattrocento Sans"/>
                <a:cs typeface="Quattrocento Sans"/>
                <a:sym typeface="Quattrocento Sans"/>
              </a:defRPr>
            </a:lvl3pPr>
            <a:lvl4pPr marR="0" lvl="3" algn="l" rtl="0">
              <a:spcBef>
                <a:spcPts val="200"/>
              </a:spcBef>
              <a:spcAft>
                <a:spcPts val="0"/>
              </a:spcAft>
              <a:buSzPts val="1100"/>
              <a:buNone/>
              <a:defRPr sz="880" b="0" i="0" u="none" strike="noStrike" cap="none">
                <a:solidFill>
                  <a:schemeClr val="dk1"/>
                </a:solidFill>
                <a:latin typeface="Quattrocento Sans"/>
                <a:ea typeface="Quattrocento Sans"/>
                <a:cs typeface="Quattrocento Sans"/>
                <a:sym typeface="Quattrocento Sans"/>
              </a:defRPr>
            </a:lvl4pPr>
            <a:lvl5pPr marR="0" lvl="4" algn="l" rtl="0">
              <a:spcBef>
                <a:spcPts val="200"/>
              </a:spcBef>
              <a:spcAft>
                <a:spcPts val="0"/>
              </a:spcAft>
              <a:buSzPts val="1100"/>
              <a:buNone/>
              <a:defRPr sz="880" b="0" i="0" u="none" strike="noStrike" cap="none">
                <a:solidFill>
                  <a:schemeClr val="dk1"/>
                </a:solidFill>
                <a:latin typeface="Quattrocento Sans"/>
                <a:ea typeface="Quattrocento Sans"/>
                <a:cs typeface="Quattrocento Sans"/>
                <a:sym typeface="Quattrocento Sans"/>
              </a:defRPr>
            </a:lvl5pPr>
            <a:lvl6pPr marR="0" lvl="5" algn="l" rtl="0">
              <a:spcBef>
                <a:spcPts val="200"/>
              </a:spcBef>
              <a:spcAft>
                <a:spcPts val="0"/>
              </a:spcAft>
              <a:buClr>
                <a:schemeClr val="dk1"/>
              </a:buClr>
              <a:buSzPts val="1100"/>
              <a:buFont typeface="Quattrocento Sans"/>
              <a:buChar char="»"/>
              <a:defRPr sz="880" b="0" i="0" u="none" strike="noStrike" cap="none">
                <a:solidFill>
                  <a:schemeClr val="dk1"/>
                </a:solidFill>
                <a:latin typeface="Quattrocento Sans"/>
                <a:ea typeface="Quattrocento Sans"/>
                <a:cs typeface="Quattrocento Sans"/>
                <a:sym typeface="Quattrocento Sans"/>
              </a:defRPr>
            </a:lvl6pPr>
            <a:lvl7pPr marR="0" lvl="6" algn="l" rtl="0">
              <a:spcBef>
                <a:spcPts val="200"/>
              </a:spcBef>
              <a:spcAft>
                <a:spcPts val="0"/>
              </a:spcAft>
              <a:buClr>
                <a:schemeClr val="dk1"/>
              </a:buClr>
              <a:buSzPts val="1100"/>
              <a:buFont typeface="Quattrocento Sans"/>
              <a:buChar char="»"/>
              <a:defRPr sz="880" b="0" i="0" u="none" strike="noStrike" cap="none">
                <a:solidFill>
                  <a:schemeClr val="dk1"/>
                </a:solidFill>
                <a:latin typeface="Quattrocento Sans"/>
                <a:ea typeface="Quattrocento Sans"/>
                <a:cs typeface="Quattrocento Sans"/>
                <a:sym typeface="Quattrocento Sans"/>
              </a:defRPr>
            </a:lvl7pPr>
            <a:lvl8pPr marR="0" lvl="7" algn="l" rtl="0">
              <a:spcBef>
                <a:spcPts val="200"/>
              </a:spcBef>
              <a:spcAft>
                <a:spcPts val="0"/>
              </a:spcAft>
              <a:buClr>
                <a:schemeClr val="dk1"/>
              </a:buClr>
              <a:buSzPts val="1100"/>
              <a:buFont typeface="Quattrocento Sans"/>
              <a:buChar char="»"/>
              <a:defRPr sz="880" b="0" i="0" u="none" strike="noStrike" cap="none">
                <a:solidFill>
                  <a:schemeClr val="dk1"/>
                </a:solidFill>
                <a:latin typeface="Quattrocento Sans"/>
                <a:ea typeface="Quattrocento Sans"/>
                <a:cs typeface="Quattrocento Sans"/>
                <a:sym typeface="Quattrocento Sans"/>
              </a:defRPr>
            </a:lvl8pPr>
            <a:lvl9pPr marR="0" lvl="8" algn="l" rtl="0">
              <a:spcBef>
                <a:spcPts val="200"/>
              </a:spcBef>
              <a:spcAft>
                <a:spcPts val="0"/>
              </a:spcAft>
              <a:buClr>
                <a:schemeClr val="dk1"/>
              </a:buClr>
              <a:buSzPts val="1100"/>
              <a:buFont typeface="Quattrocento Sans"/>
              <a:buChar char="»"/>
              <a:defRPr sz="880" b="0" i="0" u="none" strike="noStrike" cap="none">
                <a:solidFill>
                  <a:schemeClr val="dk1"/>
                </a:solidFill>
                <a:latin typeface="Quattrocento Sans"/>
                <a:ea typeface="Quattrocento Sans"/>
                <a:cs typeface="Quattrocento Sans"/>
                <a:sym typeface="Quattrocento Sans"/>
              </a:defRPr>
            </a:lvl9pPr>
          </a:lstStyle>
          <a:p>
            <a:endParaRPr/>
          </a:p>
        </p:txBody>
      </p:sp>
      <p:cxnSp>
        <p:nvCxnSpPr>
          <p:cNvPr id="9" name="Google Shape;9;p2"/>
          <p:cNvCxnSpPr/>
          <p:nvPr/>
        </p:nvCxnSpPr>
        <p:spPr>
          <a:xfrm>
            <a:off x="269860" y="2572346"/>
            <a:ext cx="8635500" cy="0"/>
          </a:xfrm>
          <a:prstGeom prst="straightConnector1">
            <a:avLst/>
          </a:prstGeom>
          <a:noFill/>
          <a:ln w="9525" cap="flat" cmpd="sng">
            <a:solidFill>
              <a:srgbClr val="333333"/>
            </a:solidFill>
            <a:prstDash val="solid"/>
            <a:round/>
            <a:headEnd type="none" w="sm" len="sm"/>
            <a:tailEnd type="none" w="sm" len="sm"/>
          </a:ln>
        </p:spPr>
      </p:cxnSp>
      <p:sp>
        <p:nvSpPr>
          <p:cNvPr id="10" name="Google Shape;10;p2"/>
          <p:cNvSpPr txBox="1"/>
          <p:nvPr/>
        </p:nvSpPr>
        <p:spPr>
          <a:xfrm>
            <a:off x="161918" y="4806000"/>
            <a:ext cx="4857600" cy="27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fld id="{00000000-1234-1234-1234-123412341234}" type="slidenum">
              <a:rPr lang="ja" sz="1200" b="1" i="0" u="none" strike="noStrike" cap="none">
                <a:solidFill>
                  <a:srgbClr val="7F7F7F"/>
                </a:solidFill>
                <a:latin typeface="Quattrocento Sans"/>
                <a:ea typeface="Quattrocento Sans"/>
                <a:cs typeface="Quattrocento Sans"/>
                <a:sym typeface="Quattrocento Sans"/>
              </a:rPr>
              <a:t>‹#›</a:t>
            </a:fld>
            <a:r>
              <a:rPr lang="ja" sz="1200" b="1" i="0" u="none" strike="noStrike" cap="none">
                <a:solidFill>
                  <a:srgbClr val="7F7F7F"/>
                </a:solidFill>
                <a:latin typeface="Quattrocento Sans"/>
                <a:ea typeface="Quattrocento Sans"/>
                <a:cs typeface="Quattrocento Sans"/>
                <a:sym typeface="Quattrocento Sans"/>
              </a:rPr>
              <a:t>  </a:t>
            </a:r>
            <a:r>
              <a:rPr lang="ja" sz="1200" b="0" i="0" u="none" strike="noStrike" cap="none">
                <a:solidFill>
                  <a:srgbClr val="7FD13B"/>
                </a:solidFill>
                <a:latin typeface="Open Sans"/>
                <a:ea typeface="Open Sans"/>
                <a:cs typeface="Open Sans"/>
                <a:sym typeface="Open Sans"/>
              </a:rPr>
              <a:t>▇</a:t>
            </a:r>
            <a:r>
              <a:rPr lang="ja" sz="1200" b="0" i="0" u="none" strike="noStrike" cap="none">
                <a:solidFill>
                  <a:srgbClr val="EA157A"/>
                </a:solidFill>
                <a:latin typeface="Open Sans"/>
                <a:ea typeface="Open Sans"/>
                <a:cs typeface="Open Sans"/>
                <a:sym typeface="Open Sans"/>
              </a:rPr>
              <a:t>▇</a:t>
            </a:r>
            <a:r>
              <a:rPr lang="ja" sz="1200" b="0" i="0" u="none" strike="noStrike" cap="none">
                <a:solidFill>
                  <a:srgbClr val="007DEA"/>
                </a:solidFill>
                <a:latin typeface="Open Sans"/>
                <a:ea typeface="Open Sans"/>
                <a:cs typeface="Open Sans"/>
                <a:sym typeface="Open Sans"/>
              </a:rPr>
              <a:t>▇</a:t>
            </a:r>
            <a:r>
              <a:rPr lang="ja" sz="1200" b="0" i="0" u="none" strike="noStrike" cap="none">
                <a:solidFill>
                  <a:srgbClr val="7FD13B"/>
                </a:solidFill>
                <a:latin typeface="Open Sans"/>
                <a:ea typeface="Open Sans"/>
                <a:cs typeface="Open Sans"/>
                <a:sym typeface="Open Sans"/>
              </a:rPr>
              <a:t> </a:t>
            </a:r>
            <a:r>
              <a:rPr lang="ja" sz="1200" b="0" i="0" u="none" strike="noStrike" cap="none">
                <a:solidFill>
                  <a:schemeClr val="dk1"/>
                </a:solidFill>
                <a:latin typeface="Open Sans"/>
                <a:ea typeface="Open Sans"/>
                <a:cs typeface="Open Sans"/>
                <a:sym typeface="Open Sans"/>
              </a:rPr>
              <a:t>The OpenChain project Japan work group / CC BY 4.0</a:t>
            </a:r>
            <a:endParaRPr sz="1200" b="0" i="0" u="none" strike="noStrike" cap="none">
              <a:solidFill>
                <a:srgbClr val="A5A5A5"/>
              </a:solidFill>
              <a:latin typeface="Open Sans"/>
              <a:ea typeface="Open Sans"/>
              <a:cs typeface="Open Sans"/>
              <a:sym typeface="Open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7_MiddlePage_1_white">
  <p:cSld name="7_MiddlePage_1_white">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32000" y="34524"/>
            <a:ext cx="8280000" cy="594300"/>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100"/>
              <a:buNone/>
              <a:defRPr sz="1440" b="0" i="0" u="none" strike="noStrike" cap="none">
                <a:solidFill>
                  <a:schemeClr val="dk1"/>
                </a:solidFill>
                <a:latin typeface="Tahoma"/>
                <a:ea typeface="Tahoma"/>
                <a:cs typeface="Tahoma"/>
                <a:sym typeface="Tahoma"/>
              </a:defRPr>
            </a:lvl1pPr>
            <a:lvl2pPr marR="0" lvl="1" algn="l" rtl="0">
              <a:spcBef>
                <a:spcPts val="0"/>
              </a:spcBef>
              <a:spcAft>
                <a:spcPts val="0"/>
              </a:spcAft>
              <a:buSzPts val="1100"/>
              <a:buNone/>
              <a:defRPr sz="1440" b="0" i="0" u="none" strike="noStrike" cap="none">
                <a:solidFill>
                  <a:schemeClr val="dk2"/>
                </a:solidFill>
                <a:latin typeface="Arial"/>
                <a:ea typeface="Arial"/>
                <a:cs typeface="Arial"/>
                <a:sym typeface="Arial"/>
              </a:defRPr>
            </a:lvl2pPr>
            <a:lvl3pPr marR="0" lvl="2" algn="l" rtl="0">
              <a:spcBef>
                <a:spcPts val="0"/>
              </a:spcBef>
              <a:spcAft>
                <a:spcPts val="0"/>
              </a:spcAft>
              <a:buSzPts val="1100"/>
              <a:buNone/>
              <a:defRPr sz="1440" b="0" i="0" u="none" strike="noStrike" cap="none">
                <a:solidFill>
                  <a:schemeClr val="dk2"/>
                </a:solidFill>
                <a:latin typeface="Arial"/>
                <a:ea typeface="Arial"/>
                <a:cs typeface="Arial"/>
                <a:sym typeface="Arial"/>
              </a:defRPr>
            </a:lvl3pPr>
            <a:lvl4pPr marR="0" lvl="3" algn="l" rtl="0">
              <a:spcBef>
                <a:spcPts val="0"/>
              </a:spcBef>
              <a:spcAft>
                <a:spcPts val="0"/>
              </a:spcAft>
              <a:buSzPts val="1100"/>
              <a:buNone/>
              <a:defRPr sz="1440" b="0" i="0" u="none" strike="noStrike" cap="none">
                <a:solidFill>
                  <a:schemeClr val="dk2"/>
                </a:solidFill>
                <a:latin typeface="Arial"/>
                <a:ea typeface="Arial"/>
                <a:cs typeface="Arial"/>
                <a:sym typeface="Arial"/>
              </a:defRPr>
            </a:lvl4pPr>
            <a:lvl5pPr marR="0" lvl="4" algn="l" rtl="0">
              <a:spcBef>
                <a:spcPts val="0"/>
              </a:spcBef>
              <a:spcAft>
                <a:spcPts val="0"/>
              </a:spcAft>
              <a:buSzPts val="1100"/>
              <a:buNone/>
              <a:defRPr sz="1440" b="0" i="0" u="none" strike="noStrike" cap="none">
                <a:solidFill>
                  <a:schemeClr val="dk2"/>
                </a:solidFill>
                <a:latin typeface="Arial"/>
                <a:ea typeface="Arial"/>
                <a:cs typeface="Arial"/>
                <a:sym typeface="Arial"/>
              </a:defRPr>
            </a:lvl5pPr>
            <a:lvl6pPr marR="0" lvl="5" algn="l" rtl="0">
              <a:spcBef>
                <a:spcPts val="0"/>
              </a:spcBef>
              <a:spcAft>
                <a:spcPts val="0"/>
              </a:spcAft>
              <a:buSzPts val="1100"/>
              <a:buNone/>
              <a:defRPr sz="1600" b="0" i="0" u="none" strike="noStrike" cap="none">
                <a:solidFill>
                  <a:schemeClr val="dk2"/>
                </a:solidFill>
                <a:latin typeface="Arial"/>
                <a:ea typeface="Arial"/>
                <a:cs typeface="Arial"/>
                <a:sym typeface="Arial"/>
              </a:defRPr>
            </a:lvl6pPr>
            <a:lvl7pPr marR="0" lvl="6" algn="l" rtl="0">
              <a:spcBef>
                <a:spcPts val="0"/>
              </a:spcBef>
              <a:spcAft>
                <a:spcPts val="0"/>
              </a:spcAft>
              <a:buSzPts val="1100"/>
              <a:buNone/>
              <a:defRPr sz="1600" b="0" i="0" u="none" strike="noStrike" cap="none">
                <a:solidFill>
                  <a:schemeClr val="dk2"/>
                </a:solidFill>
                <a:latin typeface="Arial"/>
                <a:ea typeface="Arial"/>
                <a:cs typeface="Arial"/>
                <a:sym typeface="Arial"/>
              </a:defRPr>
            </a:lvl7pPr>
            <a:lvl8pPr marR="0" lvl="7" algn="l" rtl="0">
              <a:spcBef>
                <a:spcPts val="0"/>
              </a:spcBef>
              <a:spcAft>
                <a:spcPts val="0"/>
              </a:spcAft>
              <a:buSzPts val="1100"/>
              <a:buNone/>
              <a:defRPr sz="1600" b="0" i="0" u="none" strike="noStrike" cap="none">
                <a:solidFill>
                  <a:schemeClr val="dk2"/>
                </a:solidFill>
                <a:latin typeface="Arial"/>
                <a:ea typeface="Arial"/>
                <a:cs typeface="Arial"/>
                <a:sym typeface="Arial"/>
              </a:defRPr>
            </a:lvl8pPr>
            <a:lvl9pPr marR="0" lvl="8" algn="l" rtl="0">
              <a:spcBef>
                <a:spcPts val="0"/>
              </a:spcBef>
              <a:spcAft>
                <a:spcPts val="0"/>
              </a:spcAft>
              <a:buSzPts val="1100"/>
              <a:buNone/>
              <a:defRPr sz="1600" b="0" i="0" u="none" strike="noStrike" cap="none">
                <a:solidFill>
                  <a:schemeClr val="dk2"/>
                </a:solidFill>
                <a:latin typeface="Arial"/>
                <a:ea typeface="Arial"/>
                <a:cs typeface="Arial"/>
                <a:sym typeface="Arial"/>
              </a:defRPr>
            </a:lvl9pPr>
          </a:lstStyle>
          <a:p>
            <a:endParaRPr/>
          </a:p>
        </p:txBody>
      </p:sp>
      <p:cxnSp>
        <p:nvCxnSpPr>
          <p:cNvPr id="13" name="Google Shape;13;p3"/>
          <p:cNvCxnSpPr/>
          <p:nvPr/>
        </p:nvCxnSpPr>
        <p:spPr>
          <a:xfrm>
            <a:off x="269860" y="681698"/>
            <a:ext cx="8635500" cy="0"/>
          </a:xfrm>
          <a:prstGeom prst="straightConnector1">
            <a:avLst/>
          </a:prstGeom>
          <a:noFill/>
          <a:ln w="9525" cap="flat" cmpd="sng">
            <a:solidFill>
              <a:srgbClr val="333333"/>
            </a:solidFill>
            <a:prstDash val="solid"/>
            <a:round/>
            <a:headEnd type="none" w="sm" len="sm"/>
            <a:tailEnd type="none" w="sm" len="sm"/>
          </a:ln>
        </p:spPr>
      </p:cxnSp>
      <p:sp>
        <p:nvSpPr>
          <p:cNvPr id="14" name="Google Shape;14;p3"/>
          <p:cNvSpPr txBox="1"/>
          <p:nvPr/>
        </p:nvSpPr>
        <p:spPr>
          <a:xfrm>
            <a:off x="161918" y="4806000"/>
            <a:ext cx="4857600" cy="27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fld id="{00000000-1234-1234-1234-123412341234}" type="slidenum">
              <a:rPr lang="ja" sz="1200" b="1" i="0" u="none" strike="noStrike" cap="none">
                <a:solidFill>
                  <a:srgbClr val="7F7F7F"/>
                </a:solidFill>
                <a:latin typeface="Quattrocento Sans"/>
                <a:ea typeface="Quattrocento Sans"/>
                <a:cs typeface="Quattrocento Sans"/>
                <a:sym typeface="Quattrocento Sans"/>
              </a:rPr>
              <a:t>‹#›</a:t>
            </a:fld>
            <a:r>
              <a:rPr lang="ja" sz="1200" b="1" i="0" u="none" strike="noStrike" cap="none">
                <a:solidFill>
                  <a:srgbClr val="7F7F7F"/>
                </a:solidFill>
                <a:latin typeface="Quattrocento Sans"/>
                <a:ea typeface="Quattrocento Sans"/>
                <a:cs typeface="Quattrocento Sans"/>
                <a:sym typeface="Quattrocento Sans"/>
              </a:rPr>
              <a:t>  </a:t>
            </a:r>
            <a:r>
              <a:rPr lang="ja" sz="1200" b="0" i="0" u="none" strike="noStrike" cap="none">
                <a:solidFill>
                  <a:srgbClr val="7FD13B"/>
                </a:solidFill>
                <a:latin typeface="Open Sans"/>
                <a:ea typeface="Open Sans"/>
                <a:cs typeface="Open Sans"/>
                <a:sym typeface="Open Sans"/>
              </a:rPr>
              <a:t>▇</a:t>
            </a:r>
            <a:r>
              <a:rPr lang="ja" sz="1200" b="0" i="0" u="none" strike="noStrike" cap="none">
                <a:solidFill>
                  <a:srgbClr val="EA157A"/>
                </a:solidFill>
                <a:latin typeface="Open Sans"/>
                <a:ea typeface="Open Sans"/>
                <a:cs typeface="Open Sans"/>
                <a:sym typeface="Open Sans"/>
              </a:rPr>
              <a:t>▇</a:t>
            </a:r>
            <a:r>
              <a:rPr lang="ja" sz="1200" b="0" i="0" u="none" strike="noStrike" cap="none">
                <a:solidFill>
                  <a:srgbClr val="007DEA"/>
                </a:solidFill>
                <a:latin typeface="Open Sans"/>
                <a:ea typeface="Open Sans"/>
                <a:cs typeface="Open Sans"/>
                <a:sym typeface="Open Sans"/>
              </a:rPr>
              <a:t>▇</a:t>
            </a:r>
            <a:r>
              <a:rPr lang="ja" sz="1200" b="0" i="0" u="none" strike="noStrike" cap="none">
                <a:solidFill>
                  <a:srgbClr val="7FD13B"/>
                </a:solidFill>
                <a:latin typeface="Open Sans"/>
                <a:ea typeface="Open Sans"/>
                <a:cs typeface="Open Sans"/>
                <a:sym typeface="Open Sans"/>
              </a:rPr>
              <a:t> </a:t>
            </a:r>
            <a:r>
              <a:rPr lang="ja" sz="1200" b="0" i="0" u="none" strike="noStrike" cap="none">
                <a:solidFill>
                  <a:schemeClr val="dk1"/>
                </a:solidFill>
                <a:latin typeface="Open Sans"/>
                <a:ea typeface="Open Sans"/>
                <a:cs typeface="Open Sans"/>
                <a:sym typeface="Open Sans"/>
              </a:rPr>
              <a:t>The OpenChain project Japan work group / CC BY 4.0</a:t>
            </a:r>
            <a:endParaRPr sz="1200" b="0" i="0" u="none" strike="noStrike" cap="none">
              <a:solidFill>
                <a:srgbClr val="A5A5A5"/>
              </a:solidFill>
              <a:latin typeface="Open Sans"/>
              <a:ea typeface="Open Sans"/>
              <a:cs typeface="Open Sans"/>
              <a:sym typeface="Open Sans"/>
            </a:endParaRPr>
          </a:p>
        </p:txBody>
      </p:sp>
      <p:sp>
        <p:nvSpPr>
          <p:cNvPr id="15" name="Google Shape;15;p3"/>
          <p:cNvSpPr txBox="1"/>
          <p:nvPr/>
        </p:nvSpPr>
        <p:spPr>
          <a:xfrm>
            <a:off x="7114375" y="4778975"/>
            <a:ext cx="18945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ja" sz="1400" b="0" i="0" u="none" strike="noStrike" cap="none">
                <a:solidFill>
                  <a:schemeClr val="dk1"/>
                </a:solidFill>
                <a:latin typeface="Quattrocento Sans"/>
                <a:ea typeface="Quattrocento Sans"/>
                <a:cs typeface="Quattrocento Sans"/>
                <a:sym typeface="Quattrocento Sans"/>
              </a:rPr>
              <a:t>2022/</a:t>
            </a:r>
            <a:r>
              <a:rPr lang="ja">
                <a:solidFill>
                  <a:schemeClr val="dk1"/>
                </a:solidFill>
                <a:latin typeface="Quattrocento Sans"/>
                <a:ea typeface="Quattrocento Sans"/>
                <a:cs typeface="Quattrocento Sans"/>
                <a:sym typeface="Quattrocento Sans"/>
              </a:rPr>
              <a:t>3/31-</a:t>
            </a:r>
            <a:r>
              <a:rPr lang="ja" sz="1400" b="0" i="0" u="none" strike="noStrike" cap="none">
                <a:solidFill>
                  <a:schemeClr val="dk1"/>
                </a:solidFill>
                <a:latin typeface="Quattrocento Sans"/>
                <a:ea typeface="Quattrocento Sans"/>
                <a:cs typeface="Quattrocento Sans"/>
                <a:sym typeface="Quattrocento Sans"/>
              </a:rPr>
              <a:t>4/</a:t>
            </a:r>
            <a:r>
              <a:rPr lang="ja">
                <a:solidFill>
                  <a:schemeClr val="dk1"/>
                </a:solidFill>
                <a:latin typeface="Quattrocento Sans"/>
                <a:ea typeface="Quattrocento Sans"/>
                <a:cs typeface="Quattrocento Sans"/>
                <a:sym typeface="Quattrocento Sans"/>
              </a:rPr>
              <a:t>30調査</a:t>
            </a:r>
            <a:endParaRPr sz="11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6_MiddlePage_1_white　CC-BY">
  <p:cSld name="6_MiddlePage_1_white">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32000" y="34524"/>
            <a:ext cx="8280000" cy="594300"/>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100"/>
              <a:buNone/>
              <a:defRPr sz="1440" b="0" i="0" u="none" strike="noStrike" cap="none">
                <a:solidFill>
                  <a:schemeClr val="dk1"/>
                </a:solidFill>
                <a:latin typeface="Tahoma"/>
                <a:ea typeface="Tahoma"/>
                <a:cs typeface="Tahoma"/>
                <a:sym typeface="Tahoma"/>
              </a:defRPr>
            </a:lvl1pPr>
            <a:lvl2pPr marR="0" lvl="1" algn="l" rtl="0">
              <a:spcBef>
                <a:spcPts val="0"/>
              </a:spcBef>
              <a:spcAft>
                <a:spcPts val="0"/>
              </a:spcAft>
              <a:buSzPts val="1100"/>
              <a:buNone/>
              <a:defRPr sz="1440" b="0" i="0" u="none" strike="noStrike" cap="none">
                <a:solidFill>
                  <a:schemeClr val="dk2"/>
                </a:solidFill>
                <a:latin typeface="Arial"/>
                <a:ea typeface="Arial"/>
                <a:cs typeface="Arial"/>
                <a:sym typeface="Arial"/>
              </a:defRPr>
            </a:lvl2pPr>
            <a:lvl3pPr marR="0" lvl="2" algn="l" rtl="0">
              <a:spcBef>
                <a:spcPts val="0"/>
              </a:spcBef>
              <a:spcAft>
                <a:spcPts val="0"/>
              </a:spcAft>
              <a:buSzPts val="1100"/>
              <a:buNone/>
              <a:defRPr sz="1440" b="0" i="0" u="none" strike="noStrike" cap="none">
                <a:solidFill>
                  <a:schemeClr val="dk2"/>
                </a:solidFill>
                <a:latin typeface="Arial"/>
                <a:ea typeface="Arial"/>
                <a:cs typeface="Arial"/>
                <a:sym typeface="Arial"/>
              </a:defRPr>
            </a:lvl3pPr>
            <a:lvl4pPr marR="0" lvl="3" algn="l" rtl="0">
              <a:spcBef>
                <a:spcPts val="0"/>
              </a:spcBef>
              <a:spcAft>
                <a:spcPts val="0"/>
              </a:spcAft>
              <a:buSzPts val="1100"/>
              <a:buNone/>
              <a:defRPr sz="1440" b="0" i="0" u="none" strike="noStrike" cap="none">
                <a:solidFill>
                  <a:schemeClr val="dk2"/>
                </a:solidFill>
                <a:latin typeface="Arial"/>
                <a:ea typeface="Arial"/>
                <a:cs typeface="Arial"/>
                <a:sym typeface="Arial"/>
              </a:defRPr>
            </a:lvl4pPr>
            <a:lvl5pPr marR="0" lvl="4" algn="l" rtl="0">
              <a:spcBef>
                <a:spcPts val="0"/>
              </a:spcBef>
              <a:spcAft>
                <a:spcPts val="0"/>
              </a:spcAft>
              <a:buSzPts val="1100"/>
              <a:buNone/>
              <a:defRPr sz="1440" b="0" i="0" u="none" strike="noStrike" cap="none">
                <a:solidFill>
                  <a:schemeClr val="dk2"/>
                </a:solidFill>
                <a:latin typeface="Arial"/>
                <a:ea typeface="Arial"/>
                <a:cs typeface="Arial"/>
                <a:sym typeface="Arial"/>
              </a:defRPr>
            </a:lvl5pPr>
            <a:lvl6pPr marR="0" lvl="5" algn="l" rtl="0">
              <a:spcBef>
                <a:spcPts val="0"/>
              </a:spcBef>
              <a:spcAft>
                <a:spcPts val="0"/>
              </a:spcAft>
              <a:buSzPts val="1100"/>
              <a:buNone/>
              <a:defRPr sz="1600" b="0" i="0" u="none" strike="noStrike" cap="none">
                <a:solidFill>
                  <a:schemeClr val="dk2"/>
                </a:solidFill>
                <a:latin typeface="Arial"/>
                <a:ea typeface="Arial"/>
                <a:cs typeface="Arial"/>
                <a:sym typeface="Arial"/>
              </a:defRPr>
            </a:lvl6pPr>
            <a:lvl7pPr marR="0" lvl="6" algn="l" rtl="0">
              <a:spcBef>
                <a:spcPts val="0"/>
              </a:spcBef>
              <a:spcAft>
                <a:spcPts val="0"/>
              </a:spcAft>
              <a:buSzPts val="1100"/>
              <a:buNone/>
              <a:defRPr sz="1600" b="0" i="0" u="none" strike="noStrike" cap="none">
                <a:solidFill>
                  <a:schemeClr val="dk2"/>
                </a:solidFill>
                <a:latin typeface="Arial"/>
                <a:ea typeface="Arial"/>
                <a:cs typeface="Arial"/>
                <a:sym typeface="Arial"/>
              </a:defRPr>
            </a:lvl7pPr>
            <a:lvl8pPr marR="0" lvl="7" algn="l" rtl="0">
              <a:spcBef>
                <a:spcPts val="0"/>
              </a:spcBef>
              <a:spcAft>
                <a:spcPts val="0"/>
              </a:spcAft>
              <a:buSzPts val="1100"/>
              <a:buNone/>
              <a:defRPr sz="1600" b="0" i="0" u="none" strike="noStrike" cap="none">
                <a:solidFill>
                  <a:schemeClr val="dk2"/>
                </a:solidFill>
                <a:latin typeface="Arial"/>
                <a:ea typeface="Arial"/>
                <a:cs typeface="Arial"/>
                <a:sym typeface="Arial"/>
              </a:defRPr>
            </a:lvl8pPr>
            <a:lvl9pPr marR="0" lvl="8" algn="l" rtl="0">
              <a:spcBef>
                <a:spcPts val="0"/>
              </a:spcBef>
              <a:spcAft>
                <a:spcPts val="0"/>
              </a:spcAft>
              <a:buSzPts val="1100"/>
              <a:buNone/>
              <a:defRPr sz="1600" b="0" i="0" u="none" strike="noStrike" cap="none">
                <a:solidFill>
                  <a:schemeClr val="dk2"/>
                </a:solidFill>
                <a:latin typeface="Arial"/>
                <a:ea typeface="Arial"/>
                <a:cs typeface="Arial"/>
                <a:sym typeface="Arial"/>
              </a:defRPr>
            </a:lvl9pPr>
          </a:lstStyle>
          <a:p>
            <a:endParaRPr/>
          </a:p>
        </p:txBody>
      </p:sp>
      <p:sp>
        <p:nvSpPr>
          <p:cNvPr id="18" name="Google Shape;18;p4"/>
          <p:cNvSpPr txBox="1">
            <a:spLocks noGrp="1"/>
          </p:cNvSpPr>
          <p:nvPr>
            <p:ph type="body" idx="1"/>
          </p:nvPr>
        </p:nvSpPr>
        <p:spPr>
          <a:xfrm>
            <a:off x="432000" y="792368"/>
            <a:ext cx="8280000" cy="3835800"/>
          </a:xfrm>
          <a:prstGeom prst="rect">
            <a:avLst/>
          </a:prstGeom>
          <a:noFill/>
          <a:ln>
            <a:noFill/>
          </a:ln>
        </p:spPr>
        <p:txBody>
          <a:bodyPr spcFirstLastPara="1" wrap="square" lIns="49625" tIns="24875" rIns="49625" bIns="24875" anchor="t" anchorCtr="0">
            <a:noAutofit/>
          </a:bodyPr>
          <a:lstStyle>
            <a:lvl1pPr marL="457200" marR="0" lvl="0" indent="-342900" algn="l" rtl="0">
              <a:spcBef>
                <a:spcPts val="0"/>
              </a:spcBef>
              <a:spcAft>
                <a:spcPts val="0"/>
              </a:spcAft>
              <a:buClr>
                <a:schemeClr val="dk1"/>
              </a:buClr>
              <a:buSzPts val="1800"/>
              <a:buFont typeface="Arial"/>
              <a:buChar char="•"/>
              <a:defRPr sz="1440" b="0" i="0" u="none" strike="noStrike" cap="none">
                <a:solidFill>
                  <a:schemeClr val="dk1"/>
                </a:solidFill>
                <a:latin typeface="Quattrocento Sans"/>
                <a:ea typeface="Quattrocento Sans"/>
                <a:cs typeface="Quattrocento Sans"/>
                <a:sym typeface="Quattrocento Sans"/>
              </a:defRPr>
            </a:lvl1pPr>
            <a:lvl2pPr marL="914400" marR="0" lvl="1" indent="-323850" algn="l" rtl="0">
              <a:spcBef>
                <a:spcPts val="0"/>
              </a:spcBef>
              <a:spcAft>
                <a:spcPts val="0"/>
              </a:spcAft>
              <a:buClr>
                <a:schemeClr val="dk1"/>
              </a:buClr>
              <a:buSzPts val="1500"/>
              <a:buFont typeface="Arial"/>
              <a:buChar char="•"/>
              <a:defRPr sz="1200" b="0" i="0" u="none" strike="noStrike" cap="none">
                <a:solidFill>
                  <a:schemeClr val="dk1"/>
                </a:solidFill>
                <a:latin typeface="Quattrocento Sans"/>
                <a:ea typeface="Quattrocento Sans"/>
                <a:cs typeface="Quattrocento Sans"/>
                <a:sym typeface="Quattrocento Sans"/>
              </a:defRPr>
            </a:lvl2pPr>
            <a:lvl3pPr marL="1371600" marR="0" lvl="2" indent="-304800" algn="l" rtl="0">
              <a:spcBef>
                <a:spcPts val="0"/>
              </a:spcBef>
              <a:spcAft>
                <a:spcPts val="0"/>
              </a:spcAft>
              <a:buClr>
                <a:schemeClr val="dk1"/>
              </a:buClr>
              <a:buSzPts val="1200"/>
              <a:buFont typeface="Arial"/>
              <a:buChar char="•"/>
              <a:defRPr sz="960" b="0" i="0" u="none" strike="noStrike" cap="none">
                <a:solidFill>
                  <a:schemeClr val="dk1"/>
                </a:solidFill>
                <a:latin typeface="Quattrocento Sans"/>
                <a:ea typeface="Quattrocento Sans"/>
                <a:cs typeface="Quattrocento Sans"/>
                <a:sym typeface="Quattrocento Sans"/>
              </a:defRPr>
            </a:lvl3pPr>
            <a:lvl4pPr marL="1828800" marR="0" lvl="3" indent="-298450" algn="l" rtl="0">
              <a:spcBef>
                <a:spcPts val="0"/>
              </a:spcBef>
              <a:spcAft>
                <a:spcPts val="0"/>
              </a:spcAft>
              <a:buClr>
                <a:schemeClr val="dk1"/>
              </a:buClr>
              <a:buSzPts val="1100"/>
              <a:buFont typeface="Arial"/>
              <a:buChar char="•"/>
              <a:defRPr sz="880" b="0" i="0" u="none" strike="noStrike" cap="none">
                <a:solidFill>
                  <a:schemeClr val="dk1"/>
                </a:solidFill>
                <a:latin typeface="Quattrocento Sans"/>
                <a:ea typeface="Quattrocento Sans"/>
                <a:cs typeface="Quattrocento Sans"/>
                <a:sym typeface="Quattrocento Sans"/>
              </a:defRPr>
            </a:lvl4pPr>
            <a:lvl5pPr marL="2286000" marR="0" lvl="4" indent="-298450" algn="l" rtl="0">
              <a:spcBef>
                <a:spcPts val="0"/>
              </a:spcBef>
              <a:spcAft>
                <a:spcPts val="0"/>
              </a:spcAft>
              <a:buClr>
                <a:schemeClr val="dk1"/>
              </a:buClr>
              <a:buSzPts val="1100"/>
              <a:buFont typeface="Arial"/>
              <a:buChar char="•"/>
              <a:defRPr sz="880" b="0" i="0" u="none" strike="noStrike" cap="none">
                <a:solidFill>
                  <a:schemeClr val="dk1"/>
                </a:solidFill>
                <a:latin typeface="Quattrocento Sans"/>
                <a:ea typeface="Quattrocento Sans"/>
                <a:cs typeface="Quattrocento Sans"/>
                <a:sym typeface="Quattrocento Sans"/>
              </a:defRPr>
            </a:lvl5pPr>
            <a:lvl6pPr marL="2743200" marR="0" lvl="5" indent="-298450" algn="l" rtl="0">
              <a:spcBef>
                <a:spcPts val="200"/>
              </a:spcBef>
              <a:spcAft>
                <a:spcPts val="0"/>
              </a:spcAft>
              <a:buClr>
                <a:schemeClr val="dk1"/>
              </a:buClr>
              <a:buSzPts val="1100"/>
              <a:buFont typeface="Quattrocento Sans"/>
              <a:buChar char="»"/>
              <a:defRPr sz="880" b="0" i="0" u="none" strike="noStrike" cap="none">
                <a:solidFill>
                  <a:schemeClr val="dk1"/>
                </a:solidFill>
                <a:latin typeface="Quattrocento Sans"/>
                <a:ea typeface="Quattrocento Sans"/>
                <a:cs typeface="Quattrocento Sans"/>
                <a:sym typeface="Quattrocento Sans"/>
              </a:defRPr>
            </a:lvl6pPr>
            <a:lvl7pPr marL="3200400" marR="0" lvl="6" indent="-298450" algn="l" rtl="0">
              <a:spcBef>
                <a:spcPts val="200"/>
              </a:spcBef>
              <a:spcAft>
                <a:spcPts val="0"/>
              </a:spcAft>
              <a:buClr>
                <a:schemeClr val="dk1"/>
              </a:buClr>
              <a:buSzPts val="1100"/>
              <a:buFont typeface="Quattrocento Sans"/>
              <a:buChar char="»"/>
              <a:defRPr sz="880" b="0" i="0" u="none" strike="noStrike" cap="none">
                <a:solidFill>
                  <a:schemeClr val="dk1"/>
                </a:solidFill>
                <a:latin typeface="Quattrocento Sans"/>
                <a:ea typeface="Quattrocento Sans"/>
                <a:cs typeface="Quattrocento Sans"/>
                <a:sym typeface="Quattrocento Sans"/>
              </a:defRPr>
            </a:lvl7pPr>
            <a:lvl8pPr marL="3657600" marR="0" lvl="7" indent="-298450" algn="l" rtl="0">
              <a:spcBef>
                <a:spcPts val="200"/>
              </a:spcBef>
              <a:spcAft>
                <a:spcPts val="0"/>
              </a:spcAft>
              <a:buClr>
                <a:schemeClr val="dk1"/>
              </a:buClr>
              <a:buSzPts val="1100"/>
              <a:buFont typeface="Quattrocento Sans"/>
              <a:buChar char="»"/>
              <a:defRPr sz="880" b="0" i="0" u="none" strike="noStrike" cap="none">
                <a:solidFill>
                  <a:schemeClr val="dk1"/>
                </a:solidFill>
                <a:latin typeface="Quattrocento Sans"/>
                <a:ea typeface="Quattrocento Sans"/>
                <a:cs typeface="Quattrocento Sans"/>
                <a:sym typeface="Quattrocento Sans"/>
              </a:defRPr>
            </a:lvl8pPr>
            <a:lvl9pPr marL="4114800" marR="0" lvl="8" indent="-298450" algn="l" rtl="0">
              <a:spcBef>
                <a:spcPts val="200"/>
              </a:spcBef>
              <a:spcAft>
                <a:spcPts val="0"/>
              </a:spcAft>
              <a:buClr>
                <a:schemeClr val="dk1"/>
              </a:buClr>
              <a:buSzPts val="1100"/>
              <a:buFont typeface="Quattrocento Sans"/>
              <a:buChar char="»"/>
              <a:defRPr sz="880" b="0" i="0" u="none" strike="noStrike" cap="none">
                <a:solidFill>
                  <a:schemeClr val="dk1"/>
                </a:solidFill>
                <a:latin typeface="Quattrocento Sans"/>
                <a:ea typeface="Quattrocento Sans"/>
                <a:cs typeface="Quattrocento Sans"/>
                <a:sym typeface="Quattrocento Sans"/>
              </a:defRPr>
            </a:lvl9pPr>
          </a:lstStyle>
          <a:p>
            <a:endParaRPr/>
          </a:p>
        </p:txBody>
      </p:sp>
      <p:cxnSp>
        <p:nvCxnSpPr>
          <p:cNvPr id="19" name="Google Shape;19;p4"/>
          <p:cNvCxnSpPr/>
          <p:nvPr/>
        </p:nvCxnSpPr>
        <p:spPr>
          <a:xfrm>
            <a:off x="269860" y="681698"/>
            <a:ext cx="8635500" cy="0"/>
          </a:xfrm>
          <a:prstGeom prst="straightConnector1">
            <a:avLst/>
          </a:prstGeom>
          <a:noFill/>
          <a:ln w="9525" cap="flat" cmpd="sng">
            <a:solidFill>
              <a:srgbClr val="333333"/>
            </a:solidFill>
            <a:prstDash val="solid"/>
            <a:round/>
            <a:headEnd type="none" w="sm" len="sm"/>
            <a:tailEnd type="none" w="sm" len="sm"/>
          </a:ln>
        </p:spPr>
      </p:cxnSp>
      <p:sp>
        <p:nvSpPr>
          <p:cNvPr id="20" name="Google Shape;20;p4"/>
          <p:cNvSpPr txBox="1"/>
          <p:nvPr/>
        </p:nvSpPr>
        <p:spPr>
          <a:xfrm>
            <a:off x="161918" y="4806000"/>
            <a:ext cx="4857600" cy="27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fld id="{00000000-1234-1234-1234-123412341234}" type="slidenum">
              <a:rPr lang="ja" sz="1200" b="1">
                <a:solidFill>
                  <a:srgbClr val="7F7F7F"/>
                </a:solidFill>
                <a:latin typeface="Quattrocento Sans"/>
                <a:ea typeface="Quattrocento Sans"/>
                <a:cs typeface="Quattrocento Sans"/>
                <a:sym typeface="Quattrocento Sans"/>
              </a:rPr>
              <a:t>‹#›</a:t>
            </a:fld>
            <a:r>
              <a:rPr lang="ja" sz="1200" b="1">
                <a:solidFill>
                  <a:srgbClr val="7F7F7F"/>
                </a:solidFill>
                <a:latin typeface="Quattrocento Sans"/>
                <a:ea typeface="Quattrocento Sans"/>
                <a:cs typeface="Quattrocento Sans"/>
                <a:sym typeface="Quattrocento Sans"/>
              </a:rPr>
              <a:t>  </a:t>
            </a:r>
            <a:r>
              <a:rPr lang="ja" sz="1200">
                <a:solidFill>
                  <a:srgbClr val="7FD13B"/>
                </a:solidFill>
                <a:latin typeface="Open Sans"/>
                <a:ea typeface="Open Sans"/>
                <a:cs typeface="Open Sans"/>
                <a:sym typeface="Open Sans"/>
              </a:rPr>
              <a:t>▇</a:t>
            </a:r>
            <a:r>
              <a:rPr lang="ja" sz="1200">
                <a:solidFill>
                  <a:srgbClr val="EA157A"/>
                </a:solidFill>
                <a:latin typeface="Open Sans"/>
                <a:ea typeface="Open Sans"/>
                <a:cs typeface="Open Sans"/>
                <a:sym typeface="Open Sans"/>
              </a:rPr>
              <a:t>▇</a:t>
            </a:r>
            <a:r>
              <a:rPr lang="ja" sz="1200">
                <a:solidFill>
                  <a:srgbClr val="007DEA"/>
                </a:solidFill>
                <a:latin typeface="Open Sans"/>
                <a:ea typeface="Open Sans"/>
                <a:cs typeface="Open Sans"/>
                <a:sym typeface="Open Sans"/>
              </a:rPr>
              <a:t>▇</a:t>
            </a:r>
            <a:r>
              <a:rPr lang="ja" sz="1200">
                <a:solidFill>
                  <a:srgbClr val="7FD13B"/>
                </a:solidFill>
                <a:latin typeface="Open Sans"/>
                <a:ea typeface="Open Sans"/>
                <a:cs typeface="Open Sans"/>
                <a:sym typeface="Open Sans"/>
              </a:rPr>
              <a:t> </a:t>
            </a:r>
            <a:r>
              <a:rPr lang="ja" sz="1200">
                <a:solidFill>
                  <a:schemeClr val="dk1"/>
                </a:solidFill>
                <a:latin typeface="Open Sans"/>
                <a:ea typeface="Open Sans"/>
                <a:cs typeface="Open Sans"/>
                <a:sym typeface="Open Sans"/>
              </a:rPr>
              <a:t>The OpenChain project Japan work group / CC BY 4.0</a:t>
            </a:r>
            <a:r>
              <a:rPr lang="ja" sz="1200">
                <a:solidFill>
                  <a:srgbClr val="7FD13B"/>
                </a:solidFill>
                <a:latin typeface="Open Sans"/>
                <a:ea typeface="Open Sans"/>
                <a:cs typeface="Open Sans"/>
                <a:sym typeface="Open Sans"/>
              </a:rPr>
              <a:t> </a:t>
            </a:r>
            <a:endParaRPr sz="1200">
              <a:solidFill>
                <a:srgbClr val="A5A5A5"/>
              </a:solidFill>
              <a:latin typeface="Open Sans"/>
              <a:ea typeface="Open Sans"/>
              <a:cs typeface="Open Sans"/>
              <a:sym typeface="Open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ユーザー設定レイアウト">
  <p:cSld name="ユーザー設定レイアウト">
    <p:spTree>
      <p:nvGrpSpPr>
        <p:cNvPr id="1" name="Shape 2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8_MiddlePage_1_white　CC0">
  <p:cSld name="8_MiddlePage_1_white">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432000" y="34524"/>
            <a:ext cx="8280000" cy="594300"/>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100"/>
              <a:buNone/>
              <a:defRPr sz="1440" b="0" i="0" u="none" strike="noStrike" cap="none">
                <a:solidFill>
                  <a:schemeClr val="dk1"/>
                </a:solidFill>
                <a:latin typeface="Tahoma"/>
                <a:ea typeface="Tahoma"/>
                <a:cs typeface="Tahoma"/>
                <a:sym typeface="Tahoma"/>
              </a:defRPr>
            </a:lvl1pPr>
            <a:lvl2pPr marR="0" lvl="1" algn="l" rtl="0">
              <a:spcBef>
                <a:spcPts val="0"/>
              </a:spcBef>
              <a:spcAft>
                <a:spcPts val="0"/>
              </a:spcAft>
              <a:buSzPts val="1100"/>
              <a:buNone/>
              <a:defRPr sz="1440" b="0" i="0" u="none" strike="noStrike" cap="none">
                <a:solidFill>
                  <a:schemeClr val="dk2"/>
                </a:solidFill>
                <a:latin typeface="Arial"/>
                <a:ea typeface="Arial"/>
                <a:cs typeface="Arial"/>
                <a:sym typeface="Arial"/>
              </a:defRPr>
            </a:lvl2pPr>
            <a:lvl3pPr marR="0" lvl="2" algn="l" rtl="0">
              <a:spcBef>
                <a:spcPts val="0"/>
              </a:spcBef>
              <a:spcAft>
                <a:spcPts val="0"/>
              </a:spcAft>
              <a:buSzPts val="1100"/>
              <a:buNone/>
              <a:defRPr sz="1440" b="0" i="0" u="none" strike="noStrike" cap="none">
                <a:solidFill>
                  <a:schemeClr val="dk2"/>
                </a:solidFill>
                <a:latin typeface="Arial"/>
                <a:ea typeface="Arial"/>
                <a:cs typeface="Arial"/>
                <a:sym typeface="Arial"/>
              </a:defRPr>
            </a:lvl3pPr>
            <a:lvl4pPr marR="0" lvl="3" algn="l" rtl="0">
              <a:spcBef>
                <a:spcPts val="0"/>
              </a:spcBef>
              <a:spcAft>
                <a:spcPts val="0"/>
              </a:spcAft>
              <a:buSzPts val="1100"/>
              <a:buNone/>
              <a:defRPr sz="1440" b="0" i="0" u="none" strike="noStrike" cap="none">
                <a:solidFill>
                  <a:schemeClr val="dk2"/>
                </a:solidFill>
                <a:latin typeface="Arial"/>
                <a:ea typeface="Arial"/>
                <a:cs typeface="Arial"/>
                <a:sym typeface="Arial"/>
              </a:defRPr>
            </a:lvl4pPr>
            <a:lvl5pPr marR="0" lvl="4" algn="l" rtl="0">
              <a:spcBef>
                <a:spcPts val="0"/>
              </a:spcBef>
              <a:spcAft>
                <a:spcPts val="0"/>
              </a:spcAft>
              <a:buSzPts val="1100"/>
              <a:buNone/>
              <a:defRPr sz="1440" b="0" i="0" u="none" strike="noStrike" cap="none">
                <a:solidFill>
                  <a:schemeClr val="dk2"/>
                </a:solidFill>
                <a:latin typeface="Arial"/>
                <a:ea typeface="Arial"/>
                <a:cs typeface="Arial"/>
                <a:sym typeface="Arial"/>
              </a:defRPr>
            </a:lvl5pPr>
            <a:lvl6pPr marR="0" lvl="5" algn="l" rtl="0">
              <a:spcBef>
                <a:spcPts val="0"/>
              </a:spcBef>
              <a:spcAft>
                <a:spcPts val="0"/>
              </a:spcAft>
              <a:buSzPts val="1100"/>
              <a:buNone/>
              <a:defRPr sz="1600" b="0" i="0" u="none" strike="noStrike" cap="none">
                <a:solidFill>
                  <a:schemeClr val="dk2"/>
                </a:solidFill>
                <a:latin typeface="Arial"/>
                <a:ea typeface="Arial"/>
                <a:cs typeface="Arial"/>
                <a:sym typeface="Arial"/>
              </a:defRPr>
            </a:lvl6pPr>
            <a:lvl7pPr marR="0" lvl="6" algn="l" rtl="0">
              <a:spcBef>
                <a:spcPts val="0"/>
              </a:spcBef>
              <a:spcAft>
                <a:spcPts val="0"/>
              </a:spcAft>
              <a:buSzPts val="1100"/>
              <a:buNone/>
              <a:defRPr sz="1600" b="0" i="0" u="none" strike="noStrike" cap="none">
                <a:solidFill>
                  <a:schemeClr val="dk2"/>
                </a:solidFill>
                <a:latin typeface="Arial"/>
                <a:ea typeface="Arial"/>
                <a:cs typeface="Arial"/>
                <a:sym typeface="Arial"/>
              </a:defRPr>
            </a:lvl7pPr>
            <a:lvl8pPr marR="0" lvl="7" algn="l" rtl="0">
              <a:spcBef>
                <a:spcPts val="0"/>
              </a:spcBef>
              <a:spcAft>
                <a:spcPts val="0"/>
              </a:spcAft>
              <a:buSzPts val="1100"/>
              <a:buNone/>
              <a:defRPr sz="1600" b="0" i="0" u="none" strike="noStrike" cap="none">
                <a:solidFill>
                  <a:schemeClr val="dk2"/>
                </a:solidFill>
                <a:latin typeface="Arial"/>
                <a:ea typeface="Arial"/>
                <a:cs typeface="Arial"/>
                <a:sym typeface="Arial"/>
              </a:defRPr>
            </a:lvl8pPr>
            <a:lvl9pPr marR="0" lvl="8" algn="l" rtl="0">
              <a:spcBef>
                <a:spcPts val="0"/>
              </a:spcBef>
              <a:spcAft>
                <a:spcPts val="0"/>
              </a:spcAft>
              <a:buSzPts val="1100"/>
              <a:buNone/>
              <a:defRPr sz="1600" b="0" i="0" u="none" strike="noStrike" cap="none">
                <a:solidFill>
                  <a:schemeClr val="dk2"/>
                </a:solidFill>
                <a:latin typeface="Arial"/>
                <a:ea typeface="Arial"/>
                <a:cs typeface="Arial"/>
                <a:sym typeface="Arial"/>
              </a:defRPr>
            </a:lvl9pPr>
          </a:lstStyle>
          <a:p>
            <a:endParaRPr/>
          </a:p>
        </p:txBody>
      </p:sp>
      <p:cxnSp>
        <p:nvCxnSpPr>
          <p:cNvPr id="24" name="Google Shape;24;p6"/>
          <p:cNvCxnSpPr/>
          <p:nvPr/>
        </p:nvCxnSpPr>
        <p:spPr>
          <a:xfrm>
            <a:off x="269860" y="681698"/>
            <a:ext cx="8635500" cy="0"/>
          </a:xfrm>
          <a:prstGeom prst="straightConnector1">
            <a:avLst/>
          </a:prstGeom>
          <a:noFill/>
          <a:ln w="9525" cap="flat" cmpd="sng">
            <a:solidFill>
              <a:srgbClr val="333333"/>
            </a:solidFill>
            <a:prstDash val="solid"/>
            <a:round/>
            <a:headEnd type="none" w="sm" len="sm"/>
            <a:tailEnd type="none" w="sm" len="sm"/>
          </a:ln>
        </p:spPr>
      </p:cxnSp>
      <p:sp>
        <p:nvSpPr>
          <p:cNvPr id="25" name="Google Shape;25;p6"/>
          <p:cNvSpPr/>
          <p:nvPr/>
        </p:nvSpPr>
        <p:spPr>
          <a:xfrm>
            <a:off x="8382000" y="4883214"/>
            <a:ext cx="108300" cy="10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ja" sz="900">
                <a:solidFill>
                  <a:srgbClr val="FFFFFF"/>
                </a:solidFill>
                <a:latin typeface="Quattrocento Sans"/>
                <a:ea typeface="Quattrocento Sans"/>
                <a:cs typeface="Quattrocento Sans"/>
                <a:sym typeface="Quattrocento Sans"/>
              </a:rPr>
              <a:t>CONFIDENTIAL</a:t>
            </a:r>
            <a:endParaRPr sz="1100"/>
          </a:p>
        </p:txBody>
      </p:sp>
      <p:sp>
        <p:nvSpPr>
          <p:cNvPr id="26" name="Google Shape;26;p6"/>
          <p:cNvSpPr txBox="1"/>
          <p:nvPr/>
        </p:nvSpPr>
        <p:spPr>
          <a:xfrm>
            <a:off x="161918" y="4806000"/>
            <a:ext cx="4857600" cy="27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fld id="{00000000-1234-1234-1234-123412341234}" type="slidenum">
              <a:rPr lang="ja" sz="1300" b="1">
                <a:solidFill>
                  <a:srgbClr val="7F7F7F"/>
                </a:solidFill>
                <a:latin typeface="Quattrocento Sans"/>
                <a:ea typeface="Quattrocento Sans"/>
                <a:cs typeface="Quattrocento Sans"/>
                <a:sym typeface="Quattrocento Sans"/>
              </a:rPr>
              <a:t>‹#›</a:t>
            </a:fld>
            <a:r>
              <a:rPr lang="ja" sz="1300" b="1">
                <a:solidFill>
                  <a:srgbClr val="7F7F7F"/>
                </a:solidFill>
                <a:latin typeface="Quattrocento Sans"/>
                <a:ea typeface="Quattrocento Sans"/>
                <a:cs typeface="Quattrocento Sans"/>
                <a:sym typeface="Quattrocento Sans"/>
              </a:rPr>
              <a:t>  </a:t>
            </a:r>
            <a:r>
              <a:rPr lang="ja" sz="1300">
                <a:solidFill>
                  <a:srgbClr val="7FD13B"/>
                </a:solidFill>
                <a:latin typeface="Open Sans"/>
                <a:ea typeface="Open Sans"/>
                <a:cs typeface="Open Sans"/>
                <a:sym typeface="Open Sans"/>
              </a:rPr>
              <a:t>▇</a:t>
            </a:r>
            <a:r>
              <a:rPr lang="ja" sz="1300">
                <a:solidFill>
                  <a:srgbClr val="EA157A"/>
                </a:solidFill>
                <a:latin typeface="Open Sans"/>
                <a:ea typeface="Open Sans"/>
                <a:cs typeface="Open Sans"/>
                <a:sym typeface="Open Sans"/>
              </a:rPr>
              <a:t>▇</a:t>
            </a:r>
            <a:r>
              <a:rPr lang="ja" sz="1300">
                <a:solidFill>
                  <a:srgbClr val="007DEA"/>
                </a:solidFill>
                <a:latin typeface="Open Sans"/>
                <a:ea typeface="Open Sans"/>
                <a:cs typeface="Open Sans"/>
                <a:sym typeface="Open Sans"/>
              </a:rPr>
              <a:t>▇</a:t>
            </a:r>
            <a:r>
              <a:rPr lang="ja" sz="1300">
                <a:solidFill>
                  <a:srgbClr val="7FD13B"/>
                </a:solidFill>
                <a:latin typeface="Open Sans"/>
                <a:ea typeface="Open Sans"/>
                <a:cs typeface="Open Sans"/>
                <a:sym typeface="Open Sans"/>
              </a:rPr>
              <a:t> </a:t>
            </a:r>
            <a:r>
              <a:rPr lang="ja" sz="1300">
                <a:solidFill>
                  <a:schemeClr val="dk1"/>
                </a:solidFill>
                <a:latin typeface="Open Sans"/>
                <a:ea typeface="Open Sans"/>
                <a:cs typeface="Open Sans"/>
                <a:sym typeface="Open Sans"/>
              </a:rPr>
              <a:t>The OpenChain project Japan work group / CC0-1.0</a:t>
            </a:r>
            <a:endParaRPr sz="1200">
              <a:solidFill>
                <a:srgbClr val="A5A5A5"/>
              </a:solidFill>
              <a:latin typeface="Open Sans"/>
              <a:ea typeface="Open Sans"/>
              <a:cs typeface="Open Sans"/>
              <a:sym typeface="Open Sans"/>
            </a:endParaRPr>
          </a:p>
        </p:txBody>
      </p:sp>
      <p:sp>
        <p:nvSpPr>
          <p:cNvPr id="27" name="Google Shape;27;p6"/>
          <p:cNvSpPr txBox="1">
            <a:spLocks noGrp="1"/>
          </p:cNvSpPr>
          <p:nvPr>
            <p:ph type="body" idx="1"/>
          </p:nvPr>
        </p:nvSpPr>
        <p:spPr>
          <a:xfrm>
            <a:off x="432000" y="792368"/>
            <a:ext cx="8280000" cy="3835800"/>
          </a:xfrm>
          <a:prstGeom prst="rect">
            <a:avLst/>
          </a:prstGeom>
          <a:noFill/>
          <a:ln>
            <a:noFill/>
          </a:ln>
        </p:spPr>
        <p:txBody>
          <a:bodyPr spcFirstLastPara="1" wrap="square" lIns="49625" tIns="24875" rIns="49625" bIns="24875" anchor="t" anchorCtr="0">
            <a:noAutofit/>
          </a:bodyPr>
          <a:lstStyle>
            <a:lvl1pPr marL="457200" marR="0" lvl="0" indent="-342900" algn="l">
              <a:spcBef>
                <a:spcPts val="0"/>
              </a:spcBef>
              <a:spcAft>
                <a:spcPts val="0"/>
              </a:spcAft>
              <a:buClr>
                <a:schemeClr val="dk1"/>
              </a:buClr>
              <a:buSzPts val="1800"/>
              <a:buFont typeface="Arial"/>
              <a:buChar char="•"/>
              <a:defRPr sz="1440" b="0" i="0" u="none" strike="noStrike" cap="none">
                <a:solidFill>
                  <a:schemeClr val="dk1"/>
                </a:solidFill>
                <a:latin typeface="Quattrocento Sans"/>
                <a:ea typeface="Quattrocento Sans"/>
                <a:cs typeface="Quattrocento Sans"/>
                <a:sym typeface="Quattrocento Sans"/>
              </a:defRPr>
            </a:lvl1pPr>
            <a:lvl2pPr marL="914400" marR="0" lvl="1" indent="-323850" algn="l">
              <a:spcBef>
                <a:spcPts val="0"/>
              </a:spcBef>
              <a:spcAft>
                <a:spcPts val="0"/>
              </a:spcAft>
              <a:buClr>
                <a:schemeClr val="dk1"/>
              </a:buClr>
              <a:buSzPts val="1500"/>
              <a:buFont typeface="Arial"/>
              <a:buChar char="•"/>
              <a:defRPr sz="1200" b="0" i="0" u="none" strike="noStrike" cap="none">
                <a:solidFill>
                  <a:schemeClr val="dk1"/>
                </a:solidFill>
                <a:latin typeface="Quattrocento Sans"/>
                <a:ea typeface="Quattrocento Sans"/>
                <a:cs typeface="Quattrocento Sans"/>
                <a:sym typeface="Quattrocento Sans"/>
              </a:defRPr>
            </a:lvl2pPr>
            <a:lvl3pPr marL="1371600" marR="0" lvl="2" indent="-304800" algn="l">
              <a:spcBef>
                <a:spcPts val="0"/>
              </a:spcBef>
              <a:spcAft>
                <a:spcPts val="0"/>
              </a:spcAft>
              <a:buClr>
                <a:schemeClr val="dk1"/>
              </a:buClr>
              <a:buSzPts val="1200"/>
              <a:buFont typeface="Arial"/>
              <a:buChar char="•"/>
              <a:defRPr sz="960" b="0" i="0" u="none" strike="noStrike" cap="none">
                <a:solidFill>
                  <a:schemeClr val="dk1"/>
                </a:solidFill>
                <a:latin typeface="Quattrocento Sans"/>
                <a:ea typeface="Quattrocento Sans"/>
                <a:cs typeface="Quattrocento Sans"/>
                <a:sym typeface="Quattrocento Sans"/>
              </a:defRPr>
            </a:lvl3pPr>
            <a:lvl4pPr marL="1828800" marR="0" lvl="3" indent="-298450" algn="l">
              <a:spcBef>
                <a:spcPts val="0"/>
              </a:spcBef>
              <a:spcAft>
                <a:spcPts val="0"/>
              </a:spcAft>
              <a:buClr>
                <a:schemeClr val="dk1"/>
              </a:buClr>
              <a:buSzPts val="1100"/>
              <a:buFont typeface="Arial"/>
              <a:buChar char="•"/>
              <a:defRPr sz="880" b="0" i="0" u="none" strike="noStrike" cap="none">
                <a:solidFill>
                  <a:schemeClr val="dk1"/>
                </a:solidFill>
                <a:latin typeface="Quattrocento Sans"/>
                <a:ea typeface="Quattrocento Sans"/>
                <a:cs typeface="Quattrocento Sans"/>
                <a:sym typeface="Quattrocento Sans"/>
              </a:defRPr>
            </a:lvl4pPr>
            <a:lvl5pPr marL="2286000" marR="0" lvl="4" indent="-298450" algn="l">
              <a:spcBef>
                <a:spcPts val="0"/>
              </a:spcBef>
              <a:spcAft>
                <a:spcPts val="0"/>
              </a:spcAft>
              <a:buClr>
                <a:schemeClr val="dk1"/>
              </a:buClr>
              <a:buSzPts val="1100"/>
              <a:buFont typeface="Arial"/>
              <a:buChar char="•"/>
              <a:defRPr sz="880" b="0" i="0" u="none" strike="noStrike" cap="none">
                <a:solidFill>
                  <a:schemeClr val="dk1"/>
                </a:solidFill>
                <a:latin typeface="Quattrocento Sans"/>
                <a:ea typeface="Quattrocento Sans"/>
                <a:cs typeface="Quattrocento Sans"/>
                <a:sym typeface="Quattrocento Sans"/>
              </a:defRPr>
            </a:lvl5pPr>
            <a:lvl6pPr marL="2743200" marR="0" lvl="5" indent="-298450" algn="l">
              <a:spcBef>
                <a:spcPts val="200"/>
              </a:spcBef>
              <a:spcAft>
                <a:spcPts val="0"/>
              </a:spcAft>
              <a:buClr>
                <a:schemeClr val="dk1"/>
              </a:buClr>
              <a:buSzPts val="1100"/>
              <a:buFont typeface="Quattrocento Sans"/>
              <a:buChar char="»"/>
              <a:defRPr sz="880" b="0" i="0" u="none" strike="noStrike" cap="none">
                <a:solidFill>
                  <a:schemeClr val="dk1"/>
                </a:solidFill>
                <a:latin typeface="Quattrocento Sans"/>
                <a:ea typeface="Quattrocento Sans"/>
                <a:cs typeface="Quattrocento Sans"/>
                <a:sym typeface="Quattrocento Sans"/>
              </a:defRPr>
            </a:lvl6pPr>
            <a:lvl7pPr marL="3200400" marR="0" lvl="6" indent="-298450" algn="l">
              <a:spcBef>
                <a:spcPts val="200"/>
              </a:spcBef>
              <a:spcAft>
                <a:spcPts val="0"/>
              </a:spcAft>
              <a:buClr>
                <a:schemeClr val="dk1"/>
              </a:buClr>
              <a:buSzPts val="1100"/>
              <a:buFont typeface="Quattrocento Sans"/>
              <a:buChar char="»"/>
              <a:defRPr sz="880" b="0" i="0" u="none" strike="noStrike" cap="none">
                <a:solidFill>
                  <a:schemeClr val="dk1"/>
                </a:solidFill>
                <a:latin typeface="Quattrocento Sans"/>
                <a:ea typeface="Quattrocento Sans"/>
                <a:cs typeface="Quattrocento Sans"/>
                <a:sym typeface="Quattrocento Sans"/>
              </a:defRPr>
            </a:lvl7pPr>
            <a:lvl8pPr marL="3657600" marR="0" lvl="7" indent="-298450" algn="l">
              <a:spcBef>
                <a:spcPts val="200"/>
              </a:spcBef>
              <a:spcAft>
                <a:spcPts val="0"/>
              </a:spcAft>
              <a:buClr>
                <a:schemeClr val="dk1"/>
              </a:buClr>
              <a:buSzPts val="1100"/>
              <a:buFont typeface="Quattrocento Sans"/>
              <a:buChar char="»"/>
              <a:defRPr sz="880" b="0" i="0" u="none" strike="noStrike" cap="none">
                <a:solidFill>
                  <a:schemeClr val="dk1"/>
                </a:solidFill>
                <a:latin typeface="Quattrocento Sans"/>
                <a:ea typeface="Quattrocento Sans"/>
                <a:cs typeface="Quattrocento Sans"/>
                <a:sym typeface="Quattrocento Sans"/>
              </a:defRPr>
            </a:lvl8pPr>
            <a:lvl9pPr marL="4114800" marR="0" lvl="8" indent="-298450" algn="l">
              <a:spcBef>
                <a:spcPts val="200"/>
              </a:spcBef>
              <a:spcAft>
                <a:spcPts val="0"/>
              </a:spcAft>
              <a:buClr>
                <a:schemeClr val="dk1"/>
              </a:buClr>
              <a:buSzPts val="1100"/>
              <a:buFont typeface="Quattrocento Sans"/>
              <a:buChar char="»"/>
              <a:defRPr sz="880" b="0" i="0" u="none" strike="noStrike" cap="none">
                <a:solidFill>
                  <a:schemeClr val="dk1"/>
                </a:solidFill>
                <a:latin typeface="Quattrocento Sans"/>
                <a:ea typeface="Quattrocento Sans"/>
                <a:cs typeface="Quattrocento Sans"/>
                <a:sym typeface="Quattrocento Sans"/>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8"/>
        <p:cNvGrpSpPr/>
        <p:nvPr/>
      </p:nvGrpSpPr>
      <p:grpSpPr>
        <a:xfrm>
          <a:off x="0" y="0"/>
          <a:ext cx="0" cy="0"/>
          <a:chOff x="0" y="0"/>
          <a:chExt cx="0" cy="0"/>
        </a:xfrm>
      </p:grpSpPr>
      <p:sp>
        <p:nvSpPr>
          <p:cNvPr id="29" name="Google Shape;29;p7"/>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5200"/>
              <a:buChar char="●"/>
              <a:defRPr sz="4160"/>
            </a:lvl1pPr>
            <a:lvl2pPr lvl="1" algn="ctr" rtl="0">
              <a:spcBef>
                <a:spcPts val="0"/>
              </a:spcBef>
              <a:spcAft>
                <a:spcPts val="0"/>
              </a:spcAft>
              <a:buSzPts val="5200"/>
              <a:buChar char="○"/>
              <a:defRPr sz="4160"/>
            </a:lvl2pPr>
            <a:lvl3pPr lvl="2" algn="ctr" rtl="0">
              <a:spcBef>
                <a:spcPts val="0"/>
              </a:spcBef>
              <a:spcAft>
                <a:spcPts val="0"/>
              </a:spcAft>
              <a:buSzPts val="5200"/>
              <a:buChar char="■"/>
              <a:defRPr sz="4160"/>
            </a:lvl3pPr>
            <a:lvl4pPr lvl="3" algn="ctr" rtl="0">
              <a:spcBef>
                <a:spcPts val="0"/>
              </a:spcBef>
              <a:spcAft>
                <a:spcPts val="0"/>
              </a:spcAft>
              <a:buSzPts val="5200"/>
              <a:buChar char="●"/>
              <a:defRPr sz="4160"/>
            </a:lvl4pPr>
            <a:lvl5pPr lvl="4" algn="ctr" rtl="0">
              <a:spcBef>
                <a:spcPts val="0"/>
              </a:spcBef>
              <a:spcAft>
                <a:spcPts val="0"/>
              </a:spcAft>
              <a:buSzPts val="5200"/>
              <a:buChar char="○"/>
              <a:defRPr sz="4160"/>
            </a:lvl5pPr>
            <a:lvl6pPr lvl="5" algn="ctr" rtl="0">
              <a:spcBef>
                <a:spcPts val="0"/>
              </a:spcBef>
              <a:spcAft>
                <a:spcPts val="0"/>
              </a:spcAft>
              <a:buSzPts val="5200"/>
              <a:buChar char="■"/>
              <a:defRPr sz="4160"/>
            </a:lvl6pPr>
            <a:lvl7pPr lvl="6" algn="ctr" rtl="0">
              <a:spcBef>
                <a:spcPts val="0"/>
              </a:spcBef>
              <a:spcAft>
                <a:spcPts val="0"/>
              </a:spcAft>
              <a:buSzPts val="5200"/>
              <a:buChar char="●"/>
              <a:defRPr sz="4160"/>
            </a:lvl7pPr>
            <a:lvl8pPr lvl="7" algn="ctr" rtl="0">
              <a:spcBef>
                <a:spcPts val="0"/>
              </a:spcBef>
              <a:spcAft>
                <a:spcPts val="0"/>
              </a:spcAft>
              <a:buSzPts val="5200"/>
              <a:buChar char="○"/>
              <a:defRPr sz="4160"/>
            </a:lvl8pPr>
            <a:lvl9pPr lvl="8" algn="ctr" rtl="0">
              <a:spcBef>
                <a:spcPts val="0"/>
              </a:spcBef>
              <a:spcAft>
                <a:spcPts val="0"/>
              </a:spcAft>
              <a:buSzPts val="5200"/>
              <a:buChar char="■"/>
              <a:defRPr sz="4160"/>
            </a:lvl9pPr>
          </a:lstStyle>
          <a:p>
            <a:endParaRPr/>
          </a:p>
        </p:txBody>
      </p:sp>
      <p:sp>
        <p:nvSpPr>
          <p:cNvPr id="30" name="Google Shape;30;p7"/>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2240"/>
            </a:lvl1pPr>
            <a:lvl2pPr lvl="1" algn="ctr" rtl="0">
              <a:lnSpc>
                <a:spcPct val="100000"/>
              </a:lnSpc>
              <a:spcBef>
                <a:spcPts val="0"/>
              </a:spcBef>
              <a:spcAft>
                <a:spcPts val="0"/>
              </a:spcAft>
              <a:buSzPts val="2800"/>
              <a:buNone/>
              <a:defRPr sz="2240"/>
            </a:lvl2pPr>
            <a:lvl3pPr lvl="2" algn="ctr" rtl="0">
              <a:lnSpc>
                <a:spcPct val="100000"/>
              </a:lnSpc>
              <a:spcBef>
                <a:spcPts val="0"/>
              </a:spcBef>
              <a:spcAft>
                <a:spcPts val="0"/>
              </a:spcAft>
              <a:buSzPts val="2800"/>
              <a:buNone/>
              <a:defRPr sz="2240"/>
            </a:lvl3pPr>
            <a:lvl4pPr lvl="3" algn="ctr" rtl="0">
              <a:lnSpc>
                <a:spcPct val="100000"/>
              </a:lnSpc>
              <a:spcBef>
                <a:spcPts val="0"/>
              </a:spcBef>
              <a:spcAft>
                <a:spcPts val="0"/>
              </a:spcAft>
              <a:buSzPts val="2800"/>
              <a:buNone/>
              <a:defRPr sz="2240"/>
            </a:lvl4pPr>
            <a:lvl5pPr lvl="4" algn="ctr" rtl="0">
              <a:lnSpc>
                <a:spcPct val="100000"/>
              </a:lnSpc>
              <a:spcBef>
                <a:spcPts val="0"/>
              </a:spcBef>
              <a:spcAft>
                <a:spcPts val="0"/>
              </a:spcAft>
              <a:buSzPts val="2800"/>
              <a:buNone/>
              <a:defRPr sz="2240"/>
            </a:lvl5pPr>
            <a:lvl6pPr lvl="5" algn="ctr" rtl="0">
              <a:lnSpc>
                <a:spcPct val="100000"/>
              </a:lnSpc>
              <a:spcBef>
                <a:spcPts val="0"/>
              </a:spcBef>
              <a:spcAft>
                <a:spcPts val="0"/>
              </a:spcAft>
              <a:buSzPts val="2800"/>
              <a:buNone/>
              <a:defRPr sz="2240"/>
            </a:lvl6pPr>
            <a:lvl7pPr lvl="6" algn="ctr" rtl="0">
              <a:lnSpc>
                <a:spcPct val="100000"/>
              </a:lnSpc>
              <a:spcBef>
                <a:spcPts val="0"/>
              </a:spcBef>
              <a:spcAft>
                <a:spcPts val="0"/>
              </a:spcAft>
              <a:buSzPts val="2800"/>
              <a:buNone/>
              <a:defRPr sz="2240"/>
            </a:lvl7pPr>
            <a:lvl8pPr lvl="7" algn="ctr" rtl="0">
              <a:lnSpc>
                <a:spcPct val="100000"/>
              </a:lnSpc>
              <a:spcBef>
                <a:spcPts val="0"/>
              </a:spcBef>
              <a:spcAft>
                <a:spcPts val="0"/>
              </a:spcAft>
              <a:buSzPts val="2800"/>
              <a:buNone/>
              <a:defRPr sz="2240"/>
            </a:lvl8pPr>
            <a:lvl9pPr lvl="8" algn="ctr" rtl="0">
              <a:lnSpc>
                <a:spcPct val="100000"/>
              </a:lnSpc>
              <a:spcBef>
                <a:spcPts val="0"/>
              </a:spcBef>
              <a:spcAft>
                <a:spcPts val="0"/>
              </a:spcAft>
              <a:buSzPts val="2800"/>
              <a:buNone/>
              <a:defRPr sz="224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34" name="Google Shape;34;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35" name="Google Shape;35;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2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hyperlink" Target="https://ospomindmap.todogroup.org/jp"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ssaits.jp/promapedia/concepts/project-program-portfolio.html"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hyperlink" Target="https://ospoglossary.todogroup.org/ospo-definition/" TargetMode="External"/><Relationship Id="rId4" Type="http://schemas.openxmlformats.org/officeDocument/2006/relationships/hyperlink" Target="https://dictionary.cambridge.org/ja/dictionary/english/program"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sched.co/1OZJh"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hyperlink" Target="https://www.linuxfoundation.jp/publications/2022/11/a-deep-dive-into-open-source-program-offices/"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hyperlink" Target="https://www.linuxfoundation.jp/publications/2022/11/a-deep-dive-into-open-source-program-offices/" TargetMode="External"/><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www.linuxfoundation.jp/publications/2022/11/a-deep-dive-into-open-source-program-offices/" TargetMode="External"/><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linuxfoundation.jp/publications/2022/11/a-deep-dive-into-open-source-program-offices/" TargetMode="External"/><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linuxfoundation.jp/publications/2022/11/a-deep-dive-into-open-source-program-offices/" TargetMode="External"/><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www.linuxfoundation.jp/wp-content/uploads/2022/08/LFResearch_OSPO_Report-jp.pdf" TargetMode="External"/><Relationship Id="rId3" Type="http://schemas.openxmlformats.org/officeDocument/2006/relationships/hyperlink" Target="https://www.linuxfoundation.org/research/a-deep-dive-into-open-source-program-offices" TargetMode="External"/><Relationship Id="rId7" Type="http://schemas.openxmlformats.org/officeDocument/2006/relationships/hyperlink" Target="https://github.com/todogroup/ospo-career-path/tree/main/OSPO-101" TargetMode="External"/><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hyperlink" Target="https://www.linuxfoundation.jp/resources/open-source-guides/creating-an-open-source-program/" TargetMode="External"/><Relationship Id="rId5" Type="http://schemas.openxmlformats.org/officeDocument/2006/relationships/hyperlink" Target="https://www.linuxfoundation.org/resources/open-source-guides/creating-an-open-source-program?hsLang=en" TargetMode="External"/><Relationship Id="rId4" Type="http://schemas.openxmlformats.org/officeDocument/2006/relationships/hyperlink" Target="https://www.linuxfoundation.jp/blog/2022/11/japanese-version-of-a-deep-dive-into-open-source-program-offices-launch/" TargetMode="External"/><Relationship Id="rId9" Type="http://schemas.openxmlformats.org/officeDocument/2006/relationships/comments" Target="../comments/comment1.xml"/></Relationships>
</file>

<file path=ppt/slides/_rels/slide3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comments" Target="../comments/commen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hyperlink" Target="https://www.linuxfoundation.jp/resources/open-source-guides/" TargetMode="External"/><Relationship Id="rId2" Type="http://schemas.openxmlformats.org/officeDocument/2006/relationships/notesSlide" Target="../notesSlides/notesSlide44.xml"/><Relationship Id="rId1" Type="http://schemas.openxmlformats.org/officeDocument/2006/relationships/slideLayout" Target="../slideLayouts/slideLayout3.xml"/><Relationship Id="rId5" Type="http://schemas.openxmlformats.org/officeDocument/2006/relationships/hyperlink" Target="https://www.intel.com/content/www/us/en/developer/articles/community/how-intel-supports-open-source-from-the-inside-out.html" TargetMode="External"/><Relationship Id="rId4" Type="http://schemas.openxmlformats.org/officeDocument/2006/relationships/hyperlink" Target="https://static.sched.com/hosted_files/ossna2024/05/QuantitativeMethodContributionValue-KS_MK_202404.pdf" TargetMode="Externa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hyperlink" Target="https://note.com/hal_sk/n/nd992ea322c78" TargetMode="External"/><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hyperlink" Target="https://osseu2023.sched.com/event/1OZJh/workshop-building-and-managing-an-open-source-program-office-ibrahim-haddad-the-linux-foundation" TargetMode="External"/><Relationship Id="rId2" Type="http://schemas.openxmlformats.org/officeDocument/2006/relationships/notesSlide" Target="../notesSlides/notesSlide49.xml"/><Relationship Id="rId1" Type="http://schemas.openxmlformats.org/officeDocument/2006/relationships/slideLayout" Target="../slideLayouts/slideLayout5.xml"/><Relationship Id="rId4" Type="http://schemas.openxmlformats.org/officeDocument/2006/relationships/hyperlink" Target="https://techcrunchjapan.com/2012/04/28/20120427i-would-like-to-work-at-red-hat/"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s://gigazine.net/news/20241110-open-source-maker-taker-problem/" TargetMode="External"/><Relationship Id="rId2" Type="http://schemas.openxmlformats.org/officeDocument/2006/relationships/notesSlide" Target="../notesSlides/notesSlide50.xml"/><Relationship Id="rId1" Type="http://schemas.openxmlformats.org/officeDocument/2006/relationships/slideLayout" Target="../slideLayouts/slideLayout5.xml"/><Relationship Id="rId5" Type="http://schemas.openxmlformats.org/officeDocument/2006/relationships/hyperlink" Target="https://static.sched.com/hosted_files/osseu2024/bf/GroupWideActivitiesAcrossDiverseEntities-KS_MK_202409.pdf" TargetMode="External"/><Relationship Id="rId4" Type="http://schemas.openxmlformats.org/officeDocument/2006/relationships/hyperlink" Target="https://thenewstack.io/what-comes-after-open-source-bruce-perens-has-some-ideas/" TargetMode="Externa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hyperlink" Target="https://www.linuxfoundation.jp/wp-content/uploads/2025/01/OSPO_2024-111524_FINAL_jp-2.pdf" TargetMode="External"/><Relationship Id="rId2" Type="http://schemas.openxmlformats.org/officeDocument/2006/relationships/notesSlide" Target="../notesSlides/notesSlide52.xml"/><Relationship Id="rId1" Type="http://schemas.openxmlformats.org/officeDocument/2006/relationships/slideLayout" Target="../slideLayouts/slideLayout5.xml"/><Relationship Id="rId4" Type="http://schemas.openxmlformats.org/officeDocument/2006/relationships/hyperlink" Target="https://www.blackduck.com/resources/analyst-reports/open-source-security-risk-analysis.html" TargetMode="External"/></Relationships>
</file>

<file path=ppt/slides/_rels/slide53.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hyperlink" Target="https://lf-automotivelinux.atlassian.net/wiki/spaces/OSPO/pages/397082627/Publications#OSS-%26-OSPO-Promotion-Slides-for-Automotive-Companies" TargetMode="External"/><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hyperlink" Target="https://en.wikipedia.org/wiki/Blind_men_and_an_elephant" TargetMode="External"/><Relationship Id="rId2" Type="http://schemas.openxmlformats.org/officeDocument/2006/relationships/notesSlide" Target="../notesSlides/notesSlide60.xml"/><Relationship Id="rId1" Type="http://schemas.openxmlformats.org/officeDocument/2006/relationships/slideLayout" Target="../slideLayouts/slideLayout5.xml"/><Relationship Id="rId4" Type="http://schemas.openxmlformats.org/officeDocument/2006/relationships/hyperlink" Target="https://ja.wikipedia.org/wiki/%E7%BE%A4%E7%9B%B2%E8%B1%A1%E3%82%92%E8%A9%95%E3%81%99" TargetMode="Externa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9"/>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Qx</a:t>
            </a:r>
            <a:endParaRPr/>
          </a:p>
        </p:txBody>
      </p:sp>
      <p:sp>
        <p:nvSpPr>
          <p:cNvPr id="41" name="Google Shape;41;p9"/>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noProof="1"/>
              <a:t>Q: </a:t>
            </a:r>
            <a:r>
              <a:rPr lang="ja" noProof="1">
                <a:solidFill>
                  <a:schemeClr val="dk1"/>
                </a:solidFill>
              </a:rPr>
              <a:t>Why should I care about OSS?</a:t>
            </a:r>
            <a:endParaRPr/>
          </a:p>
        </p:txBody>
      </p:sp>
      <p:sp>
        <p:nvSpPr>
          <p:cNvPr id="42" name="Google Shape;42;p9"/>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ja" noProof="1"/>
              <a:t>A:</a:t>
            </a:r>
            <a:r>
              <a:rPr lang="ja"/>
              <a:t>  </a:t>
            </a:r>
            <a:endParaRPr/>
          </a:p>
          <a:p>
            <a:pPr marL="457200" lvl="0" indent="-290830" algn="l" rtl="0">
              <a:spcBef>
                <a:spcPts val="0"/>
              </a:spcBef>
              <a:spcAft>
                <a:spcPts val="0"/>
              </a:spcAft>
              <a:buSzPct val="100000"/>
              <a:buChar char="●"/>
            </a:pPr>
            <a:r>
              <a:rPr lang="ja" noProof="1"/>
              <a:t>Licensing</a:t>
            </a:r>
            <a:endParaRPr/>
          </a:p>
          <a:p>
            <a:pPr marL="914400" lvl="1" indent="-290830" algn="l" rtl="0">
              <a:spcBef>
                <a:spcPts val="0"/>
              </a:spcBef>
              <a:spcAft>
                <a:spcPts val="0"/>
              </a:spcAft>
              <a:buSzPct val="100000"/>
              <a:buChar char="○"/>
            </a:pPr>
            <a:r>
              <a:rPr lang="ja" noProof="1"/>
              <a:t>Software is protected by copyright and license</a:t>
            </a:r>
            <a:endParaRPr/>
          </a:p>
          <a:p>
            <a:pPr marL="1371600" lvl="2" indent="-290830" algn="l" rtl="0">
              <a:spcBef>
                <a:spcPts val="0"/>
              </a:spcBef>
              <a:spcAft>
                <a:spcPts val="0"/>
              </a:spcAft>
              <a:buSzPct val="100000"/>
              <a:buChar char="■"/>
            </a:pPr>
            <a:r>
              <a:rPr lang="ja" noProof="1"/>
              <a:t>You must follow the license</a:t>
            </a:r>
            <a:endParaRPr/>
          </a:p>
          <a:p>
            <a:pPr marL="1828800" lvl="3" indent="-290830" algn="l" rtl="0">
              <a:spcBef>
                <a:spcPts val="0"/>
              </a:spcBef>
              <a:spcAft>
                <a:spcPts val="0"/>
              </a:spcAft>
              <a:buSzPct val="100000"/>
              <a:buChar char="●"/>
            </a:pPr>
            <a:r>
              <a:rPr lang="ja" noProof="1"/>
              <a:t>You must have respect for the author</a:t>
            </a:r>
            <a:endParaRPr/>
          </a:p>
          <a:p>
            <a:pPr marL="1371600" lvl="2" indent="-290830" algn="l" rtl="0">
              <a:spcBef>
                <a:spcPts val="0"/>
              </a:spcBef>
              <a:spcAft>
                <a:spcPts val="0"/>
              </a:spcAft>
              <a:buSzPct val="100000"/>
              <a:buChar char="■"/>
            </a:pPr>
            <a:r>
              <a:rPr lang="ja" noProof="1"/>
              <a:t>There are court cases for license violations</a:t>
            </a:r>
            <a:endParaRPr/>
          </a:p>
          <a:p>
            <a:pPr marL="914400" lvl="1" indent="-290830" algn="l" rtl="0">
              <a:spcBef>
                <a:spcPts val="0"/>
              </a:spcBef>
              <a:spcAft>
                <a:spcPts val="0"/>
              </a:spcAft>
              <a:buSzPct val="100000"/>
              <a:buChar char="○"/>
            </a:pPr>
            <a:r>
              <a:rPr lang="ja" noProof="1"/>
              <a:t>OSS can be obtained and used without following any procedures such as contracts</a:t>
            </a:r>
            <a:endParaRPr/>
          </a:p>
          <a:p>
            <a:pPr marL="1371600" lvl="2" indent="-290830" algn="l" rtl="0">
              <a:spcBef>
                <a:spcPts val="0"/>
              </a:spcBef>
              <a:spcAft>
                <a:spcPts val="0"/>
              </a:spcAft>
              <a:buSzPct val="100000"/>
              <a:buChar char="■"/>
            </a:pPr>
            <a:r>
              <a:rPr lang="ja" noProof="1"/>
              <a:t>Normally, you check the license conditions in the procedures such as contracts, but OSS can be used without doing so.</a:t>
            </a:r>
            <a:endParaRPr/>
          </a:p>
          <a:p>
            <a:pPr marL="1371600" lvl="2" indent="-290830" algn="l" rtl="0">
              <a:spcBef>
                <a:spcPts val="0"/>
              </a:spcBef>
              <a:spcAft>
                <a:spcPts val="0"/>
              </a:spcAft>
              <a:buSzPct val="100000"/>
              <a:buChar char="■"/>
            </a:pPr>
            <a:r>
              <a:rPr lang="ja" noProof="1"/>
              <a:t>It is introduced at the grassroots level and becomes unmanageable</a:t>
            </a:r>
            <a:endParaRPr/>
          </a:p>
          <a:p>
            <a:pPr marL="914400" lvl="1" indent="-290830" algn="l" rtl="0">
              <a:spcBef>
                <a:spcPts val="0"/>
              </a:spcBef>
              <a:spcAft>
                <a:spcPts val="0"/>
              </a:spcAft>
              <a:buSzPct val="100000"/>
              <a:buChar char="○"/>
            </a:pPr>
            <a:r>
              <a:rPr lang="ja" noProof="1"/>
              <a:t>There are things that come into OSS by themselves due to dependencies</a:t>
            </a:r>
            <a:endParaRPr/>
          </a:p>
          <a:p>
            <a:pPr marL="1371600" lvl="2" indent="-290830" algn="l" rtl="0">
              <a:spcBef>
                <a:spcPts val="0"/>
              </a:spcBef>
              <a:spcAft>
                <a:spcPts val="0"/>
              </a:spcAft>
              <a:buSzPct val="100000"/>
              <a:buChar char="■"/>
            </a:pPr>
            <a:r>
              <a:rPr lang="ja" noProof="1"/>
              <a:t>There are things that people don't know they are using</a:t>
            </a:r>
            <a:endParaRPr/>
          </a:p>
          <a:p>
            <a:pPr marL="914400" lvl="1" indent="-290830" algn="l" rtl="0">
              <a:spcBef>
                <a:spcPts val="0"/>
              </a:spcBef>
              <a:spcAft>
                <a:spcPts val="0"/>
              </a:spcAft>
              <a:buSzPct val="100000"/>
              <a:buChar char="○"/>
            </a:pPr>
            <a:r>
              <a:rPr lang="ja" noProof="1"/>
              <a:t>It is necessary to understand the difference between Freeware and OSS (free software) and handle them according to the terms of use</a:t>
            </a:r>
            <a:endParaRPr/>
          </a:p>
          <a:p>
            <a:pPr marL="1371600" lvl="2" indent="-290830" algn="l" rtl="0">
              <a:spcBef>
                <a:spcPts val="0"/>
              </a:spcBef>
              <a:spcAft>
                <a:spcPts val="0"/>
              </a:spcAft>
              <a:buSzPct val="100000"/>
              <a:buChar char="■"/>
            </a:pPr>
            <a:r>
              <a:rPr lang="ja" noProof="1"/>
              <a:t>There are many cases where it is difficult to make a decision → This is where OSPO becomes necessary</a:t>
            </a:r>
            <a:endParaRPr/>
          </a:p>
          <a:p>
            <a:pPr marL="457200" lvl="0" indent="-290830" algn="l" rtl="0">
              <a:spcBef>
                <a:spcPts val="0"/>
              </a:spcBef>
              <a:spcAft>
                <a:spcPts val="0"/>
              </a:spcAft>
              <a:buSzPct val="100000"/>
              <a:buChar char="●"/>
            </a:pPr>
            <a:r>
              <a:rPr lang="ja" noProof="1"/>
              <a:t>Use with peace of mind</a:t>
            </a:r>
            <a:endParaRPr/>
          </a:p>
          <a:p>
            <a:pPr marL="914400" lvl="1" indent="-290830" algn="l" rtl="0">
              <a:spcBef>
                <a:spcPts val="0"/>
              </a:spcBef>
              <a:spcAft>
                <a:spcPts val="0"/>
              </a:spcAft>
              <a:buSzPct val="100000"/>
              <a:buChar char="○"/>
            </a:pPr>
            <a:r>
              <a:rPr lang="ja" noProof="1"/>
              <a:t>Security (vulnerability)</a:t>
            </a:r>
            <a:endParaRPr/>
          </a:p>
          <a:p>
            <a:pPr marL="1371600" lvl="2" indent="-290830" algn="l" rtl="0">
              <a:spcBef>
                <a:spcPts val="0"/>
              </a:spcBef>
              <a:spcAft>
                <a:spcPts val="0"/>
              </a:spcAft>
              <a:buSzPct val="100000"/>
              <a:buChar char="■"/>
            </a:pPr>
            <a:r>
              <a:rPr lang="ja" noProof="1"/>
              <a:t>Problems are discovered after implementation and actions need to be taken. If you do not understand what is being used at that time, actions will be delayed or impossible.</a:t>
            </a:r>
            <a:endParaRPr/>
          </a:p>
          <a:p>
            <a:pPr marL="1371600" lvl="2" indent="-290830" algn="l" rtl="0">
              <a:spcBef>
                <a:spcPts val="0"/>
              </a:spcBef>
              <a:spcAft>
                <a:spcPts val="0"/>
              </a:spcAft>
              <a:buSzPct val="100000"/>
              <a:buChar char="■"/>
            </a:pPr>
            <a:r>
              <a:rPr lang="ja" noProof="1"/>
              <a:t>It is widely used and the source is open to the public, so it is easy for attackers to take action.</a:t>
            </a:r>
            <a:endParaRPr/>
          </a:p>
          <a:p>
            <a:pPr marL="1828800" lvl="3" indent="-290830" algn="l" rtl="0">
              <a:spcBef>
                <a:spcPts val="0"/>
              </a:spcBef>
              <a:spcAft>
                <a:spcPts val="0"/>
              </a:spcAft>
              <a:buSzPct val="100000"/>
              <a:buChar char="●"/>
            </a:pPr>
            <a:r>
              <a:rPr lang="ja" noProof="1"/>
              <a:t>On the other hand, there are many developers and users, so measures can be taken quickly</a:t>
            </a:r>
            <a:endParaRPr/>
          </a:p>
          <a:p>
            <a:pPr marL="914400" lvl="1" indent="-290830" algn="l" rtl="0">
              <a:spcBef>
                <a:spcPts val="0"/>
              </a:spcBef>
              <a:spcAft>
                <a:spcPts val="0"/>
              </a:spcAft>
              <a:buSzPct val="100000"/>
              <a:buChar char="○"/>
            </a:pPr>
            <a:r>
              <a:rPr lang="ja" noProof="1"/>
              <a:t>Use OSS with peace of mind</a:t>
            </a:r>
            <a:endParaRPr/>
          </a:p>
          <a:p>
            <a:pPr marL="1371600" lvl="2" indent="-290830" algn="l" rtl="0">
              <a:spcBef>
                <a:spcPts val="0"/>
              </a:spcBef>
              <a:spcAft>
                <a:spcPts val="0"/>
              </a:spcAft>
              <a:buSzPct val="100000"/>
              <a:buChar char="■"/>
            </a:pPr>
            <a:r>
              <a:rPr lang="ja" noProof="1"/>
              <a:t>Depends on the state of the community</a:t>
            </a:r>
            <a:endParaRPr/>
          </a:p>
          <a:p>
            <a:pPr marL="1371600" lvl="2" indent="-290830" algn="l" rtl="0">
              <a:spcBef>
                <a:spcPts val="0"/>
              </a:spcBef>
              <a:spcAft>
                <a:spcPts val="0"/>
              </a:spcAft>
              <a:buSzPct val="100000"/>
              <a:buChar char="■"/>
            </a:pPr>
            <a:r>
              <a:rPr lang="ja" noProof="1"/>
              <a:t>Maintain peace of mind by contributing and participating in the community</a:t>
            </a:r>
            <a:endParaRPr/>
          </a:p>
          <a:p>
            <a:pPr marL="457200" lvl="0" indent="-290830" algn="l" rtl="0">
              <a:spcBef>
                <a:spcPts val="0"/>
              </a:spcBef>
              <a:spcAft>
                <a:spcPts val="0"/>
              </a:spcAft>
              <a:buSzPct val="100000"/>
              <a:buChar char="●"/>
            </a:pPr>
            <a:r>
              <a:rPr lang="ja"/>
              <a:t>　</a:t>
            </a:r>
            <a:endParaRPr/>
          </a:p>
          <a:p>
            <a:pPr marL="457200" lvl="0" indent="-290830" algn="l" rtl="0">
              <a:spcBef>
                <a:spcPts val="0"/>
              </a:spcBef>
              <a:spcAft>
                <a:spcPts val="0"/>
              </a:spcAft>
              <a:buSzPct val="100000"/>
              <a:buChar char="●"/>
            </a:pPr>
            <a:r>
              <a:rPr lang="ja" noProof="1"/>
              <a:t>Note)Assumed to be an early-stage question</a:t>
            </a:r>
            <a:endParaRPr/>
          </a:p>
        </p:txBody>
      </p:sp>
      <p:sp>
        <p:nvSpPr>
          <p:cNvPr id="43" name="Google Shape;43;p9"/>
          <p:cNvSpPr/>
          <p:nvPr/>
        </p:nvSpPr>
        <p:spPr>
          <a:xfrm>
            <a:off x="7307150" y="345875"/>
            <a:ext cx="13539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noProof="1"/>
              <a:t>Done for now</a:t>
            </a:r>
            <a:endParaRPr/>
          </a:p>
        </p:txBody>
      </p:sp>
      <p:sp>
        <p:nvSpPr>
          <p:cNvPr id="44" name="Google Shape;44;p9"/>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10"/>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t> </a:t>
            </a:r>
          </a:p>
        </p:txBody>
      </p:sp>
      <p:sp>
        <p:nvSpPr>
          <p:cNvPr id="50" name="Google Shape;50;p10"/>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ja" noProof="1"/>
              <a:t>A:</a:t>
            </a:r>
            <a:r>
              <a:rPr lang="ja"/>
              <a:t>  </a:t>
            </a:r>
            <a:endParaRPr/>
          </a:p>
          <a:p>
            <a:pPr marL="457200" lvl="0" indent="-317500" algn="l" rtl="0">
              <a:spcBef>
                <a:spcPts val="0"/>
              </a:spcBef>
              <a:spcAft>
                <a:spcPts val="0"/>
              </a:spcAft>
              <a:buSzPts val="1400"/>
              <a:buChar char="●"/>
            </a:pPr>
            <a:r>
              <a:rPr lang="ja" noProof="1"/>
              <a:t>Advantages of using open source software</a:t>
            </a:r>
            <a:endParaRPr/>
          </a:p>
          <a:p>
            <a:pPr marL="914400" lvl="1" indent="-317500" algn="l" rtl="0">
              <a:spcBef>
                <a:spcPts val="0"/>
              </a:spcBef>
              <a:spcAft>
                <a:spcPts val="0"/>
              </a:spcAft>
              <a:buSzPts val="1400"/>
              <a:buChar char="○"/>
            </a:pPr>
            <a:r>
              <a:rPr lang="ja" noProof="1"/>
              <a:t>Use existing software (make development easier)</a:t>
            </a:r>
            <a:endParaRPr/>
          </a:p>
          <a:p>
            <a:pPr marL="914400" lvl="1" indent="-317500" algn="l" rtl="0">
              <a:spcBef>
                <a:spcPts val="0"/>
              </a:spcBef>
              <a:spcAft>
                <a:spcPts val="0"/>
              </a:spcAft>
              <a:buSzPts val="1400"/>
              <a:buChar char="○"/>
            </a:pPr>
            <a:r>
              <a:rPr lang="ja" noProof="1"/>
              <a:t>Use cutting-edge software (technology)</a:t>
            </a:r>
            <a:endParaRPr/>
          </a:p>
          <a:p>
            <a:pPr marL="914400" lvl="1" indent="-317500" algn="l" rtl="0">
              <a:spcBef>
                <a:spcPts val="0"/>
              </a:spcBef>
              <a:spcAft>
                <a:spcPts val="0"/>
              </a:spcAft>
              <a:buSzPts val="1400"/>
              <a:buChar char="○"/>
            </a:pPr>
            <a:r>
              <a:rPr lang="ja" noProof="1"/>
              <a:t>Software created by many people, so the level is high</a:t>
            </a:r>
            <a:endParaRPr/>
          </a:p>
          <a:p>
            <a:pPr marL="914400" lvl="1" indent="-317500" algn="l" rtl="0">
              <a:spcBef>
                <a:spcPts val="0"/>
              </a:spcBef>
              <a:spcAft>
                <a:spcPts val="0"/>
              </a:spcAft>
              <a:buSzPts val="1400"/>
              <a:buChar char="○"/>
            </a:pPr>
            <a:r>
              <a:rPr lang="ja" noProof="1"/>
              <a:t>Since many people use it, bugs are easy to find and correct quickly</a:t>
            </a:r>
            <a:endParaRPr/>
          </a:p>
          <a:p>
            <a:pPr marL="457200" lvl="0" indent="-317500" algn="l" rtl="0">
              <a:spcBef>
                <a:spcPts val="0"/>
              </a:spcBef>
              <a:spcAft>
                <a:spcPts val="0"/>
              </a:spcAft>
              <a:buSzPts val="1400"/>
              <a:buChar char="●"/>
            </a:pPr>
            <a:r>
              <a:rPr lang="ja" noProof="1"/>
              <a:t>Advantages of community activities</a:t>
            </a:r>
            <a:endParaRPr/>
          </a:p>
          <a:p>
            <a:pPr marL="914400" lvl="1" indent="-317500" algn="l" rtl="0">
              <a:spcBef>
                <a:spcPts val="0"/>
              </a:spcBef>
              <a:spcAft>
                <a:spcPts val="0"/>
              </a:spcAft>
              <a:buSzPts val="1400"/>
              <a:buChar char="○"/>
            </a:pPr>
            <a:r>
              <a:rPr lang="ja" noProof="1"/>
              <a:t>Efficiency of development resources through community cooperation</a:t>
            </a:r>
            <a:endParaRPr/>
          </a:p>
          <a:p>
            <a:pPr marL="914400" lvl="1" indent="-317500" algn="l" rtl="0">
              <a:spcBef>
                <a:spcPts val="0"/>
              </a:spcBef>
              <a:spcAft>
                <a:spcPts val="0"/>
              </a:spcAft>
              <a:buSzPts val="1400"/>
              <a:buChar char="○"/>
            </a:pPr>
            <a:r>
              <a:rPr lang="ja" noProof="1"/>
              <a:t>Opportunities to acquire human resources (companies)</a:t>
            </a:r>
            <a:endParaRPr/>
          </a:p>
          <a:p>
            <a:pPr marL="1371600" lvl="2" indent="-317500" algn="l" rtl="0">
              <a:spcBef>
                <a:spcPts val="0"/>
              </a:spcBef>
              <a:spcAft>
                <a:spcPts val="0"/>
              </a:spcAft>
              <a:buSzPts val="1400"/>
              <a:buChar char="■"/>
            </a:pPr>
            <a:r>
              <a:rPr lang="ja" noProof="1"/>
              <a:t>As engineers, they can increase their own value and gain opportunities for activities</a:t>
            </a:r>
            <a:endParaRPr/>
          </a:p>
          <a:p>
            <a:pPr marL="1371600" lvl="2" indent="-317500" algn="l" rtl="0">
              <a:spcBef>
                <a:spcPts val="0"/>
              </a:spcBef>
              <a:spcAft>
                <a:spcPts val="0"/>
              </a:spcAft>
              <a:buSzPts val="1400"/>
              <a:buChar char="■"/>
            </a:pPr>
            <a:r>
              <a:rPr lang="ja" noProof="1">
                <a:solidFill>
                  <a:schemeClr val="dk1"/>
                </a:solidFill>
              </a:rPr>
              <a:t>Human resource development</a:t>
            </a:r>
            <a:endParaRPr/>
          </a:p>
          <a:p>
            <a:pPr marL="457200" lvl="0" indent="-317500" algn="l" rtl="0">
              <a:spcBef>
                <a:spcPts val="0"/>
              </a:spcBef>
              <a:spcAft>
                <a:spcPts val="0"/>
              </a:spcAft>
              <a:buSzPts val="1400"/>
              <a:buChar char="●"/>
            </a:pPr>
            <a:r>
              <a:rPr lang="ja" noProof="1"/>
              <a:t>Benefits of business strategy</a:t>
            </a:r>
            <a:endParaRPr/>
          </a:p>
          <a:p>
            <a:pPr marL="914400" lvl="1" indent="-317500" algn="l" rtl="0">
              <a:spcBef>
                <a:spcPts val="0"/>
              </a:spcBef>
              <a:spcAft>
                <a:spcPts val="0"/>
              </a:spcAft>
              <a:buSzPts val="1400"/>
              <a:buChar char="○"/>
            </a:pPr>
            <a:r>
              <a:rPr lang="ja" noProof="1"/>
              <a:t>Expansion of market and potential customer base through community, involvement in development direction</a:t>
            </a:r>
            <a:endParaRPr/>
          </a:p>
          <a:p>
            <a:pPr marL="914400" lvl="1" indent="-317500" algn="l" rtl="0">
              <a:spcBef>
                <a:spcPts val="0"/>
              </a:spcBef>
              <a:spcAft>
                <a:spcPts val="0"/>
              </a:spcAft>
              <a:buSzPts val="1400"/>
              <a:buChar char="○"/>
            </a:pPr>
            <a:r>
              <a:rPr lang="ja" noProof="1"/>
              <a:t>Establishment and dissemination of de facto standards</a:t>
            </a:r>
            <a:endParaRPr/>
          </a:p>
          <a:p>
            <a:pPr marL="0" lvl="0" indent="0" algn="l" rtl="0">
              <a:spcBef>
                <a:spcPts val="0"/>
              </a:spcBef>
              <a:spcAft>
                <a:spcPts val="0"/>
              </a:spcAft>
              <a:buNone/>
            </a:pPr>
            <a:r>
              <a:t> </a:t>
            </a:r>
          </a:p>
          <a:p>
            <a:pPr marL="0" lvl="0" indent="0" algn="l" rtl="0">
              <a:spcBef>
                <a:spcPts val="0"/>
              </a:spcBef>
              <a:spcAft>
                <a:spcPts val="0"/>
              </a:spcAft>
              <a:buNone/>
            </a:pPr>
            <a:r>
              <a:rPr lang="ja" noProof="1"/>
              <a:t>Next time to consider mapping with OSPO stages (2023/5/26)</a:t>
            </a:r>
            <a:endParaRPr/>
          </a:p>
          <a:p>
            <a:pPr marL="914400" lvl="0" indent="0" algn="l" rtl="0">
              <a:spcBef>
                <a:spcPts val="0"/>
              </a:spcBef>
              <a:spcAft>
                <a:spcPts val="0"/>
              </a:spcAft>
              <a:buNone/>
            </a:pPr>
            <a:r>
              <a:t> </a:t>
            </a:r>
          </a:p>
        </p:txBody>
      </p:sp>
      <p:sp>
        <p:nvSpPr>
          <p:cNvPr id="51" name="Google Shape;51;p10"/>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noProof="1"/>
              <a:t>Q: </a:t>
            </a:r>
            <a:r>
              <a:rPr lang="ja" noProof="1">
                <a:solidFill>
                  <a:schemeClr val="dk1"/>
                </a:solidFill>
              </a:rPr>
              <a:t>What are the benefits of OSS activities?</a:t>
            </a:r>
            <a:endParaRPr/>
          </a:p>
        </p:txBody>
      </p:sp>
      <p:sp>
        <p:nvSpPr>
          <p:cNvPr id="52" name="Google Shape;52;p10"/>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1"/>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 What are the benefits of OSS activities?</a:t>
            </a:r>
            <a:endParaRPr/>
          </a:p>
        </p:txBody>
      </p:sp>
      <p:pic>
        <p:nvPicPr>
          <p:cNvPr id="58" name="Google Shape;58;p11"/>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59" name="Google Shape;59;p11"/>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ja" sz="560" u="sng" noProof="1">
                <a:solidFill>
                  <a:schemeClr val="hlink"/>
                </a:solidFill>
                <a:hlinkClick r:id="rId4"/>
              </a:rPr>
              <a:t>https://www.linuxfoundation.jp/wp-content/uploads/2022/11/ja_LFR_LFAID_Deep_Dive_Open_Source_Program_Offices_0830.pdf</a:t>
            </a:r>
            <a:endParaRPr sz="560" u="sng">
              <a:solidFill>
                <a:schemeClr val="hlink"/>
              </a:solidFill>
            </a:endParaRPr>
          </a:p>
          <a:p>
            <a:pPr marL="0" lvl="0" indent="0" algn="l" rtl="0">
              <a:lnSpc>
                <a:spcPct val="115000"/>
              </a:lnSpc>
              <a:spcBef>
                <a:spcPts val="0"/>
              </a:spcBef>
              <a:spcAft>
                <a:spcPts val="0"/>
              </a:spcAft>
              <a:buClr>
                <a:schemeClr val="dk1"/>
              </a:buClr>
              <a:buSzPts val="1100"/>
              <a:buFont typeface="Arial"/>
              <a:buNone/>
            </a:pPr>
            <a:r>
              <a:rPr lang="ja" sz="560" noProof="1">
                <a:solidFill>
                  <a:schemeClr val="dk1"/>
                </a:solidFill>
              </a:rPr>
              <a:t>Ibrahim Haddad, “</a:t>
            </a:r>
            <a:r>
              <a:rPr lang="ja" sz="560" b="1" noProof="1">
                <a:solidFill>
                  <a:schemeClr val="dk1"/>
                </a:solidFill>
              </a:rPr>
              <a:t>A Deep Dive Into Open Source Program Offices:</a:t>
            </a:r>
            <a:endParaRPr sz="560" b="1">
              <a:solidFill>
                <a:schemeClr val="dk1"/>
              </a:solidFill>
            </a:endParaRPr>
          </a:p>
          <a:p>
            <a:pPr marL="0" lvl="0" indent="0" algn="l" rtl="0">
              <a:lnSpc>
                <a:spcPct val="115000"/>
              </a:lnSpc>
              <a:spcBef>
                <a:spcPts val="0"/>
              </a:spcBef>
              <a:spcAft>
                <a:spcPts val="0"/>
              </a:spcAft>
              <a:buNone/>
            </a:pPr>
            <a:r>
              <a:rPr lang="ja" sz="560" b="1" noProof="1">
                <a:solidFill>
                  <a:schemeClr val="dk1"/>
                </a:solidFill>
              </a:rPr>
              <a:t>Structure, Roles, Responsibilities, and Challenges “ foreword by Chris Aniszczyk, August, 2022</a:t>
            </a:r>
            <a:endParaRPr sz="640"/>
          </a:p>
        </p:txBody>
      </p:sp>
      <p:sp>
        <p:nvSpPr>
          <p:cNvPr id="60" name="Google Shape;60;p11"/>
          <p:cNvSpPr/>
          <p:nvPr/>
        </p:nvSpPr>
        <p:spPr>
          <a:xfrm>
            <a:off x="39275" y="2375625"/>
            <a:ext cx="2293200" cy="861300"/>
          </a:xfrm>
          <a:prstGeom prst="wedgeRectCallout">
            <a:avLst>
              <a:gd name="adj1" fmla="val 7120"/>
              <a:gd name="adj2" fmla="val 13015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800" noProof="1"/>
              <a:t>Using existing software (making development easier)</a:t>
            </a:r>
            <a:endParaRPr sz="800"/>
          </a:p>
          <a:p>
            <a:pPr marL="89999" lvl="0" indent="-149225" algn="l" rtl="0">
              <a:spcBef>
                <a:spcPts val="0"/>
              </a:spcBef>
              <a:spcAft>
                <a:spcPts val="0"/>
              </a:spcAft>
              <a:buSzPts val="1000"/>
              <a:buChar char="●"/>
            </a:pPr>
            <a:r>
              <a:rPr lang="ja" sz="800" noProof="1"/>
              <a:t>Using cutting-edge software (technology)</a:t>
            </a:r>
            <a:endParaRPr sz="800"/>
          </a:p>
          <a:p>
            <a:pPr marL="89999" lvl="0" indent="-149225" algn="l" rtl="0">
              <a:spcBef>
                <a:spcPts val="0"/>
              </a:spcBef>
              <a:spcAft>
                <a:spcPts val="0"/>
              </a:spcAft>
              <a:buSzPts val="1000"/>
              <a:buChar char="●"/>
            </a:pPr>
            <a:r>
              <a:rPr lang="ja" sz="800" noProof="1"/>
              <a:t>Software created by many people, so the level is high</a:t>
            </a:r>
            <a:endParaRPr sz="800"/>
          </a:p>
        </p:txBody>
      </p:sp>
      <p:sp>
        <p:nvSpPr>
          <p:cNvPr id="61" name="Google Shape;61;p11"/>
          <p:cNvSpPr/>
          <p:nvPr/>
        </p:nvSpPr>
        <p:spPr>
          <a:xfrm>
            <a:off x="4257600" y="812375"/>
            <a:ext cx="2476200" cy="1371600"/>
          </a:xfrm>
          <a:prstGeom prst="wedgeRectCallout">
            <a:avLst>
              <a:gd name="adj1" fmla="val -44299"/>
              <a:gd name="adj2" fmla="val 10949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Clr>
                <a:schemeClr val="dk1"/>
              </a:buClr>
              <a:buSzPts val="1000"/>
              <a:buChar char="●"/>
            </a:pPr>
            <a:r>
              <a:rPr lang="ja" sz="800" noProof="1">
                <a:solidFill>
                  <a:schemeClr val="dk1"/>
                </a:solidFill>
              </a:rPr>
              <a:t>Bugs are easier to find, and fixes are more accurate and faster with many engineers than with our own company</a:t>
            </a:r>
            <a:endParaRPr sz="800"/>
          </a:p>
          <a:p>
            <a:pPr marL="89999" lvl="0" indent="-158750" algn="l" rtl="0">
              <a:spcBef>
                <a:spcPts val="0"/>
              </a:spcBef>
              <a:spcAft>
                <a:spcPts val="0"/>
              </a:spcAft>
              <a:buSzPts val="1000"/>
              <a:buChar char="●"/>
            </a:pPr>
            <a:r>
              <a:rPr lang="ja" sz="800" noProof="1"/>
              <a:t>Efficiency of development resources through community cooperation</a:t>
            </a:r>
            <a:endParaRPr sz="800"/>
          </a:p>
          <a:p>
            <a:pPr marL="89999" lvl="0" indent="-158750" algn="l" rtl="0">
              <a:spcBef>
                <a:spcPts val="0"/>
              </a:spcBef>
              <a:spcAft>
                <a:spcPts val="0"/>
              </a:spcAft>
              <a:buSzPts val="1000"/>
              <a:buChar char="●"/>
            </a:pPr>
            <a:r>
              <a:rPr lang="ja" sz="800" noProof="1">
                <a:solidFill>
                  <a:schemeClr val="dk1"/>
                </a:solidFill>
              </a:rPr>
              <a:t>Place for human resource development and retention/acquisition of human resources</a:t>
            </a:r>
            <a:endParaRPr sz="800"/>
          </a:p>
          <a:p>
            <a:pPr marL="89999" lvl="0" indent="-158750" algn="l" rtl="0">
              <a:spcBef>
                <a:spcPts val="0"/>
              </a:spcBef>
              <a:spcAft>
                <a:spcPts val="0"/>
              </a:spcAft>
              <a:buSzPts val="1000"/>
              <a:buChar char="●"/>
            </a:pPr>
            <a:r>
              <a:rPr lang="ja" sz="800" noProof="1"/>
              <a:t>Increasing market value and providing opportunities for engineers to attract human resources</a:t>
            </a:r>
            <a:endParaRPr sz="800"/>
          </a:p>
        </p:txBody>
      </p:sp>
      <p:sp>
        <p:nvSpPr>
          <p:cNvPr id="62" name="Google Shape;62;p11"/>
          <p:cNvSpPr/>
          <p:nvPr/>
        </p:nvSpPr>
        <p:spPr>
          <a:xfrm>
            <a:off x="6868625" y="990300"/>
            <a:ext cx="2127600" cy="1316400"/>
          </a:xfrm>
          <a:prstGeom prst="wedgeRectCallout">
            <a:avLst>
              <a:gd name="adj1" fmla="val -54408"/>
              <a:gd name="adj2" fmla="val 4862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Clr>
                <a:schemeClr val="dk1"/>
              </a:buClr>
              <a:buSzPts val="1000"/>
              <a:buChar char="●"/>
            </a:pPr>
            <a:r>
              <a:rPr lang="ja" sz="800" noProof="1">
                <a:solidFill>
                  <a:schemeClr val="dk1"/>
                </a:solidFill>
              </a:rPr>
              <a:t>Creating businesses that utilize OSS</a:t>
            </a:r>
            <a:endParaRPr sz="800">
              <a:solidFill>
                <a:schemeClr val="dk1"/>
              </a:solidFill>
            </a:endParaRPr>
          </a:p>
          <a:p>
            <a:pPr marL="179999" lvl="1" indent="-168275" algn="l" rtl="0">
              <a:spcBef>
                <a:spcPts val="0"/>
              </a:spcBef>
              <a:spcAft>
                <a:spcPts val="0"/>
              </a:spcAft>
              <a:buClr>
                <a:schemeClr val="dk1"/>
              </a:buClr>
              <a:buSzPts val="1000"/>
              <a:buChar char="○"/>
            </a:pPr>
            <a:r>
              <a:rPr lang="ja" sz="800" noProof="1">
                <a:solidFill>
                  <a:schemeClr val="dk1"/>
                </a:solidFill>
              </a:rPr>
              <a:t>Expanding the market and potential customer base</a:t>
            </a:r>
            <a:endParaRPr sz="800">
              <a:solidFill>
                <a:schemeClr val="dk1"/>
              </a:solidFill>
            </a:endParaRPr>
          </a:p>
          <a:p>
            <a:pPr marL="179999" lvl="1" indent="-168275" algn="l" rtl="0">
              <a:spcBef>
                <a:spcPts val="0"/>
              </a:spcBef>
              <a:spcAft>
                <a:spcPts val="0"/>
              </a:spcAft>
              <a:buClr>
                <a:schemeClr val="dk1"/>
              </a:buClr>
              <a:buSzPts val="1000"/>
              <a:buChar char="○"/>
            </a:pPr>
            <a:r>
              <a:rPr lang="ja" sz="800" noProof="1">
                <a:solidFill>
                  <a:schemeClr val="dk1"/>
                </a:solidFill>
              </a:rPr>
              <a:t>Establishing and disseminating de facto standards</a:t>
            </a:r>
            <a:endParaRPr sz="800">
              <a:solidFill>
                <a:schemeClr val="dk1"/>
              </a:solidFill>
            </a:endParaRPr>
          </a:p>
          <a:p>
            <a:pPr marL="179999" lvl="1" indent="-168275" algn="l" rtl="0">
              <a:spcBef>
                <a:spcPts val="0"/>
              </a:spcBef>
              <a:spcAft>
                <a:spcPts val="0"/>
              </a:spcAft>
              <a:buClr>
                <a:schemeClr val="dk1"/>
              </a:buClr>
              <a:buSzPts val="1000"/>
              <a:buChar char="○"/>
            </a:pPr>
            <a:r>
              <a:rPr lang="ja" sz="800" noProof="1">
                <a:solidFill>
                  <a:schemeClr val="dk1"/>
                </a:solidFill>
              </a:rPr>
              <a:t>Building an ecosystem</a:t>
            </a:r>
            <a:endParaRPr sz="800">
              <a:solidFill>
                <a:schemeClr val="dk1"/>
              </a:solidFill>
            </a:endParaRPr>
          </a:p>
          <a:p>
            <a:pPr marL="179999" lvl="1" indent="-168275" algn="l" rtl="0">
              <a:spcBef>
                <a:spcPts val="0"/>
              </a:spcBef>
              <a:spcAft>
                <a:spcPts val="0"/>
              </a:spcAft>
              <a:buClr>
                <a:schemeClr val="dk1"/>
              </a:buClr>
              <a:buSzPts val="1000"/>
              <a:buChar char="○"/>
            </a:pPr>
            <a:r>
              <a:rPr lang="ja" sz="800" noProof="1">
                <a:solidFill>
                  <a:schemeClr val="dk1"/>
                </a:solidFill>
              </a:rPr>
              <a:t>Obtaining legitimacy of activities</a:t>
            </a:r>
            <a:endParaRPr sz="800">
              <a:solidFill>
                <a:schemeClr val="dk1"/>
              </a:solidFill>
            </a:endParaRPr>
          </a:p>
          <a:p>
            <a:pPr marL="360000" lvl="2" indent="-177800" algn="l" rtl="0">
              <a:spcBef>
                <a:spcPts val="0"/>
              </a:spcBef>
              <a:spcAft>
                <a:spcPts val="0"/>
              </a:spcAft>
              <a:buClr>
                <a:schemeClr val="dk1"/>
              </a:buClr>
              <a:buSzPts val="1000"/>
              <a:buChar char="■"/>
            </a:pPr>
            <a:r>
              <a:rPr lang="ja" sz="800" noProof="1">
                <a:solidFill>
                  <a:schemeClr val="dk1"/>
                </a:solidFill>
              </a:rPr>
              <a:t>Obtaining endorsements from community participants</a:t>
            </a:r>
            <a:endParaRPr sz="800"/>
          </a:p>
        </p:txBody>
      </p:sp>
      <p:sp>
        <p:nvSpPr>
          <p:cNvPr id="63" name="Google Shape;63;p11"/>
          <p:cNvSpPr/>
          <p:nvPr/>
        </p:nvSpPr>
        <p:spPr>
          <a:xfrm>
            <a:off x="1940875" y="1390500"/>
            <a:ext cx="2181900" cy="1005900"/>
          </a:xfrm>
          <a:prstGeom prst="wedgeRectCallout">
            <a:avLst>
              <a:gd name="adj1" fmla="val 1319"/>
              <a:gd name="adj2" fmla="val 1596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Using OSS in business with confidence</a:t>
            </a:r>
            <a:endParaRPr sz="800"/>
          </a:p>
          <a:p>
            <a:pPr marL="89999" lvl="0" indent="-158750" algn="l" rtl="0">
              <a:spcBef>
                <a:spcPts val="0"/>
              </a:spcBef>
              <a:spcAft>
                <a:spcPts val="0"/>
              </a:spcAft>
              <a:buSzPts val="1000"/>
              <a:buChar char="●"/>
            </a:pPr>
            <a:r>
              <a:rPr lang="ja" sz="800" noProof="1"/>
              <a:t>Using OSS in its original form necessary for business-to-business transactions</a:t>
            </a:r>
            <a:endParaRPr sz="800"/>
          </a:p>
          <a:p>
            <a:pPr marL="89999" lvl="0" indent="-158750" algn="l" rtl="0">
              <a:spcBef>
                <a:spcPts val="0"/>
              </a:spcBef>
              <a:spcAft>
                <a:spcPts val="0"/>
              </a:spcAft>
              <a:buSzPts val="1000"/>
              <a:buChar char="●"/>
            </a:pPr>
            <a:r>
              <a:rPr lang="ja" sz="800" noProof="1"/>
              <a:t>Controlling the risk of OSS use throughout the supply chain</a:t>
            </a:r>
            <a:endParaRPr sz="800"/>
          </a:p>
        </p:txBody>
      </p:sp>
      <p:sp>
        <p:nvSpPr>
          <p:cNvPr id="64" name="Google Shape;64;p11"/>
          <p:cNvSpPr/>
          <p:nvPr/>
        </p:nvSpPr>
        <p:spPr>
          <a:xfrm>
            <a:off x="6868625" y="2541525"/>
            <a:ext cx="2127600" cy="921600"/>
          </a:xfrm>
          <a:prstGeom prst="wedgeRectCallout">
            <a:avLst>
              <a:gd name="adj1" fmla="val -56599"/>
              <a:gd name="adj2" fmla="val -1818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Alignment of corporate expectations and community movements through community</a:t>
            </a:r>
            <a:endParaRPr sz="800"/>
          </a:p>
          <a:p>
            <a:pPr marL="269999" lvl="1" indent="-168275" algn="l" rtl="0">
              <a:spcBef>
                <a:spcPts val="0"/>
              </a:spcBef>
              <a:spcAft>
                <a:spcPts val="0"/>
              </a:spcAft>
              <a:buSzPts val="1000"/>
              <a:buChar char="○"/>
            </a:pPr>
            <a:r>
              <a:rPr lang="ja" sz="800" noProof="1"/>
              <a:t>Involvement in development direction</a:t>
            </a:r>
            <a:endParaRPr sz="800"/>
          </a:p>
          <a:p>
            <a:pPr marL="89999" lvl="0" indent="-158750" algn="l" rtl="0">
              <a:spcBef>
                <a:spcPts val="0"/>
              </a:spcBef>
              <a:spcAft>
                <a:spcPts val="0"/>
              </a:spcAft>
              <a:buSzPts val="1000"/>
              <a:buChar char="●"/>
            </a:pPr>
            <a:r>
              <a:rPr lang="ja" sz="800" noProof="1"/>
              <a:t>Motivation of engineers</a:t>
            </a:r>
            <a:endParaRPr sz="800"/>
          </a:p>
        </p:txBody>
      </p:sp>
      <p:sp>
        <p:nvSpPr>
          <p:cNvPr id="65" name="Google Shape;65;p11"/>
          <p:cNvSpPr/>
          <p:nvPr/>
        </p:nvSpPr>
        <p:spPr>
          <a:xfrm>
            <a:off x="4572000" y="3026025"/>
            <a:ext cx="1984500" cy="1278300"/>
          </a:xfrm>
          <a:prstGeom prst="wedgeRectCallout">
            <a:avLst>
              <a:gd name="adj1" fmla="val -49565"/>
              <a:gd name="adj2" fmla="val -1653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Leadership</a:t>
            </a:r>
            <a:endParaRPr sz="800"/>
          </a:p>
          <a:p>
            <a:pPr marL="269999" lvl="1" indent="-168275" algn="l" rtl="0">
              <a:spcBef>
                <a:spcPts val="0"/>
              </a:spcBef>
              <a:spcAft>
                <a:spcPts val="0"/>
              </a:spcAft>
              <a:buSzPts val="1000"/>
              <a:buChar char="○"/>
            </a:pPr>
            <a:r>
              <a:rPr lang="ja" sz="800" noProof="1"/>
              <a:t>Core decision-making members as community leaders</a:t>
            </a:r>
            <a:endParaRPr sz="800"/>
          </a:p>
          <a:p>
            <a:pPr marL="89999" lvl="0" indent="-158750" algn="l" rtl="0">
              <a:spcBef>
                <a:spcPts val="0"/>
              </a:spcBef>
              <a:spcAft>
                <a:spcPts val="0"/>
              </a:spcAft>
              <a:buSzPts val="1000"/>
              <a:buChar char="●"/>
            </a:pPr>
            <a:r>
              <a:rPr lang="ja" sz="800" noProof="1"/>
              <a:t>Engagement</a:t>
            </a:r>
            <a:endParaRPr sz="800"/>
          </a:p>
          <a:p>
            <a:pPr marL="269999" lvl="1" indent="-168275" algn="l" rtl="0">
              <a:spcBef>
                <a:spcPts val="0"/>
              </a:spcBef>
              <a:spcAft>
                <a:spcPts val="0"/>
              </a:spcAft>
              <a:buSzPts val="1000"/>
              <a:buChar char="○"/>
            </a:pPr>
            <a:r>
              <a:rPr lang="ja" sz="800" noProof="1"/>
              <a:t>Decision-making meeting participants</a:t>
            </a:r>
            <a:endParaRPr sz="800"/>
          </a:p>
          <a:p>
            <a:pPr marL="89999" lvl="0" indent="-158750" algn="l" rtl="0">
              <a:spcBef>
                <a:spcPts val="0"/>
              </a:spcBef>
              <a:spcAft>
                <a:spcPts val="0"/>
              </a:spcAft>
              <a:buSzPts val="1000"/>
              <a:buChar char="●"/>
            </a:pPr>
            <a:r>
              <a:rPr lang="ja" sz="800" noProof="1"/>
              <a:t>Community education</a:t>
            </a:r>
            <a:endParaRPr sz="800"/>
          </a:p>
          <a:p>
            <a:pPr marL="269999" lvl="1" indent="-168275" algn="l" rtl="0">
              <a:spcBef>
                <a:spcPts val="0"/>
              </a:spcBef>
              <a:spcAft>
                <a:spcPts val="0"/>
              </a:spcAft>
              <a:buSzPts val="1000"/>
              <a:buChar char="○"/>
            </a:pPr>
            <a:r>
              <a:rPr lang="ja" sz="800" noProof="1"/>
              <a:t>Early contributors</a:t>
            </a:r>
            <a:endParaRPr sz="800"/>
          </a:p>
        </p:txBody>
      </p:sp>
      <p:sp>
        <p:nvSpPr>
          <p:cNvPr id="66" name="Google Shape;66;p11"/>
          <p:cNvSpPr/>
          <p:nvPr/>
        </p:nvSpPr>
        <p:spPr>
          <a:xfrm>
            <a:off x="7307150" y="345875"/>
            <a:ext cx="13539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noProof="1"/>
              <a:t>Fix</a:t>
            </a:r>
            <a:endParaRPr/>
          </a:p>
        </p:txBody>
      </p:sp>
      <p:sp>
        <p:nvSpPr>
          <p:cNvPr id="67" name="Google Shape;67;p11"/>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2"/>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 What are the benefits of OSS activities?</a:t>
            </a:r>
            <a:endParaRPr/>
          </a:p>
        </p:txBody>
      </p:sp>
      <p:pic>
        <p:nvPicPr>
          <p:cNvPr id="73" name="Google Shape;73;p12"/>
          <p:cNvPicPr preferRelativeResize="0"/>
          <p:nvPr/>
        </p:nvPicPr>
        <p:blipFill>
          <a:blip r:embed="rId3">
            <a:alphaModFix/>
          </a:blip>
          <a:stretch>
            <a:fillRect/>
          </a:stretch>
        </p:blipFill>
        <p:spPr>
          <a:xfrm>
            <a:off x="222549" y="2762425"/>
            <a:ext cx="9089400" cy="1882375"/>
          </a:xfrm>
          <a:prstGeom prst="rect">
            <a:avLst/>
          </a:prstGeom>
          <a:noFill/>
          <a:ln>
            <a:noFill/>
          </a:ln>
        </p:spPr>
      </p:pic>
      <p:sp>
        <p:nvSpPr>
          <p:cNvPr id="74" name="Google Shape;74;p12"/>
          <p:cNvSpPr/>
          <p:nvPr/>
        </p:nvSpPr>
        <p:spPr>
          <a:xfrm>
            <a:off x="39275" y="1918425"/>
            <a:ext cx="2293200" cy="861300"/>
          </a:xfrm>
          <a:prstGeom prst="wedgeRectCallout">
            <a:avLst>
              <a:gd name="adj1" fmla="val 71828"/>
              <a:gd name="adj2" fmla="val 17372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800" noProof="1"/>
              <a:t>Using existing software (making development easier)</a:t>
            </a:r>
            <a:endParaRPr sz="800"/>
          </a:p>
          <a:p>
            <a:pPr marL="89999" lvl="0" indent="-149225" algn="l" rtl="0">
              <a:spcBef>
                <a:spcPts val="0"/>
              </a:spcBef>
              <a:spcAft>
                <a:spcPts val="0"/>
              </a:spcAft>
              <a:buSzPts val="1000"/>
              <a:buChar char="●"/>
            </a:pPr>
            <a:r>
              <a:rPr lang="ja" sz="800" noProof="1"/>
              <a:t>Using cutting-edge software (technology)</a:t>
            </a:r>
            <a:endParaRPr sz="800"/>
          </a:p>
          <a:p>
            <a:pPr marL="89999" lvl="0" indent="-149225" algn="l" rtl="0">
              <a:spcBef>
                <a:spcPts val="0"/>
              </a:spcBef>
              <a:spcAft>
                <a:spcPts val="0"/>
              </a:spcAft>
              <a:buSzPts val="1000"/>
              <a:buChar char="●"/>
            </a:pPr>
            <a:r>
              <a:rPr lang="ja" sz="800" noProof="1"/>
              <a:t>Software created by many people, so the level is high</a:t>
            </a:r>
            <a:endParaRPr sz="800"/>
          </a:p>
        </p:txBody>
      </p:sp>
      <p:sp>
        <p:nvSpPr>
          <p:cNvPr id="75" name="Google Shape;75;p12"/>
          <p:cNvSpPr/>
          <p:nvPr/>
        </p:nvSpPr>
        <p:spPr>
          <a:xfrm>
            <a:off x="3409525" y="729675"/>
            <a:ext cx="2476200" cy="1371600"/>
          </a:xfrm>
          <a:prstGeom prst="wedgeRectCallout">
            <a:avLst>
              <a:gd name="adj1" fmla="val -11885"/>
              <a:gd name="adj2" fmla="val 1625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Clr>
                <a:schemeClr val="dk1"/>
              </a:buClr>
              <a:buSzPts val="1000"/>
              <a:buChar char="●"/>
            </a:pPr>
            <a:r>
              <a:rPr lang="ja" sz="800" noProof="1">
                <a:solidFill>
                  <a:schemeClr val="dk1"/>
                </a:solidFill>
              </a:rPr>
              <a:t>Bugs are easier to find and fixes are more accurate and faster with many engineers than with our own company.</a:t>
            </a:r>
            <a:endParaRPr sz="800"/>
          </a:p>
          <a:p>
            <a:pPr marL="89999" lvl="0" indent="-158750" algn="l" rtl="0">
              <a:spcBef>
                <a:spcPts val="0"/>
              </a:spcBef>
              <a:spcAft>
                <a:spcPts val="0"/>
              </a:spcAft>
              <a:buSzPts val="1000"/>
              <a:buChar char="●"/>
            </a:pPr>
            <a:r>
              <a:rPr lang="ja" sz="800" noProof="1"/>
              <a:t>Efficiency of development resources through community cooperation</a:t>
            </a:r>
            <a:endParaRPr sz="800"/>
          </a:p>
          <a:p>
            <a:pPr marL="89999" lvl="0" indent="-158750" algn="l" rtl="0">
              <a:spcBef>
                <a:spcPts val="0"/>
              </a:spcBef>
              <a:spcAft>
                <a:spcPts val="0"/>
              </a:spcAft>
              <a:buSzPts val="1000"/>
              <a:buChar char="●"/>
            </a:pPr>
            <a:r>
              <a:rPr lang="ja" sz="800" noProof="1">
                <a:solidFill>
                  <a:schemeClr val="dk1"/>
                </a:solidFill>
              </a:rPr>
              <a:t>Opportunities to develop and retain/acquire human resources</a:t>
            </a:r>
            <a:endParaRPr sz="800"/>
          </a:p>
          <a:p>
            <a:pPr marL="89999" lvl="0" indent="-158750" algn="l" rtl="0">
              <a:spcBef>
                <a:spcPts val="0"/>
              </a:spcBef>
              <a:spcAft>
                <a:spcPts val="0"/>
              </a:spcAft>
              <a:buSzPts val="1000"/>
              <a:buChar char="●"/>
            </a:pPr>
            <a:r>
              <a:rPr lang="ja" sz="800" noProof="1"/>
              <a:t>Enhancement of market value for engineers and ability to attract human resources by providing opportunities for activities</a:t>
            </a:r>
            <a:endParaRPr sz="800"/>
          </a:p>
        </p:txBody>
      </p:sp>
      <p:sp>
        <p:nvSpPr>
          <p:cNvPr id="76" name="Google Shape;76;p12"/>
          <p:cNvSpPr/>
          <p:nvPr/>
        </p:nvSpPr>
        <p:spPr>
          <a:xfrm>
            <a:off x="6823125" y="729675"/>
            <a:ext cx="2127600" cy="1316400"/>
          </a:xfrm>
          <a:prstGeom prst="wedgeRectCallout">
            <a:avLst>
              <a:gd name="adj1" fmla="val -4774"/>
              <a:gd name="adj2" fmla="val 12997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Clr>
                <a:schemeClr val="dk1"/>
              </a:buClr>
              <a:buSzPts val="1000"/>
              <a:buChar char="●"/>
            </a:pPr>
            <a:r>
              <a:rPr lang="ja" sz="800" noProof="1">
                <a:solidFill>
                  <a:schemeClr val="dk1"/>
                </a:solidFill>
              </a:rPr>
              <a:t>Creation of businesses utilizing OSS</a:t>
            </a:r>
            <a:endParaRPr sz="800">
              <a:solidFill>
                <a:schemeClr val="dk1"/>
              </a:solidFill>
            </a:endParaRPr>
          </a:p>
          <a:p>
            <a:pPr marL="179999" lvl="1" indent="-168275" algn="l" rtl="0">
              <a:spcBef>
                <a:spcPts val="0"/>
              </a:spcBef>
              <a:spcAft>
                <a:spcPts val="0"/>
              </a:spcAft>
              <a:buClr>
                <a:schemeClr val="dk1"/>
              </a:buClr>
              <a:buSzPts val="1000"/>
              <a:buChar char="○"/>
            </a:pPr>
            <a:r>
              <a:rPr lang="ja" sz="800" noProof="1">
                <a:solidFill>
                  <a:schemeClr val="dk1"/>
                </a:solidFill>
              </a:rPr>
              <a:t>Expansion of market and potential customer base</a:t>
            </a:r>
            <a:endParaRPr sz="800">
              <a:solidFill>
                <a:schemeClr val="dk1"/>
              </a:solidFill>
            </a:endParaRPr>
          </a:p>
          <a:p>
            <a:pPr marL="179999" lvl="1" indent="-168275" algn="l" rtl="0">
              <a:spcBef>
                <a:spcPts val="0"/>
              </a:spcBef>
              <a:spcAft>
                <a:spcPts val="0"/>
              </a:spcAft>
              <a:buClr>
                <a:schemeClr val="dk1"/>
              </a:buClr>
              <a:buSzPts val="1000"/>
              <a:buChar char="○"/>
            </a:pPr>
            <a:r>
              <a:rPr lang="ja" sz="800" noProof="1">
                <a:solidFill>
                  <a:schemeClr val="dk1"/>
                </a:solidFill>
              </a:rPr>
              <a:t>Establish and disseminate de facto standards</a:t>
            </a:r>
            <a:endParaRPr sz="800">
              <a:solidFill>
                <a:schemeClr val="dk1"/>
              </a:solidFill>
            </a:endParaRPr>
          </a:p>
          <a:p>
            <a:pPr marL="179999" lvl="1" indent="-168275" algn="l" rtl="0">
              <a:spcBef>
                <a:spcPts val="0"/>
              </a:spcBef>
              <a:spcAft>
                <a:spcPts val="0"/>
              </a:spcAft>
              <a:buClr>
                <a:schemeClr val="dk1"/>
              </a:buClr>
              <a:buSzPts val="1000"/>
              <a:buChar char="○"/>
            </a:pPr>
            <a:r>
              <a:rPr lang="ja" sz="800" noProof="1">
                <a:solidFill>
                  <a:schemeClr val="dk1"/>
                </a:solidFill>
              </a:rPr>
              <a:t>Build an ecosystem</a:t>
            </a:r>
            <a:endParaRPr sz="800">
              <a:solidFill>
                <a:schemeClr val="dk1"/>
              </a:solidFill>
            </a:endParaRPr>
          </a:p>
          <a:p>
            <a:pPr marL="179999" lvl="1" indent="-168275" algn="l" rtl="0">
              <a:spcBef>
                <a:spcPts val="0"/>
              </a:spcBef>
              <a:spcAft>
                <a:spcPts val="0"/>
              </a:spcAft>
              <a:buClr>
                <a:schemeClr val="dk1"/>
              </a:buClr>
              <a:buSzPts val="1000"/>
              <a:buChar char="○"/>
            </a:pPr>
            <a:r>
              <a:rPr lang="ja" sz="800" noProof="1">
                <a:solidFill>
                  <a:schemeClr val="dk1"/>
                </a:solidFill>
              </a:rPr>
              <a:t>Obtain legitimacy for activities</a:t>
            </a:r>
            <a:endParaRPr sz="800">
              <a:solidFill>
                <a:schemeClr val="dk1"/>
              </a:solidFill>
            </a:endParaRPr>
          </a:p>
          <a:p>
            <a:pPr marL="360000" lvl="2" indent="-177800" algn="l" rtl="0">
              <a:spcBef>
                <a:spcPts val="0"/>
              </a:spcBef>
              <a:spcAft>
                <a:spcPts val="0"/>
              </a:spcAft>
              <a:buClr>
                <a:schemeClr val="dk1"/>
              </a:buClr>
              <a:buSzPts val="1000"/>
              <a:buChar char="■"/>
            </a:pPr>
            <a:r>
              <a:rPr lang="ja" sz="800" noProof="1">
                <a:solidFill>
                  <a:schemeClr val="dk1"/>
                </a:solidFill>
              </a:rPr>
              <a:t>Get endorsements from community participants</a:t>
            </a:r>
            <a:endParaRPr sz="800"/>
          </a:p>
        </p:txBody>
      </p:sp>
      <p:sp>
        <p:nvSpPr>
          <p:cNvPr id="77" name="Google Shape;77;p12"/>
          <p:cNvSpPr/>
          <p:nvPr/>
        </p:nvSpPr>
        <p:spPr>
          <a:xfrm>
            <a:off x="1103350" y="912525"/>
            <a:ext cx="2181900" cy="1005900"/>
          </a:xfrm>
          <a:prstGeom prst="wedgeRectCallout">
            <a:avLst>
              <a:gd name="adj1" fmla="val 33029"/>
              <a:gd name="adj2" fmla="val 2424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Use OSS safely in business</a:t>
            </a:r>
            <a:endParaRPr sz="800"/>
          </a:p>
          <a:p>
            <a:pPr marL="89999" lvl="0" indent="-158750" algn="l" rtl="0">
              <a:spcBef>
                <a:spcPts val="0"/>
              </a:spcBef>
              <a:spcAft>
                <a:spcPts val="0"/>
              </a:spcAft>
              <a:buSzPts val="1000"/>
              <a:buChar char="●"/>
            </a:pPr>
            <a:r>
              <a:rPr lang="ja" sz="800" noProof="1"/>
              <a:t>Use OSS in its original form necessary for business-to-business transactions</a:t>
            </a:r>
            <a:endParaRPr sz="800"/>
          </a:p>
          <a:p>
            <a:pPr marL="89999" lvl="0" indent="-158750" algn="l" rtl="0">
              <a:spcBef>
                <a:spcPts val="0"/>
              </a:spcBef>
              <a:spcAft>
                <a:spcPts val="0"/>
              </a:spcAft>
              <a:buSzPts val="1000"/>
              <a:buChar char="●"/>
            </a:pPr>
            <a:r>
              <a:rPr lang="ja" sz="800" noProof="1"/>
              <a:t>Risk control for OSS use throughout the supply chain</a:t>
            </a:r>
            <a:endParaRPr sz="800"/>
          </a:p>
        </p:txBody>
      </p:sp>
      <p:sp>
        <p:nvSpPr>
          <p:cNvPr id="78" name="Google Shape;78;p12"/>
          <p:cNvSpPr/>
          <p:nvPr/>
        </p:nvSpPr>
        <p:spPr>
          <a:xfrm>
            <a:off x="4811225" y="2202125"/>
            <a:ext cx="2127600" cy="921600"/>
          </a:xfrm>
          <a:prstGeom prst="wedgeRectCallout">
            <a:avLst>
              <a:gd name="adj1" fmla="val 17904"/>
              <a:gd name="adj2" fmla="val 7792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Alignment of expectations as a company and community movements through the community</a:t>
            </a:r>
            <a:endParaRPr sz="800"/>
          </a:p>
          <a:p>
            <a:pPr marL="269999" lvl="1" indent="-168275" algn="l" rtl="0">
              <a:spcBef>
                <a:spcPts val="0"/>
              </a:spcBef>
              <a:spcAft>
                <a:spcPts val="0"/>
              </a:spcAft>
              <a:buSzPts val="1000"/>
              <a:buChar char="○"/>
            </a:pPr>
            <a:r>
              <a:rPr lang="ja" sz="800" noProof="1"/>
              <a:t>Involvement in development direction</a:t>
            </a:r>
            <a:endParaRPr sz="800"/>
          </a:p>
          <a:p>
            <a:pPr marL="89999" lvl="0" indent="-158750" algn="l" rtl="0">
              <a:spcBef>
                <a:spcPts val="0"/>
              </a:spcBef>
              <a:spcAft>
                <a:spcPts val="0"/>
              </a:spcAft>
              <a:buSzPts val="1000"/>
              <a:buChar char="●"/>
            </a:pPr>
            <a:r>
              <a:rPr lang="ja" sz="800" noProof="1"/>
              <a:t>Enhancement of motivation of engineers</a:t>
            </a:r>
            <a:endParaRPr sz="800"/>
          </a:p>
        </p:txBody>
      </p:sp>
      <p:sp>
        <p:nvSpPr>
          <p:cNvPr id="79" name="Google Shape;79;p12"/>
          <p:cNvSpPr/>
          <p:nvPr/>
        </p:nvSpPr>
        <p:spPr>
          <a:xfrm>
            <a:off x="7531350" y="128275"/>
            <a:ext cx="13539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noProof="1"/>
              <a:t>Fix</a:t>
            </a:r>
            <a:endParaRPr/>
          </a:p>
        </p:txBody>
      </p:sp>
      <p:sp>
        <p:nvSpPr>
          <p:cNvPr id="80" name="Google Shape;80;p12"/>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What is OSPO in the first place?</a:t>
            </a:r>
            <a:endParaRPr/>
          </a:p>
        </p:txBody>
      </p:sp>
      <p:sp>
        <p:nvSpPr>
          <p:cNvPr id="86" name="Google Shape;86;p13"/>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62500" lnSpcReduction="20000"/>
          </a:bodyPr>
          <a:lstStyle/>
          <a:p>
            <a:pPr marL="457200" lvl="0" indent="-300037" algn="l" rtl="0">
              <a:spcBef>
                <a:spcPts val="0"/>
              </a:spcBef>
              <a:spcAft>
                <a:spcPts val="0"/>
              </a:spcAft>
              <a:buClr>
                <a:schemeClr val="accent1"/>
              </a:buClr>
              <a:buSzPct val="100000"/>
              <a:buChar char="•"/>
            </a:pPr>
            <a:r>
              <a:rPr lang="ja" noProof="1"/>
              <a:t>(Summarize as a high-level concept)</a:t>
            </a:r>
            <a:endParaRPr/>
          </a:p>
          <a:p>
            <a:pPr marL="457200" lvl="0" indent="-300037" algn="l" rtl="0">
              <a:spcBef>
                <a:spcPts val="0"/>
              </a:spcBef>
              <a:spcAft>
                <a:spcPts val="0"/>
              </a:spcAft>
              <a:buSzPct val="100000"/>
              <a:buChar char="•"/>
            </a:pPr>
            <a:r>
              <a:rPr lang="ja" noProof="1"/>
              <a:t>What OSPO is working on</a:t>
            </a:r>
            <a:endParaRPr/>
          </a:p>
          <a:p>
            <a:pPr marL="914400" lvl="1" indent="-288131" algn="l" rtl="0">
              <a:spcBef>
                <a:spcPts val="0"/>
              </a:spcBef>
              <a:spcAft>
                <a:spcPts val="0"/>
              </a:spcAft>
              <a:buSzPct val="100000"/>
              <a:buChar char="•"/>
            </a:pPr>
            <a:r>
              <a:rPr lang="ja" noProof="1"/>
              <a:t>Issues</a:t>
            </a:r>
            <a:endParaRPr/>
          </a:p>
          <a:p>
            <a:pPr marL="1371600" lvl="2" indent="-276225" algn="l" rtl="0">
              <a:spcBef>
                <a:spcPts val="0"/>
              </a:spcBef>
              <a:spcAft>
                <a:spcPts val="0"/>
              </a:spcAft>
              <a:buSzPct val="100000"/>
              <a:buChar char="•"/>
            </a:pPr>
            <a:r>
              <a:rPr lang="ja" noProof="1"/>
              <a:t>Responding to the current situation where OSS is used more than 80%</a:t>
            </a:r>
            <a:endParaRPr/>
          </a:p>
          <a:p>
            <a:pPr marL="914400" lvl="1" indent="-288131" algn="l" rtl="0">
              <a:spcBef>
                <a:spcPts val="0"/>
              </a:spcBef>
              <a:spcAft>
                <a:spcPts val="0"/>
              </a:spcAft>
              <a:buSzPct val="100000"/>
              <a:buChar char="•"/>
            </a:pPr>
            <a:r>
              <a:rPr lang="ja" noProof="1"/>
              <a:t>Efforts</a:t>
            </a:r>
            <a:endParaRPr/>
          </a:p>
          <a:p>
            <a:pPr marL="1371600" lvl="2" indent="-276225" algn="l" rtl="0">
              <a:spcBef>
                <a:spcPts val="0"/>
              </a:spcBef>
              <a:spcAft>
                <a:spcPts val="0"/>
              </a:spcAft>
              <a:buSzPct val="100000"/>
              <a:buChar char="•"/>
            </a:pPr>
            <a:r>
              <a:rPr lang="ja" noProof="1"/>
              <a:t>Finding and promoting how to relate to OSS and the OSS community as a company</a:t>
            </a:r>
            <a:endParaRPr/>
          </a:p>
          <a:p>
            <a:pPr marL="457200" lvl="0" indent="-300037" algn="l" rtl="0">
              <a:spcBef>
                <a:spcPts val="0"/>
              </a:spcBef>
              <a:spcAft>
                <a:spcPts val="0"/>
              </a:spcAft>
              <a:buSzPct val="100000"/>
              <a:buChar char="•"/>
            </a:pPr>
            <a:r>
              <a:rPr lang="ja" noProof="1"/>
              <a:t>As I briefly mentioned before, I feel that </a:t>
            </a:r>
            <a:r>
              <a:rPr lang="ja" noProof="1">
                <a:highlight>
                  <a:srgbClr val="FFFF00"/>
                </a:highlight>
              </a:rPr>
              <a:t>OSPO= bridging the gap between internal and OSS culture</a:t>
            </a:r>
            <a:endParaRPr/>
          </a:p>
          <a:p>
            <a:pPr marL="914400" lvl="1" indent="-288131" algn="l" rtl="0">
              <a:spcBef>
                <a:spcPts val="0"/>
              </a:spcBef>
              <a:spcAft>
                <a:spcPts val="0"/>
              </a:spcAft>
              <a:buSzPct val="100000"/>
              <a:buChar char="•"/>
            </a:pPr>
            <a:r>
              <a:rPr lang="ja" noProof="1"/>
              <a:t>I think it's not enough because it's just an image of catching up</a:t>
            </a:r>
            <a:endParaRPr/>
          </a:p>
          <a:p>
            <a:pPr marL="457200" lvl="0" indent="-300037" algn="l" rtl="0">
              <a:spcBef>
                <a:spcPts val="0"/>
              </a:spcBef>
              <a:spcAft>
                <a:spcPts val="0"/>
              </a:spcAft>
              <a:buSzPct val="100000"/>
              <a:buChar char="•"/>
            </a:pPr>
            <a:r>
              <a:rPr lang="ja" noProof="1"/>
              <a:t>OSPO is a </a:t>
            </a:r>
            <a:r>
              <a:rPr lang="ja" noProof="1">
                <a:highlight>
                  <a:srgbClr val="FFFF00"/>
                </a:highlight>
              </a:rPr>
              <a:t>bridge between the organization and the OSS community</a:t>
            </a:r>
            <a:endParaRPr/>
          </a:p>
          <a:p>
            <a:pPr marL="457200" lvl="0" indent="-300037" algn="l" rtl="0">
              <a:spcBef>
                <a:spcPts val="0"/>
              </a:spcBef>
              <a:spcAft>
                <a:spcPts val="0"/>
              </a:spcAft>
              <a:buSzPct val="100000"/>
              <a:buChar char="•"/>
            </a:pPr>
            <a:r>
              <a:rPr lang="ja" noProof="1"/>
              <a:t>The role of OSPO is to promote the awareness and mindset within the company to be advanced.</a:t>
            </a:r>
            <a:endParaRPr/>
          </a:p>
          <a:p>
            <a:pPr marL="457200" lvl="0" indent="-300037" algn="l" rtl="0">
              <a:spcBef>
                <a:spcPts val="0"/>
              </a:spcBef>
              <a:spcAft>
                <a:spcPts val="0"/>
              </a:spcAft>
              <a:buSzPct val="100000"/>
              <a:buChar char="•"/>
            </a:pPr>
            <a:r>
              <a:rPr lang="ja" noProof="1"/>
              <a:t>Not only engineers, but also the OSS way of working (which is becoming the norm outside the company) is permeated into the company.</a:t>
            </a:r>
            <a:endParaRPr/>
          </a:p>
          <a:p>
            <a:pPr marL="457200" lvl="0" indent="-300037" algn="l" rtl="0">
              <a:spcBef>
                <a:spcPts val="0"/>
              </a:spcBef>
              <a:spcAft>
                <a:spcPts val="0"/>
              </a:spcAft>
              <a:buSzPct val="100000"/>
              <a:buChar char="•"/>
            </a:pPr>
            <a:r>
              <a:rPr lang="ja" noProof="1"/>
              <a:t>Efforts to introduce successful methods in the OSS community to the company in order to successfully carry out development on a larger scale.</a:t>
            </a:r>
            <a:endParaRPr/>
          </a:p>
          <a:p>
            <a:pPr marL="457200" lvl="0" indent="-300037" algn="l" rtl="0">
              <a:spcBef>
                <a:spcPts val="0"/>
              </a:spcBef>
              <a:spcAft>
                <a:spcPts val="0"/>
              </a:spcAft>
              <a:buSzPct val="100000"/>
              <a:buChar char="•"/>
            </a:pPr>
            <a:r>
              <a:rPr lang="ja" noProof="1"/>
              <a:t>Efforts to incorporate (become a part of) the company into the ecosystem created by OSS.</a:t>
            </a:r>
            <a:endParaRPr/>
          </a:p>
          <a:p>
            <a:pPr marL="457200" lvl="0" indent="-300037" algn="l" rtl="0">
              <a:spcBef>
                <a:spcPts val="0"/>
              </a:spcBef>
              <a:spcAft>
                <a:spcPts val="0"/>
              </a:spcAft>
              <a:buSzPct val="100000"/>
              <a:buChar char="•"/>
            </a:pPr>
            <a:r>
              <a:rPr lang="ja" noProof="1"/>
              <a:t>Development of the company's business by utilizing the OSS ecosystem.</a:t>
            </a:r>
            <a:endParaRPr/>
          </a:p>
          <a:p>
            <a:pPr marL="914400" lvl="1" indent="-288131" algn="l" rtl="0">
              <a:spcBef>
                <a:spcPts val="0"/>
              </a:spcBef>
              <a:spcAft>
                <a:spcPts val="0"/>
              </a:spcAft>
              <a:buSzPct val="100000"/>
              <a:buChar char="•"/>
            </a:pPr>
            <a:r>
              <a:rPr lang="ja" noProof="1"/>
              <a:t>Efforts to develop both corporate and OSS logic by mediating between them.</a:t>
            </a:r>
            <a:endParaRPr/>
          </a:p>
          <a:p>
            <a:pPr marL="914400" lvl="1" indent="-288131" algn="l" rtl="0">
              <a:spcBef>
                <a:spcPts val="0"/>
              </a:spcBef>
              <a:spcAft>
                <a:spcPts val="0"/>
              </a:spcAft>
              <a:buSzPct val="100000"/>
              <a:buChar char="•"/>
            </a:pPr>
            <a:r>
              <a:rPr lang="ja" noProof="1"/>
              <a:t>Corporate engineers working in the OSS community should concentrate on OSS activities.</a:t>
            </a:r>
            <a:endParaRPr/>
          </a:p>
          <a:p>
            <a:pPr marL="1371600" lvl="2" indent="-276225" algn="l" rtl="0">
              <a:spcBef>
                <a:spcPts val="0"/>
              </a:spcBef>
              <a:spcAft>
                <a:spcPts val="0"/>
              </a:spcAft>
              <a:buSzPct val="100000"/>
              <a:buChar char="•"/>
            </a:pPr>
            <a:r>
              <a:rPr lang="ja" noProof="1"/>
              <a:t>OSPO members should think about the corporate logic side and implement strategies separately from them.</a:t>
            </a:r>
            <a:endParaRPr/>
          </a:p>
          <a:p>
            <a:pPr marL="1371600" lvl="2" indent="-276225" algn="l" rtl="0">
              <a:spcBef>
                <a:spcPts val="0"/>
              </a:spcBef>
              <a:spcAft>
                <a:spcPts val="0"/>
              </a:spcAft>
              <a:buSzPct val="100000"/>
              <a:buChar char="•"/>
            </a:pPr>
            <a:r>
              <a:rPr lang="ja" noProof="1"/>
              <a:t>If OSPO members and OSS activity members are confused, activity members will suffer.</a:t>
            </a:r>
            <a:endParaRPr/>
          </a:p>
          <a:p>
            <a:pPr marL="457200" lvl="0" indent="-300037" algn="l" rtl="0">
              <a:spcBef>
                <a:spcPts val="0"/>
              </a:spcBef>
              <a:spcAft>
                <a:spcPts val="0"/>
              </a:spcAft>
              <a:buSzPct val="100000"/>
              <a:buChar char="•"/>
            </a:pPr>
            <a:r>
              <a:rPr lang="ja" noProof="1"/>
              <a:t>Position of OSPO members in the company</a:t>
            </a:r>
            <a:endParaRPr/>
          </a:p>
          <a:p>
            <a:pPr marL="914400" lvl="1" indent="-288131" algn="l" rtl="0">
              <a:spcBef>
                <a:spcPts val="0"/>
              </a:spcBef>
              <a:spcAft>
                <a:spcPts val="0"/>
              </a:spcAft>
              <a:buSzPct val="100000"/>
              <a:buChar char="•"/>
            </a:pPr>
            <a:r>
              <a:rPr lang="ja" noProof="1"/>
              <a:t>I'm not a division person or an OSS activity engineer. I think about both.</a:t>
            </a:r>
            <a:endParaRPr/>
          </a:p>
          <a:p>
            <a:pPr marL="914400" lvl="1" indent="-288131" algn="l" rtl="0">
              <a:spcBef>
                <a:spcPts val="0"/>
              </a:spcBef>
              <a:spcAft>
                <a:spcPts val="0"/>
              </a:spcAft>
              <a:buSzPct val="100000"/>
              <a:buChar char="•"/>
            </a:pPr>
            <a:r>
              <a:rPr lang="ja" noProof="1"/>
              <a:t>I use multiple positions. (This makes OSPO difficult)</a:t>
            </a:r>
            <a:endParaRPr/>
          </a:p>
          <a:p>
            <a:pPr marL="457200" lvl="0" indent="-300037" algn="l" rtl="0">
              <a:spcBef>
                <a:spcPts val="0"/>
              </a:spcBef>
              <a:spcAft>
                <a:spcPts val="0"/>
              </a:spcAft>
              <a:buSzPct val="100000"/>
              <a:buChar char="•"/>
            </a:pPr>
            <a:r>
              <a:rPr lang="ja" noProof="1"/>
              <a:t>Aim for/create a state where OSS activities have value and benefits from both companies and the OSS community</a:t>
            </a:r>
            <a:endParaRPr/>
          </a:p>
          <a:p>
            <a:pPr marL="457200" lvl="0" indent="-300037" algn="l" rtl="0">
              <a:spcBef>
                <a:spcPts val="0"/>
              </a:spcBef>
              <a:spcAft>
                <a:spcPts val="0"/>
              </a:spcAft>
              <a:buSzPct val="100000"/>
              <a:buChar char="•"/>
            </a:pPr>
            <a:r>
              <a:rPr lang="ja" noProof="1"/>
              <a:t>How about discussing the meaning of the name Open Source Program Office?</a:t>
            </a:r>
            <a:endParaRPr/>
          </a:p>
          <a:p>
            <a:pPr marL="457200" lvl="0" indent="-300037" algn="l" rtl="0">
              <a:spcBef>
                <a:spcPts val="0"/>
              </a:spcBef>
              <a:spcAft>
                <a:spcPts val="0"/>
              </a:spcAft>
              <a:buSzPct val="100000"/>
              <a:buChar char="•"/>
            </a:pPr>
            <a:r>
              <a:rPr lang="ja" noProof="1"/>
              <a:t>Meaning of Program</a:t>
            </a:r>
            <a:endParaRPr/>
          </a:p>
          <a:p>
            <a:pPr marL="914400" lvl="1" indent="-288131" algn="l" rtl="0">
              <a:spcBef>
                <a:spcPts val="0"/>
              </a:spcBef>
              <a:spcAft>
                <a:spcPts val="0"/>
              </a:spcAft>
              <a:buSzPct val="100000"/>
              <a:buChar char="•"/>
            </a:pPr>
            <a:r>
              <a:rPr lang="ja" noProof="1"/>
              <a:t>A program officer (program officer, PO) is a person who plans and manages research and grant programs at a research institution, think tank, foundation, etc.</a:t>
            </a:r>
            <a:endParaRPr/>
          </a:p>
          <a:p>
            <a:pPr marL="914400" lvl="1" indent="-288131" algn="l" rtl="0">
              <a:spcBef>
                <a:spcPts val="0"/>
              </a:spcBef>
              <a:spcAft>
                <a:spcPts val="0"/>
              </a:spcAft>
              <a:buSzPct val="100000"/>
              <a:buChar char="•"/>
            </a:pPr>
            <a:r>
              <a:rPr lang="ja" noProof="1"/>
              <a:t>There is also a view that it is something that is done on an ongoing basis</a:t>
            </a:r>
            <a:endParaRPr/>
          </a:p>
        </p:txBody>
      </p:sp>
      <p:sp>
        <p:nvSpPr>
          <p:cNvPr id="87" name="Google Shape;87;p13"/>
          <p:cNvSpPr/>
          <p:nvPr/>
        </p:nvSpPr>
        <p:spPr>
          <a:xfrm>
            <a:off x="7190675" y="325875"/>
            <a:ext cx="15636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noProof="1"/>
              <a:t>2023/10/27 Discussion - next time 12/22 continuation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What is an OSPO?</a:t>
            </a:r>
            <a:endParaRPr/>
          </a:p>
        </p:txBody>
      </p:sp>
      <p:sp>
        <p:nvSpPr>
          <p:cNvPr id="93" name="Google Shape;93;p14"/>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77500" lnSpcReduction="20000"/>
          </a:bodyPr>
          <a:lstStyle/>
          <a:p>
            <a:pPr marL="457200" lvl="0" indent="-317182" algn="l" rtl="0">
              <a:spcBef>
                <a:spcPts val="0"/>
              </a:spcBef>
              <a:spcAft>
                <a:spcPts val="0"/>
              </a:spcAft>
              <a:buClr>
                <a:schemeClr val="accent1"/>
              </a:buClr>
              <a:buSzPct val="100000"/>
              <a:buChar char="•"/>
            </a:pPr>
            <a:r>
              <a:rPr lang="ja" noProof="1"/>
              <a:t>What skills do OSPO members need?</a:t>
            </a:r>
            <a:endParaRPr/>
          </a:p>
          <a:p>
            <a:pPr marL="914400" lvl="1" indent="-302418" algn="l" rtl="0">
              <a:spcBef>
                <a:spcPts val="0"/>
              </a:spcBef>
              <a:spcAft>
                <a:spcPts val="0"/>
              </a:spcAft>
              <a:buSzPct val="100000"/>
              <a:buChar char="•"/>
            </a:pPr>
            <a:r>
              <a:rPr lang="ja" noProof="1"/>
              <a:t>Wide range?</a:t>
            </a:r>
            <a:endParaRPr/>
          </a:p>
          <a:p>
            <a:pPr marL="914400" lvl="1" indent="-302418" algn="l" rtl="0">
              <a:spcBef>
                <a:spcPts val="0"/>
              </a:spcBef>
              <a:spcAft>
                <a:spcPts val="0"/>
              </a:spcAft>
              <a:buSzPct val="100000"/>
              <a:buChar char="•"/>
            </a:pPr>
            <a:r>
              <a:rPr lang="ja" noProof="1"/>
              <a:t>Software development skills (at some level)</a:t>
            </a:r>
            <a:endParaRPr/>
          </a:p>
          <a:p>
            <a:pPr marL="914400" lvl="1" indent="-302418" algn="l" rtl="0">
              <a:spcBef>
                <a:spcPts val="0"/>
              </a:spcBef>
              <a:spcAft>
                <a:spcPts val="0"/>
              </a:spcAft>
              <a:buSzPct val="100000"/>
              <a:buChar char="•"/>
            </a:pPr>
            <a:r>
              <a:rPr lang="ja" noProof="1"/>
              <a:t>Knowledge of licensing</a:t>
            </a:r>
            <a:endParaRPr/>
          </a:p>
          <a:p>
            <a:pPr marL="1371600" lvl="2" indent="-287655" algn="l" rtl="0">
              <a:spcBef>
                <a:spcPts val="0"/>
              </a:spcBef>
              <a:spcAft>
                <a:spcPts val="0"/>
              </a:spcAft>
              <a:buSzPct val="100000"/>
              <a:buChar char="•"/>
            </a:pPr>
            <a:r>
              <a:rPr lang="ja" noProof="1"/>
              <a:t>Basic knowledge of legal affairs and intellectual property</a:t>
            </a:r>
            <a:endParaRPr/>
          </a:p>
          <a:p>
            <a:pPr marL="1371600" lvl="2" indent="-287655" algn="l" rtl="0">
              <a:spcBef>
                <a:spcPts val="0"/>
              </a:spcBef>
              <a:spcAft>
                <a:spcPts val="0"/>
              </a:spcAft>
              <a:buSzPct val="100000"/>
              <a:buChar char="•"/>
            </a:pPr>
            <a:r>
              <a:rPr lang="ja" noProof="1"/>
              <a:t>Common understanding in the community (intent, background)</a:t>
            </a:r>
            <a:endParaRPr/>
          </a:p>
          <a:p>
            <a:pPr marL="914400" lvl="1" indent="-302418" algn="l" rtl="0">
              <a:spcBef>
                <a:spcPts val="0"/>
              </a:spcBef>
              <a:spcAft>
                <a:spcPts val="0"/>
              </a:spcAft>
              <a:buSzPct val="100000"/>
              <a:buChar char="•"/>
            </a:pPr>
            <a:r>
              <a:rPr lang="ja" noProof="1"/>
              <a:t>Communication skills</a:t>
            </a:r>
            <a:endParaRPr/>
          </a:p>
          <a:p>
            <a:pPr marL="1371600" lvl="2" indent="-287655" algn="l" rtl="0">
              <a:spcBef>
                <a:spcPts val="0"/>
              </a:spcBef>
              <a:spcAft>
                <a:spcPts val="0"/>
              </a:spcAft>
              <a:buSzPct val="100000"/>
              <a:buChar char="•"/>
            </a:pPr>
            <a:r>
              <a:rPr lang="ja" noProof="1"/>
              <a:t>Proficiency in English</a:t>
            </a:r>
            <a:endParaRPr/>
          </a:p>
          <a:p>
            <a:pPr marL="1371600" lvl="2" indent="-287655" algn="l" rtl="0">
              <a:spcBef>
                <a:spcPts val="0"/>
              </a:spcBef>
              <a:spcAft>
                <a:spcPts val="0"/>
              </a:spcAft>
              <a:buSzPct val="100000"/>
              <a:buChar char="•"/>
            </a:pPr>
            <a:r>
              <a:rPr lang="ja" noProof="1"/>
              <a:t>Spirit of respect</a:t>
            </a:r>
            <a:endParaRPr/>
          </a:p>
          <a:p>
            <a:pPr marL="914400" lvl="1" indent="-302418" algn="l" rtl="0">
              <a:spcBef>
                <a:spcPts val="0"/>
              </a:spcBef>
              <a:spcAft>
                <a:spcPts val="0"/>
              </a:spcAft>
              <a:buSzPct val="100000"/>
              <a:buChar char="•"/>
            </a:pPr>
            <a:r>
              <a:rPr lang="ja" noProof="1"/>
              <a:t>Motivation, mental ability to withstand headwinds</a:t>
            </a:r>
            <a:endParaRPr/>
          </a:p>
          <a:p>
            <a:pPr marL="914400" lvl="1" indent="-302418" algn="l" rtl="0">
              <a:spcBef>
                <a:spcPts val="0"/>
              </a:spcBef>
              <a:spcAft>
                <a:spcPts val="0"/>
              </a:spcAft>
              <a:buSzPct val="100000"/>
              <a:buChar char="•"/>
            </a:pPr>
            <a:r>
              <a:rPr lang="ja" noProof="1"/>
              <a:t>Ability to explain</a:t>
            </a:r>
            <a:endParaRPr/>
          </a:p>
          <a:p>
            <a:pPr marL="1371600" lvl="2" indent="-287655" algn="l" rtl="0">
              <a:spcBef>
                <a:spcPts val="0"/>
              </a:spcBef>
              <a:spcAft>
                <a:spcPts val="0"/>
              </a:spcAft>
              <a:buSzPct val="100000"/>
              <a:buChar char="•"/>
            </a:pPr>
            <a:r>
              <a:rPr lang="ja" noProof="1"/>
              <a:t>Skills as an educator</a:t>
            </a:r>
            <a:endParaRPr/>
          </a:p>
          <a:p>
            <a:pPr marL="914400" lvl="1" indent="-302418" algn="l" rtl="0">
              <a:spcBef>
                <a:spcPts val="0"/>
              </a:spcBef>
              <a:spcAft>
                <a:spcPts val="0"/>
              </a:spcAft>
              <a:buSzPct val="100000"/>
              <a:buChar char="•"/>
            </a:pPr>
            <a:r>
              <a:rPr lang="ja" noProof="1"/>
              <a:t>Experience and appropriateness of community activities</a:t>
            </a:r>
            <a:endParaRPr/>
          </a:p>
          <a:p>
            <a:pPr marL="1371600" lvl="2" indent="-287655" algn="l" rtl="0">
              <a:spcBef>
                <a:spcPts val="0"/>
              </a:spcBef>
              <a:spcAft>
                <a:spcPts val="0"/>
              </a:spcAft>
              <a:buSzPct val="100000"/>
              <a:buChar char="•"/>
            </a:pPr>
            <a:r>
              <a:rPr lang="ja" noProof="1"/>
              <a:t>Appropriate understanding of OSS development methods, </a:t>
            </a:r>
            <a:r>
              <a:rPr lang="ja" noProof="1">
                <a:solidFill>
                  <a:schemeClr val="dk1"/>
                </a:solidFill>
              </a:rPr>
              <a:t>ecosystem and</a:t>
            </a:r>
            <a:r>
              <a:rPr lang="ja" noProof="1"/>
              <a:t> community</a:t>
            </a:r>
            <a:endParaRPr/>
          </a:p>
          <a:p>
            <a:pPr marL="1371600" lvl="2" indent="-287655" algn="l" rtl="0">
              <a:spcBef>
                <a:spcPts val="0"/>
              </a:spcBef>
              <a:spcAft>
                <a:spcPts val="0"/>
              </a:spcAft>
              <a:buClr>
                <a:schemeClr val="accent1"/>
              </a:buClr>
              <a:buSzPct val="100000"/>
              <a:buChar char="•"/>
            </a:pPr>
            <a:r>
              <a:rPr lang="ja" noProof="1"/>
              <a:t>Understanding and respecting OSS and community culture</a:t>
            </a:r>
            <a:endParaRPr/>
          </a:p>
          <a:p>
            <a:pPr marL="1828800" lvl="3" indent="-282733" algn="l" rtl="0">
              <a:spcBef>
                <a:spcPts val="0"/>
              </a:spcBef>
              <a:spcAft>
                <a:spcPts val="0"/>
              </a:spcAft>
              <a:buSzPct val="100000"/>
              <a:buChar char="•"/>
            </a:pPr>
            <a:r>
              <a:rPr lang="ja" noProof="1"/>
              <a:t>Values of participants</a:t>
            </a:r>
            <a:endParaRPr/>
          </a:p>
          <a:p>
            <a:pPr marL="457200" lvl="0" indent="-317182" algn="l" rtl="0">
              <a:spcBef>
                <a:spcPts val="0"/>
              </a:spcBef>
              <a:spcAft>
                <a:spcPts val="0"/>
              </a:spcAft>
              <a:buClr>
                <a:schemeClr val="accent1"/>
              </a:buClr>
              <a:buSzPct val="100000"/>
              <a:buChar char="•"/>
            </a:pPr>
            <a:r>
              <a:rPr lang="ja" noProof="1"/>
              <a:t>What responsibilities should OSPOs fulfill?</a:t>
            </a:r>
            <a:endParaRPr/>
          </a:p>
          <a:p>
            <a:pPr marL="914400" lvl="1" indent="-302418" algn="l" rtl="0">
              <a:spcBef>
                <a:spcPts val="0"/>
              </a:spcBef>
              <a:spcAft>
                <a:spcPts val="0"/>
              </a:spcAft>
              <a:buSzPct val="100000"/>
              <a:buChar char="•"/>
            </a:pPr>
            <a:r>
              <a:rPr lang="ja" noProof="1"/>
              <a:t>License management</a:t>
            </a:r>
            <a:endParaRPr/>
          </a:p>
          <a:p>
            <a:pPr marL="914400" lvl="1" indent="-302418" algn="l" rtl="0">
              <a:spcBef>
                <a:spcPts val="0"/>
              </a:spcBef>
              <a:spcAft>
                <a:spcPts val="0"/>
              </a:spcAft>
              <a:buSzPct val="100000"/>
              <a:buChar char="•"/>
            </a:pPr>
            <a:r>
              <a:rPr lang="ja" noProof="1"/>
              <a:t>Proposals and advice on OSS utilization for business strategies</a:t>
            </a:r>
            <a:endParaRPr/>
          </a:p>
          <a:p>
            <a:pPr marL="914400" lvl="1" indent="-302418" algn="l" rtl="0">
              <a:spcBef>
                <a:spcPts val="0"/>
              </a:spcBef>
              <a:spcAft>
                <a:spcPts val="0"/>
              </a:spcAft>
              <a:buSzPct val="100000"/>
              <a:buChar char="•"/>
            </a:pPr>
            <a:r>
              <a:rPr lang="ja" noProof="1"/>
              <a:t>Energizing the OSS community</a:t>
            </a:r>
            <a:endParaRPr/>
          </a:p>
          <a:p>
            <a:pPr marL="914400" lvl="1" indent="-302418" algn="l" rtl="0">
              <a:spcBef>
                <a:spcPts val="0"/>
              </a:spcBef>
              <a:spcAft>
                <a:spcPts val="0"/>
              </a:spcAft>
              <a:buSzPct val="100000"/>
              <a:buChar char="•"/>
            </a:pPr>
            <a:r>
              <a:rPr lang="ja" noProof="1"/>
              <a:t>Raising awareness about OSS</a:t>
            </a:r>
            <a:endParaRPr/>
          </a:p>
          <a:p>
            <a:pPr marL="1371600" lvl="2" indent="-287655" algn="l" rtl="0">
              <a:spcBef>
                <a:spcPts val="0"/>
              </a:spcBef>
              <a:spcAft>
                <a:spcPts val="0"/>
              </a:spcAft>
              <a:buSzPct val="100000"/>
              <a:buChar char="•"/>
            </a:pPr>
            <a:r>
              <a:rPr lang="ja" noProof="1"/>
              <a:t>Raising awareness about the risks of using OSS</a:t>
            </a:r>
            <a:endParaRPr/>
          </a:p>
          <a:p>
            <a:pPr marL="1371600" lvl="2" indent="-287655" algn="l" rtl="0">
              <a:spcBef>
                <a:spcPts val="0"/>
              </a:spcBef>
              <a:spcAft>
                <a:spcPts val="0"/>
              </a:spcAft>
              <a:buSzPct val="100000"/>
              <a:buChar char="•"/>
            </a:pPr>
            <a:r>
              <a:rPr lang="ja" noProof="1"/>
              <a:t>Raising awareness about the value of using OSS and community effects</a:t>
            </a:r>
            <a:endParaRPr/>
          </a:p>
          <a:p>
            <a:pPr marL="914400" lvl="1" indent="-302418" algn="l" rtl="0">
              <a:spcBef>
                <a:spcPts val="0"/>
              </a:spcBef>
              <a:spcAft>
                <a:spcPts val="0"/>
              </a:spcAft>
              <a:buSzPct val="100000"/>
              <a:buChar char="•"/>
            </a:pPr>
            <a:r>
              <a:rPr lang="ja" noProof="1"/>
              <a:t>Managing CLA:</a:t>
            </a:r>
            <a:endParaRPr/>
          </a:p>
          <a:p>
            <a:pPr marL="457200" lvl="0" indent="-317182" algn="l" rtl="0">
              <a:spcBef>
                <a:spcPts val="0"/>
              </a:spcBef>
              <a:spcAft>
                <a:spcPts val="0"/>
              </a:spcAft>
              <a:buClr>
                <a:schemeClr val="accent1"/>
              </a:buClr>
              <a:buSzPct val="100000"/>
              <a:buChar char="•"/>
            </a:pPr>
            <a:r>
              <a:rPr lang="ja" noProof="1"/>
              <a:t>Internal authority for OSPOs</a:t>
            </a:r>
            <a:endParaRPr/>
          </a:p>
          <a:p>
            <a:pPr marL="914400" lvl="1" indent="-302418" algn="l" rtl="0">
              <a:spcBef>
                <a:spcPts val="0"/>
              </a:spcBef>
              <a:spcAft>
                <a:spcPts val="0"/>
              </a:spcAft>
              <a:buSzPct val="100000"/>
              <a:buChar char="•"/>
            </a:pPr>
            <a:r>
              <a:rPr lang="ja" noProof="1"/>
              <a:t>Path to talk to C-level</a:t>
            </a:r>
            <a:endParaRPr/>
          </a:p>
          <a:p>
            <a:pPr marL="457200" lvl="0" indent="-317182" algn="l" rtl="0">
              <a:spcBef>
                <a:spcPts val="0"/>
              </a:spcBef>
              <a:spcAft>
                <a:spcPts val="0"/>
              </a:spcAft>
              <a:buSzPct val="100000"/>
              <a:buChar char="•"/>
            </a:pPr>
            <a:r>
              <a:t> </a:t>
            </a:r>
          </a:p>
        </p:txBody>
      </p:sp>
      <p:sp>
        <p:nvSpPr>
          <p:cNvPr id="94" name="Google Shape;94;p14"/>
          <p:cNvSpPr/>
          <p:nvPr/>
        </p:nvSpPr>
        <p:spPr>
          <a:xfrm>
            <a:off x="7190675" y="325875"/>
            <a:ext cx="15636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noProof="1"/>
              <a:t>2023/12/22 Continue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5"/>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What is an OSPO?</a:t>
            </a:r>
            <a:endParaRPr/>
          </a:p>
        </p:txBody>
      </p:sp>
      <p:sp>
        <p:nvSpPr>
          <p:cNvPr id="100" name="Google Shape;100;p15"/>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77500" lnSpcReduction="20000"/>
          </a:bodyPr>
          <a:lstStyle/>
          <a:p>
            <a:pPr marL="457200" lvl="0" indent="-317182" algn="l" rtl="0">
              <a:spcBef>
                <a:spcPts val="0"/>
              </a:spcBef>
              <a:spcAft>
                <a:spcPts val="0"/>
              </a:spcAft>
              <a:buSzPct val="100000"/>
              <a:buChar char="•"/>
            </a:pPr>
            <a:r>
              <a:rPr lang="ja" noProof="1"/>
              <a:t>What is the optimal size of an OSPO?</a:t>
            </a:r>
            <a:endParaRPr/>
          </a:p>
          <a:p>
            <a:pPr marL="914400" lvl="1" indent="-302418" algn="l" rtl="0">
              <a:spcBef>
                <a:spcPts val="0"/>
              </a:spcBef>
              <a:spcAft>
                <a:spcPts val="0"/>
              </a:spcAft>
              <a:buSzPct val="100000"/>
              <a:buChar char="•"/>
            </a:pPr>
            <a:r>
              <a:rPr lang="ja" noProof="1"/>
              <a:t>What percentage of total engineers?</a:t>
            </a:r>
            <a:endParaRPr/>
          </a:p>
          <a:p>
            <a:pPr marL="1371600" lvl="2" indent="-287655" algn="l" rtl="0">
              <a:spcBef>
                <a:spcPts val="0"/>
              </a:spcBef>
              <a:spcAft>
                <a:spcPts val="0"/>
              </a:spcAft>
              <a:buSzPct val="100000"/>
              <a:buChar char="•"/>
            </a:pPr>
            <a:r>
              <a:rPr lang="ja" noProof="1"/>
              <a:t>Changes with the maturity stage of OSS (large in the beginning and gradually decreasing)</a:t>
            </a:r>
            <a:endParaRPr/>
          </a:p>
          <a:p>
            <a:pPr marL="457200" lvl="0" indent="-317182" algn="l" rtl="0">
              <a:spcBef>
                <a:spcPts val="0"/>
              </a:spcBef>
              <a:spcAft>
                <a:spcPts val="0"/>
              </a:spcAft>
              <a:buClr>
                <a:schemeClr val="accent1"/>
              </a:buClr>
              <a:buSzPct val="100000"/>
              <a:buChar char="•"/>
            </a:pPr>
            <a:r>
              <a:rPr lang="ja" noProof="1"/>
              <a:t>What are the external relationships required for an OSPO?</a:t>
            </a:r>
            <a:endParaRPr/>
          </a:p>
          <a:p>
            <a:pPr marL="914400" lvl="1" indent="-302418" algn="l" rtl="0">
              <a:spcBef>
                <a:spcPts val="0"/>
              </a:spcBef>
              <a:spcAft>
                <a:spcPts val="0"/>
              </a:spcAft>
              <a:buSzPct val="100000"/>
              <a:buChar char="•"/>
            </a:pPr>
            <a:r>
              <a:rPr lang="ja" noProof="1"/>
              <a:t>Participate in, contribute to, and discuss OSS events</a:t>
            </a:r>
            <a:endParaRPr/>
          </a:p>
          <a:p>
            <a:pPr marL="914400" lvl="1" indent="-302418" algn="l" rtl="0">
              <a:spcBef>
                <a:spcPts val="0"/>
              </a:spcBef>
              <a:spcAft>
                <a:spcPts val="0"/>
              </a:spcAft>
              <a:buSzPct val="100000"/>
              <a:buChar char="•"/>
            </a:pPr>
            <a:r>
              <a:rPr lang="ja" noProof="1"/>
              <a:t>Absorb external information and bring it back to the company</a:t>
            </a:r>
            <a:endParaRPr/>
          </a:p>
          <a:p>
            <a:pPr marL="914400" lvl="1" indent="-302418" algn="l" rtl="0">
              <a:spcBef>
                <a:spcPts val="0"/>
              </a:spcBef>
              <a:spcAft>
                <a:spcPts val="0"/>
              </a:spcAft>
              <a:buSzPct val="100000"/>
              <a:buChar char="•"/>
            </a:pPr>
            <a:r>
              <a:rPr lang="ja" noProof="1"/>
              <a:t>Support for the company's engineers to share their opinions outside the company and form a common understanding</a:t>
            </a:r>
            <a:endParaRPr/>
          </a:p>
          <a:p>
            <a:pPr marL="914400" lvl="1" indent="-302418" algn="l" rtl="0">
              <a:spcBef>
                <a:spcPts val="0"/>
              </a:spcBef>
              <a:spcAft>
                <a:spcPts val="0"/>
              </a:spcAft>
              <a:buSzPct val="100000"/>
              <a:buChar char="•"/>
            </a:pPr>
            <a:r>
              <a:rPr lang="ja" noProof="1"/>
              <a:t>Promote the company's stance (Cooperation, building associates, and acquiring human resources)</a:t>
            </a:r>
            <a:endParaRPr/>
          </a:p>
          <a:p>
            <a:pPr marL="457200" lvl="0" indent="-317182" algn="l" rtl="0">
              <a:spcBef>
                <a:spcPts val="0"/>
              </a:spcBef>
              <a:spcAft>
                <a:spcPts val="0"/>
              </a:spcAft>
              <a:buSzPct val="100000"/>
              <a:buChar char="•"/>
            </a:pPr>
            <a:r>
              <a:rPr lang="ja" noProof="1"/>
              <a:t>OSS project management</a:t>
            </a:r>
            <a:endParaRPr/>
          </a:p>
          <a:p>
            <a:pPr marL="914400" lvl="1" indent="-302418" algn="l" rtl="0">
              <a:spcBef>
                <a:spcPts val="0"/>
              </a:spcBef>
              <a:spcAft>
                <a:spcPts val="0"/>
              </a:spcAft>
              <a:buSzPct val="100000"/>
              <a:buChar char="•"/>
            </a:pPr>
            <a:r>
              <a:rPr lang="ja" noProof="1"/>
              <a:t>Setting Up CLA Strategy, Management</a:t>
            </a:r>
            <a:endParaRPr/>
          </a:p>
          <a:p>
            <a:pPr marL="457200" lvl="0" indent="-317182" algn="l" rtl="0">
              <a:spcBef>
                <a:spcPts val="0"/>
              </a:spcBef>
              <a:spcAft>
                <a:spcPts val="0"/>
              </a:spcAft>
              <a:buSzPct val="100000"/>
              <a:buChar char="•"/>
            </a:pPr>
            <a:r>
              <a:rPr lang="ja" noProof="1"/>
              <a:t>M &amp; A Perspective</a:t>
            </a:r>
            <a:endParaRPr/>
          </a:p>
          <a:p>
            <a:pPr marL="914400" lvl="1" indent="-302418" algn="l" rtl="0">
              <a:spcBef>
                <a:spcPts val="0"/>
              </a:spcBef>
              <a:spcAft>
                <a:spcPts val="0"/>
              </a:spcAft>
              <a:buSzPct val="100000"/>
              <a:buChar char="•"/>
            </a:pPr>
            <a:r>
              <a:rPr lang="ja" noProof="1"/>
              <a:t>Supporting Project Acquisitions (? ) as well as Company Acquisitions</a:t>
            </a:r>
            <a:endParaRPr/>
          </a:p>
          <a:p>
            <a:pPr marL="457200" lvl="0" indent="-317182" algn="l" rtl="0">
              <a:spcBef>
                <a:spcPts val="0"/>
              </a:spcBef>
              <a:spcAft>
                <a:spcPts val="0"/>
              </a:spcAft>
              <a:buSzPct val="100000"/>
              <a:buChar char="•"/>
            </a:pPr>
            <a:r>
              <a:rPr lang="ja" noProof="1"/>
              <a:t>OSPO Performance Evaluation Methods</a:t>
            </a:r>
            <a:endParaRPr/>
          </a:p>
          <a:p>
            <a:pPr marL="914400" lvl="1" indent="-302418" algn="l" rtl="0">
              <a:spcBef>
                <a:spcPts val="0"/>
              </a:spcBef>
              <a:spcAft>
                <a:spcPts val="0"/>
              </a:spcAft>
              <a:buSzPct val="100000"/>
              <a:buChar char="•"/>
            </a:pPr>
            <a:r>
              <a:rPr lang="ja" noProof="1"/>
              <a:t>How to Justify Activities</a:t>
            </a:r>
            <a:endParaRPr/>
          </a:p>
          <a:p>
            <a:pPr marL="914400" lvl="1" indent="-302418" algn="l" rtl="0">
              <a:spcBef>
                <a:spcPts val="0"/>
              </a:spcBef>
              <a:spcAft>
                <a:spcPts val="0"/>
              </a:spcAft>
              <a:buSzPct val="100000"/>
              <a:buChar char="•"/>
            </a:pPr>
            <a:r>
              <a:rPr lang="ja" noProof="1"/>
              <a:t>Percentage of Internal Understanding</a:t>
            </a:r>
            <a:endParaRPr/>
          </a:p>
          <a:p>
            <a:pPr marL="914400" lvl="1" indent="-302418" algn="l" rtl="0">
              <a:spcBef>
                <a:spcPts val="0"/>
              </a:spcBef>
              <a:spcAft>
                <a:spcPts val="0"/>
              </a:spcAft>
              <a:buSzPct val="100000"/>
              <a:buChar char="•"/>
            </a:pPr>
            <a:r>
              <a:rPr lang="ja" noProof="1"/>
              <a:t>How to Demonstrate Business Contribution</a:t>
            </a:r>
            <a:endParaRPr/>
          </a:p>
          <a:p>
            <a:pPr marL="914400" lvl="1" indent="-302418" algn="l" rtl="0">
              <a:spcBef>
                <a:spcPts val="0"/>
              </a:spcBef>
              <a:spcAft>
                <a:spcPts val="0"/>
              </a:spcAft>
              <a:buSzPct val="100000"/>
              <a:buChar char="•"/>
            </a:pPr>
            <a:r>
              <a:rPr lang="ja" noProof="1"/>
              <a:t>Awareness</a:t>
            </a:r>
            <a:endParaRPr/>
          </a:p>
          <a:p>
            <a:pPr marL="457200" lvl="0" indent="-317182" algn="l" rtl="0">
              <a:spcBef>
                <a:spcPts val="0"/>
              </a:spcBef>
              <a:spcAft>
                <a:spcPts val="0"/>
              </a:spcAft>
              <a:buSzPct val="100000"/>
              <a:buChar char="•"/>
            </a:pPr>
            <a:r>
              <a:rPr lang="ja" noProof="1"/>
              <a:t>What is the Start of OSPO?</a:t>
            </a:r>
            <a:endParaRPr/>
          </a:p>
          <a:p>
            <a:pPr marL="914400" lvl="1" indent="-302418" algn="l" rtl="0">
              <a:spcBef>
                <a:spcPts val="0"/>
              </a:spcBef>
              <a:spcAft>
                <a:spcPts val="0"/>
              </a:spcAft>
              <a:buSzPct val="100000"/>
              <a:buChar char="•"/>
            </a:pPr>
            <a:r>
              <a:rPr lang="ja" noProof="1"/>
              <a:t>License Compliance, Education</a:t>
            </a:r>
            <a:endParaRPr/>
          </a:p>
          <a:p>
            <a:pPr marL="457200" lvl="0" indent="-317182" algn="l" rtl="0">
              <a:spcBef>
                <a:spcPts val="0"/>
              </a:spcBef>
              <a:spcAft>
                <a:spcPts val="0"/>
              </a:spcAft>
              <a:buSzPct val="100000"/>
              <a:buChar char="•"/>
            </a:pPr>
            <a:r>
              <a:t> </a:t>
            </a:r>
          </a:p>
          <a:p>
            <a:pPr marL="457200" lvl="0" indent="-317182" algn="l" rtl="0">
              <a:spcBef>
                <a:spcPts val="0"/>
              </a:spcBef>
              <a:spcAft>
                <a:spcPts val="0"/>
              </a:spcAft>
              <a:buSzPct val="100000"/>
              <a:buChar char="•"/>
            </a:pPr>
            <a:r>
              <a:t> </a:t>
            </a:r>
          </a:p>
          <a:p>
            <a:pPr marL="457200" lvl="0" indent="-317182" algn="l" rtl="0">
              <a:spcBef>
                <a:spcPts val="0"/>
              </a:spcBef>
              <a:spcAft>
                <a:spcPts val="0"/>
              </a:spcAft>
              <a:buSzPct val="100000"/>
              <a:buChar char="•"/>
            </a:pPr>
            <a:r>
              <a:rPr lang="ja" noProof="1"/>
              <a:t>Reference: </a:t>
            </a:r>
            <a:r>
              <a:rPr lang="ja" u="sng" noProof="1">
                <a:solidFill>
                  <a:schemeClr val="hlink"/>
                </a:solidFill>
                <a:hlinkClick r:id="rId3"/>
              </a:rPr>
              <a:t>https://ospomindmap.todogroup.org/jp</a:t>
            </a:r>
            <a:endParaRPr/>
          </a:p>
          <a:p>
            <a:pPr marL="457200" lvl="0" indent="-317182" algn="l" rtl="0">
              <a:spcBef>
                <a:spcPts val="0"/>
              </a:spcBef>
              <a:spcAft>
                <a:spcPts val="0"/>
              </a:spcAft>
              <a:buSzPct val="100000"/>
              <a:buChar char="•"/>
            </a:pPr>
            <a:r>
              <a:t> </a:t>
            </a:r>
          </a:p>
        </p:txBody>
      </p:sp>
      <p:sp>
        <p:nvSpPr>
          <p:cNvPr id="101" name="Google Shape;101;p15"/>
          <p:cNvSpPr/>
          <p:nvPr/>
        </p:nvSpPr>
        <p:spPr>
          <a:xfrm>
            <a:off x="7190675" y="325875"/>
            <a:ext cx="15636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noProof="1"/>
              <a:t>2023/12/22 Continuation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6"/>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What is OSPO anyway?</a:t>
            </a:r>
            <a:endParaRPr/>
          </a:p>
        </p:txBody>
      </p:sp>
      <p:sp>
        <p:nvSpPr>
          <p:cNvPr id="107" name="Google Shape;107;p16"/>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92500" lnSpcReduction="20000"/>
          </a:bodyPr>
          <a:lstStyle/>
          <a:p>
            <a:pPr marL="457200" lvl="0" indent="-334327" algn="l" rtl="0">
              <a:spcBef>
                <a:spcPts val="0"/>
              </a:spcBef>
              <a:spcAft>
                <a:spcPts val="0"/>
              </a:spcAft>
              <a:buSzPct val="100000"/>
              <a:buChar char="•"/>
            </a:pPr>
            <a:r>
              <a:rPr lang="ja" noProof="1"/>
              <a:t>OSPO is about working (in various ways) to make the whole organization handle OSS properly.</a:t>
            </a:r>
            <a:endParaRPr/>
          </a:p>
          <a:p>
            <a:pPr marL="457200" lvl="0" indent="-334327" algn="l" rtl="0">
              <a:spcBef>
                <a:spcPts val="0"/>
              </a:spcBef>
              <a:spcAft>
                <a:spcPts val="0"/>
              </a:spcAft>
              <a:buSzPct val="100000"/>
              <a:buChar char="•"/>
            </a:pPr>
            <a:r>
              <a:rPr lang="ja" noProof="1"/>
              <a:t>Is it for the whole organization or just the departments that handle OSS?</a:t>
            </a:r>
            <a:endParaRPr/>
          </a:p>
          <a:p>
            <a:pPr marL="914400" lvl="1" indent="-316706" algn="l" rtl="0">
              <a:spcBef>
                <a:spcPts val="0"/>
              </a:spcBef>
              <a:spcAft>
                <a:spcPts val="0"/>
              </a:spcAft>
              <a:buSzPct val="100000"/>
              <a:buChar char="•"/>
            </a:pPr>
            <a:r>
              <a:rPr lang="ja" noProof="1"/>
              <a:t>Taking DX as an example, IT is used by the whole organization to change == OSS version of this</a:t>
            </a:r>
            <a:endParaRPr/>
          </a:p>
          <a:p>
            <a:pPr marL="914400" lvl="1" indent="-316706" algn="l" rtl="0">
              <a:spcBef>
                <a:spcPts val="0"/>
              </a:spcBef>
              <a:spcAft>
                <a:spcPts val="0"/>
              </a:spcAft>
              <a:buSzPct val="100000"/>
              <a:buChar char="•"/>
            </a:pPr>
            <a:r>
              <a:rPr lang="ja" noProof="1"/>
              <a:t>The whole organization needs to change to fit OSS</a:t>
            </a:r>
            <a:endParaRPr/>
          </a:p>
          <a:p>
            <a:pPr marL="914400" lvl="1" indent="-316706" algn="l" rtl="0">
              <a:spcBef>
                <a:spcPts val="0"/>
              </a:spcBef>
              <a:spcAft>
                <a:spcPts val="0"/>
              </a:spcAft>
              <a:buSzPct val="100000"/>
              <a:buChar char="•"/>
            </a:pPr>
            <a:r>
              <a:rPr lang="ja" noProof="1"/>
              <a:t>Becoming an Open Source Company</a:t>
            </a:r>
            <a:endParaRPr/>
          </a:p>
          <a:p>
            <a:pPr marL="1371600" lvl="2" indent="-299085" algn="l" rtl="0">
              <a:spcBef>
                <a:spcPts val="0"/>
              </a:spcBef>
              <a:spcAft>
                <a:spcPts val="0"/>
              </a:spcAft>
              <a:buSzPct val="100000"/>
              <a:buChar char="•"/>
            </a:pPr>
            <a:r>
              <a:rPr lang="ja" noProof="1"/>
              <a:t>Becoming like RedHat</a:t>
            </a:r>
            <a:endParaRPr/>
          </a:p>
          <a:p>
            <a:pPr marL="1828800" lvl="3" indent="-293211" algn="l" rtl="0">
              <a:spcBef>
                <a:spcPts val="0"/>
              </a:spcBef>
              <a:spcAft>
                <a:spcPts val="0"/>
              </a:spcAft>
              <a:buSzPct val="100000"/>
              <a:buChar char="•"/>
            </a:pPr>
            <a:r>
              <a:rPr lang="ja" noProof="1"/>
              <a:t>The way we develop technology and disseminate information takes the Open Source Community approach</a:t>
            </a:r>
            <a:endParaRPr/>
          </a:p>
          <a:p>
            <a:pPr marL="1828800" lvl="3" indent="-293211" algn="l" rtl="0">
              <a:spcBef>
                <a:spcPts val="0"/>
              </a:spcBef>
              <a:spcAft>
                <a:spcPts val="0"/>
              </a:spcAft>
              <a:buSzPct val="100000"/>
              <a:buChar char="•"/>
            </a:pPr>
            <a:r>
              <a:rPr lang="ja" noProof="1"/>
              <a:t>A company that successfully bridges the organization and the OSS community</a:t>
            </a:r>
            <a:endParaRPr/>
          </a:p>
          <a:p>
            <a:pPr marL="2286000" lvl="4" indent="-293211" algn="l" rtl="0">
              <a:spcBef>
                <a:spcPts val="0"/>
              </a:spcBef>
              <a:spcAft>
                <a:spcPts val="0"/>
              </a:spcAft>
              <a:buSzPct val="100000"/>
              <a:buChar char="•"/>
            </a:pPr>
            <a:r>
              <a:rPr lang="ja" noProof="1"/>
              <a:t>A bridge is an organization that understands and communicates with both corporate and community common sense</a:t>
            </a:r>
            <a:endParaRPr/>
          </a:p>
          <a:p>
            <a:pPr marL="2286000" lvl="4" indent="-293211" algn="l" rtl="0">
              <a:spcBef>
                <a:spcPts val="0"/>
              </a:spcBef>
              <a:spcAft>
                <a:spcPts val="0"/>
              </a:spcAft>
              <a:buSzPct val="100000"/>
              <a:buChar char="•"/>
            </a:pPr>
            <a:r>
              <a:rPr lang="ja" noProof="1"/>
              <a:t>Create a state in which the entire organization, each department, and each person can and is engaged in bridging.</a:t>
            </a:r>
            <a:endParaRPr/>
          </a:p>
          <a:p>
            <a:pPr marL="914400" lvl="1" indent="-316706" algn="l" rtl="0">
              <a:spcBef>
                <a:spcPts val="0"/>
              </a:spcBef>
              <a:spcAft>
                <a:spcPts val="0"/>
              </a:spcAft>
              <a:buSzPct val="100000"/>
              <a:buChar char="•"/>
            </a:pPr>
            <a:r>
              <a:rPr lang="ja" noProof="1"/>
              <a:t>Examples of bridging</a:t>
            </a:r>
            <a:endParaRPr/>
          </a:p>
          <a:p>
            <a:pPr marL="1371600" lvl="2" indent="-299085" algn="l" rtl="0">
              <a:spcBef>
                <a:spcPts val="0"/>
              </a:spcBef>
              <a:spcAft>
                <a:spcPts val="0"/>
              </a:spcAft>
              <a:buSzPct val="100000"/>
              <a:buChar char="•"/>
            </a:pPr>
            <a:r>
              <a:rPr lang="ja" noProof="1"/>
              <a:t>A state in which the planning and development departments can smoothly launch new businesses </a:t>
            </a:r>
            <a:r>
              <a:rPr lang="ja" noProof="1">
                <a:solidFill>
                  <a:schemeClr val="dk1"/>
                </a:solidFill>
              </a:rPr>
              <a:t>using OSS</a:t>
            </a:r>
            <a:r>
              <a:rPr lang="ja" noProof="1"/>
              <a:t> based on their understanding of the OSS community.</a:t>
            </a:r>
            <a:endParaRPr/>
          </a:p>
          <a:p>
            <a:pPr marL="1371600" lvl="2" indent="-299085" algn="l" rtl="0">
              <a:spcBef>
                <a:spcPts val="0"/>
              </a:spcBef>
              <a:spcAft>
                <a:spcPts val="0"/>
              </a:spcAft>
              <a:buSzPct val="100000"/>
              <a:buChar char="•"/>
            </a:pPr>
            <a:r>
              <a:rPr lang="ja" noProof="1"/>
              <a:t>A state in which everyone in the organization understands and practices that OSS contributions are business benefits.</a:t>
            </a:r>
            <a:endParaRPr/>
          </a:p>
          <a:p>
            <a:pPr marL="1828800" lvl="3" indent="-293211" algn="l" rtl="0">
              <a:spcBef>
                <a:spcPts val="0"/>
              </a:spcBef>
              <a:spcAft>
                <a:spcPts val="0"/>
              </a:spcAft>
              <a:buSzPct val="100000"/>
              <a:buChar char="•"/>
            </a:pPr>
            <a:r>
              <a:rPr lang="ja" noProof="1">
                <a:solidFill>
                  <a:schemeClr val="dk1"/>
                </a:solidFill>
              </a:rPr>
              <a:t>A state in which it is explained that OSS contributions are linked to business activities.</a:t>
            </a:r>
            <a:endParaRPr>
              <a:solidFill>
                <a:schemeClr val="dk1"/>
              </a:solidFill>
            </a:endParaRPr>
          </a:p>
          <a:p>
            <a:pPr marL="1371600" lvl="2" indent="-299085" algn="l" rtl="0">
              <a:spcBef>
                <a:spcPts val="0"/>
              </a:spcBef>
              <a:spcAft>
                <a:spcPts val="0"/>
              </a:spcAft>
              <a:buClr>
                <a:schemeClr val="dk1"/>
              </a:buClr>
              <a:buSzPct val="100000"/>
              <a:buChar char="•"/>
            </a:pPr>
            <a:r>
              <a:rPr lang="ja" noProof="1">
                <a:solidFill>
                  <a:schemeClr val="dk1"/>
                </a:solidFill>
              </a:rPr>
              <a:t>As the proportion of OSS in the world increases, business activities need to adjust to changes in the world, and OSS activities are a means to do so.</a:t>
            </a:r>
            <a:endParaRPr>
              <a:solidFill>
                <a:schemeClr val="dk1"/>
              </a:solidFill>
            </a:endParaRPr>
          </a:p>
          <a:p>
            <a:pPr marL="1828800" lvl="3" indent="-293211" algn="l" rtl="0">
              <a:spcBef>
                <a:spcPts val="0"/>
              </a:spcBef>
              <a:spcAft>
                <a:spcPts val="0"/>
              </a:spcAft>
              <a:buClr>
                <a:schemeClr val="dk1"/>
              </a:buClr>
              <a:buSzPct val="100000"/>
              <a:buChar char="•"/>
            </a:pPr>
            <a:r>
              <a:rPr lang="ja" noProof="1">
                <a:solidFill>
                  <a:schemeClr val="dk1"/>
                </a:solidFill>
              </a:rPr>
              <a:t>Response to AI and new regulations (Security, ethics, etc.)</a:t>
            </a:r>
            <a:endParaRPr>
              <a:solidFill>
                <a:schemeClr val="dk1"/>
              </a:solidFill>
            </a:endParaRPr>
          </a:p>
          <a:p>
            <a:pPr marL="1371600" lvl="2" indent="-299085" algn="l" rtl="0">
              <a:spcBef>
                <a:spcPts val="0"/>
              </a:spcBef>
              <a:spcAft>
                <a:spcPts val="0"/>
              </a:spcAft>
              <a:buClr>
                <a:schemeClr val="dk1"/>
              </a:buClr>
              <a:buSzPct val="100000"/>
              <a:buChar char="•"/>
            </a:pPr>
            <a:r>
              <a:rPr lang="ja" noProof="1">
                <a:solidFill>
                  <a:schemeClr val="dk1"/>
                </a:solidFill>
              </a:rPr>
              <a:t>Examples of business benefits</a:t>
            </a:r>
            <a:endParaRPr>
              <a:solidFill>
                <a:schemeClr val="dk1"/>
              </a:solidFill>
            </a:endParaRPr>
          </a:p>
          <a:p>
            <a:pPr marL="1828800" lvl="3" indent="-293211" algn="l" rtl="0">
              <a:spcBef>
                <a:spcPts val="0"/>
              </a:spcBef>
              <a:spcAft>
                <a:spcPts val="0"/>
              </a:spcAft>
              <a:buClr>
                <a:schemeClr val="dk1"/>
              </a:buClr>
              <a:buSzPct val="100000"/>
              <a:buChar char="•"/>
            </a:pPr>
            <a:r>
              <a:rPr lang="ja" noProof="1">
                <a:solidFill>
                  <a:schemeClr val="dk1"/>
                </a:solidFill>
              </a:rPr>
              <a:t>For SoC vendors, OSS activities ensure that the Linux distribution of SoCs is stably maintained in the community for a long time, leading to increased SoC adoption and differentiation.</a:t>
            </a:r>
            <a:endParaRPr>
              <a:solidFill>
                <a:schemeClr val="dk1"/>
              </a:solidFill>
            </a:endParaRPr>
          </a:p>
          <a:p>
            <a:pPr marL="1828800" lvl="3" indent="-293211" algn="l" rtl="0">
              <a:spcBef>
                <a:spcPts val="0"/>
              </a:spcBef>
              <a:spcAft>
                <a:spcPts val="0"/>
              </a:spcAft>
              <a:buClr>
                <a:schemeClr val="dk1"/>
              </a:buClr>
              <a:buSzPct val="100000"/>
              <a:buChar char="•"/>
            </a:pPr>
            <a:r>
              <a:rPr lang="ja" noProof="1">
                <a:solidFill>
                  <a:schemeClr val="dk1"/>
                </a:solidFill>
              </a:rPr>
              <a:t>Open activities are appealing to companies, which is beneficial for product credibility and adoption.</a:t>
            </a:r>
            <a:endParaRPr>
              <a:solidFill>
                <a:schemeClr val="dk1"/>
              </a:solidFill>
            </a:endParaRPr>
          </a:p>
          <a:p>
            <a:pPr marL="1828800" lvl="3" indent="-293211" algn="l" rtl="0">
              <a:spcBef>
                <a:spcPts val="0"/>
              </a:spcBef>
              <a:spcAft>
                <a:spcPts val="0"/>
              </a:spcAft>
              <a:buClr>
                <a:schemeClr val="dk1"/>
              </a:buClr>
              <a:buSzPct val="100000"/>
              <a:buChar char="•"/>
            </a:pPr>
            <a:r>
              <a:rPr lang="ja" noProof="1">
                <a:solidFill>
                  <a:schemeClr val="dk1"/>
                </a:solidFill>
              </a:rPr>
              <a:t>Create a potential market for users by encouraging them to use OSS</a:t>
            </a:r>
            <a:endParaRPr>
              <a:solidFill>
                <a:schemeClr val="dk1"/>
              </a:solidFill>
            </a:endParaRPr>
          </a:p>
          <a:p>
            <a:pPr marL="2286000" lvl="4" indent="-293211" algn="l" rtl="0">
              <a:spcBef>
                <a:spcPts val="0"/>
              </a:spcBef>
              <a:spcAft>
                <a:spcPts val="0"/>
              </a:spcAft>
              <a:buClr>
                <a:schemeClr val="dk1"/>
              </a:buClr>
              <a:buSzPct val="100000"/>
              <a:buChar char="•"/>
            </a:pPr>
            <a:r>
              <a:rPr lang="ja" noProof="1">
                <a:solidFill>
                  <a:schemeClr val="dk1"/>
                </a:solidFill>
              </a:rPr>
              <a:t>Establish a support business by increasing the number of OSS users</a:t>
            </a:r>
            <a:endParaRPr>
              <a:solidFill>
                <a:schemeClr val="dk1"/>
              </a:solidFill>
            </a:endParaRPr>
          </a:p>
          <a:p>
            <a:pPr marL="2286000" lvl="4" indent="-293211" algn="l" rtl="0">
              <a:spcBef>
                <a:spcPts val="0"/>
              </a:spcBef>
              <a:spcAft>
                <a:spcPts val="0"/>
              </a:spcAft>
              <a:buClr>
                <a:schemeClr val="dk1"/>
              </a:buClr>
              <a:buSzPct val="100000"/>
              <a:buChar char="•"/>
            </a:pPr>
            <a:r>
              <a:rPr lang="ja" noProof="1">
                <a:solidFill>
                  <a:schemeClr val="dk1"/>
                </a:solidFill>
              </a:rPr>
              <a:t>Android example</a:t>
            </a:r>
            <a:endParaRPr>
              <a:solidFill>
                <a:schemeClr val="dk1"/>
              </a:solidFill>
            </a:endParaRPr>
          </a:p>
        </p:txBody>
      </p:sp>
      <p:sp>
        <p:nvSpPr>
          <p:cNvPr id="108" name="Google Shape;108;p16"/>
          <p:cNvSpPr/>
          <p:nvPr/>
        </p:nvSpPr>
        <p:spPr>
          <a:xfrm>
            <a:off x="7190675" y="325875"/>
            <a:ext cx="15636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noProof="1"/>
              <a:t>2024/1/26 Continued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7"/>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What is OSPO in the first place?</a:t>
            </a:r>
            <a:endParaRPr/>
          </a:p>
        </p:txBody>
      </p:sp>
      <p:sp>
        <p:nvSpPr>
          <p:cNvPr id="114" name="Google Shape;114;p17"/>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62500" lnSpcReduction="20000"/>
          </a:bodyPr>
          <a:lstStyle/>
          <a:p>
            <a:pPr marL="457200" lvl="0" indent="-300037" algn="l" rtl="0">
              <a:spcBef>
                <a:spcPts val="0"/>
              </a:spcBef>
              <a:spcAft>
                <a:spcPts val="0"/>
              </a:spcAft>
              <a:buSzPct val="100000"/>
              <a:buChar char="•"/>
            </a:pPr>
            <a:r>
              <a:rPr lang="ja" noProof="1">
                <a:solidFill>
                  <a:schemeClr val="dk1"/>
                </a:solidFill>
              </a:rPr>
              <a:t>How about saying "OSPO is the pilot of an organization's OSS Journey"?</a:t>
            </a:r>
            <a:endParaRPr>
              <a:solidFill>
                <a:schemeClr val="dk1"/>
              </a:solidFill>
            </a:endParaRPr>
          </a:p>
          <a:p>
            <a:pPr marL="914400" lvl="1" indent="-288131" algn="l" rtl="0">
              <a:spcBef>
                <a:spcPts val="0"/>
              </a:spcBef>
              <a:spcAft>
                <a:spcPts val="0"/>
              </a:spcAft>
              <a:buClr>
                <a:schemeClr val="dk1"/>
              </a:buClr>
              <a:buSzPct val="100000"/>
              <a:buChar char="•"/>
            </a:pPr>
            <a:r>
              <a:rPr lang="ja" noProof="1">
                <a:solidFill>
                  <a:schemeClr val="dk1"/>
                </a:solidFill>
              </a:rPr>
              <a:t>Each organization's OSS Journey is different</a:t>
            </a:r>
            <a:endParaRPr>
              <a:solidFill>
                <a:schemeClr val="dk1"/>
              </a:solidFill>
            </a:endParaRPr>
          </a:p>
          <a:p>
            <a:pPr marL="914400" lvl="1" indent="-288131" algn="l" rtl="0">
              <a:spcBef>
                <a:spcPts val="0"/>
              </a:spcBef>
              <a:spcAft>
                <a:spcPts val="0"/>
              </a:spcAft>
              <a:buClr>
                <a:schemeClr val="dk1"/>
              </a:buClr>
              <a:buSzPct val="100000"/>
              <a:buChar char="•"/>
            </a:pPr>
            <a:r>
              <a:rPr lang="ja" noProof="1">
                <a:solidFill>
                  <a:schemeClr val="dk1"/>
                </a:solidFill>
              </a:rPr>
              <a:t>I think it's more about supporting and pushing than going ahead and pulling, so the term pilot doesn't fit.</a:t>
            </a:r>
            <a:endParaRPr>
              <a:solidFill>
                <a:schemeClr val="dk1"/>
              </a:solidFill>
            </a:endParaRPr>
          </a:p>
          <a:p>
            <a:pPr marL="457200" lvl="0" indent="-300037" algn="l" rtl="0">
              <a:spcBef>
                <a:spcPts val="0"/>
              </a:spcBef>
              <a:spcAft>
                <a:spcPts val="0"/>
              </a:spcAft>
              <a:buClr>
                <a:schemeClr val="dk1"/>
              </a:buClr>
              <a:buSzPct val="100000"/>
              <a:buChar char="•"/>
            </a:pPr>
            <a:r>
              <a:rPr lang="ja" noProof="1">
                <a:solidFill>
                  <a:schemeClr val="dk1"/>
                </a:solidFill>
              </a:rPr>
              <a:t>There is an organizational direction and strategy, and the role of OSPO is to show how to engage with OSS and the OSS community to achieve that, and to promote that.</a:t>
            </a:r>
            <a:endParaRPr>
              <a:solidFill>
                <a:schemeClr val="dk1"/>
              </a:solidFill>
            </a:endParaRPr>
          </a:p>
          <a:p>
            <a:pPr marL="914400" lvl="1" indent="-288131" algn="l" rtl="0">
              <a:spcBef>
                <a:spcPts val="0"/>
              </a:spcBef>
              <a:spcAft>
                <a:spcPts val="0"/>
              </a:spcAft>
              <a:buClr>
                <a:schemeClr val="dk1"/>
              </a:buClr>
              <a:buSzPct val="100000"/>
              <a:buChar char="•"/>
            </a:pPr>
            <a:r>
              <a:rPr lang="ja" noProof="1">
                <a:solidFill>
                  <a:schemeClr val="dk1"/>
                </a:solidFill>
              </a:rPr>
              <a:t>The actions for that depend on the state (stage) of each organization.</a:t>
            </a:r>
            <a:endParaRPr>
              <a:solidFill>
                <a:schemeClr val="dk1"/>
              </a:solidFill>
            </a:endParaRPr>
          </a:p>
          <a:p>
            <a:pPr marL="914400" lvl="1" indent="-288131" algn="l" rtl="0">
              <a:spcBef>
                <a:spcPts val="0"/>
              </a:spcBef>
              <a:spcAft>
                <a:spcPts val="0"/>
              </a:spcAft>
              <a:buClr>
                <a:schemeClr val="dk1"/>
              </a:buClr>
              <a:buSzPct val="100000"/>
              <a:buChar char="•"/>
            </a:pPr>
            <a:r>
              <a:rPr lang="ja" noProof="1">
                <a:solidFill>
                  <a:schemeClr val="dk1"/>
                </a:solidFill>
              </a:rPr>
              <a:t>For example:</a:t>
            </a:r>
            <a:endParaRPr>
              <a:solidFill>
                <a:schemeClr val="dk1"/>
              </a:solidFill>
            </a:endParaRPr>
          </a:p>
          <a:p>
            <a:pPr marL="1371600" lvl="2" indent="-276225" algn="l" rtl="0">
              <a:spcBef>
                <a:spcPts val="0"/>
              </a:spcBef>
              <a:spcAft>
                <a:spcPts val="0"/>
              </a:spcAft>
              <a:buClr>
                <a:schemeClr val="dk1"/>
              </a:buClr>
              <a:buSzPct val="100000"/>
              <a:buChar char="•"/>
            </a:pPr>
            <a:r>
              <a:rPr lang="ja" noProof="1">
                <a:solidFill>
                  <a:schemeClr val="dk1"/>
                </a:solidFill>
              </a:rPr>
              <a:t>Reach out to existing departments within the organization</a:t>
            </a:r>
            <a:endParaRPr>
              <a:solidFill>
                <a:schemeClr val="dk1"/>
              </a:solidFill>
            </a:endParaRPr>
          </a:p>
          <a:p>
            <a:pPr marL="1371600" lvl="2" indent="-276225" algn="l" rtl="0">
              <a:spcBef>
                <a:spcPts val="0"/>
              </a:spcBef>
              <a:spcAft>
                <a:spcPts val="0"/>
              </a:spcAft>
              <a:buClr>
                <a:schemeClr val="dk1"/>
              </a:buClr>
              <a:buSzPct val="100000"/>
              <a:buChar char="•"/>
            </a:pPr>
            <a:r>
              <a:rPr lang="ja" noProof="1">
                <a:solidFill>
                  <a:schemeClr val="dk1"/>
                </a:solidFill>
              </a:rPr>
              <a:t>OSPO is the link between the Corporate Portfolio and Project Management</a:t>
            </a:r>
            <a:endParaRPr>
              <a:solidFill>
                <a:schemeClr val="dk1"/>
              </a:solidFill>
            </a:endParaRPr>
          </a:p>
          <a:p>
            <a:pPr marL="1371600" lvl="2" indent="-276225" algn="l" rtl="0">
              <a:spcBef>
                <a:spcPts val="0"/>
              </a:spcBef>
              <a:spcAft>
                <a:spcPts val="0"/>
              </a:spcAft>
              <a:buClr>
                <a:schemeClr val="dk1"/>
              </a:buClr>
              <a:buSzPct val="100000"/>
              <a:buChar char="•"/>
            </a:pPr>
            <a:r>
              <a:rPr lang="ja" noProof="1">
                <a:solidFill>
                  <a:schemeClr val="dk1"/>
                </a:solidFill>
              </a:rPr>
              <a:t>Stage 0 demonstrates the need for compliance and broadens the understanding of licensing</a:t>
            </a:r>
            <a:endParaRPr>
              <a:solidFill>
                <a:schemeClr val="dk1"/>
              </a:solidFill>
            </a:endParaRPr>
          </a:p>
          <a:p>
            <a:pPr marL="1371600" lvl="2" indent="-276225" algn="l" rtl="0">
              <a:spcBef>
                <a:spcPts val="0"/>
              </a:spcBef>
              <a:spcAft>
                <a:spcPts val="0"/>
              </a:spcAft>
              <a:buClr>
                <a:schemeClr val="dk1"/>
              </a:buClr>
              <a:buSzPct val="100000"/>
              <a:buChar char="•"/>
            </a:pPr>
            <a:r>
              <a:rPr lang="ja" noProof="1">
                <a:solidFill>
                  <a:schemeClr val="dk1"/>
                </a:solidFill>
              </a:rPr>
              <a:t>In Stage 1, communicate the effect of providing bug fixes to the community.</a:t>
            </a:r>
            <a:endParaRPr>
              <a:solidFill>
                <a:schemeClr val="dk1"/>
              </a:solidFill>
            </a:endParaRPr>
          </a:p>
          <a:p>
            <a:pPr marL="1371600" lvl="2" indent="-276225" algn="l" rtl="0">
              <a:spcBef>
                <a:spcPts val="0"/>
              </a:spcBef>
              <a:spcAft>
                <a:spcPts val="0"/>
              </a:spcAft>
              <a:buClr>
                <a:schemeClr val="dk1"/>
              </a:buClr>
              <a:buSzPct val="100000"/>
              <a:buChar char="•"/>
            </a:pPr>
            <a:r>
              <a:rPr lang="ja" noProof="1">
                <a:solidFill>
                  <a:schemeClr val="dk1"/>
                </a:solidFill>
              </a:rPr>
              <a:t>In Stage 2, show the benefit of sharing development effort (cost) by contributing to OSS. Create an internal structure (system) that facilitates OSS activities.</a:t>
            </a:r>
            <a:endParaRPr>
              <a:solidFill>
                <a:schemeClr val="dk1"/>
              </a:solidFill>
            </a:endParaRPr>
          </a:p>
          <a:p>
            <a:pPr marL="1371600" lvl="2" indent="-276225" algn="l" rtl="0">
              <a:spcBef>
                <a:spcPts val="0"/>
              </a:spcBef>
              <a:spcAft>
                <a:spcPts val="0"/>
              </a:spcAft>
              <a:buClr>
                <a:schemeClr val="dk1"/>
              </a:buClr>
              <a:buSzPct val="100000"/>
              <a:buChar char="•"/>
            </a:pPr>
            <a:r>
              <a:rPr lang="ja" noProof="1">
                <a:solidFill>
                  <a:schemeClr val="dk1"/>
                </a:solidFill>
              </a:rPr>
              <a:t>In Stage 3,</a:t>
            </a:r>
            <a:endParaRPr>
              <a:solidFill>
                <a:schemeClr val="dk1"/>
              </a:solidFill>
            </a:endParaRPr>
          </a:p>
          <a:p>
            <a:pPr marL="1371600" lvl="2" indent="-276225" algn="l" rtl="0">
              <a:spcBef>
                <a:spcPts val="0"/>
              </a:spcBef>
              <a:spcAft>
                <a:spcPts val="0"/>
              </a:spcAft>
              <a:buClr>
                <a:schemeClr val="dk1"/>
              </a:buClr>
              <a:buSzPct val="100000"/>
              <a:buChar char="•"/>
            </a:pPr>
            <a:r>
              <a:rPr lang="ja" noProof="1">
                <a:solidFill>
                  <a:schemeClr val="dk1"/>
                </a:solidFill>
              </a:rPr>
              <a:t>In Stage 4,</a:t>
            </a:r>
            <a:endParaRPr>
              <a:solidFill>
                <a:schemeClr val="dk1"/>
              </a:solidFill>
            </a:endParaRPr>
          </a:p>
          <a:p>
            <a:pPr marL="914400" lvl="1" indent="-288131" algn="l" rtl="0">
              <a:spcBef>
                <a:spcPts val="0"/>
              </a:spcBef>
              <a:spcAft>
                <a:spcPts val="0"/>
              </a:spcAft>
              <a:buClr>
                <a:schemeClr val="dk1"/>
              </a:buClr>
              <a:buSzPct val="100000"/>
              <a:buChar char="•"/>
            </a:pPr>
            <a:r>
              <a:rPr lang="ja" noProof="1">
                <a:solidFill>
                  <a:schemeClr val="dk1"/>
                </a:solidFill>
              </a:rPr>
              <a:t>Each company has a different organization for OSS.</a:t>
            </a:r>
            <a:endParaRPr>
              <a:solidFill>
                <a:schemeClr val="dk1"/>
              </a:solidFill>
            </a:endParaRPr>
          </a:p>
          <a:p>
            <a:pPr marL="457200" lvl="0" indent="-300037" algn="l" rtl="0">
              <a:spcBef>
                <a:spcPts val="0"/>
              </a:spcBef>
              <a:spcAft>
                <a:spcPts val="0"/>
              </a:spcAft>
              <a:buClr>
                <a:schemeClr val="dk1"/>
              </a:buClr>
              <a:buSzPct val="100000"/>
              <a:buChar char="•"/>
            </a:pPr>
            <a:r>
              <a:rPr lang="ja" noProof="1">
                <a:solidFill>
                  <a:schemeClr val="dk1"/>
                </a:solidFill>
              </a:rPr>
              <a:t>We can also discuss what the OSS Journey is.</a:t>
            </a:r>
            <a:endParaRPr>
              <a:solidFill>
                <a:schemeClr val="dk1"/>
              </a:solidFill>
            </a:endParaRPr>
          </a:p>
          <a:p>
            <a:pPr marL="457200" lvl="0" indent="-300037" algn="l" rtl="0">
              <a:spcBef>
                <a:spcPts val="0"/>
              </a:spcBef>
              <a:spcAft>
                <a:spcPts val="0"/>
              </a:spcAft>
              <a:buClr>
                <a:schemeClr val="dk1"/>
              </a:buClr>
              <a:buSzPct val="100000"/>
              <a:buChar char="•"/>
            </a:pPr>
            <a:r>
              <a:rPr lang="ja" noProof="1">
                <a:solidFill>
                  <a:schemeClr val="dk1"/>
                </a:solidFill>
              </a:rPr>
              <a:t>How to explain the OSS Initiative?</a:t>
            </a:r>
            <a:endParaRPr>
              <a:solidFill>
                <a:schemeClr val="dk1"/>
              </a:solidFill>
            </a:endParaRPr>
          </a:p>
          <a:p>
            <a:pPr marL="457200" lvl="0" indent="-300037" algn="l" rtl="0">
              <a:spcBef>
                <a:spcPts val="0"/>
              </a:spcBef>
              <a:spcAft>
                <a:spcPts val="0"/>
              </a:spcAft>
              <a:buClr>
                <a:schemeClr val="dk1"/>
              </a:buClr>
              <a:buSzPct val="100000"/>
              <a:buChar char="•"/>
            </a:pPr>
            <a:r>
              <a:rPr lang="ja" noProof="1">
                <a:solidFill>
                  <a:schemeClr val="dk1"/>
                </a:solidFill>
              </a:rPr>
              <a:t>Communicate Shared Cost well.</a:t>
            </a:r>
            <a:endParaRPr>
              <a:solidFill>
                <a:schemeClr val="dk1"/>
              </a:solidFill>
            </a:endParaRPr>
          </a:p>
          <a:p>
            <a:pPr marL="457200" lvl="0" indent="-300037" algn="l" rtl="0">
              <a:spcBef>
                <a:spcPts val="0"/>
              </a:spcBef>
              <a:spcAft>
                <a:spcPts val="0"/>
              </a:spcAft>
              <a:buClr>
                <a:schemeClr val="dk1"/>
              </a:buClr>
              <a:buSzPct val="100000"/>
              <a:buChar char="•"/>
            </a:pPr>
            <a:r>
              <a:rPr lang="ja" noProof="1">
                <a:solidFill>
                  <a:schemeClr val="dk1"/>
                </a:solidFill>
              </a:rPr>
              <a:t>How to communicate the Program ===&gt; Next time, we'll dig a little deeper!</a:t>
            </a:r>
            <a:endParaRPr>
              <a:solidFill>
                <a:schemeClr val="dk1"/>
              </a:solidFill>
            </a:endParaRPr>
          </a:p>
          <a:p>
            <a:pPr marL="914400" lvl="1" indent="-288131" algn="l" rtl="0">
              <a:spcBef>
                <a:spcPts val="0"/>
              </a:spcBef>
              <a:spcAft>
                <a:spcPts val="0"/>
              </a:spcAft>
              <a:buClr>
                <a:schemeClr val="dk1"/>
              </a:buClr>
              <a:buSzPct val="100000"/>
              <a:buChar char="•"/>
            </a:pPr>
            <a:r>
              <a:rPr lang="ja" noProof="1">
                <a:solidFill>
                  <a:schemeClr val="dk1"/>
                </a:solidFill>
              </a:rPr>
              <a:t>Program is used as a term for PMI=Project Management Institute</a:t>
            </a:r>
            <a:endParaRPr>
              <a:solidFill>
                <a:schemeClr val="dk1"/>
              </a:solidFill>
            </a:endParaRPr>
          </a:p>
          <a:p>
            <a:pPr marL="914400" lvl="1" indent="-288131" algn="l" rtl="0">
              <a:spcBef>
                <a:spcPts val="0"/>
              </a:spcBef>
              <a:spcAft>
                <a:spcPts val="0"/>
              </a:spcAft>
              <a:buClr>
                <a:schemeClr val="dk1"/>
              </a:buClr>
              <a:buSzPct val="100000"/>
              <a:buChar char="•"/>
            </a:pPr>
            <a:r>
              <a:rPr lang="ja" noProof="1">
                <a:solidFill>
                  <a:schemeClr val="dk1"/>
                </a:solidFill>
              </a:rPr>
              <a:t>PMO=Program Management Office: An organization for managing multiple projects successfully</a:t>
            </a:r>
            <a:endParaRPr>
              <a:solidFill>
                <a:schemeClr val="dk1"/>
              </a:solidFill>
            </a:endParaRPr>
          </a:p>
          <a:p>
            <a:pPr marL="914400" lvl="1" indent="-288131" algn="l" rtl="0">
              <a:spcBef>
                <a:spcPts val="0"/>
              </a:spcBef>
              <a:spcAft>
                <a:spcPts val="0"/>
              </a:spcAft>
              <a:buClr>
                <a:schemeClr val="dk1"/>
              </a:buClr>
              <a:buSzPct val="100000"/>
              <a:buChar char="•"/>
            </a:pPr>
            <a:r>
              <a:rPr lang="ja" noProof="1">
                <a:solidFill>
                  <a:schemeClr val="dk1"/>
                </a:solidFill>
              </a:rPr>
              <a:t>PMP site: </a:t>
            </a:r>
            <a:r>
              <a:rPr lang="ja" u="sng" noProof="1">
                <a:solidFill>
                  <a:schemeClr val="hlink"/>
                </a:solidFill>
                <a:hlinkClick r:id="rId3"/>
              </a:rPr>
              <a:t>https://ssaits.jp/promapedia/concepts/project-program-portfolio.html</a:t>
            </a:r>
            <a:endParaRPr>
              <a:solidFill>
                <a:schemeClr val="dk1"/>
              </a:solidFill>
            </a:endParaRPr>
          </a:p>
          <a:p>
            <a:pPr marL="914400" lvl="1" indent="-288131" algn="l" rtl="0">
              <a:spcBef>
                <a:spcPts val="0"/>
              </a:spcBef>
              <a:spcAft>
                <a:spcPts val="0"/>
              </a:spcAft>
              <a:buClr>
                <a:schemeClr val="dk1"/>
              </a:buClr>
              <a:buSzPct val="100000"/>
              <a:buChar char="•"/>
            </a:pPr>
            <a:r>
              <a:rPr lang="ja" noProof="1">
                <a:solidFill>
                  <a:schemeClr val="dk1"/>
                </a:solidFill>
              </a:rPr>
              <a:t>Program = “an officially organized system of services, activities, or opportunities that help people achieve something” from </a:t>
            </a:r>
            <a:r>
              <a:rPr lang="ja" u="sng" noProof="1">
                <a:solidFill>
                  <a:schemeClr val="hlink"/>
                </a:solidFill>
                <a:hlinkClick r:id="rId4"/>
              </a:rPr>
              <a:t>https://dictionary.cambridge.org/ja/dictionary/english/program</a:t>
            </a:r>
            <a:endParaRPr>
              <a:solidFill>
                <a:schemeClr val="dk1"/>
              </a:solidFill>
            </a:endParaRPr>
          </a:p>
          <a:p>
            <a:pPr marL="914400" lvl="1" indent="-288131" algn="l" rtl="0">
              <a:spcBef>
                <a:spcPts val="0"/>
              </a:spcBef>
              <a:spcAft>
                <a:spcPts val="0"/>
              </a:spcAft>
              <a:buClr>
                <a:schemeClr val="dk1"/>
              </a:buClr>
              <a:buSzPct val="100000"/>
              <a:buChar char="•"/>
            </a:pPr>
            <a:r>
              <a:rPr lang="ja" u="sng" noProof="1">
                <a:solidFill>
                  <a:schemeClr val="hlink"/>
                </a:solidFill>
                <a:hlinkClick r:id="rId5"/>
              </a:rPr>
              <a:t>https://ospoglossary.todogroup.org/ospo-definition/</a:t>
            </a:r>
            <a:endParaRPr>
              <a:solidFill>
                <a:schemeClr val="dk1"/>
              </a:solidFill>
            </a:endParaRPr>
          </a:p>
          <a:p>
            <a:pPr marL="457200" lvl="0" indent="-300037" algn="l" rtl="0">
              <a:spcBef>
                <a:spcPts val="0"/>
              </a:spcBef>
              <a:spcAft>
                <a:spcPts val="0"/>
              </a:spcAft>
              <a:buClr>
                <a:schemeClr val="dk1"/>
              </a:buClr>
              <a:buSzPct val="100000"/>
              <a:buChar char="•"/>
            </a:pPr>
            <a:r>
              <a:t> </a:t>
            </a:r>
            <a:endParaRPr>
              <a:solidFill>
                <a:schemeClr val="dk1"/>
              </a:solidFill>
            </a:endParaRPr>
          </a:p>
          <a:p>
            <a:pPr marL="457200" lvl="0" indent="-300037" algn="l" rtl="0">
              <a:spcBef>
                <a:spcPts val="0"/>
              </a:spcBef>
              <a:spcAft>
                <a:spcPts val="0"/>
              </a:spcAft>
              <a:buClr>
                <a:schemeClr val="dk1"/>
              </a:buClr>
              <a:buSzPct val="100000"/>
              <a:buChar char="•"/>
            </a:pPr>
            <a:r>
              <a:rPr lang="ja" noProof="1">
                <a:solidFill>
                  <a:schemeClr val="dk1"/>
                </a:solidFill>
              </a:rPr>
              <a:t>Say, "The role of the OSPO is to understand the changes in the business environment caused by OSS and to help the company adapt to that changing environment."</a:t>
            </a:r>
            <a:endParaRPr>
              <a:solidFill>
                <a:schemeClr val="dk1"/>
              </a:solidFill>
            </a:endParaRPr>
          </a:p>
          <a:p>
            <a:pPr marL="914400" lvl="1" indent="-288131" algn="l" rtl="0">
              <a:spcBef>
                <a:spcPts val="0"/>
              </a:spcBef>
              <a:spcAft>
                <a:spcPts val="0"/>
              </a:spcAft>
              <a:buClr>
                <a:schemeClr val="dk1"/>
              </a:buClr>
              <a:buSzPct val="100000"/>
              <a:buChar char="•"/>
            </a:pPr>
            <a:r>
              <a:rPr lang="ja" noProof="1">
                <a:solidFill>
                  <a:schemeClr val="dk1"/>
                </a:solidFill>
              </a:rPr>
              <a:t>There are stages of adaptation: (1) reacting to immediate change, (2) understanding the context of the change and anticipating and preparing for the next change, (3) thinking about a desired state and creating change to achieve that state, etc.</a:t>
            </a:r>
            <a:endParaRPr>
              <a:solidFill>
                <a:schemeClr val="dk1"/>
              </a:solidFill>
            </a:endParaRPr>
          </a:p>
          <a:p>
            <a:pPr marL="457200" lvl="0" indent="-300037" algn="l" rtl="0">
              <a:spcBef>
                <a:spcPts val="0"/>
              </a:spcBef>
              <a:spcAft>
                <a:spcPts val="0"/>
              </a:spcAft>
              <a:buClr>
                <a:schemeClr val="dk1"/>
              </a:buClr>
              <a:buSzPct val="100000"/>
              <a:buChar char="•"/>
            </a:pPr>
            <a:r>
              <a:rPr lang="ja">
                <a:solidFill>
                  <a:schemeClr val="dk1"/>
                </a:solidFill>
              </a:rPr>
              <a:t> </a:t>
            </a:r>
            <a:r>
              <a:rPr lang="ja" noProof="1">
                <a:solidFill>
                  <a:schemeClr val="dk1"/>
                </a:solidFill>
              </a:rPr>
              <a:t>2/29 Suggestions: Consider how to set up/operate an OSPO</a:t>
            </a:r>
            <a:endParaRPr>
              <a:solidFill>
                <a:schemeClr val="dk1"/>
              </a:solidFill>
            </a:endParaRPr>
          </a:p>
        </p:txBody>
      </p:sp>
      <p:sp>
        <p:nvSpPr>
          <p:cNvPr id="115" name="Google Shape;115;p17"/>
          <p:cNvSpPr/>
          <p:nvPr/>
        </p:nvSpPr>
        <p:spPr>
          <a:xfrm>
            <a:off x="7190675" y="325875"/>
            <a:ext cx="15636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noProof="1"/>
              <a:t>2024/2/16 Continue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8"/>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What is OSPO?</a:t>
            </a:r>
            <a:endParaRPr/>
          </a:p>
        </p:txBody>
      </p:sp>
      <p:sp>
        <p:nvSpPr>
          <p:cNvPr id="121" name="Google Shape;121;p18"/>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lnSpcReduction="10000"/>
          </a:bodyPr>
          <a:lstStyle/>
          <a:p>
            <a:pPr marL="457200" lvl="0" indent="-342900" algn="l" rtl="0">
              <a:spcBef>
                <a:spcPts val="0"/>
              </a:spcBef>
              <a:spcAft>
                <a:spcPts val="0"/>
              </a:spcAft>
              <a:buClr>
                <a:schemeClr val="dk1"/>
              </a:buClr>
              <a:buSzPts val="1800"/>
              <a:buChar char="•"/>
            </a:pPr>
            <a:r>
              <a:rPr lang="ja" noProof="1">
                <a:solidFill>
                  <a:schemeClr val="dk1"/>
                </a:solidFill>
              </a:rPr>
              <a:t>Why don't you say, "</a:t>
            </a:r>
            <a:r>
              <a:rPr lang="ja" noProof="1">
                <a:solidFill>
                  <a:schemeClr val="dk1"/>
                </a:solidFill>
                <a:highlight>
                  <a:srgbClr val="FFFF00"/>
                </a:highlight>
              </a:rPr>
              <a:t>The role of the OSPO is to understand the changes in the business environment caused by OSS and to help the company adapt to that changing environment</a:t>
            </a:r>
            <a:r>
              <a:rPr lang="ja" noProof="1">
                <a:solidFill>
                  <a:schemeClr val="dk1"/>
                </a:solidFill>
              </a:rPr>
              <a:t>."</a:t>
            </a:r>
            <a:endParaRPr>
              <a:solidFill>
                <a:schemeClr val="dk1"/>
              </a:solidFill>
            </a:endParaRPr>
          </a:p>
          <a:p>
            <a:pPr marL="914400" lvl="1" indent="-323850" algn="l" rtl="0">
              <a:spcBef>
                <a:spcPts val="0"/>
              </a:spcBef>
              <a:spcAft>
                <a:spcPts val="0"/>
              </a:spcAft>
              <a:buClr>
                <a:schemeClr val="dk1"/>
              </a:buClr>
              <a:buSzPts val="1500"/>
              <a:buChar char="•"/>
            </a:pPr>
            <a:r>
              <a:rPr lang="ja" noProof="1">
                <a:solidFill>
                  <a:schemeClr val="dk1"/>
                </a:solidFill>
              </a:rPr>
              <a:t>There are stages to adaptation: →"fit and coexist"</a:t>
            </a:r>
            <a:endParaRPr>
              <a:solidFill>
                <a:schemeClr val="dk1"/>
              </a:solidFill>
            </a:endParaRPr>
          </a:p>
          <a:p>
            <a:pPr marL="1371600" lvl="2" indent="-304800" algn="l" rtl="0">
              <a:spcBef>
                <a:spcPts val="0"/>
              </a:spcBef>
              <a:spcAft>
                <a:spcPts val="0"/>
              </a:spcAft>
              <a:buClr>
                <a:schemeClr val="dk1"/>
              </a:buClr>
              <a:buSzPts val="1200"/>
              <a:buChar char="•"/>
            </a:pPr>
            <a:r>
              <a:rPr lang="ja" noProof="1">
                <a:solidFill>
                  <a:schemeClr val="dk1"/>
                </a:solidFill>
              </a:rPr>
              <a:t>① React to changes that directly affect you.</a:t>
            </a:r>
            <a:endParaRPr>
              <a:solidFill>
                <a:schemeClr val="dk1"/>
              </a:solidFill>
            </a:endParaRPr>
          </a:p>
          <a:p>
            <a:pPr marL="1371600" lvl="2" indent="-304800" algn="l" rtl="0">
              <a:spcBef>
                <a:spcPts val="0"/>
              </a:spcBef>
              <a:spcAft>
                <a:spcPts val="0"/>
              </a:spcAft>
              <a:buClr>
                <a:schemeClr val="dk1"/>
              </a:buClr>
              <a:buSzPts val="1200"/>
              <a:buChar char="•"/>
            </a:pPr>
            <a:r>
              <a:rPr lang="ja" noProof="1">
                <a:solidFill>
                  <a:schemeClr val="dk1"/>
                </a:solidFill>
              </a:rPr>
              <a:t>② Understand the context of the change, anticipate and prepare for the next change.</a:t>
            </a:r>
            <a:endParaRPr>
              <a:solidFill>
                <a:schemeClr val="dk1"/>
              </a:solidFill>
            </a:endParaRPr>
          </a:p>
          <a:p>
            <a:pPr marL="1371600" lvl="2" indent="-304800" algn="l" rtl="0">
              <a:spcBef>
                <a:spcPts val="0"/>
              </a:spcBef>
              <a:spcAft>
                <a:spcPts val="0"/>
              </a:spcAft>
              <a:buClr>
                <a:schemeClr val="dk1"/>
              </a:buClr>
              <a:buSzPts val="1200"/>
              <a:buChar char="•"/>
            </a:pPr>
            <a:r>
              <a:rPr lang="ja" noProof="1">
                <a:solidFill>
                  <a:schemeClr val="dk1"/>
                </a:solidFill>
              </a:rPr>
              <a:t>③ Think about the desired state and create changes to achieve that state.</a:t>
            </a:r>
            <a:endParaRPr>
              <a:solidFill>
                <a:schemeClr val="dk1"/>
              </a:solidFill>
            </a:endParaRPr>
          </a:p>
          <a:p>
            <a:pPr marL="1371600" lvl="2" indent="-304800" algn="l" rtl="0">
              <a:spcBef>
                <a:spcPts val="0"/>
              </a:spcBef>
              <a:spcAft>
                <a:spcPts val="0"/>
              </a:spcAft>
              <a:buClr>
                <a:schemeClr val="dk1"/>
              </a:buClr>
              <a:buSzPts val="1200"/>
              <a:buChar char="•"/>
            </a:pPr>
            <a:r>
              <a:rPr lang="ja" noProof="1">
                <a:solidFill>
                  <a:schemeClr val="dk1"/>
                </a:solidFill>
              </a:rPr>
              <a:t>etc.</a:t>
            </a:r>
            <a:endParaRPr>
              <a:solidFill>
                <a:schemeClr val="dk1"/>
              </a:solidFill>
            </a:endParaRPr>
          </a:p>
          <a:p>
            <a:pPr marL="914400" lvl="1" indent="-323850" algn="l" rtl="0">
              <a:spcBef>
                <a:spcPts val="0"/>
              </a:spcBef>
              <a:spcAft>
                <a:spcPts val="0"/>
              </a:spcAft>
              <a:buClr>
                <a:schemeClr val="dk1"/>
              </a:buClr>
              <a:buSzPts val="1500"/>
              <a:buChar char="•"/>
            </a:pPr>
            <a:r>
              <a:rPr lang="ja" noProof="1">
                <a:solidFill>
                  <a:schemeClr val="dk1"/>
                </a:solidFill>
              </a:rPr>
              <a:t>At a certain stage, OSPO acts as a bridge between the community and the organization.</a:t>
            </a:r>
            <a:endParaRPr>
              <a:solidFill>
                <a:schemeClr val="dk1"/>
              </a:solidFill>
            </a:endParaRPr>
          </a:p>
          <a:p>
            <a:pPr marL="914400" lvl="1" indent="-323850" algn="l" rtl="0">
              <a:spcBef>
                <a:spcPts val="0"/>
              </a:spcBef>
              <a:spcAft>
                <a:spcPts val="0"/>
              </a:spcAft>
              <a:buClr>
                <a:schemeClr val="dk1"/>
              </a:buClr>
              <a:buSzPts val="1500"/>
              <a:buChar char="•"/>
            </a:pPr>
            <a:r>
              <a:rPr lang="ja" noProof="1">
                <a:solidFill>
                  <a:schemeClr val="dk1"/>
                </a:solidFill>
              </a:rPr>
              <a:t>By promoting human resources involvement in the OSS community, it becomes possible to bridge activities such as recruitment.</a:t>
            </a:r>
            <a:endParaRPr>
              <a:solidFill>
                <a:schemeClr val="dk1"/>
              </a:solidFill>
            </a:endParaRPr>
          </a:p>
          <a:p>
            <a:pPr marL="1371600" lvl="2" indent="-304800" algn="l" rtl="0">
              <a:spcBef>
                <a:spcPts val="0"/>
              </a:spcBef>
              <a:spcAft>
                <a:spcPts val="0"/>
              </a:spcAft>
              <a:buClr>
                <a:schemeClr val="dk1"/>
              </a:buClr>
              <a:buSzPts val="1200"/>
              <a:buChar char="•"/>
            </a:pPr>
            <a:r>
              <a:rPr lang="ja" noProof="1">
                <a:solidFill>
                  <a:schemeClr val="dk1"/>
                </a:solidFill>
              </a:rPr>
              <a:t>Distribute company flyers in the community, become a sponsor, etc.</a:t>
            </a:r>
            <a:endParaRPr>
              <a:solidFill>
                <a:schemeClr val="dk1"/>
              </a:solidFill>
            </a:endParaRPr>
          </a:p>
          <a:p>
            <a:pPr marL="457200" lvl="0" indent="-342900" algn="l" rtl="0">
              <a:spcBef>
                <a:spcPts val="0"/>
              </a:spcBef>
              <a:spcAft>
                <a:spcPts val="0"/>
              </a:spcAft>
              <a:buClr>
                <a:schemeClr val="dk1"/>
              </a:buClr>
              <a:buSzPts val="1800"/>
              <a:buChar char="•"/>
            </a:pPr>
            <a:r>
              <a:rPr lang="ja" noProof="1">
                <a:solidFill>
                  <a:schemeClr val="dk1"/>
                </a:solidFill>
              </a:rPr>
              <a:t>The distance between the OSS world and the company depends on how the company understands OSS.</a:t>
            </a:r>
            <a:endParaRPr>
              <a:solidFill>
                <a:schemeClr val="dk1"/>
              </a:solidFill>
            </a:endParaRPr>
          </a:p>
          <a:p>
            <a:pPr marL="914400" lvl="1" indent="-323850" algn="l" rtl="0">
              <a:spcBef>
                <a:spcPts val="0"/>
              </a:spcBef>
              <a:spcAft>
                <a:spcPts val="0"/>
              </a:spcAft>
              <a:buClr>
                <a:schemeClr val="dk1"/>
              </a:buClr>
              <a:buSzPts val="1500"/>
              <a:buChar char="•"/>
            </a:pPr>
            <a:r>
              <a:rPr lang="ja" noProof="1">
                <a:solidFill>
                  <a:schemeClr val="dk1"/>
                </a:solidFill>
              </a:rPr>
              <a:t>As the maturity stage increases, the distance decreases.</a:t>
            </a:r>
            <a:endParaRPr>
              <a:solidFill>
                <a:schemeClr val="dk1"/>
              </a:solidFill>
            </a:endParaRPr>
          </a:p>
          <a:p>
            <a:pPr marL="914400" lvl="1" indent="-323850" algn="l" rtl="0">
              <a:spcBef>
                <a:spcPts val="0"/>
              </a:spcBef>
              <a:spcAft>
                <a:spcPts val="0"/>
              </a:spcAft>
              <a:buClr>
                <a:schemeClr val="dk1"/>
              </a:buClr>
              <a:buSzPts val="1500"/>
              <a:buChar char="•"/>
            </a:pPr>
            <a:r>
              <a:rPr lang="ja" noProof="1">
                <a:solidFill>
                  <a:schemeClr val="dk1"/>
                </a:solidFill>
              </a:rPr>
              <a:t>At first, the distance decreases, but the company gradually enters the OSS world.</a:t>
            </a:r>
            <a:endParaRPr>
              <a:solidFill>
                <a:schemeClr val="dk1"/>
              </a:solidFill>
            </a:endParaRPr>
          </a:p>
          <a:p>
            <a:pPr marL="914400" lvl="1" indent="-323850" algn="l" rtl="0">
              <a:spcBef>
                <a:spcPts val="0"/>
              </a:spcBef>
              <a:spcAft>
                <a:spcPts val="0"/>
              </a:spcAft>
              <a:buClr>
                <a:schemeClr val="dk1"/>
              </a:buClr>
              <a:buSzPts val="1500"/>
              <a:buChar char="•"/>
            </a:pPr>
            <a:r>
              <a:rPr lang="ja" noProof="1">
                <a:solidFill>
                  <a:schemeClr val="dk1"/>
                </a:solidFill>
              </a:rPr>
              <a:t>How you enter and how big you are is your OSS strategy.</a:t>
            </a:r>
            <a:endParaRPr>
              <a:solidFill>
                <a:schemeClr val="dk1"/>
              </a:solidFill>
            </a:endParaRPr>
          </a:p>
          <a:p>
            <a:pPr marL="457200" lvl="0" indent="-342900" algn="l" rtl="0">
              <a:spcBef>
                <a:spcPts val="0"/>
              </a:spcBef>
              <a:spcAft>
                <a:spcPts val="0"/>
              </a:spcAft>
              <a:buClr>
                <a:schemeClr val="dk1"/>
              </a:buClr>
              <a:buSzPts val="1800"/>
              <a:buChar char="•"/>
            </a:pPr>
            <a:r>
              <a:rPr lang="ja">
                <a:solidFill>
                  <a:schemeClr val="dk1"/>
                </a:solidFill>
              </a:rPr>
              <a:t> </a:t>
            </a:r>
            <a:r>
              <a:rPr lang="ja" noProof="1">
                <a:solidFill>
                  <a:schemeClr val="dk1"/>
                </a:solidFill>
              </a:rPr>
              <a:t>2/29 Suggestions: Consider how to launch/operate OSPO: OSPO Strategy</a:t>
            </a:r>
            <a:endParaRPr>
              <a:solidFill>
                <a:schemeClr val="dk1"/>
              </a:solidFill>
            </a:endParaRPr>
          </a:p>
        </p:txBody>
      </p:sp>
      <p:sp>
        <p:nvSpPr>
          <p:cNvPr id="122" name="Google Shape;122;p18"/>
          <p:cNvSpPr/>
          <p:nvPr/>
        </p:nvSpPr>
        <p:spPr>
          <a:xfrm>
            <a:off x="7190675" y="325875"/>
            <a:ext cx="15636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noProof="1"/>
              <a:t>2024/3/22 Continue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9"/>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OSPO Strategy: </a:t>
            </a:r>
            <a:r>
              <a:rPr lang="ja" sz="1120" noProof="1">
                <a:latin typeface="Arial"/>
                <a:ea typeface="Arial"/>
                <a:cs typeface="Arial"/>
                <a:sym typeface="Arial"/>
              </a:rPr>
              <a:t>How to launch OSPO/Strategy</a:t>
            </a:r>
            <a:endParaRPr/>
          </a:p>
        </p:txBody>
      </p:sp>
      <p:sp>
        <p:nvSpPr>
          <p:cNvPr id="128" name="Google Shape;128;p19"/>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lnSpcReduction="10000"/>
          </a:bodyPr>
          <a:lstStyle/>
          <a:p>
            <a:pPr marL="457200" lvl="0" indent="-342900" algn="l" rtl="0">
              <a:spcBef>
                <a:spcPts val="0"/>
              </a:spcBef>
              <a:spcAft>
                <a:spcPts val="0"/>
              </a:spcAft>
              <a:buClr>
                <a:schemeClr val="dk1"/>
              </a:buClr>
              <a:buSzPts val="1800"/>
              <a:buChar char="•"/>
            </a:pPr>
            <a:r>
              <a:rPr lang="ja" noProof="1">
                <a:solidFill>
                  <a:schemeClr val="dk1"/>
                </a:solidFill>
              </a:rPr>
              <a:t>Stage 0 → 1 Strategy</a:t>
            </a:r>
            <a:endParaRPr>
              <a:solidFill>
                <a:schemeClr val="dk1"/>
              </a:solidFill>
            </a:endParaRPr>
          </a:p>
          <a:p>
            <a:pPr marL="914400" lvl="1" indent="-323850" algn="l" rtl="0">
              <a:spcBef>
                <a:spcPts val="0"/>
              </a:spcBef>
              <a:spcAft>
                <a:spcPts val="0"/>
              </a:spcAft>
              <a:buClr>
                <a:schemeClr val="dk1"/>
              </a:buClr>
              <a:buSzPts val="1500"/>
              <a:buChar char="•"/>
            </a:pPr>
            <a:r>
              <a:rPr lang="ja" noProof="1">
                <a:solidFill>
                  <a:schemeClr val="dk1"/>
                </a:solidFill>
              </a:rPr>
              <a:t>Communicate cases of lawsuits</a:t>
            </a:r>
            <a:endParaRPr>
              <a:solidFill>
                <a:schemeClr val="dk1"/>
              </a:solidFill>
            </a:endParaRPr>
          </a:p>
          <a:p>
            <a:pPr marL="914400" lvl="1" indent="-323850" algn="l" rtl="0">
              <a:spcBef>
                <a:spcPts val="0"/>
              </a:spcBef>
              <a:spcAft>
                <a:spcPts val="0"/>
              </a:spcAft>
              <a:buClr>
                <a:schemeClr val="dk1"/>
              </a:buClr>
              <a:buSzPts val="1500"/>
              <a:buChar char="•"/>
            </a:pPr>
            <a:r>
              <a:rPr lang="ja" noProof="1">
                <a:solidFill>
                  <a:schemeClr val="dk1"/>
                </a:solidFill>
              </a:rPr>
              <a:t>Experience pain and keenly feel the need</a:t>
            </a:r>
            <a:endParaRPr>
              <a:solidFill>
                <a:schemeClr val="dk1"/>
              </a:solidFill>
            </a:endParaRPr>
          </a:p>
          <a:p>
            <a:pPr marL="457200" lvl="0" indent="-342900" algn="l" rtl="0">
              <a:spcBef>
                <a:spcPts val="0"/>
              </a:spcBef>
              <a:spcAft>
                <a:spcPts val="0"/>
              </a:spcAft>
              <a:buClr>
                <a:schemeClr val="dk1"/>
              </a:buClr>
              <a:buSzPts val="1800"/>
              <a:buChar char="•"/>
            </a:pPr>
            <a:r>
              <a:rPr lang="ja" noProof="1">
                <a:solidFill>
                  <a:schemeClr val="dk1"/>
                </a:solidFill>
              </a:rPr>
              <a:t>Identify issues related to OSS, see the overall sense, and then decide on the priority of efforts</a:t>
            </a:r>
            <a:endParaRPr>
              <a:solidFill>
                <a:schemeClr val="dk1"/>
              </a:solidFill>
            </a:endParaRPr>
          </a:p>
          <a:p>
            <a:pPr marL="914400" lvl="1" indent="-323850" algn="l" rtl="0">
              <a:spcBef>
                <a:spcPts val="0"/>
              </a:spcBef>
              <a:spcAft>
                <a:spcPts val="0"/>
              </a:spcAft>
              <a:buClr>
                <a:schemeClr val="dk1"/>
              </a:buClr>
              <a:buSzPts val="1500"/>
              <a:buChar char="•"/>
            </a:pPr>
            <a:r>
              <a:rPr lang="ja" noProof="1">
                <a:solidFill>
                  <a:schemeClr val="dk1"/>
                </a:solidFill>
              </a:rPr>
              <a:t>If you chase the issues in front of you, you will be in a state of mist, with no end in sight</a:t>
            </a:r>
            <a:endParaRPr>
              <a:solidFill>
                <a:schemeClr val="dk1"/>
              </a:solidFill>
            </a:endParaRPr>
          </a:p>
          <a:p>
            <a:pPr marL="914400" lvl="1" indent="-323850" algn="l" rtl="0">
              <a:spcBef>
                <a:spcPts val="0"/>
              </a:spcBef>
              <a:spcAft>
                <a:spcPts val="0"/>
              </a:spcAft>
              <a:buClr>
                <a:schemeClr val="dk1"/>
              </a:buClr>
              <a:buSzPts val="1500"/>
              <a:buChar char="•"/>
            </a:pPr>
            <a:r>
              <a:rPr lang="ja" noProof="1">
                <a:solidFill>
                  <a:schemeClr val="dk1"/>
                </a:solidFill>
              </a:rPr>
              <a:t>It is easier to do if you first grasp the overall sense</a:t>
            </a:r>
            <a:endParaRPr>
              <a:solidFill>
                <a:schemeClr val="dk1"/>
              </a:solidFill>
            </a:endParaRPr>
          </a:p>
          <a:p>
            <a:pPr marL="457200" lvl="0" indent="-342900" algn="l" rtl="0">
              <a:spcBef>
                <a:spcPts val="0"/>
              </a:spcBef>
              <a:spcAft>
                <a:spcPts val="0"/>
              </a:spcAft>
              <a:buClr>
                <a:schemeClr val="dk1"/>
              </a:buClr>
              <a:buSzPts val="1800"/>
              <a:buChar char="•"/>
            </a:pPr>
            <a:r>
              <a:rPr lang="ja" noProof="1">
                <a:solidFill>
                  <a:schemeClr val="dk1"/>
                </a:solidFill>
              </a:rPr>
              <a:t>When you want to create an OSPO, you need an OSS strategy</a:t>
            </a:r>
            <a:endParaRPr>
              <a:solidFill>
                <a:schemeClr val="dk1"/>
              </a:solidFill>
            </a:endParaRPr>
          </a:p>
          <a:p>
            <a:pPr marL="914400" lvl="1" indent="-323850" algn="l" rtl="0">
              <a:spcBef>
                <a:spcPts val="0"/>
              </a:spcBef>
              <a:spcAft>
                <a:spcPts val="0"/>
              </a:spcAft>
              <a:buClr>
                <a:schemeClr val="dk1"/>
              </a:buClr>
              <a:buSzPts val="1500"/>
              <a:buChar char="•"/>
            </a:pPr>
            <a:r>
              <a:rPr lang="ja" noProof="1">
                <a:solidFill>
                  <a:schemeClr val="dk1"/>
                </a:solidFill>
              </a:rPr>
              <a:t>But it is not easy to create a strategy</a:t>
            </a:r>
            <a:endParaRPr>
              <a:solidFill>
                <a:schemeClr val="dk1"/>
              </a:solidFill>
            </a:endParaRPr>
          </a:p>
          <a:p>
            <a:pPr marL="914400" lvl="1" indent="-323850" algn="l" rtl="0">
              <a:spcBef>
                <a:spcPts val="0"/>
              </a:spcBef>
              <a:spcAft>
                <a:spcPts val="0"/>
              </a:spcAft>
              <a:buClr>
                <a:schemeClr val="dk1"/>
              </a:buClr>
              <a:buSzPts val="1500"/>
              <a:buChar char="•"/>
            </a:pPr>
            <a:r>
              <a:rPr lang="ja" noProof="1">
                <a:solidFill>
                  <a:schemeClr val="dk1"/>
                </a:solidFill>
              </a:rPr>
              <a:t>What does an OSPO do to realize an example of an OSS strategy</a:t>
            </a:r>
            <a:endParaRPr>
              <a:solidFill>
                <a:schemeClr val="dk1"/>
              </a:solidFill>
            </a:endParaRPr>
          </a:p>
          <a:p>
            <a:pPr marL="457200" lvl="0" indent="-342900" algn="l" rtl="0">
              <a:spcBef>
                <a:spcPts val="0"/>
              </a:spcBef>
              <a:spcAft>
                <a:spcPts val="0"/>
              </a:spcAft>
              <a:buClr>
                <a:schemeClr val="dk1"/>
              </a:buClr>
              <a:buSzPts val="1800"/>
              <a:buChar char="•"/>
            </a:pPr>
            <a:r>
              <a:rPr lang="ja" noProof="1">
                <a:solidFill>
                  <a:schemeClr val="dk1"/>
                </a:solidFill>
              </a:rPr>
              <a:t>Strategy Consider what OSPO will do to implement the OSS strategy of the next company (Development and sales company of products such as TVs and cameras)</a:t>
            </a:r>
            <a:endParaRPr>
              <a:solidFill>
                <a:schemeClr val="dk1"/>
              </a:solidFill>
            </a:endParaRPr>
          </a:p>
          <a:p>
            <a:pPr marL="914400" lvl="1" indent="-323850" algn="l" rtl="0">
              <a:spcBef>
                <a:spcPts val="0"/>
              </a:spcBef>
              <a:spcAft>
                <a:spcPts val="0"/>
              </a:spcAft>
              <a:buClr>
                <a:schemeClr val="dk1"/>
              </a:buClr>
              <a:buSzPts val="1500"/>
              <a:buChar char="•"/>
            </a:pPr>
            <a:r>
              <a:rPr lang="ja" noProof="1">
                <a:solidFill>
                  <a:schemeClr val="dk1"/>
                </a:solidFill>
              </a:rPr>
              <a:t>What is the OSS strategy of this company?</a:t>
            </a:r>
            <a:endParaRPr>
              <a:solidFill>
                <a:schemeClr val="dk1"/>
              </a:solidFill>
            </a:endParaRPr>
          </a:p>
          <a:p>
            <a:pPr marL="1371600" lvl="2" indent="-304800" algn="l" rtl="0">
              <a:spcBef>
                <a:spcPts val="0"/>
              </a:spcBef>
              <a:spcAft>
                <a:spcPts val="0"/>
              </a:spcAft>
              <a:buClr>
                <a:schemeClr val="dk1"/>
              </a:buClr>
              <a:buSzPts val="1200"/>
              <a:buChar char="•"/>
            </a:pPr>
            <a:r>
              <a:rPr lang="ja" noProof="1">
                <a:solidFill>
                  <a:schemeClr val="dk1"/>
                </a:solidFill>
              </a:rPr>
              <a:t>Contribute defect fixes</a:t>
            </a:r>
            <a:endParaRPr>
              <a:solidFill>
                <a:schemeClr val="dk1"/>
              </a:solidFill>
            </a:endParaRPr>
          </a:p>
          <a:p>
            <a:pPr marL="1371600" lvl="2" indent="-304800" algn="l" rtl="0">
              <a:spcBef>
                <a:spcPts val="0"/>
              </a:spcBef>
              <a:spcAft>
                <a:spcPts val="0"/>
              </a:spcAft>
              <a:buClr>
                <a:schemeClr val="dk1"/>
              </a:buClr>
              <a:buSzPts val="1200"/>
              <a:buChar char="•"/>
            </a:pPr>
            <a:r>
              <a:rPr lang="ja" noProof="1">
                <a:solidFill>
                  <a:schemeClr val="dk1"/>
                </a:solidFill>
              </a:rPr>
              <a:t>Compliance</a:t>
            </a:r>
            <a:endParaRPr>
              <a:solidFill>
                <a:schemeClr val="dk1"/>
              </a:solidFill>
            </a:endParaRPr>
          </a:p>
          <a:p>
            <a:pPr marL="1371600" lvl="2" indent="-304800" algn="l" rtl="0">
              <a:spcBef>
                <a:spcPts val="0"/>
              </a:spcBef>
              <a:spcAft>
                <a:spcPts val="0"/>
              </a:spcAft>
              <a:buClr>
                <a:schemeClr val="dk1"/>
              </a:buClr>
              <a:buSzPts val="1200"/>
              <a:buChar char="•"/>
            </a:pPr>
            <a:r>
              <a:rPr lang="ja" noProof="1">
                <a:solidFill>
                  <a:schemeClr val="dk1"/>
                </a:solidFill>
              </a:rPr>
              <a:t>Keep up with version upgrades</a:t>
            </a:r>
            <a:endParaRPr>
              <a:solidFill>
                <a:schemeClr val="dk1"/>
              </a:solidFill>
            </a:endParaRPr>
          </a:p>
          <a:p>
            <a:pPr marL="1371600" lvl="2" indent="-304800" algn="l" rtl="0">
              <a:spcBef>
                <a:spcPts val="0"/>
              </a:spcBef>
              <a:spcAft>
                <a:spcPts val="0"/>
              </a:spcAft>
              <a:buClr>
                <a:schemeClr val="dk1"/>
              </a:buClr>
              <a:buSzPts val="1200"/>
              <a:buChar char="•"/>
            </a:pPr>
            <a:r>
              <a:t> </a:t>
            </a:r>
            <a:endParaRPr>
              <a:solidFill>
                <a:schemeClr val="dk1"/>
              </a:solidFill>
            </a:endParaRPr>
          </a:p>
        </p:txBody>
      </p:sp>
      <p:sp>
        <p:nvSpPr>
          <p:cNvPr id="129" name="Google Shape;129;p19"/>
          <p:cNvSpPr/>
          <p:nvPr/>
        </p:nvSpPr>
        <p:spPr>
          <a:xfrm>
            <a:off x="7190675" y="325875"/>
            <a:ext cx="15636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noProof="1"/>
              <a:t>2024/3/22 Continued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0"/>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Open Source Program What is a Program in Office?</a:t>
            </a:r>
            <a:endParaRPr/>
          </a:p>
        </p:txBody>
      </p:sp>
      <p:sp>
        <p:nvSpPr>
          <p:cNvPr id="135" name="Google Shape;135;p20"/>
          <p:cNvSpPr/>
          <p:nvPr/>
        </p:nvSpPr>
        <p:spPr>
          <a:xfrm>
            <a:off x="7190675" y="325875"/>
            <a:ext cx="15636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noProof="1"/>
              <a:t>2024/4/26</a:t>
            </a:r>
            <a:endParaRPr/>
          </a:p>
        </p:txBody>
      </p:sp>
      <p:sp>
        <p:nvSpPr>
          <p:cNvPr id="136" name="Google Shape;136;p20"/>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a:bodyPr>
          <a:lstStyle/>
          <a:p>
            <a:pPr marL="457200" lvl="0" indent="-342900" algn="l" rtl="0">
              <a:spcBef>
                <a:spcPts val="0"/>
              </a:spcBef>
              <a:spcAft>
                <a:spcPts val="0"/>
              </a:spcAft>
              <a:buClr>
                <a:schemeClr val="dk1"/>
              </a:buClr>
              <a:buSzPts val="1800"/>
              <a:buChar char="•"/>
            </a:pPr>
            <a:r>
              <a:rPr lang="ja" noProof="1">
                <a:solidFill>
                  <a:schemeClr val="dk1"/>
                </a:solidFill>
              </a:rPr>
              <a:t>Participants: 7</a:t>
            </a:r>
            <a:endParaRPr>
              <a:solidFill>
                <a:schemeClr val="dk1"/>
              </a:solidFill>
            </a:endParaRPr>
          </a:p>
          <a:p>
            <a:pPr marL="457200" lvl="0" indent="-342900" algn="l" rtl="0">
              <a:spcBef>
                <a:spcPts val="0"/>
              </a:spcBef>
              <a:spcAft>
                <a:spcPts val="0"/>
              </a:spcAft>
              <a:buClr>
                <a:schemeClr val="dk1"/>
              </a:buClr>
              <a:buSzPts val="1800"/>
              <a:buChar char="•"/>
            </a:pPr>
            <a:r>
              <a:rPr lang="ja" noProof="1">
                <a:solidFill>
                  <a:schemeClr val="dk1"/>
                </a:solidFill>
              </a:rPr>
              <a:t>Portfolio, Program, Project</a:t>
            </a:r>
            <a:endParaRPr>
              <a:solidFill>
                <a:schemeClr val="dk1"/>
              </a:solidFill>
            </a:endParaRPr>
          </a:p>
          <a:p>
            <a:pPr marL="457200" lvl="0" indent="-342900" algn="l" rtl="0">
              <a:spcBef>
                <a:spcPts val="0"/>
              </a:spcBef>
              <a:spcAft>
                <a:spcPts val="0"/>
              </a:spcAft>
              <a:buClr>
                <a:schemeClr val="dk1"/>
              </a:buClr>
              <a:buSzPts val="1800"/>
              <a:buChar char="•"/>
            </a:pPr>
            <a:r>
              <a:rPr lang="ja" noProof="1">
                <a:solidFill>
                  <a:schemeClr val="dk1"/>
                </a:solidFill>
              </a:rPr>
              <a:t>Project-Product</a:t>
            </a:r>
            <a:endParaRPr>
              <a:solidFill>
                <a:schemeClr val="dk1"/>
              </a:solidFill>
            </a:endParaRPr>
          </a:p>
          <a:p>
            <a:pPr marL="457200" lvl="0" indent="-342900" algn="l" rtl="0">
              <a:spcBef>
                <a:spcPts val="0"/>
              </a:spcBef>
              <a:spcAft>
                <a:spcPts val="0"/>
              </a:spcAft>
              <a:buClr>
                <a:schemeClr val="dk1"/>
              </a:buClr>
              <a:buSzPts val="1800"/>
              <a:buChar char="•"/>
            </a:pPr>
            <a:r>
              <a:rPr lang="ja" noProof="1">
                <a:solidFill>
                  <a:schemeClr val="dk1"/>
                </a:solidFill>
              </a:rPr>
              <a:t>Project is where the output comes out, Program is where the outcome comes out</a:t>
            </a:r>
            <a:endParaRPr>
              <a:solidFill>
                <a:schemeClr val="dk1"/>
              </a:solidFill>
            </a:endParaRPr>
          </a:p>
          <a:p>
            <a:pPr marL="457200" lvl="0" indent="-342900" algn="l" rtl="0">
              <a:spcBef>
                <a:spcPts val="0"/>
              </a:spcBef>
              <a:spcAft>
                <a:spcPts val="0"/>
              </a:spcAft>
              <a:buClr>
                <a:schemeClr val="dk1"/>
              </a:buClr>
              <a:buSzPts val="1800"/>
              <a:buChar char="•"/>
            </a:pPr>
            <a:r>
              <a:rPr lang="ja" noProof="1">
                <a:solidFill>
                  <a:schemeClr val="dk1"/>
                </a:solidFill>
              </a:rPr>
              <a:t>OSPO operates in different scopes within the company.</a:t>
            </a:r>
            <a:endParaRPr>
              <a:solidFill>
                <a:schemeClr val="dk1"/>
              </a:solidFill>
            </a:endParaRPr>
          </a:p>
          <a:p>
            <a:pPr marL="914400" lvl="1" indent="-323850" algn="l" rtl="0">
              <a:spcBef>
                <a:spcPts val="0"/>
              </a:spcBef>
              <a:spcAft>
                <a:spcPts val="0"/>
              </a:spcAft>
              <a:buClr>
                <a:schemeClr val="dk1"/>
              </a:buClr>
              <a:buSzPts val="1500"/>
              <a:buChar char="•"/>
            </a:pPr>
            <a:r>
              <a:rPr lang="ja" noProof="1">
                <a:solidFill>
                  <a:schemeClr val="dk1"/>
                </a:solidFill>
              </a:rPr>
              <a:t>Project level, Program level, Portfolio level</a:t>
            </a:r>
            <a:endParaRPr>
              <a:solidFill>
                <a:schemeClr val="dk1"/>
              </a:solidFill>
            </a:endParaRPr>
          </a:p>
          <a:p>
            <a:pPr marL="457200" lvl="0" indent="-342900" algn="l" rtl="0">
              <a:spcBef>
                <a:spcPts val="0"/>
              </a:spcBef>
              <a:spcAft>
                <a:spcPts val="0"/>
              </a:spcAft>
              <a:buClr>
                <a:schemeClr val="dk1"/>
              </a:buClr>
              <a:buSzPts val="1800"/>
              <a:buChar char="•"/>
            </a:pPr>
            <a:r>
              <a:rPr lang="ja" noProof="1">
                <a:solidFill>
                  <a:schemeClr val="dk1"/>
                </a:solidFill>
              </a:rPr>
              <a:t>Maybe it's better not to stick to the word Program</a:t>
            </a:r>
            <a:br>
              <a:rPr lang="ja">
                <a:solidFill>
                  <a:schemeClr val="dk1"/>
                </a:solidFill>
              </a:rPr>
            </a:br>
            <a:r>
              <a:rPr lang="ja" noProof="1">
                <a:solidFill>
                  <a:schemeClr val="dk1"/>
                </a:solidFill>
              </a:rPr>
              <a:t>Open Source Office</a:t>
            </a:r>
            <a:endParaRPr>
              <a:solidFill>
                <a:schemeClr val="dk1"/>
              </a:solidFill>
            </a:endParaRPr>
          </a:p>
          <a:p>
            <a:pPr marL="457200" lvl="0" indent="-342900" algn="l" rtl="0">
              <a:spcBef>
                <a:spcPts val="0"/>
              </a:spcBef>
              <a:spcAft>
                <a:spcPts val="0"/>
              </a:spcAft>
              <a:buClr>
                <a:schemeClr val="dk1"/>
              </a:buClr>
              <a:buSzPts val="1800"/>
              <a:buChar char="•"/>
            </a:pPr>
            <a:r>
              <a:rPr lang="ja" noProof="1">
                <a:solidFill>
                  <a:schemeClr val="dk1"/>
                </a:solidFill>
              </a:rPr>
              <a:t>After all, if Program is included,</a:t>
            </a:r>
            <a:br>
              <a:rPr lang="ja">
                <a:solidFill>
                  <a:schemeClr val="dk1"/>
                </a:solidFill>
              </a:rPr>
            </a:br>
            <a:r>
              <a:rPr lang="ja" noProof="1">
                <a:solidFill>
                  <a:schemeClr val="dk1"/>
                </a:solidFill>
              </a:rPr>
              <a:t>the management and promotion aspect is conveyed.</a:t>
            </a:r>
            <a:endParaRPr>
              <a:solidFill>
                <a:schemeClr val="dk1"/>
              </a:solidFill>
            </a:endParaRPr>
          </a:p>
          <a:p>
            <a:pPr marL="457200" lvl="0" indent="-342900" algn="l" rtl="0">
              <a:spcBef>
                <a:spcPts val="0"/>
              </a:spcBef>
              <a:spcAft>
                <a:spcPts val="0"/>
              </a:spcAft>
              <a:buClr>
                <a:schemeClr val="dk1"/>
              </a:buClr>
              <a:buSzPts val="1800"/>
              <a:buChar char="•"/>
            </a:pPr>
            <a:r>
              <a:t> </a:t>
            </a:r>
            <a:endParaRPr>
              <a:solidFill>
                <a:schemeClr val="dk1"/>
              </a:solidFill>
            </a:endParaRPr>
          </a:p>
        </p:txBody>
      </p:sp>
      <p:pic>
        <p:nvPicPr>
          <p:cNvPr id="137" name="Google Shape;137;p20"/>
          <p:cNvPicPr preferRelativeResize="0"/>
          <p:nvPr/>
        </p:nvPicPr>
        <p:blipFill>
          <a:blip r:embed="rId3">
            <a:alphaModFix/>
          </a:blip>
          <a:stretch>
            <a:fillRect/>
          </a:stretch>
        </p:blipFill>
        <p:spPr>
          <a:xfrm>
            <a:off x="4189725" y="2098153"/>
            <a:ext cx="4928451" cy="27359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1"/>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t> </a:t>
            </a:r>
          </a:p>
        </p:txBody>
      </p:sp>
      <p:sp>
        <p:nvSpPr>
          <p:cNvPr id="143" name="Google Shape;143;p21"/>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noProof="1"/>
              <a:t>At first, the contribution was grassroots, and I was trying to convince my boss here.</a:t>
            </a:r>
            <a:endParaRPr/>
          </a:p>
          <a:p>
            <a:pPr marL="457200" lvl="0" indent="-342900" algn="l" rtl="0">
              <a:spcBef>
                <a:spcPts val="0"/>
              </a:spcBef>
              <a:spcAft>
                <a:spcPts val="0"/>
              </a:spcAft>
              <a:buSzPts val="1800"/>
              <a:buChar char="•"/>
            </a:pPr>
            <a:r>
              <a:rPr lang="ja" noProof="1"/>
              <a:t>I tried to do that as a company, and OSPO was born.</a:t>
            </a:r>
            <a:endParaRPr/>
          </a:p>
          <a:p>
            <a:pPr marL="457200" lvl="0" indent="-342900" algn="l" rtl="0">
              <a:spcBef>
                <a:spcPts val="0"/>
              </a:spcBef>
              <a:spcAft>
                <a:spcPts val="0"/>
              </a:spcAft>
              <a:buSzPts val="1800"/>
              <a:buChar char="•"/>
            </a:pPr>
            <a:r>
              <a:rPr lang="ja" noProof="1"/>
              <a:t>OSPO is difficult to do with grassroots activities alone, and it requires an approach from the top.</a:t>
            </a:r>
            <a:endParaRPr/>
          </a:p>
          <a:p>
            <a:pPr marL="914400" lvl="1" indent="-323850" algn="l" rtl="0">
              <a:spcBef>
                <a:spcPts val="0"/>
              </a:spcBef>
              <a:spcAft>
                <a:spcPts val="0"/>
              </a:spcAft>
              <a:buSzPts val="1500"/>
              <a:buChar char="•"/>
            </a:pPr>
            <a:r>
              <a:rPr lang="ja" noProof="1"/>
              <a:t>How to create a top approach? I want best practices...</a:t>
            </a:r>
            <a:endParaRPr/>
          </a:p>
          <a:p>
            <a:pPr marL="914400" lvl="1" indent="-323850" algn="l" rtl="0">
              <a:spcBef>
                <a:spcPts val="0"/>
              </a:spcBef>
              <a:spcAft>
                <a:spcPts val="0"/>
              </a:spcAft>
              <a:buSzPts val="1500"/>
              <a:buChar char="•"/>
            </a:pPr>
            <a:r>
              <a:rPr lang="ja" noProof="1"/>
              <a:t>It would be nice to have a document called "The Road to COSO (Chief Open Source Officer)"</a:t>
            </a:r>
            <a:endParaRPr/>
          </a:p>
          <a:p>
            <a:pPr marL="457200" lvl="0" indent="-342900" algn="l" rtl="0">
              <a:spcBef>
                <a:spcPts val="0"/>
              </a:spcBef>
              <a:spcAft>
                <a:spcPts val="0"/>
              </a:spcAft>
              <a:buSzPts val="1800"/>
              <a:buChar char="•"/>
            </a:pPr>
            <a:r>
              <a:rPr lang="ja" noProof="1"/>
              <a:t>It would be easier to have them move to the C level in order to have them recognize OSS as a company from a business perspective.</a:t>
            </a:r>
            <a:endParaRPr/>
          </a:p>
          <a:p>
            <a:pPr marL="457200" lvl="0" indent="-342900" algn="l" rtl="0">
              <a:spcBef>
                <a:spcPts val="0"/>
              </a:spcBef>
              <a:spcAft>
                <a:spcPts val="0"/>
              </a:spcAft>
              <a:buSzPts val="1800"/>
              <a:buChar char="•"/>
            </a:pPr>
            <a:r>
              <a:rPr lang="ja" noProof="1"/>
              <a:t>Voice from sales</a:t>
            </a:r>
            <a:endParaRPr/>
          </a:p>
          <a:p>
            <a:pPr marL="914400" lvl="1" indent="-323850" algn="l" rtl="0">
              <a:spcBef>
                <a:spcPts val="0"/>
              </a:spcBef>
              <a:spcAft>
                <a:spcPts val="0"/>
              </a:spcAft>
              <a:buSzPts val="1500"/>
              <a:buChar char="•"/>
            </a:pPr>
            <a:r>
              <a:rPr lang="ja" noProof="1"/>
              <a:t>In the case of the software business, there is a growing recognition that it is advantageous to understand OSS and the community in order to sell.</a:t>
            </a:r>
            <a:endParaRPr/>
          </a:p>
          <a:p>
            <a:pPr marL="457200" lvl="0" indent="-342900" algn="l" rtl="0">
              <a:spcBef>
                <a:spcPts val="0"/>
              </a:spcBef>
              <a:spcAft>
                <a:spcPts val="0"/>
              </a:spcAft>
              <a:buSzPts val="1800"/>
              <a:buChar char="•"/>
            </a:pPr>
            <a:r>
              <a:rPr lang="ja" noProof="1"/>
              <a:t>It would be better to communicate clearly and correctly that understanding OSS and the community + participating in the community and creating standards are useful even for businesses other than software, such as SBOM and export regulations.</a:t>
            </a:r>
            <a:endParaRPr/>
          </a:p>
          <a:p>
            <a:pPr marL="914400" lvl="1" indent="-323850" algn="l" rtl="0">
              <a:spcBef>
                <a:spcPts val="0"/>
              </a:spcBef>
              <a:spcAft>
                <a:spcPts val="0"/>
              </a:spcAft>
              <a:buSzPts val="1500"/>
              <a:buChar char="•"/>
            </a:pPr>
            <a:r>
              <a:rPr lang="ja" noProof="1"/>
              <a:t>In some cases, customers are looking at such things.</a:t>
            </a:r>
            <a:endParaRPr/>
          </a:p>
        </p:txBody>
      </p:sp>
      <p:sp>
        <p:nvSpPr>
          <p:cNvPr id="144" name="Google Shape;144;p21"/>
          <p:cNvSpPr/>
          <p:nvPr/>
        </p:nvSpPr>
        <p:spPr>
          <a:xfrm>
            <a:off x="7190675" y="325875"/>
            <a:ext cx="15636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noProof="1"/>
              <a:t>2024/5/24</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2"/>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What is OSPO?</a:t>
            </a:r>
            <a:endParaRPr/>
          </a:p>
        </p:txBody>
      </p:sp>
      <p:sp>
        <p:nvSpPr>
          <p:cNvPr id="150" name="Google Shape;150;p22"/>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62500" lnSpcReduction="20000"/>
          </a:bodyPr>
          <a:lstStyle/>
          <a:p>
            <a:pPr marL="457200" lvl="0" indent="-300037" algn="l" rtl="0">
              <a:spcBef>
                <a:spcPts val="0"/>
              </a:spcBef>
              <a:spcAft>
                <a:spcPts val="0"/>
              </a:spcAft>
              <a:buSzPct val="100000"/>
              <a:buChar char="•"/>
            </a:pPr>
            <a:r>
              <a:rPr lang="ja" noProof="1"/>
              <a:t>Where it is located depends on the company</a:t>
            </a:r>
            <a:endParaRPr/>
          </a:p>
          <a:p>
            <a:pPr marL="914400" lvl="1" indent="-288131" algn="l" rtl="0">
              <a:spcBef>
                <a:spcPts val="0"/>
              </a:spcBef>
              <a:spcAft>
                <a:spcPts val="0"/>
              </a:spcAft>
              <a:buSzPct val="100000"/>
              <a:buChar char="•"/>
            </a:pPr>
            <a:r>
              <a:rPr lang="ja" noProof="1"/>
              <a:t>The roles also vary</a:t>
            </a:r>
            <a:endParaRPr/>
          </a:p>
          <a:p>
            <a:pPr marL="914400" lvl="1" indent="-288131" algn="l" rtl="0">
              <a:spcBef>
                <a:spcPts val="0"/>
              </a:spcBef>
              <a:spcAft>
                <a:spcPts val="0"/>
              </a:spcAft>
              <a:buSzPct val="100000"/>
              <a:buChar char="•"/>
            </a:pPr>
            <a:r>
              <a:rPr lang="ja" noProof="1"/>
              <a:t>Within R &amp; D, CTO Office, Security Office, Risk Compliance, Product Certification, Legal Intellectual Property</a:t>
            </a:r>
            <a:endParaRPr/>
          </a:p>
          <a:p>
            <a:pPr marL="914400" lvl="1" indent="-288131" algn="l" rtl="0">
              <a:spcBef>
                <a:spcPts val="0"/>
              </a:spcBef>
              <a:spcAft>
                <a:spcPts val="0"/>
              </a:spcAft>
              <a:buSzPct val="100000"/>
              <a:buChar char="•"/>
            </a:pPr>
            <a:r>
              <a:rPr lang="ja" noProof="1"/>
              <a:t>Where it is located varies depending on the stage the company is in</a:t>
            </a:r>
            <a:endParaRPr/>
          </a:p>
          <a:p>
            <a:pPr marL="914400" lvl="1" indent="-288131" algn="l" rtl="0">
              <a:spcBef>
                <a:spcPts val="0"/>
              </a:spcBef>
              <a:spcAft>
                <a:spcPts val="0"/>
              </a:spcAft>
              <a:buSzPct val="100000"/>
              <a:buChar char="•"/>
            </a:pPr>
            <a:r>
              <a:rPr lang="ja" noProof="1"/>
              <a:t>What does not fit into the role of one place above is the reason why there is a debate about where it should be located</a:t>
            </a:r>
            <a:endParaRPr/>
          </a:p>
          <a:p>
            <a:pPr marL="914400" lvl="1" indent="-288131" algn="l" rtl="0">
              <a:spcBef>
                <a:spcPts val="0"/>
              </a:spcBef>
              <a:spcAft>
                <a:spcPts val="0"/>
              </a:spcAft>
              <a:buSzPct val="100000"/>
              <a:buChar char="•"/>
            </a:pPr>
            <a:r>
              <a:rPr lang="ja" noProof="1"/>
              <a:t>It also varies depending on which role the company focuses on as an OSPO</a:t>
            </a:r>
            <a:endParaRPr/>
          </a:p>
          <a:p>
            <a:pPr marL="457200" lvl="0" indent="-300037" algn="l" rtl="0">
              <a:spcBef>
                <a:spcPts val="0"/>
              </a:spcBef>
              <a:spcAft>
                <a:spcPts val="0"/>
              </a:spcAft>
              <a:buClr>
                <a:schemeClr val="accent1"/>
              </a:buClr>
              <a:buSzPct val="100000"/>
              <a:buChar char="•"/>
            </a:pPr>
            <a:r>
              <a:rPr lang="ja" noProof="1">
                <a:solidFill>
                  <a:schemeClr val="accent1"/>
                </a:solidFill>
              </a:rPr>
              <a:t>OSPO is a framework that bridges the company to cooperate with the different culture of Open Source and makes use of it smoothly</a:t>
            </a:r>
            <a:endParaRPr>
              <a:solidFill>
                <a:schemeClr val="accent1"/>
              </a:solidFill>
            </a:endParaRPr>
          </a:p>
          <a:p>
            <a:pPr marL="457200" lvl="0" indent="-300037" algn="l" rtl="0">
              <a:spcBef>
                <a:spcPts val="0"/>
              </a:spcBef>
              <a:spcAft>
                <a:spcPts val="0"/>
              </a:spcAft>
              <a:buClr>
                <a:schemeClr val="accent1"/>
              </a:buClr>
              <a:buSzPct val="100000"/>
              <a:buChar char="•"/>
            </a:pPr>
            <a:r>
              <a:rPr lang="ja" noProof="1">
                <a:solidFill>
                  <a:schemeClr val="accent1"/>
                </a:solidFill>
              </a:rPr>
              <a:t>OSPO is an organization that aims to realize cooperation between the OSS community and groups and organizations in the different culture of Open Source and to incorporate its activities naturally into the movement of the community</a:t>
            </a:r>
            <a:endParaRPr>
              <a:solidFill>
                <a:schemeClr val="accent1"/>
              </a:solidFill>
            </a:endParaRPr>
          </a:p>
          <a:p>
            <a:pPr marL="457200" lvl="0" indent="-300037" algn="l" rtl="0">
              <a:spcBef>
                <a:spcPts val="0"/>
              </a:spcBef>
              <a:spcAft>
                <a:spcPts val="0"/>
              </a:spcAft>
              <a:buClr>
                <a:schemeClr val="accent1"/>
              </a:buClr>
              <a:buSzPct val="100000"/>
              <a:buChar char="•"/>
            </a:pPr>
            <a:r>
              <a:rPr lang="ja" noProof="1">
                <a:solidFill>
                  <a:schemeClr val="accent1"/>
                </a:solidFill>
              </a:rPr>
              <a:t>In order to make use of the OSS community, a preparation room for understanding the culture and being able to act appropriately within the company (this is the definition around stage 0 and 1)</a:t>
            </a:r>
            <a:endParaRPr>
              <a:solidFill>
                <a:schemeClr val="accent1"/>
              </a:solidFill>
            </a:endParaRPr>
          </a:p>
          <a:p>
            <a:pPr marL="914400" lvl="1" indent="-288131" algn="l" rtl="0">
              <a:spcBef>
                <a:spcPts val="0"/>
              </a:spcBef>
              <a:spcAft>
                <a:spcPts val="0"/>
              </a:spcAft>
              <a:buSzPct val="100000"/>
              <a:buChar char="•"/>
            </a:pPr>
            <a:r>
              <a:rPr lang="ja" noProof="1"/>
              <a:t>It will evolve from here</a:t>
            </a:r>
            <a:endParaRPr/>
          </a:p>
          <a:p>
            <a:pPr marL="457200" lvl="0" indent="-300037" algn="l" rtl="0">
              <a:spcBef>
                <a:spcPts val="0"/>
              </a:spcBef>
              <a:spcAft>
                <a:spcPts val="0"/>
              </a:spcAft>
              <a:buSzPct val="100000"/>
              <a:buChar char="•"/>
            </a:pPr>
            <a:r>
              <a:rPr lang="ja" noProof="1"/>
              <a:t>There are also various ways of working with OSPOs</a:t>
            </a:r>
            <a:endParaRPr/>
          </a:p>
          <a:p>
            <a:pPr marL="914400" lvl="1" indent="-288131" algn="l" rtl="0">
              <a:spcBef>
                <a:spcPts val="0"/>
              </a:spcBef>
              <a:spcAft>
                <a:spcPts val="0"/>
              </a:spcAft>
              <a:buSzPct val="100000"/>
              <a:buChar char="•"/>
            </a:pPr>
            <a:r>
              <a:rPr lang="ja" noProof="1"/>
              <a:t>Virtual-real</a:t>
            </a:r>
            <a:endParaRPr/>
          </a:p>
          <a:p>
            <a:pPr marL="914400" lvl="1" indent="-288131" algn="l" rtl="0">
              <a:spcBef>
                <a:spcPts val="0"/>
              </a:spcBef>
              <a:spcAft>
                <a:spcPts val="0"/>
              </a:spcAft>
              <a:buSzPct val="100000"/>
              <a:buChar char="•"/>
            </a:pPr>
            <a:r>
              <a:rPr lang="ja" noProof="1"/>
              <a:t>Multiple locations - centralized in one location</a:t>
            </a:r>
            <a:endParaRPr/>
          </a:p>
          <a:p>
            <a:pPr marL="1371600" lvl="2" indent="-276225" algn="l" rtl="0">
              <a:spcBef>
                <a:spcPts val="0"/>
              </a:spcBef>
              <a:spcAft>
                <a:spcPts val="0"/>
              </a:spcAft>
              <a:buSzPct val="100000"/>
              <a:buChar char="•"/>
            </a:pPr>
            <a:r>
              <a:rPr lang="ja" noProof="1"/>
              <a:t>There may be a trend in which multiple OSPOs are created separately within a company, and as they grow, they become one.</a:t>
            </a:r>
            <a:endParaRPr/>
          </a:p>
          <a:p>
            <a:pPr marL="914400" lvl="1" indent="-288131" algn="l" rtl="0">
              <a:spcBef>
                <a:spcPts val="0"/>
              </a:spcBef>
              <a:spcAft>
                <a:spcPts val="0"/>
              </a:spcAft>
              <a:buSzPct val="100000"/>
              <a:buChar char="•"/>
            </a:pPr>
            <a:r>
              <a:rPr lang="ja" noProof="1"/>
              <a:t>When OSPOs are centralized in one location, they do not function.</a:t>
            </a:r>
            <a:endParaRPr/>
          </a:p>
          <a:p>
            <a:pPr marL="1371600" lvl="2" indent="-276225" algn="l" rtl="0">
              <a:spcBef>
                <a:spcPts val="0"/>
              </a:spcBef>
              <a:spcAft>
                <a:spcPts val="0"/>
              </a:spcAft>
              <a:buSzPct val="100000"/>
              <a:buChar char="•"/>
            </a:pPr>
            <a:r>
              <a:rPr lang="ja" noProof="1"/>
              <a:t>"Leave it to this place," and it does not work.</a:t>
            </a:r>
            <a:endParaRPr/>
          </a:p>
          <a:p>
            <a:pPr marL="1828800" lvl="3" indent="-272256" algn="l" rtl="0">
              <a:spcBef>
                <a:spcPts val="0"/>
              </a:spcBef>
              <a:spcAft>
                <a:spcPts val="0"/>
              </a:spcAft>
              <a:buSzPct val="100000"/>
              <a:buChar char="•"/>
            </a:pPr>
            <a:r>
              <a:rPr lang="ja" noProof="1"/>
              <a:t>I am concerned that people will stop learning about OSS culture.</a:t>
            </a:r>
            <a:endParaRPr/>
          </a:p>
          <a:p>
            <a:pPr marL="457200" lvl="0" indent="-300037" algn="l" rtl="0">
              <a:spcBef>
                <a:spcPts val="0"/>
              </a:spcBef>
              <a:spcAft>
                <a:spcPts val="0"/>
              </a:spcAft>
              <a:buClr>
                <a:schemeClr val="accent1"/>
              </a:buClr>
              <a:buSzPct val="100000"/>
              <a:buChar char="•"/>
            </a:pPr>
            <a:r>
              <a:rPr lang="ja" noProof="1">
                <a:solidFill>
                  <a:schemeClr val="accent1"/>
                </a:solidFill>
              </a:rPr>
              <a:t>We have a role to educate and disseminate.</a:t>
            </a:r>
            <a:endParaRPr>
              <a:solidFill>
                <a:schemeClr val="accent1"/>
              </a:solidFill>
            </a:endParaRPr>
          </a:p>
          <a:p>
            <a:pPr marL="457200" lvl="0" indent="-300037" algn="l" rtl="0">
              <a:spcBef>
                <a:spcPts val="0"/>
              </a:spcBef>
              <a:spcAft>
                <a:spcPts val="0"/>
              </a:spcAft>
              <a:buSzPct val="100000"/>
              <a:buChar char="•"/>
            </a:pPr>
            <a:r>
              <a:rPr lang="ja" noProof="1">
                <a:solidFill>
                  <a:schemeClr val="accent1"/>
                </a:solidFill>
              </a:rPr>
              <a:t>In order to contribute to the OSS community outside the company in the future, we first share OSS information within the company, build an OSS community within the company and activate exchanges.</a:t>
            </a:r>
            <a:endParaRPr/>
          </a:p>
          <a:p>
            <a:pPr marL="457200" lvl="0" indent="-300037" algn="l" rtl="0">
              <a:spcBef>
                <a:spcPts val="0"/>
              </a:spcBef>
              <a:spcAft>
                <a:spcPts val="0"/>
              </a:spcAft>
              <a:buSzPct val="100000"/>
              <a:buChar char="•"/>
            </a:pPr>
            <a:r>
              <a:rPr lang="ja" noProof="1">
                <a:solidFill>
                  <a:schemeClr val="accent1"/>
                </a:solidFill>
              </a:rPr>
              <a:t>It has a life cycle: it grows and then shrinks as it becomes more prevalent.</a:t>
            </a:r>
            <a:endParaRPr/>
          </a:p>
          <a:p>
            <a:pPr marL="914400" lvl="1" indent="-288131" algn="l" rtl="0">
              <a:spcBef>
                <a:spcPts val="0"/>
              </a:spcBef>
              <a:spcAft>
                <a:spcPts val="0"/>
              </a:spcAft>
              <a:buSzPct val="100000"/>
              <a:buChar char="•"/>
            </a:pPr>
            <a:r>
              <a:rPr lang="ja" noProof="1"/>
              <a:t>Instilling the culture → utilizing it in business</a:t>
            </a:r>
            <a:endParaRPr/>
          </a:p>
          <a:p>
            <a:pPr marL="457200" lvl="0" indent="-300037" algn="l" rtl="0">
              <a:spcBef>
                <a:spcPts val="0"/>
              </a:spcBef>
              <a:spcAft>
                <a:spcPts val="0"/>
              </a:spcAft>
              <a:buClr>
                <a:schemeClr val="accent1"/>
              </a:buClr>
              <a:buSzPct val="100000"/>
              <a:buChar char="•"/>
            </a:pPr>
            <a:r>
              <a:rPr lang="ja" noProof="1">
                <a:solidFill>
                  <a:schemeClr val="accent1"/>
                </a:solidFill>
              </a:rPr>
              <a:t>Achieving "Community Contribution = Company Success" is one aspect of OSPO</a:t>
            </a:r>
            <a:endParaRPr>
              <a:solidFill>
                <a:schemeClr val="accent1"/>
              </a:solidFill>
            </a:endParaRPr>
          </a:p>
          <a:p>
            <a:pPr marL="457200" lvl="0" indent="-300037" algn="l" rtl="0">
              <a:spcBef>
                <a:spcPts val="0"/>
              </a:spcBef>
              <a:spcAft>
                <a:spcPts val="0"/>
              </a:spcAft>
              <a:buClr>
                <a:schemeClr val="accent1"/>
              </a:buClr>
              <a:buSzPct val="100000"/>
              <a:buChar char="•"/>
            </a:pPr>
            <a:r>
              <a:rPr lang="ja" noProof="1">
                <a:solidFill>
                  <a:schemeClr val="accent1"/>
                </a:solidFill>
              </a:rPr>
              <a:t>Is it the role of OSPO to catch changes in industry culture and trends and update the internal culture?</a:t>
            </a:r>
            <a:endParaRPr>
              <a:solidFill>
                <a:schemeClr val="accent1"/>
              </a:solidFill>
            </a:endParaRPr>
          </a:p>
          <a:p>
            <a:pPr marL="457200" lvl="0" indent="-300037" algn="l" rtl="0">
              <a:spcBef>
                <a:spcPts val="0"/>
              </a:spcBef>
              <a:spcAft>
                <a:spcPts val="0"/>
              </a:spcAft>
              <a:buClr>
                <a:schemeClr val="accent1"/>
              </a:buClr>
              <a:buSzPct val="100000"/>
              <a:buChar char="•"/>
            </a:pPr>
            <a:r>
              <a:rPr lang="ja" noProof="1">
                <a:solidFill>
                  <a:schemeClr val="accent1"/>
                </a:solidFill>
              </a:rPr>
              <a:t>Is it the role of OSPO to grasp trends in the community and utilize them in business? [Business planning activities?]</a:t>
            </a:r>
            <a:endParaRPr>
              <a:solidFill>
                <a:schemeClr val="accent1"/>
              </a:solidFill>
            </a:endParaRPr>
          </a:p>
        </p:txBody>
      </p:sp>
      <p:sp>
        <p:nvSpPr>
          <p:cNvPr id="151" name="Google Shape;151;p22"/>
          <p:cNvSpPr/>
          <p:nvPr/>
        </p:nvSpPr>
        <p:spPr>
          <a:xfrm>
            <a:off x="7307150" y="345875"/>
            <a:ext cx="13539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noProof="1"/>
              <a:t>2023/8/25 Discussion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3"/>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Qx</a:t>
            </a:r>
            <a:endParaRPr/>
          </a:p>
        </p:txBody>
      </p:sp>
      <p:sp>
        <p:nvSpPr>
          <p:cNvPr id="157" name="Google Shape;157;p23"/>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noProof="1"/>
              <a:t>Q: </a:t>
            </a:r>
            <a:r>
              <a:rPr lang="ja" noProof="1">
                <a:solidFill>
                  <a:schemeClr val="dk1"/>
                </a:solidFill>
              </a:rPr>
              <a:t>What is OSPO?</a:t>
            </a:r>
            <a:endParaRPr/>
          </a:p>
        </p:txBody>
      </p:sp>
      <p:sp>
        <p:nvSpPr>
          <p:cNvPr id="158" name="Google Shape;158;p23"/>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ja" noProof="1"/>
              <a:t>A:</a:t>
            </a:r>
            <a:r>
              <a:rPr lang="ja"/>
              <a:t>  </a:t>
            </a:r>
            <a:endParaRPr/>
          </a:p>
          <a:p>
            <a:pPr marL="457200" lvl="0" indent="-317500" algn="l" rtl="0">
              <a:spcBef>
                <a:spcPts val="0"/>
              </a:spcBef>
              <a:spcAft>
                <a:spcPts val="0"/>
              </a:spcAft>
              <a:buSzPts val="1400"/>
              <a:buChar char="●"/>
            </a:pPr>
            <a:r>
              <a:rPr lang="ja" noProof="1"/>
              <a:t>Advantages of using open source software</a:t>
            </a:r>
            <a:endParaRPr/>
          </a:p>
          <a:p>
            <a:pPr marL="914400" lvl="1" indent="-317500" algn="l" rtl="0">
              <a:spcBef>
                <a:spcPts val="0"/>
              </a:spcBef>
              <a:spcAft>
                <a:spcPts val="0"/>
              </a:spcAft>
              <a:buSzPts val="1400"/>
              <a:buChar char="○"/>
            </a:pPr>
            <a:r>
              <a:rPr lang="ja" noProof="1"/>
              <a:t>Use existing software (make development easier)</a:t>
            </a:r>
            <a:endParaRPr/>
          </a:p>
          <a:p>
            <a:pPr marL="914400" lvl="1" indent="-317500" algn="l" rtl="0">
              <a:spcBef>
                <a:spcPts val="0"/>
              </a:spcBef>
              <a:spcAft>
                <a:spcPts val="0"/>
              </a:spcAft>
              <a:buSzPts val="1400"/>
              <a:buChar char="○"/>
            </a:pPr>
            <a:r>
              <a:rPr lang="ja" noProof="1"/>
              <a:t>Use cutting-edge software (technology)</a:t>
            </a:r>
            <a:endParaRPr/>
          </a:p>
          <a:p>
            <a:pPr marL="914400" lvl="1" indent="-317500" algn="l" rtl="0">
              <a:spcBef>
                <a:spcPts val="0"/>
              </a:spcBef>
              <a:spcAft>
                <a:spcPts val="0"/>
              </a:spcAft>
              <a:buSzPts val="1400"/>
              <a:buChar char="○"/>
            </a:pPr>
            <a:r>
              <a:rPr lang="ja" noProof="1"/>
              <a:t>Software created by many people, so the level is high</a:t>
            </a:r>
            <a:endParaRPr/>
          </a:p>
          <a:p>
            <a:pPr marL="914400" lvl="1" indent="-317500" algn="l" rtl="0">
              <a:spcBef>
                <a:spcPts val="0"/>
              </a:spcBef>
              <a:spcAft>
                <a:spcPts val="0"/>
              </a:spcAft>
              <a:buSzPts val="1400"/>
              <a:buChar char="○"/>
            </a:pPr>
            <a:r>
              <a:rPr lang="ja" noProof="1"/>
              <a:t>Use by many people, so bugs are easy to find and correct quickly</a:t>
            </a:r>
            <a:endParaRPr/>
          </a:p>
          <a:p>
            <a:pPr marL="457200" lvl="0" indent="-317500" algn="l" rtl="0">
              <a:spcBef>
                <a:spcPts val="0"/>
              </a:spcBef>
              <a:spcAft>
                <a:spcPts val="0"/>
              </a:spcAft>
              <a:buSzPts val="1400"/>
              <a:buChar char="●"/>
            </a:pPr>
            <a:r>
              <a:rPr lang="ja" noProof="1"/>
              <a:t>Benefits of community activities</a:t>
            </a:r>
            <a:endParaRPr/>
          </a:p>
          <a:p>
            <a:pPr marL="914400" lvl="1" indent="-317500" algn="l" rtl="0">
              <a:spcBef>
                <a:spcPts val="0"/>
              </a:spcBef>
              <a:spcAft>
                <a:spcPts val="0"/>
              </a:spcAft>
              <a:buSzPts val="1400"/>
              <a:buChar char="○"/>
            </a:pPr>
            <a:r>
              <a:rPr lang="ja" noProof="1"/>
              <a:t>Efficiency of development resources through community cooperation</a:t>
            </a:r>
            <a:endParaRPr/>
          </a:p>
          <a:p>
            <a:pPr marL="914400" lvl="1" indent="-317500" algn="l" rtl="0">
              <a:spcBef>
                <a:spcPts val="0"/>
              </a:spcBef>
              <a:spcAft>
                <a:spcPts val="0"/>
              </a:spcAft>
              <a:buSzPts val="1400"/>
              <a:buChar char="○"/>
            </a:pPr>
            <a:r>
              <a:rPr lang="ja" noProof="1"/>
              <a:t>Opportunities to acquire human resources (company side)</a:t>
            </a:r>
            <a:endParaRPr/>
          </a:p>
          <a:p>
            <a:pPr marL="1371600" lvl="2" indent="-317500" algn="l" rtl="0">
              <a:spcBef>
                <a:spcPts val="0"/>
              </a:spcBef>
              <a:spcAft>
                <a:spcPts val="0"/>
              </a:spcAft>
              <a:buSzPts val="1400"/>
              <a:buChar char="■"/>
            </a:pPr>
            <a:r>
              <a:rPr lang="ja" noProof="1"/>
              <a:t>As an engineer, you can increase your own value and gain opportunities for activities</a:t>
            </a:r>
            <a:endParaRPr/>
          </a:p>
          <a:p>
            <a:pPr marL="1371600" lvl="2" indent="-317500" algn="l" rtl="0">
              <a:spcBef>
                <a:spcPts val="0"/>
              </a:spcBef>
              <a:spcAft>
                <a:spcPts val="0"/>
              </a:spcAft>
              <a:buSzPts val="1400"/>
              <a:buChar char="■"/>
            </a:pPr>
            <a:r>
              <a:rPr lang="ja" noProof="1">
                <a:solidFill>
                  <a:schemeClr val="dk1"/>
                </a:solidFill>
              </a:rPr>
              <a:t>Human resources development</a:t>
            </a:r>
            <a:endParaRPr/>
          </a:p>
          <a:p>
            <a:pPr marL="457200" lvl="0" indent="-317500" algn="l" rtl="0">
              <a:spcBef>
                <a:spcPts val="0"/>
              </a:spcBef>
              <a:spcAft>
                <a:spcPts val="0"/>
              </a:spcAft>
              <a:buSzPts val="1400"/>
              <a:buChar char="●"/>
            </a:pPr>
            <a:r>
              <a:rPr lang="ja" noProof="1"/>
              <a:t>Benefits in terms of business strategy</a:t>
            </a:r>
            <a:endParaRPr/>
          </a:p>
          <a:p>
            <a:pPr marL="914400" lvl="1" indent="-317500" algn="l" rtl="0">
              <a:spcBef>
                <a:spcPts val="0"/>
              </a:spcBef>
              <a:spcAft>
                <a:spcPts val="0"/>
              </a:spcAft>
              <a:buSzPts val="1400"/>
              <a:buChar char="○"/>
            </a:pPr>
            <a:r>
              <a:rPr lang="ja" noProof="1"/>
              <a:t>Expansion of market and potential customer base through community, involvement in development direction</a:t>
            </a:r>
            <a:endParaRPr/>
          </a:p>
          <a:p>
            <a:pPr marL="914400" lvl="1" indent="-317500" algn="l" rtl="0">
              <a:spcBef>
                <a:spcPts val="0"/>
              </a:spcBef>
              <a:spcAft>
                <a:spcPts val="0"/>
              </a:spcAft>
              <a:buSzPts val="1400"/>
              <a:buChar char="○"/>
            </a:pPr>
            <a:r>
              <a:rPr lang="ja" noProof="1"/>
              <a:t>Establishment and dissemination of de facto standards</a:t>
            </a:r>
            <a:endParaRPr/>
          </a:p>
          <a:p>
            <a:pPr marL="0" lvl="0" indent="0" algn="l" rtl="0">
              <a:spcBef>
                <a:spcPts val="0"/>
              </a:spcBef>
              <a:spcAft>
                <a:spcPts val="0"/>
              </a:spcAft>
              <a:buNone/>
            </a:pPr>
            <a:r>
              <a:t> </a:t>
            </a:r>
          </a:p>
          <a:p>
            <a:pPr marL="0" lvl="0" indent="0" algn="l" rtl="0">
              <a:spcBef>
                <a:spcPts val="0"/>
              </a:spcBef>
              <a:spcAft>
                <a:spcPts val="0"/>
              </a:spcAft>
              <a:buNone/>
            </a:pPr>
            <a:r>
              <a:rPr lang="ja" noProof="1"/>
              <a:t>Next time we will consider mapping with OSPO stages (2023/5/26)</a:t>
            </a:r>
            <a:endParaRPr/>
          </a:p>
          <a:p>
            <a:pPr marL="914400" lvl="0" indent="0" algn="l" rtl="0">
              <a:spcBef>
                <a:spcPts val="0"/>
              </a:spcBef>
              <a:spcAft>
                <a:spcPts val="0"/>
              </a:spcAft>
              <a:buNone/>
            </a:pPr>
            <a:r>
              <a:t> </a:t>
            </a:r>
          </a:p>
        </p:txBody>
      </p:sp>
      <p:sp>
        <p:nvSpPr>
          <p:cNvPr id="159" name="Google Shape;159;p23"/>
          <p:cNvSpPr/>
          <p:nvPr/>
        </p:nvSpPr>
        <p:spPr>
          <a:xfrm>
            <a:off x="7553300" y="98425"/>
            <a:ext cx="13539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noProof="1"/>
              <a:t>2023/10/27</a:t>
            </a:r>
            <a:endParaRPr/>
          </a:p>
          <a:p>
            <a:pPr marL="0" lvl="0" indent="0" algn="l" rtl="0">
              <a:spcBef>
                <a:spcPts val="0"/>
              </a:spcBef>
              <a:spcAft>
                <a:spcPts val="0"/>
              </a:spcAft>
              <a:buNone/>
            </a:pPr>
            <a:r>
              <a:rPr lang="ja" noProof="1"/>
              <a:t>First of all, Fix</a:t>
            </a:r>
            <a:endParaRPr/>
          </a:p>
        </p:txBody>
      </p:sp>
      <p:sp>
        <p:nvSpPr>
          <p:cNvPr id="160" name="Google Shape;160;p23"/>
          <p:cNvSpPr txBox="1"/>
          <p:nvPr/>
        </p:nvSpPr>
        <p:spPr>
          <a:xfrm>
            <a:off x="846000" y="34525"/>
            <a:ext cx="6737400" cy="5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ja" noProof="1">
                <a:solidFill>
                  <a:schemeClr val="dk1"/>
                </a:solidFill>
              </a:rPr>
              <a:t>What is OSPO?</a:t>
            </a:r>
            <a:endParaRPr>
              <a:solidFill>
                <a:schemeClr val="dk1"/>
              </a:solidFill>
            </a:endParaRPr>
          </a:p>
          <a:p>
            <a:pPr marL="0" lvl="0" indent="0" algn="l" rtl="0">
              <a:spcBef>
                <a:spcPts val="0"/>
              </a:spcBef>
              <a:spcAft>
                <a:spcPts val="0"/>
              </a:spcAft>
              <a:buNone/>
            </a:pPr>
            <a:r>
              <a:rPr lang="ja" noProof="1"/>
              <a:t>Here's a summary of what OSPO does in each stage of the company</a:t>
            </a:r>
            <a:endParaRPr/>
          </a:p>
        </p:txBody>
      </p:sp>
      <p:sp>
        <p:nvSpPr>
          <p:cNvPr id="161" name="Google Shape;161;p23"/>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4"/>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Qx</a:t>
            </a:r>
            <a:endParaRPr/>
          </a:p>
        </p:txBody>
      </p:sp>
      <p:pic>
        <p:nvPicPr>
          <p:cNvPr id="167" name="Google Shape;167;p24"/>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168" name="Google Shape;168;p24"/>
          <p:cNvSpPr/>
          <p:nvPr/>
        </p:nvSpPr>
        <p:spPr>
          <a:xfrm>
            <a:off x="39275" y="2375625"/>
            <a:ext cx="2293200" cy="861300"/>
          </a:xfrm>
          <a:prstGeom prst="wedgeRectCallout">
            <a:avLst>
              <a:gd name="adj1" fmla="val 7667"/>
              <a:gd name="adj2" fmla="val 123406"/>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800" noProof="1"/>
              <a:t>The role of OSPO is to educate and spread the license</a:t>
            </a:r>
            <a:endParaRPr sz="800"/>
          </a:p>
          <a:p>
            <a:pPr marL="89999" lvl="0" indent="-149225" algn="l" rtl="0">
              <a:spcBef>
                <a:spcPts val="0"/>
              </a:spcBef>
              <a:spcAft>
                <a:spcPts val="0"/>
              </a:spcAft>
              <a:buSzPts val="1000"/>
              <a:buChar char="●"/>
            </a:pPr>
            <a:r>
              <a:rPr lang="ja" sz="800"/>
              <a:t>  </a:t>
            </a:r>
            <a:r>
              <a:rPr lang="ja" sz="800" noProof="1"/>
              <a:t>The activity of evangelizing that OSS is important and that we should protect the license</a:t>
            </a:r>
            <a:endParaRPr sz="800"/>
          </a:p>
        </p:txBody>
      </p:sp>
      <p:sp>
        <p:nvSpPr>
          <p:cNvPr id="169" name="Google Shape;169;p24"/>
          <p:cNvSpPr/>
          <p:nvPr/>
        </p:nvSpPr>
        <p:spPr>
          <a:xfrm>
            <a:off x="4274375" y="668225"/>
            <a:ext cx="2476200" cy="1453500"/>
          </a:xfrm>
          <a:prstGeom prst="wedgeRectCallout">
            <a:avLst>
              <a:gd name="adj1" fmla="val -43620"/>
              <a:gd name="adj2" fmla="val 114071"/>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The framework of OSPO is to bridge the cooperation of the company with the different culture of Open Source and to utilize it smoothly</a:t>
            </a:r>
            <a:endParaRPr sz="800"/>
          </a:p>
          <a:p>
            <a:pPr marL="89999" lvl="0" indent="-158750" algn="l" rtl="0">
              <a:spcBef>
                <a:spcPts val="0"/>
              </a:spcBef>
              <a:spcAft>
                <a:spcPts val="0"/>
              </a:spcAft>
              <a:buSzPts val="1000"/>
              <a:buChar char="●"/>
            </a:pPr>
            <a:r>
              <a:rPr lang="ja" sz="800" noProof="1"/>
              <a:t>The organization of OSPO is to realize the cooperation between the OSS community with the different culture of Open Source and organizations and to incorporate the activity naturally into the movement of the community</a:t>
            </a:r>
            <a:endParaRPr sz="800"/>
          </a:p>
        </p:txBody>
      </p:sp>
      <p:sp>
        <p:nvSpPr>
          <p:cNvPr id="170" name="Google Shape;170;p24"/>
          <p:cNvSpPr/>
          <p:nvPr/>
        </p:nvSpPr>
        <p:spPr>
          <a:xfrm>
            <a:off x="6868625" y="750125"/>
            <a:ext cx="2127600" cy="1074900"/>
          </a:xfrm>
          <a:prstGeom prst="wedgeRectCallout">
            <a:avLst>
              <a:gd name="adj1" fmla="val -55071"/>
              <a:gd name="adj2" fmla="val 81433"/>
            </a:avLst>
          </a:prstGeom>
          <a:solidFill>
            <a:schemeClr val="lt2"/>
          </a:solidFill>
          <a:ln w="9525" cap="flat" cmpd="sng">
            <a:solidFill>
              <a:schemeClr val="dk2"/>
            </a:solidFill>
            <a:prstDash val="solid"/>
            <a:round/>
            <a:headEnd type="none" w="sm" len="sm"/>
            <a:tailEnd type="none" w="sm" len="sm"/>
          </a:ln>
        </p:spPr>
        <p:txBody>
          <a:bodyPr spcFirstLastPara="1" wrap="square" lIns="270000" tIns="91425" rIns="91425" bIns="91425" anchor="ctr" anchorCtr="0">
            <a:noAutofit/>
          </a:bodyPr>
          <a:lstStyle/>
          <a:p>
            <a:pPr marL="89999" lvl="0" indent="-292100" algn="l" rtl="0">
              <a:spcBef>
                <a:spcPts val="0"/>
              </a:spcBef>
              <a:spcAft>
                <a:spcPts val="0"/>
              </a:spcAft>
              <a:buClr>
                <a:schemeClr val="dk1"/>
              </a:buClr>
              <a:buSzPts val="1000"/>
              <a:buChar char="●"/>
            </a:pPr>
            <a:r>
              <a:rPr lang="ja" sz="800" noProof="1"/>
              <a:t>The role of OSPO is to grasp the trend in the community, to lead the community, to create the trend and to utilize it in the business</a:t>
            </a:r>
            <a:endParaRPr sz="800"/>
          </a:p>
          <a:p>
            <a:pPr marL="89999" lvl="0" indent="-292100" algn="l" rtl="0">
              <a:spcBef>
                <a:spcPts val="0"/>
              </a:spcBef>
              <a:spcAft>
                <a:spcPts val="0"/>
              </a:spcAft>
              <a:buSzPts val="1000"/>
              <a:buChar char="●"/>
            </a:pPr>
            <a:r>
              <a:rPr lang="ja" sz="800" noProof="1"/>
              <a:t>The role of OSPO is to work to establish the above as a corporate culture</a:t>
            </a:r>
            <a:endParaRPr sz="800"/>
          </a:p>
        </p:txBody>
      </p:sp>
      <p:sp>
        <p:nvSpPr>
          <p:cNvPr id="171" name="Google Shape;171;p24"/>
          <p:cNvSpPr/>
          <p:nvPr/>
        </p:nvSpPr>
        <p:spPr>
          <a:xfrm>
            <a:off x="1283575" y="877325"/>
            <a:ext cx="2798700" cy="1453500"/>
          </a:xfrm>
          <a:prstGeom prst="wedgeRectCallout">
            <a:avLst>
              <a:gd name="adj1" fmla="val 6634"/>
              <a:gd name="adj2" fmla="val 13144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The role of OSPO is to promote thorough compliance with the license throughout the company</a:t>
            </a:r>
            <a:endParaRPr sz="800"/>
          </a:p>
          <a:p>
            <a:pPr marL="89999" lvl="0" indent="-158750" algn="l" rtl="0">
              <a:spcBef>
                <a:spcPts val="0"/>
              </a:spcBef>
              <a:spcAft>
                <a:spcPts val="0"/>
              </a:spcAft>
              <a:buSzPts val="1000"/>
              <a:buChar char="●"/>
            </a:pPr>
            <a:r>
              <a:rPr lang="ja" sz="800" noProof="1"/>
              <a:t>In order to utilize the OSS community, the preparatory office is to understand the culture and to be able to act appropriately within the company</a:t>
            </a:r>
            <a:endParaRPr sz="800"/>
          </a:p>
          <a:p>
            <a:pPr marL="89999" lvl="0" indent="-158750" algn="l" rtl="0">
              <a:spcBef>
                <a:spcPts val="0"/>
              </a:spcBef>
              <a:spcAft>
                <a:spcPts val="0"/>
              </a:spcAft>
              <a:buSzPts val="1000"/>
              <a:buChar char="●"/>
            </a:pPr>
            <a:r>
              <a:rPr lang="ja" sz="800" noProof="1"/>
              <a:t>In order to contribute to the OSS community outside the company in the future, the first thing to do is to share OSS information within the company, build an OSS community within the company and activate exchanges</a:t>
            </a:r>
            <a:endParaRPr sz="800"/>
          </a:p>
        </p:txBody>
      </p:sp>
      <p:sp>
        <p:nvSpPr>
          <p:cNvPr id="172" name="Google Shape;172;p24"/>
          <p:cNvSpPr/>
          <p:nvPr/>
        </p:nvSpPr>
        <p:spPr>
          <a:xfrm>
            <a:off x="6868625" y="2245325"/>
            <a:ext cx="2127600" cy="1217700"/>
          </a:xfrm>
          <a:prstGeom prst="wedgeRectCallout">
            <a:avLst>
              <a:gd name="adj1" fmla="val -56599"/>
              <a:gd name="adj2" fmla="val -1818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One aspect of an OSPO is to ensure that community service equals company success.</a:t>
            </a:r>
            <a:endParaRPr sz="800"/>
          </a:p>
          <a:p>
            <a:pPr marL="89999" lvl="0" indent="-158750" algn="l" rtl="0">
              <a:spcBef>
                <a:spcPts val="0"/>
              </a:spcBef>
              <a:spcAft>
                <a:spcPts val="0"/>
              </a:spcAft>
              <a:buSzPts val="1000"/>
              <a:buChar char="●"/>
            </a:pPr>
            <a:r>
              <a:rPr lang="ja" sz="800" noProof="1"/>
              <a:t>The role of an OSPO is to keep up with changes in industry culture and trends and update the company culture.</a:t>
            </a:r>
            <a:endParaRPr sz="800"/>
          </a:p>
        </p:txBody>
      </p:sp>
      <p:sp>
        <p:nvSpPr>
          <p:cNvPr id="173" name="Google Shape;173;p24"/>
          <p:cNvSpPr/>
          <p:nvPr/>
        </p:nvSpPr>
        <p:spPr>
          <a:xfrm>
            <a:off x="4572000" y="3026025"/>
            <a:ext cx="1984500" cy="1278300"/>
          </a:xfrm>
          <a:prstGeom prst="wedgeRectCallout">
            <a:avLst>
              <a:gd name="adj1" fmla="val -49565"/>
              <a:gd name="adj2" fmla="val -1653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Leadership</a:t>
            </a:r>
            <a:endParaRPr sz="800"/>
          </a:p>
          <a:p>
            <a:pPr marL="269999" lvl="1" indent="-168275" algn="l" rtl="0">
              <a:spcBef>
                <a:spcPts val="0"/>
              </a:spcBef>
              <a:spcAft>
                <a:spcPts val="0"/>
              </a:spcAft>
              <a:buSzPts val="1000"/>
              <a:buChar char="○"/>
            </a:pPr>
            <a:r>
              <a:rPr lang="ja" sz="800" noProof="1"/>
              <a:t>A key member of decision-making as a community leader</a:t>
            </a:r>
            <a:endParaRPr sz="800"/>
          </a:p>
          <a:p>
            <a:pPr marL="89999" lvl="0" indent="-158750" algn="l" rtl="0">
              <a:spcBef>
                <a:spcPts val="0"/>
              </a:spcBef>
              <a:spcAft>
                <a:spcPts val="0"/>
              </a:spcAft>
              <a:buSzPts val="1000"/>
              <a:buChar char="●"/>
            </a:pPr>
            <a:r>
              <a:rPr lang="ja" sz="800" noProof="1"/>
              <a:t>Engagement</a:t>
            </a:r>
            <a:endParaRPr sz="800"/>
          </a:p>
          <a:p>
            <a:pPr marL="269999" lvl="1" indent="-168275" algn="l" rtl="0">
              <a:spcBef>
                <a:spcPts val="0"/>
              </a:spcBef>
              <a:spcAft>
                <a:spcPts val="0"/>
              </a:spcAft>
              <a:buSzPts val="1000"/>
              <a:buChar char="○"/>
            </a:pPr>
            <a:r>
              <a:rPr lang="ja" sz="800" noProof="1"/>
              <a:t>Decision-making meeting participants</a:t>
            </a:r>
            <a:endParaRPr sz="800"/>
          </a:p>
          <a:p>
            <a:pPr marL="89999" lvl="0" indent="-158750" algn="l" rtl="0">
              <a:spcBef>
                <a:spcPts val="0"/>
              </a:spcBef>
              <a:spcAft>
                <a:spcPts val="0"/>
              </a:spcAft>
              <a:buSzPts val="1000"/>
              <a:buChar char="●"/>
            </a:pPr>
            <a:r>
              <a:rPr lang="ja" sz="800" noProof="1"/>
              <a:t>Community education</a:t>
            </a:r>
            <a:endParaRPr sz="800"/>
          </a:p>
          <a:p>
            <a:pPr marL="269999" lvl="1" indent="-168275" algn="l" rtl="0">
              <a:spcBef>
                <a:spcPts val="0"/>
              </a:spcBef>
              <a:spcAft>
                <a:spcPts val="0"/>
              </a:spcAft>
              <a:buSzPts val="1000"/>
              <a:buChar char="○"/>
            </a:pPr>
            <a:r>
              <a:rPr lang="ja" sz="800" noProof="1"/>
              <a:t>Early contributors</a:t>
            </a:r>
            <a:endParaRPr sz="800"/>
          </a:p>
        </p:txBody>
      </p:sp>
      <p:sp>
        <p:nvSpPr>
          <p:cNvPr id="174" name="Google Shape;174;p24"/>
          <p:cNvSpPr/>
          <p:nvPr/>
        </p:nvSpPr>
        <p:spPr>
          <a:xfrm>
            <a:off x="7553300" y="98425"/>
            <a:ext cx="13539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noProof="1"/>
              <a:t>2023/10/27</a:t>
            </a:r>
            <a:endParaRPr/>
          </a:p>
          <a:p>
            <a:pPr marL="0" lvl="0" indent="0" algn="l" rtl="0">
              <a:spcBef>
                <a:spcPts val="0"/>
              </a:spcBef>
              <a:spcAft>
                <a:spcPts val="0"/>
              </a:spcAft>
              <a:buNone/>
            </a:pPr>
            <a:r>
              <a:rPr lang="ja" noProof="1"/>
              <a:t>Fix for now</a:t>
            </a:r>
            <a:endParaRPr/>
          </a:p>
        </p:txBody>
      </p:sp>
      <p:sp>
        <p:nvSpPr>
          <p:cNvPr id="175" name="Google Shape;175;p24"/>
          <p:cNvSpPr txBox="1"/>
          <p:nvPr/>
        </p:nvSpPr>
        <p:spPr>
          <a:xfrm>
            <a:off x="846000" y="34525"/>
            <a:ext cx="6737400" cy="5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ja" noProof="1">
                <a:solidFill>
                  <a:schemeClr val="dk1"/>
                </a:solidFill>
              </a:rPr>
              <a:t>What is OSPO?</a:t>
            </a:r>
            <a:endParaRPr>
              <a:solidFill>
                <a:schemeClr val="dk1"/>
              </a:solidFill>
            </a:endParaRPr>
          </a:p>
          <a:p>
            <a:pPr marL="0" lvl="0" indent="0" algn="l" rtl="0">
              <a:spcBef>
                <a:spcPts val="0"/>
              </a:spcBef>
              <a:spcAft>
                <a:spcPts val="0"/>
              </a:spcAft>
              <a:buNone/>
            </a:pPr>
            <a:r>
              <a:rPr lang="ja" noProof="1"/>
              <a:t>Here is a summary of what OSPO does in a company at each stage</a:t>
            </a:r>
            <a:endParaRPr/>
          </a:p>
        </p:txBody>
      </p:sp>
      <p:sp>
        <p:nvSpPr>
          <p:cNvPr id="176" name="Google Shape;176;p24"/>
          <p:cNvSpPr/>
          <p:nvPr/>
        </p:nvSpPr>
        <p:spPr>
          <a:xfrm>
            <a:off x="6971575" y="3575900"/>
            <a:ext cx="2127600" cy="921600"/>
          </a:xfrm>
          <a:prstGeom prst="wedgeRectCallout">
            <a:avLst>
              <a:gd name="adj1" fmla="val -56599"/>
              <a:gd name="adj2" fmla="val -1818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sz="800" b="1" noProof="1"/>
              <a:t>Role independent of stage</a:t>
            </a:r>
            <a:endParaRPr sz="800" b="1"/>
          </a:p>
          <a:p>
            <a:pPr marL="89999" lvl="0" indent="-158750" algn="l" rtl="0">
              <a:spcBef>
                <a:spcPts val="0"/>
              </a:spcBef>
              <a:spcAft>
                <a:spcPts val="0"/>
              </a:spcAft>
              <a:buSzPts val="1000"/>
              <a:buChar char="●"/>
            </a:pPr>
            <a:r>
              <a:rPr lang="ja" sz="800" noProof="1"/>
              <a:t>Role to educate and penetrate</a:t>
            </a:r>
            <a:endParaRPr sz="800"/>
          </a:p>
          <a:p>
            <a:pPr marL="89999" lvl="0" indent="-158750" algn="l" rtl="0">
              <a:spcBef>
                <a:spcPts val="0"/>
              </a:spcBef>
              <a:spcAft>
                <a:spcPts val="0"/>
              </a:spcAft>
              <a:buSzPts val="1000"/>
              <a:buChar char="●"/>
            </a:pPr>
            <a:r>
              <a:rPr lang="ja" sz="800" noProof="1"/>
              <a:t>There is a life cycle: it grows, it becomes smaller when it penetrates</a:t>
            </a:r>
            <a:endParaRPr sz="800"/>
          </a:p>
        </p:txBody>
      </p:sp>
      <p:sp>
        <p:nvSpPr>
          <p:cNvPr id="177" name="Google Shape;177;p24"/>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ja" sz="560" u="sng" noProof="1">
                <a:solidFill>
                  <a:schemeClr val="hlink"/>
                </a:solidFill>
                <a:hlinkClick r:id="rId4"/>
              </a:rPr>
              <a:t>https://www.linuxfoundation.jp/wp-content/uploads/2022/11/ja_LFR_LFAID_Deep_Dive_Open_Source_Program_Offices_0830.pdf</a:t>
            </a:r>
            <a:endParaRPr sz="560" u="sng">
              <a:solidFill>
                <a:schemeClr val="hlink"/>
              </a:solidFill>
            </a:endParaRPr>
          </a:p>
          <a:p>
            <a:pPr marL="0" lvl="0" indent="0" algn="l" rtl="0">
              <a:lnSpc>
                <a:spcPct val="115000"/>
              </a:lnSpc>
              <a:spcBef>
                <a:spcPts val="0"/>
              </a:spcBef>
              <a:spcAft>
                <a:spcPts val="0"/>
              </a:spcAft>
              <a:buNone/>
            </a:pPr>
            <a:r>
              <a:rPr lang="ja" sz="560" noProof="1">
                <a:solidFill>
                  <a:schemeClr val="dk1"/>
                </a:solidFill>
              </a:rPr>
              <a:t>Ibrahim Haddad, “</a:t>
            </a:r>
            <a:r>
              <a:rPr lang="ja" sz="560" b="1" noProof="1">
                <a:solidFill>
                  <a:schemeClr val="dk1"/>
                </a:solidFill>
              </a:rPr>
              <a:t>A Deep Dive Into Open Source Program Offices:</a:t>
            </a:r>
            <a:endParaRPr sz="560" b="1">
              <a:solidFill>
                <a:schemeClr val="dk1"/>
              </a:solidFill>
            </a:endParaRPr>
          </a:p>
          <a:p>
            <a:pPr marL="0" lvl="0" indent="0" algn="l" rtl="0">
              <a:lnSpc>
                <a:spcPct val="115000"/>
              </a:lnSpc>
              <a:spcBef>
                <a:spcPts val="0"/>
              </a:spcBef>
              <a:spcAft>
                <a:spcPts val="0"/>
              </a:spcAft>
              <a:buNone/>
            </a:pPr>
            <a:r>
              <a:rPr lang="ja" sz="560" b="1" noProof="1">
                <a:solidFill>
                  <a:schemeClr val="dk1"/>
                </a:solidFill>
              </a:rPr>
              <a:t>Structure, Roles, Responsibilities, and Challenges “ foreword by Chris Aniszczyk, August, 2022</a:t>
            </a:r>
            <a:endParaRPr sz="64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5"/>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Consideration of OSPO organizational growth</a:t>
            </a:r>
            <a:endParaRPr/>
          </a:p>
        </p:txBody>
      </p:sp>
      <p:sp>
        <p:nvSpPr>
          <p:cNvPr id="183" name="Google Shape;183;p25"/>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70000" lnSpcReduction="20000"/>
          </a:bodyPr>
          <a:lstStyle/>
          <a:p>
            <a:pPr marL="457200" lvl="0" indent="-308610" algn="l" rtl="0">
              <a:spcBef>
                <a:spcPts val="0"/>
              </a:spcBef>
              <a:spcAft>
                <a:spcPts val="0"/>
              </a:spcAft>
              <a:buSzPct val="100000"/>
              <a:buChar char="•"/>
            </a:pPr>
            <a:r>
              <a:rPr lang="ja" sz="1440" noProof="1"/>
              <a:t>Where it is located on the organizational chart varies from company to company</a:t>
            </a:r>
            <a:endParaRPr sz="1440"/>
          </a:p>
          <a:p>
            <a:pPr marL="914400" lvl="1" indent="-295275" algn="l" rtl="0">
              <a:spcBef>
                <a:spcPts val="0"/>
              </a:spcBef>
              <a:spcAft>
                <a:spcPts val="0"/>
              </a:spcAft>
              <a:buSzPct val="100000"/>
              <a:buChar char="•"/>
            </a:pPr>
            <a:r>
              <a:rPr lang="ja" noProof="1"/>
              <a:t>The roles also vary</a:t>
            </a:r>
            <a:endParaRPr/>
          </a:p>
          <a:p>
            <a:pPr marL="914400" lvl="1" indent="-295275" algn="l" rtl="0">
              <a:spcBef>
                <a:spcPts val="0"/>
              </a:spcBef>
              <a:spcAft>
                <a:spcPts val="0"/>
              </a:spcAft>
              <a:buSzPct val="100000"/>
              <a:buChar char="•"/>
            </a:pPr>
            <a:r>
              <a:rPr lang="ja" noProof="1"/>
              <a:t>Within R &amp; D, CTO Office, Security Office, Risk Compliance, Product Certification, Legal Intellectual Property</a:t>
            </a:r>
            <a:endParaRPr/>
          </a:p>
          <a:p>
            <a:pPr marL="914400" lvl="1" indent="-295275" algn="l" rtl="0">
              <a:spcBef>
                <a:spcPts val="0"/>
              </a:spcBef>
              <a:spcAft>
                <a:spcPts val="0"/>
              </a:spcAft>
              <a:buSzPct val="100000"/>
              <a:buChar char="•"/>
            </a:pPr>
            <a:r>
              <a:rPr lang="ja" noProof="1"/>
              <a:t>Where it is located above varies depending on the stage the company is in</a:t>
            </a:r>
            <a:endParaRPr/>
          </a:p>
          <a:p>
            <a:pPr marL="914400" lvl="1" indent="-295275" algn="l" rtl="0">
              <a:spcBef>
                <a:spcPts val="0"/>
              </a:spcBef>
              <a:spcAft>
                <a:spcPts val="0"/>
              </a:spcAft>
              <a:buSzPct val="100000"/>
              <a:buChar char="•"/>
            </a:pPr>
            <a:r>
              <a:rPr lang="ja" noProof="1"/>
              <a:t>The reason why it becomes controversial where it should be located is that it does not fit into the role of one place above</a:t>
            </a:r>
            <a:endParaRPr/>
          </a:p>
          <a:p>
            <a:pPr marL="914400" lvl="1" indent="-295275" algn="l" rtl="0">
              <a:spcBef>
                <a:spcPts val="0"/>
              </a:spcBef>
              <a:spcAft>
                <a:spcPts val="0"/>
              </a:spcAft>
              <a:buSzPct val="100000"/>
              <a:buChar char="•"/>
            </a:pPr>
            <a:r>
              <a:rPr lang="ja" noProof="1"/>
              <a:t>It also varies depending on which role the company focuses on in the OSPO</a:t>
            </a:r>
            <a:endParaRPr/>
          </a:p>
          <a:p>
            <a:pPr marL="457200" lvl="0" indent="-308610" algn="l" rtl="0">
              <a:spcBef>
                <a:spcPts val="0"/>
              </a:spcBef>
              <a:spcAft>
                <a:spcPts val="0"/>
              </a:spcAft>
              <a:buSzPct val="100000"/>
              <a:buChar char="•"/>
            </a:pPr>
            <a:r>
              <a:rPr lang="ja" noProof="1"/>
              <a:t>The way the OSPO works varies</a:t>
            </a:r>
            <a:endParaRPr/>
          </a:p>
          <a:p>
            <a:pPr marL="914400" lvl="1" indent="-295275" algn="l" rtl="0">
              <a:spcBef>
                <a:spcPts val="0"/>
              </a:spcBef>
              <a:spcAft>
                <a:spcPts val="0"/>
              </a:spcAft>
              <a:buSzPct val="100000"/>
              <a:buChar char="•"/>
            </a:pPr>
            <a:r>
              <a:rPr lang="ja" noProof="1"/>
              <a:t>Virtual-real</a:t>
            </a:r>
            <a:endParaRPr/>
          </a:p>
          <a:p>
            <a:pPr marL="914400" lvl="1" indent="-295275" algn="l" rtl="0">
              <a:spcBef>
                <a:spcPts val="0"/>
              </a:spcBef>
              <a:spcAft>
                <a:spcPts val="0"/>
              </a:spcAft>
              <a:buSzPct val="100000"/>
              <a:buChar char="•"/>
            </a:pPr>
            <a:r>
              <a:rPr lang="ja" noProof="1"/>
              <a:t>Multiple locations - centralized in one place</a:t>
            </a:r>
            <a:endParaRPr/>
          </a:p>
          <a:p>
            <a:pPr marL="1371600" lvl="2" indent="-281939" algn="l" rtl="0">
              <a:spcBef>
                <a:spcPts val="0"/>
              </a:spcBef>
              <a:spcAft>
                <a:spcPts val="0"/>
              </a:spcAft>
              <a:buSzPct val="100000"/>
              <a:buChar char="•"/>
            </a:pPr>
            <a:r>
              <a:rPr lang="ja" noProof="1"/>
              <a:t>In some cases, multiple OSPOs are created in a company, and as they grow, they become one.</a:t>
            </a:r>
            <a:endParaRPr/>
          </a:p>
          <a:p>
            <a:pPr marL="914400" lvl="1" indent="-295275" algn="l" rtl="0">
              <a:spcBef>
                <a:spcPts val="0"/>
              </a:spcBef>
              <a:spcAft>
                <a:spcPts val="0"/>
              </a:spcAft>
              <a:buSzPct val="100000"/>
              <a:buChar char="•"/>
            </a:pPr>
            <a:r>
              <a:rPr lang="ja" noProof="1"/>
              <a:t>OSPOs don't work when they are all in one place.</a:t>
            </a:r>
            <a:endParaRPr/>
          </a:p>
          <a:p>
            <a:pPr marL="1371600" lvl="2" indent="-281939" algn="l" rtl="0">
              <a:spcBef>
                <a:spcPts val="0"/>
              </a:spcBef>
              <a:spcAft>
                <a:spcPts val="0"/>
              </a:spcAft>
              <a:buSzPct val="100000"/>
              <a:buChar char="•"/>
            </a:pPr>
            <a:r>
              <a:rPr lang="ja" noProof="1"/>
              <a:t>It doesn't work because people say, "Leave it to this place."</a:t>
            </a:r>
            <a:endParaRPr/>
          </a:p>
          <a:p>
            <a:pPr marL="1828800" lvl="3" indent="-277494" algn="l" rtl="0">
              <a:spcBef>
                <a:spcPts val="0"/>
              </a:spcBef>
              <a:spcAft>
                <a:spcPts val="0"/>
              </a:spcAft>
              <a:buSzPct val="100000"/>
              <a:buChar char="•"/>
            </a:pPr>
            <a:r>
              <a:rPr lang="ja" noProof="1"/>
              <a:t>I'm afraid people stop learning about OSS culture.</a:t>
            </a:r>
            <a:endParaRPr/>
          </a:p>
          <a:p>
            <a:pPr marL="457200" lvl="0" indent="-308610" algn="l" rtl="0">
              <a:spcBef>
                <a:spcPts val="0"/>
              </a:spcBef>
              <a:spcAft>
                <a:spcPts val="0"/>
              </a:spcAft>
              <a:buSzPct val="100000"/>
              <a:buChar char="•"/>
            </a:pPr>
            <a:r>
              <a:rPr lang="ja" noProof="1"/>
              <a:t>I think about how OSPO started.</a:t>
            </a:r>
            <a:endParaRPr/>
          </a:p>
          <a:p>
            <a:pPr marL="914400" lvl="1" indent="-295275" algn="l" rtl="0">
              <a:spcBef>
                <a:spcPts val="0"/>
              </a:spcBef>
              <a:spcAft>
                <a:spcPts val="0"/>
              </a:spcAft>
              <a:buSzPct val="100000"/>
              <a:buChar char="•"/>
            </a:pPr>
            <a:r>
              <a:rPr lang="ja" noProof="1"/>
              <a:t>In the beginning, we didn't have the term OSPO, and we were evangelizing about OSS being important and protecting licenses.</a:t>
            </a:r>
            <a:endParaRPr/>
          </a:p>
          <a:p>
            <a:pPr marL="914400" lvl="1" indent="-295275" algn="l" rtl="0">
              <a:spcBef>
                <a:spcPts val="0"/>
              </a:spcBef>
              <a:spcAft>
                <a:spcPts val="0"/>
              </a:spcAft>
              <a:buSzPct val="100000"/>
              <a:buChar char="•"/>
            </a:pPr>
            <a:r>
              <a:rPr lang="ja" noProof="1"/>
              <a:t>We started by understanding licenses like the GPL.</a:t>
            </a:r>
            <a:endParaRPr/>
          </a:p>
          <a:p>
            <a:pPr marL="914400" lvl="1" indent="-295275" algn="l" rtl="0">
              <a:spcBef>
                <a:spcPts val="0"/>
              </a:spcBef>
              <a:spcAft>
                <a:spcPts val="0"/>
              </a:spcAft>
              <a:buSzPct val="100000"/>
              <a:buChar char="•"/>
            </a:pPr>
            <a:r>
              <a:rPr lang="ja" noProof="1"/>
              <a:t>The lifecycle of OSPO itself:</a:t>
            </a:r>
            <a:endParaRPr/>
          </a:p>
          <a:p>
            <a:pPr marL="1371600" lvl="2" indent="-281939" algn="l" rtl="0">
              <a:spcBef>
                <a:spcPts val="0"/>
              </a:spcBef>
              <a:spcAft>
                <a:spcPts val="0"/>
              </a:spcAft>
              <a:buSzPct val="100000"/>
              <a:buChar char="•"/>
            </a:pPr>
            <a:r>
              <a:rPr lang="ja" noProof="1"/>
              <a:t>Ibrahim's session at OSS EU: </a:t>
            </a:r>
            <a:r>
              <a:rPr lang="ja" u="sng" noProof="1">
                <a:solidFill>
                  <a:schemeClr val="hlink"/>
                </a:solidFill>
                <a:hlinkClick r:id="rId3"/>
              </a:rPr>
              <a:t>https://sched.co/1OZJh</a:t>
            </a:r>
            <a:r>
              <a:rPr lang="ja" noProof="1"/>
              <a:t> (around 1: 05)</a:t>
            </a:r>
            <a:endParaRPr/>
          </a:p>
          <a:p>
            <a:pPr marL="457200" lvl="0" indent="-308610" algn="l" rtl="0">
              <a:spcBef>
                <a:spcPts val="0"/>
              </a:spcBef>
              <a:spcAft>
                <a:spcPts val="0"/>
              </a:spcAft>
              <a:buSzPct val="100000"/>
              <a:buChar char="•"/>
            </a:pPr>
            <a:r>
              <a:rPr lang="ja" noProof="1"/>
              <a:t>See: Deep Dive: The Open Source Program Office - The Linux Foundation</a:t>
            </a:r>
            <a:r>
              <a:rPr lang="ja" u="sng" noProof="1">
                <a:solidFill>
                  <a:schemeClr val="hlink"/>
                </a:solidFill>
                <a:hlinkClick r:id="rId4"/>
              </a:rPr>
              <a:t>https://www.linuxfoundation.jp/publications/2022/11/a-deep-dive-into-open-source-program-offices/</a:t>
            </a:r>
            <a:endParaRPr/>
          </a:p>
          <a:p>
            <a:pPr marL="914400" lvl="1" indent="-295275" algn="l" rtl="0">
              <a:spcBef>
                <a:spcPts val="0"/>
              </a:spcBef>
              <a:spcAft>
                <a:spcPts val="0"/>
              </a:spcAft>
              <a:buSzPct val="100000"/>
              <a:buChar char="•"/>
            </a:pPr>
            <a:r>
              <a:rPr lang="ja" noProof="1"/>
              <a:t>Ibrahim Haddad, “</a:t>
            </a:r>
            <a:r>
              <a:rPr lang="ja" b="1" noProof="1"/>
              <a:t>A Deep Dive Into Open Source Program Offices: Structure, Roles, Responsibilities, and Challenges</a:t>
            </a:r>
            <a:r>
              <a:rPr lang="ja" noProof="1"/>
              <a:t> “ foreword by Chris Aniszczyk, August, 2022</a:t>
            </a:r>
            <a:endParaRPr/>
          </a:p>
          <a:p>
            <a:pPr marL="914400" lvl="1" indent="-295275" algn="l" rtl="0">
              <a:spcBef>
                <a:spcPts val="0"/>
              </a:spcBef>
              <a:spcAft>
                <a:spcPts val="0"/>
              </a:spcAft>
              <a:buSzPct val="100000"/>
              <a:buChar char="•"/>
            </a:pPr>
            <a:r>
              <a:t> </a:t>
            </a:r>
          </a:p>
          <a:p>
            <a:pPr marL="457200" lvl="0" indent="-308610" algn="l" rtl="0">
              <a:spcBef>
                <a:spcPts val="0"/>
              </a:spcBef>
              <a:spcAft>
                <a:spcPts val="0"/>
              </a:spcAft>
              <a:buSzPct val="100000"/>
              <a:buChar char="•"/>
            </a:pPr>
            <a:r>
              <a:t> </a:t>
            </a:r>
          </a:p>
          <a:p>
            <a:pPr marL="0" lvl="0" indent="0" algn="l" rtl="0">
              <a:spcBef>
                <a:spcPts val="0"/>
              </a:spcBef>
              <a:spcAft>
                <a:spcPts val="0"/>
              </a:spcAft>
              <a:buNone/>
            </a:pPr>
            <a:r>
              <a:t> </a:t>
            </a:r>
          </a:p>
        </p:txBody>
      </p:sp>
      <p:sp>
        <p:nvSpPr>
          <p:cNvPr id="184" name="Google Shape;184;p25"/>
          <p:cNvSpPr/>
          <p:nvPr/>
        </p:nvSpPr>
        <p:spPr>
          <a:xfrm>
            <a:off x="7307150" y="345875"/>
            <a:ext cx="13539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noProof="1"/>
              <a:t>2023/9/22 Discussion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6"/>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Change in awareness of OSS</a:t>
            </a:r>
            <a:endParaRPr/>
          </a:p>
        </p:txBody>
      </p:sp>
      <p:graphicFrame>
        <p:nvGraphicFramePr>
          <p:cNvPr id="190" name="Google Shape;190;p26"/>
          <p:cNvGraphicFramePr/>
          <p:nvPr/>
        </p:nvGraphicFramePr>
        <p:xfrm>
          <a:off x="276025" y="903900"/>
          <a:ext cx="3000000" cy="3000000"/>
        </p:xfrm>
        <a:graphic>
          <a:graphicData uri="http://schemas.openxmlformats.org/drawingml/2006/table">
            <a:tbl>
              <a:tblPr>
                <a:noFill/>
                <a:tableStyleId>{FA691572-F3AE-4C50-9FBC-A2B79843BC87}</a:tableStyleId>
              </a:tblPr>
              <a:tblGrid>
                <a:gridCol w="820325">
                  <a:extLst>
                    <a:ext uri="{9D8B030D-6E8A-4147-A177-3AD203B41FA5}">
                      <a16:colId xmlns:a16="http://schemas.microsoft.com/office/drawing/2014/main" val="20000"/>
                    </a:ext>
                  </a:extLst>
                </a:gridCol>
                <a:gridCol w="2317725">
                  <a:extLst>
                    <a:ext uri="{9D8B030D-6E8A-4147-A177-3AD203B41FA5}">
                      <a16:colId xmlns:a16="http://schemas.microsoft.com/office/drawing/2014/main" val="20001"/>
                    </a:ext>
                  </a:extLst>
                </a:gridCol>
                <a:gridCol w="2515850">
                  <a:extLst>
                    <a:ext uri="{9D8B030D-6E8A-4147-A177-3AD203B41FA5}">
                      <a16:colId xmlns:a16="http://schemas.microsoft.com/office/drawing/2014/main" val="20002"/>
                    </a:ext>
                  </a:extLst>
                </a:gridCol>
                <a:gridCol w="2559925">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t> </a:t>
                      </a:r>
                      <a:endParaRPr sz="960"/>
                    </a:p>
                  </a:txBody>
                  <a:tcPr marL="91425" marR="91425" marT="91425" marB="91425"/>
                </a:tc>
                <a:tc>
                  <a:txBody>
                    <a:bodyPr/>
                    <a:lstStyle/>
                    <a:p>
                      <a:pPr marL="0" lvl="0" indent="0" algn="l" rtl="0">
                        <a:spcBef>
                          <a:spcPts val="0"/>
                        </a:spcBef>
                        <a:spcAft>
                          <a:spcPts val="0"/>
                        </a:spcAft>
                        <a:buNone/>
                      </a:pPr>
                      <a:r>
                        <a:rPr lang="ja" sz="960" noProof="1"/>
                        <a:t>Use in business activities</a:t>
                      </a:r>
                      <a:endParaRPr sz="960"/>
                    </a:p>
                  </a:txBody>
                  <a:tcPr marL="91425" marR="91425" marT="91425" marB="91425"/>
                </a:tc>
                <a:tc>
                  <a:txBody>
                    <a:bodyPr/>
                    <a:lstStyle/>
                    <a:p>
                      <a:pPr marL="0" lvl="0" indent="0" algn="l" rtl="0">
                        <a:spcBef>
                          <a:spcPts val="0"/>
                        </a:spcBef>
                        <a:spcAft>
                          <a:spcPts val="0"/>
                        </a:spcAft>
                        <a:buNone/>
                      </a:pPr>
                      <a:r>
                        <a:rPr lang="ja" sz="960" noProof="1"/>
                        <a:t>Compliance</a:t>
                      </a:r>
                      <a:endParaRPr sz="960"/>
                    </a:p>
                  </a:txBody>
                  <a:tcPr marL="91425" marR="91425" marT="91425" marB="91425"/>
                </a:tc>
                <a:tc>
                  <a:txBody>
                    <a:bodyPr/>
                    <a:lstStyle/>
                    <a:p>
                      <a:pPr marL="0" lvl="0" indent="0" algn="l" rtl="0">
                        <a:spcBef>
                          <a:spcPts val="0"/>
                        </a:spcBef>
                        <a:spcAft>
                          <a:spcPts val="0"/>
                        </a:spcAft>
                        <a:buNone/>
                      </a:pPr>
                      <a:r>
                        <a:rPr lang="ja" sz="960" noProof="1"/>
                        <a:t>Contribution</a:t>
                      </a:r>
                      <a:endParaRPr sz="960"/>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sz="960" noProof="1"/>
                        <a:t>Stage 4</a:t>
                      </a:r>
                      <a:endParaRPr sz="960"/>
                    </a:p>
                  </a:txBody>
                  <a:tcPr marL="91425" marR="91425" marT="91425" marB="91425"/>
                </a:tc>
                <a:tc>
                  <a:txBody>
                    <a:bodyPr/>
                    <a:lstStyle/>
                    <a:p>
                      <a:pPr marL="0" lvl="0" indent="0" algn="l" rtl="0">
                        <a:spcBef>
                          <a:spcPts val="0"/>
                        </a:spcBef>
                        <a:spcAft>
                          <a:spcPts val="0"/>
                        </a:spcAft>
                        <a:buNone/>
                      </a:pPr>
                      <a:r>
                        <a:rPr lang="ja" sz="960" noProof="1"/>
                        <a:t>Understanding that revitalizing the community is necessary for business stability</a:t>
                      </a:r>
                      <a:endParaRPr sz="960"/>
                    </a:p>
                  </a:txBody>
                  <a:tcPr marL="91425" marR="91425" marT="91425" marB="91425"/>
                </a:tc>
                <a:tc>
                  <a:txBody>
                    <a:bodyPr/>
                    <a:lstStyle/>
                    <a:p>
                      <a:pPr marL="0" lvl="0" indent="0" algn="l" rtl="0">
                        <a:spcBef>
                          <a:spcPts val="0"/>
                        </a:spcBef>
                        <a:spcAft>
                          <a:spcPts val="0"/>
                        </a:spcAft>
                        <a:buNone/>
                      </a:pPr>
                      <a:r>
                        <a:rPr lang="ja" sz="960" noProof="1"/>
                        <a:t>Proposing and promoting better licensing practices</a:t>
                      </a:r>
                      <a:endParaRPr sz="960"/>
                    </a:p>
                  </a:txBody>
                  <a:tcPr marL="91425" marR="91425" marT="91425" marB="91425"/>
                </a:tc>
                <a:tc>
                  <a:txBody>
                    <a:bodyPr/>
                    <a:lstStyle/>
                    <a:p>
                      <a:pPr marL="0" lvl="0" indent="0" algn="l" rtl="0">
                        <a:spcBef>
                          <a:spcPts val="0"/>
                        </a:spcBef>
                        <a:spcAft>
                          <a:spcPts val="0"/>
                        </a:spcAft>
                        <a:buNone/>
                      </a:pPr>
                      <a:r>
                        <a:rPr lang="ja" sz="960" noProof="1"/>
                        <a:t>Proposing and promoting the development of new functions and modules</a:t>
                      </a:r>
                      <a:endParaRPr sz="96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ja" sz="960" noProof="1"/>
                        <a:t>Stage 3</a:t>
                      </a:r>
                      <a:endParaRPr sz="960"/>
                    </a:p>
                  </a:txBody>
                  <a:tcPr marL="91425" marR="91425" marT="91425" marB="91425"/>
                </a:tc>
                <a:tc>
                  <a:txBody>
                    <a:bodyPr/>
                    <a:lstStyle/>
                    <a:p>
                      <a:pPr marL="0" lvl="0" indent="0" algn="l" rtl="0">
                        <a:spcBef>
                          <a:spcPts val="0"/>
                        </a:spcBef>
                        <a:spcAft>
                          <a:spcPts val="0"/>
                        </a:spcAft>
                        <a:buNone/>
                      </a:pPr>
                      <a:r>
                        <a:rPr lang="ja" sz="960" noProof="1"/>
                        <a:t>Understanding that good communication with the community leads to product improvement</a:t>
                      </a:r>
                      <a:endParaRPr sz="960"/>
                    </a:p>
                  </a:txBody>
                  <a:tcPr marL="91425" marR="91425" marT="91425" marB="91425"/>
                </a:tc>
                <a:tc>
                  <a:txBody>
                    <a:bodyPr/>
                    <a:lstStyle/>
                    <a:p>
                      <a:pPr marL="0" lvl="0" indent="0" algn="l" rtl="0">
                        <a:spcBef>
                          <a:spcPts val="0"/>
                        </a:spcBef>
                        <a:spcAft>
                          <a:spcPts val="0"/>
                        </a:spcAft>
                        <a:buNone/>
                      </a:pPr>
                      <a:r>
                        <a:rPr lang="ja" sz="960" noProof="1"/>
                        <a:t>Discuss licensing and tools with the community</a:t>
                      </a:r>
                      <a:endParaRPr sz="960"/>
                    </a:p>
                  </a:txBody>
                  <a:tcPr marL="91425" marR="91425" marT="91425" marB="91425"/>
                </a:tc>
                <a:tc>
                  <a:txBody>
                    <a:bodyPr/>
                    <a:lstStyle/>
                    <a:p>
                      <a:pPr marL="0" lvl="0" indent="0" algn="l" rtl="0">
                        <a:spcBef>
                          <a:spcPts val="0"/>
                        </a:spcBef>
                        <a:spcAft>
                          <a:spcPts val="0"/>
                        </a:spcAft>
                        <a:buNone/>
                      </a:pPr>
                      <a:r>
                        <a:rPr lang="ja" sz="960" noProof="1"/>
                        <a:t>Participate in community updates and bug fixes</a:t>
                      </a:r>
                      <a:endParaRPr sz="96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ja" sz="960" noProof="1"/>
                        <a:t>Stage 2</a:t>
                      </a:r>
                      <a:endParaRPr sz="960"/>
                    </a:p>
                  </a:txBody>
                  <a:tcPr marL="91425" marR="91425" marT="91425" marB="91425"/>
                </a:tc>
                <a:tc>
                  <a:txBody>
                    <a:bodyPr/>
                    <a:lstStyle/>
                    <a:p>
                      <a:pPr marL="0" lvl="0" indent="0" algn="l" rtl="0">
                        <a:spcBef>
                          <a:spcPts val="0"/>
                        </a:spcBef>
                        <a:spcAft>
                          <a:spcPts val="0"/>
                        </a:spcAft>
                        <a:buNone/>
                      </a:pPr>
                      <a:r>
                        <a:rPr lang="ja" sz="960" noProof="1"/>
                        <a:t>Notice that the quality is substantially high.</a:t>
                      </a:r>
                      <a:endParaRPr sz="960"/>
                    </a:p>
                    <a:p>
                      <a:pPr marL="0" lvl="0" indent="0" algn="l" rtl="0">
                        <a:spcBef>
                          <a:spcPts val="0"/>
                        </a:spcBef>
                        <a:spcAft>
                          <a:spcPts val="0"/>
                        </a:spcAft>
                        <a:buNone/>
                      </a:pPr>
                      <a:r>
                        <a:rPr lang="ja" sz="960" noProof="1"/>
                        <a:t>Notice that even if there is a bug, it will be fixed</a:t>
                      </a:r>
                      <a:endParaRPr sz="960"/>
                    </a:p>
                  </a:txBody>
                  <a:tcPr marL="91425" marR="91425" marT="91425" marB="91425"/>
                </a:tc>
                <a:tc>
                  <a:txBody>
                    <a:bodyPr/>
                    <a:lstStyle/>
                    <a:p>
                      <a:pPr marL="0" lvl="0" indent="0" algn="l" rtl="0">
                        <a:spcBef>
                          <a:spcPts val="0"/>
                        </a:spcBef>
                        <a:spcAft>
                          <a:spcPts val="0"/>
                        </a:spcAft>
                        <a:buNone/>
                      </a:pPr>
                      <a:r>
                        <a:rPr lang="ja" sz="960" noProof="1"/>
                        <a:t>Respect community opinions and opinions</a:t>
                      </a:r>
                      <a:endParaRPr sz="96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960" noProof="1">
                          <a:solidFill>
                            <a:schemeClr val="dk1"/>
                          </a:solidFill>
                        </a:rPr>
                        <a:t>Utilize community updates and bug information. Report discovered bugs, report usage results</a:t>
                      </a:r>
                      <a:endParaRPr sz="96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ja" sz="960" noProof="1"/>
                        <a:t>Stage 1</a:t>
                      </a:r>
                      <a:endParaRPr sz="960"/>
                    </a:p>
                  </a:txBody>
                  <a:tcPr marL="91425" marR="91425" marT="91425" marB="91425"/>
                </a:tc>
                <a:tc>
                  <a:txBody>
                    <a:bodyPr/>
                    <a:lstStyle/>
                    <a:p>
                      <a:pPr marL="0" lvl="0" indent="0" algn="l" rtl="0">
                        <a:spcBef>
                          <a:spcPts val="0"/>
                        </a:spcBef>
                        <a:spcAft>
                          <a:spcPts val="0"/>
                        </a:spcAft>
                        <a:buNone/>
                      </a:pPr>
                      <a:r>
                        <a:rPr lang="ja" sz="960" noProof="1"/>
                        <a:t>Minimum usage reporting and information disclosure in accordance with license</a:t>
                      </a:r>
                      <a:endParaRPr sz="960"/>
                    </a:p>
                  </a:txBody>
                  <a:tcPr marL="91425" marR="91425" marT="91425" marB="91425"/>
                </a:tc>
                <a:tc>
                  <a:txBody>
                    <a:bodyPr/>
                    <a:lstStyle/>
                    <a:p>
                      <a:pPr marL="0" lvl="0" indent="0" algn="l" rtl="0">
                        <a:spcBef>
                          <a:spcPts val="0"/>
                        </a:spcBef>
                        <a:spcAft>
                          <a:spcPts val="0"/>
                        </a:spcAft>
                        <a:buNone/>
                      </a:pPr>
                      <a:r>
                        <a:rPr lang="ja" sz="960" noProof="1"/>
                        <a:t>Minimum legal response</a:t>
                      </a:r>
                      <a:endParaRPr sz="960"/>
                    </a:p>
                  </a:txBody>
                  <a:tcPr marL="91425" marR="91425" marT="91425" marB="91425"/>
                </a:tc>
                <a:tc>
                  <a:txBody>
                    <a:bodyPr/>
                    <a:lstStyle/>
                    <a:p>
                      <a:pPr marL="0" lvl="0" indent="0" algn="l" rtl="0">
                        <a:spcBef>
                          <a:spcPts val="0"/>
                        </a:spcBef>
                        <a:spcAft>
                          <a:spcPts val="0"/>
                        </a:spcAft>
                        <a:buNone/>
                      </a:pPr>
                      <a:r>
                        <a:rPr lang="ja" sz="960" noProof="1"/>
                        <a:t>Minimum source disclosure according to license</a:t>
                      </a:r>
                      <a:endParaRPr sz="960"/>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ja" sz="960" noProof="1"/>
                        <a:t>Stage 0</a:t>
                      </a:r>
                      <a:endParaRPr sz="960"/>
                    </a:p>
                  </a:txBody>
                  <a:tcPr marL="91425" marR="91425" marT="91425" marB="91425"/>
                </a:tc>
                <a:tc>
                  <a:txBody>
                    <a:bodyPr/>
                    <a:lstStyle/>
                    <a:p>
                      <a:pPr marL="0" lvl="0" indent="0" algn="l" rtl="0">
                        <a:spcBef>
                          <a:spcPts val="0"/>
                        </a:spcBef>
                        <a:spcAft>
                          <a:spcPts val="0"/>
                        </a:spcAft>
                        <a:buNone/>
                      </a:pPr>
                      <a:r>
                        <a:rPr lang="ja" sz="960" noProof="1"/>
                        <a:t>Use it because it's free</a:t>
                      </a:r>
                      <a:endParaRPr sz="960"/>
                    </a:p>
                  </a:txBody>
                  <a:tcPr marL="91425" marR="91425" marT="91425" marB="91425"/>
                </a:tc>
                <a:tc>
                  <a:txBody>
                    <a:bodyPr/>
                    <a:lstStyle/>
                    <a:p>
                      <a:pPr marL="0" lvl="0" indent="0" algn="l" rtl="0">
                        <a:spcBef>
                          <a:spcPts val="0"/>
                        </a:spcBef>
                        <a:spcAft>
                          <a:spcPts val="0"/>
                        </a:spcAft>
                        <a:buNone/>
                      </a:pPr>
                      <a:r>
                        <a:rPr lang="ja" sz="960" noProof="1"/>
                        <a:t>I'm not sure. If you can't find it, fine.</a:t>
                      </a:r>
                      <a:endParaRPr sz="960"/>
                    </a:p>
                  </a:txBody>
                  <a:tcPr marL="91425" marR="91425" marT="91425" marB="91425"/>
                </a:tc>
                <a:tc>
                  <a:txBody>
                    <a:bodyPr/>
                    <a:lstStyle/>
                    <a:p>
                      <a:pPr marL="0" lvl="0" indent="0" algn="l" rtl="0">
                        <a:spcBef>
                          <a:spcPts val="0"/>
                        </a:spcBef>
                        <a:spcAft>
                          <a:spcPts val="0"/>
                        </a:spcAft>
                        <a:buNone/>
                      </a:pPr>
                      <a:r>
                        <a:rPr lang="ja" sz="960" noProof="1"/>
                        <a:t>It's a loss to give your code</a:t>
                      </a:r>
                      <a:endParaRPr sz="960"/>
                    </a:p>
                  </a:txBody>
                  <a:tcPr marL="91425" marR="91425" marT="91425" marB="91425"/>
                </a:tc>
                <a:extLst>
                  <a:ext uri="{0D108BD9-81ED-4DB2-BD59-A6C34878D82A}">
                    <a16:rowId xmlns:a16="http://schemas.microsoft.com/office/drawing/2014/main" val="10005"/>
                  </a:ext>
                </a:extLst>
              </a:tr>
            </a:tbl>
          </a:graphicData>
        </a:graphic>
      </p:graphicFrame>
      <p:sp>
        <p:nvSpPr>
          <p:cNvPr id="191" name="Google Shape;191;p26"/>
          <p:cNvSpPr/>
          <p:nvPr/>
        </p:nvSpPr>
        <p:spPr>
          <a:xfrm>
            <a:off x="7307150" y="345875"/>
            <a:ext cx="15330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noProof="1"/>
              <a:t>2023/10/27 discussion</a:t>
            </a:r>
            <a:endParaRPr/>
          </a:p>
        </p:txBody>
      </p:sp>
      <p:sp>
        <p:nvSpPr>
          <p:cNvPr id="192" name="Google Shape;192;p26"/>
          <p:cNvSpPr/>
          <p:nvPr/>
        </p:nvSpPr>
        <p:spPr>
          <a:xfrm rot="5400000">
            <a:off x="7054400" y="2772175"/>
            <a:ext cx="3105000" cy="4665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noProof="1"/>
              <a:t>increased cost</a:t>
            </a:r>
            <a:endParaRPr/>
          </a:p>
        </p:txBody>
      </p:sp>
      <p:sp>
        <p:nvSpPr>
          <p:cNvPr id="193" name="Google Shape;193;p26"/>
          <p:cNvSpPr/>
          <p:nvPr/>
        </p:nvSpPr>
        <p:spPr>
          <a:xfrm rot="5400000">
            <a:off x="7358250" y="2598400"/>
            <a:ext cx="3105000" cy="4665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noProof="1"/>
              <a:t>increased return</a:t>
            </a:r>
            <a:endParaRPr/>
          </a:p>
        </p:txBody>
      </p:sp>
      <p:sp>
        <p:nvSpPr>
          <p:cNvPr id="194" name="Google Shape;194;p26"/>
          <p:cNvSpPr/>
          <p:nvPr/>
        </p:nvSpPr>
        <p:spPr>
          <a:xfrm>
            <a:off x="7264650" y="4557925"/>
            <a:ext cx="1679700" cy="545400"/>
          </a:xfrm>
          <a:prstGeom prst="wedgeRoundRectCallout">
            <a:avLst>
              <a:gd name="adj1" fmla="val 38690"/>
              <a:gd name="adj2" fmla="val -169692"/>
              <a:gd name="adj3" fmla="val 0"/>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sz="960" noProof="1"/>
              <a:t>Cost-return balance point varies by company</a:t>
            </a:r>
            <a:endParaRPr sz="960"/>
          </a:p>
        </p:txBody>
      </p:sp>
      <p:sp>
        <p:nvSpPr>
          <p:cNvPr id="195" name="Google Shape;195;p26"/>
          <p:cNvSpPr txBox="1">
            <a:spLocks noGrp="1"/>
          </p:cNvSpPr>
          <p:nvPr>
            <p:ph type="body" idx="1"/>
          </p:nvPr>
        </p:nvSpPr>
        <p:spPr>
          <a:xfrm>
            <a:off x="209850" y="86831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7"/>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7/11 Plenary Breakout Session</a:t>
            </a:r>
            <a:endParaRPr/>
          </a:p>
        </p:txBody>
      </p:sp>
      <p:sp>
        <p:nvSpPr>
          <p:cNvPr id="201" name="Google Shape;201;p27"/>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noProof="1"/>
              <a:t>Q: </a:t>
            </a:r>
            <a:r>
              <a:rPr lang="ja" noProof="1">
                <a:solidFill>
                  <a:schemeClr val="dk1"/>
                </a:solidFill>
              </a:rPr>
              <a:t>What do I need for OSPO?</a:t>
            </a:r>
            <a:r>
              <a:rPr lang="ja" noProof="1"/>
              <a:t> </a:t>
            </a:r>
            <a:r>
              <a:rPr lang="ja" noProof="1">
                <a:solidFill>
                  <a:schemeClr val="dk1"/>
                </a:solidFill>
              </a:rPr>
              <a:t>How do I launch OSPO?</a:t>
            </a:r>
            <a:endParaRPr/>
          </a:p>
        </p:txBody>
      </p:sp>
      <p:sp>
        <p:nvSpPr>
          <p:cNvPr id="202" name="Google Shape;202;p27"/>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ja" noProof="1"/>
              <a:t>A:</a:t>
            </a:r>
            <a:r>
              <a:rPr lang="ja"/>
              <a:t>  </a:t>
            </a:r>
            <a:endParaRPr/>
          </a:p>
          <a:p>
            <a:pPr marL="457200" lvl="0" indent="-317500" algn="l" rtl="0">
              <a:spcBef>
                <a:spcPts val="0"/>
              </a:spcBef>
              <a:spcAft>
                <a:spcPts val="0"/>
              </a:spcAft>
              <a:buSzPts val="1400"/>
              <a:buChar char="●"/>
            </a:pPr>
            <a:r>
              <a:rPr lang="ja" noProof="1"/>
              <a:t>Resources (People, money)</a:t>
            </a:r>
            <a:endParaRPr/>
          </a:p>
          <a:p>
            <a:pPr marL="914400" lvl="1" indent="-317500" algn="l" rtl="0">
              <a:spcBef>
                <a:spcPts val="0"/>
              </a:spcBef>
              <a:spcAft>
                <a:spcPts val="0"/>
              </a:spcAft>
              <a:buSzPts val="1400"/>
              <a:buChar char="○"/>
            </a:pPr>
            <a:r>
              <a:rPr lang="ja" noProof="1"/>
              <a:t>The scale depends on what you do with OSPO</a:t>
            </a:r>
            <a:endParaRPr/>
          </a:p>
          <a:p>
            <a:pPr marL="914400" lvl="1" indent="-317500" algn="l" rtl="0">
              <a:spcBef>
                <a:spcPts val="0"/>
              </a:spcBef>
              <a:spcAft>
                <a:spcPts val="0"/>
              </a:spcAft>
              <a:buSzPts val="1400"/>
              <a:buChar char="○"/>
            </a:pPr>
            <a:r>
              <a:rPr lang="ja" noProof="1"/>
              <a:t>Minimum: Enforce license compliance internally</a:t>
            </a:r>
            <a:endParaRPr/>
          </a:p>
          <a:p>
            <a:pPr marL="914400" lvl="1" indent="-317500" algn="l" rtl="0">
              <a:spcBef>
                <a:spcPts val="0"/>
              </a:spcBef>
              <a:spcAft>
                <a:spcPts val="0"/>
              </a:spcAft>
              <a:buSzPts val="1400"/>
              <a:buChar char="○"/>
            </a:pPr>
            <a:r>
              <a:rPr lang="ja" noProof="1"/>
              <a:t>Plus: Scale increases as you spread to education, contributions, and strategy</a:t>
            </a:r>
            <a:endParaRPr/>
          </a:p>
          <a:p>
            <a:pPr marL="914400" lvl="1" indent="-317500" algn="l" rtl="0">
              <a:spcBef>
                <a:spcPts val="0"/>
              </a:spcBef>
              <a:spcAft>
                <a:spcPts val="0"/>
              </a:spcAft>
              <a:buSzPts val="1400"/>
              <a:buChar char="○"/>
            </a:pPr>
            <a:r>
              <a:rPr lang="ja" noProof="1"/>
              <a:t>For organizational continuity, the minimum number of people you need is more than one</a:t>
            </a:r>
            <a:endParaRPr/>
          </a:p>
          <a:p>
            <a:pPr marL="457200" lvl="0" indent="-317500" algn="l" rtl="0">
              <a:spcBef>
                <a:spcPts val="0"/>
              </a:spcBef>
              <a:spcAft>
                <a:spcPts val="0"/>
              </a:spcAft>
              <a:buSzPts val="1400"/>
              <a:buChar char="●"/>
            </a:pPr>
            <a:r>
              <a:rPr lang="ja" noProof="1"/>
              <a:t>Mindset</a:t>
            </a:r>
            <a:endParaRPr/>
          </a:p>
          <a:p>
            <a:pPr marL="914400" lvl="1" indent="-317500" algn="l" rtl="0">
              <a:spcBef>
                <a:spcPts val="0"/>
              </a:spcBef>
              <a:spcAft>
                <a:spcPts val="0"/>
              </a:spcAft>
              <a:buSzPts val="1400"/>
              <a:buChar char="○"/>
            </a:pPr>
            <a:r>
              <a:t> </a:t>
            </a:r>
          </a:p>
          <a:p>
            <a:pPr marL="457200" lvl="0" indent="-317500" algn="l" rtl="0">
              <a:spcBef>
                <a:spcPts val="0"/>
              </a:spcBef>
              <a:spcAft>
                <a:spcPts val="0"/>
              </a:spcAft>
              <a:buSzPts val="1400"/>
              <a:buChar char="●"/>
            </a:pPr>
            <a:r>
              <a:rPr lang="ja" noProof="1"/>
              <a:t>The will of the top management</a:t>
            </a:r>
            <a:endParaRPr/>
          </a:p>
          <a:p>
            <a:pPr marL="914400" lvl="1" indent="-317500" algn="l" rtl="0">
              <a:spcBef>
                <a:spcPts val="0"/>
              </a:spcBef>
              <a:spcAft>
                <a:spcPts val="0"/>
              </a:spcAft>
              <a:buSzPts val="1400"/>
              <a:buChar char="○"/>
            </a:pPr>
            <a:r>
              <a:rPr lang="ja" noProof="1"/>
              <a:t>The idea of the top management is important because money is attached to it</a:t>
            </a:r>
            <a:endParaRPr/>
          </a:p>
          <a:p>
            <a:pPr marL="1371600" lvl="2" indent="-317500" algn="l" rtl="0">
              <a:spcBef>
                <a:spcPts val="0"/>
              </a:spcBef>
              <a:spcAft>
                <a:spcPts val="0"/>
              </a:spcAft>
              <a:buSzPts val="1400"/>
              <a:buChar char="■"/>
            </a:pPr>
            <a:r>
              <a:rPr lang="ja" noProof="1"/>
              <a:t>License compliance is considered essential, but how do you go beyond that?</a:t>
            </a:r>
            <a:endParaRPr/>
          </a:p>
        </p:txBody>
      </p:sp>
      <p:sp>
        <p:nvSpPr>
          <p:cNvPr id="203" name="Google Shape;203;p27"/>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8"/>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Steps to start using OSS</a:t>
            </a:r>
            <a:endParaRPr/>
          </a:p>
        </p:txBody>
      </p:sp>
      <p:sp>
        <p:nvSpPr>
          <p:cNvPr id="209" name="Google Shape;209;p28"/>
          <p:cNvSpPr/>
          <p:nvPr/>
        </p:nvSpPr>
        <p:spPr>
          <a:xfrm>
            <a:off x="432000" y="1747225"/>
            <a:ext cx="2022000" cy="713400"/>
          </a:xfrm>
          <a:prstGeom prst="wedgeRectCallout">
            <a:avLst>
              <a:gd name="adj1" fmla="val 15440"/>
              <a:gd name="adj2" fmla="val 5273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sz="800" noProof="1"/>
              <a:t>Use existing software (make development easier)</a:t>
            </a:r>
            <a:endParaRPr sz="800"/>
          </a:p>
          <a:p>
            <a:pPr marL="0" lvl="0" indent="0" algn="l" rtl="0">
              <a:spcBef>
                <a:spcPts val="0"/>
              </a:spcBef>
              <a:spcAft>
                <a:spcPts val="0"/>
              </a:spcAft>
              <a:buNone/>
            </a:pPr>
            <a:r>
              <a:rPr lang="ja" sz="800" noProof="1"/>
              <a:t>(reduce internal development effort)</a:t>
            </a:r>
            <a:endParaRPr sz="800"/>
          </a:p>
          <a:p>
            <a:pPr marL="0" lvl="0" indent="0" algn="l" rtl="0">
              <a:spcBef>
                <a:spcPts val="0"/>
              </a:spcBef>
              <a:spcAft>
                <a:spcPts val="0"/>
              </a:spcAft>
              <a:buNone/>
            </a:pPr>
            <a:r>
              <a:t> </a:t>
            </a:r>
            <a:endParaRPr sz="800"/>
          </a:p>
        </p:txBody>
      </p:sp>
      <p:sp>
        <p:nvSpPr>
          <p:cNvPr id="210" name="Google Shape;210;p28"/>
          <p:cNvSpPr/>
          <p:nvPr/>
        </p:nvSpPr>
        <p:spPr>
          <a:xfrm>
            <a:off x="2677025" y="1616275"/>
            <a:ext cx="2022000" cy="1744800"/>
          </a:xfrm>
          <a:prstGeom prst="wedgeRectCallout">
            <a:avLst>
              <a:gd name="adj1" fmla="val 83404"/>
              <a:gd name="adj2" fmla="val 87269"/>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sz="800" noProof="1"/>
              <a:t>Use cutting-edge software (technology)</a:t>
            </a:r>
            <a:endParaRPr sz="800"/>
          </a:p>
          <a:p>
            <a:pPr marL="0" lvl="0" indent="0" algn="l" rtl="0">
              <a:spcBef>
                <a:spcPts val="0"/>
              </a:spcBef>
              <a:spcAft>
                <a:spcPts val="0"/>
              </a:spcAft>
              <a:buNone/>
            </a:pPr>
            <a:r>
              <a:rPr lang="ja" sz="800" noProof="1"/>
              <a:t>The software was created by many people, so it is at a high level</a:t>
            </a:r>
            <a:endParaRPr sz="800"/>
          </a:p>
          <a:p>
            <a:pPr marL="0" lvl="0" indent="0" algn="l" rtl="0">
              <a:spcBef>
                <a:spcPts val="0"/>
              </a:spcBef>
              <a:spcAft>
                <a:spcPts val="0"/>
              </a:spcAft>
              <a:buNone/>
            </a:pPr>
            <a:r>
              <a:t> </a:t>
            </a:r>
            <a:endParaRPr sz="800"/>
          </a:p>
          <a:p>
            <a:pPr marL="0" lvl="0" indent="0" algn="l" rtl="0">
              <a:spcBef>
                <a:spcPts val="0"/>
              </a:spcBef>
              <a:spcAft>
                <a:spcPts val="0"/>
              </a:spcAft>
              <a:buNone/>
            </a:pPr>
            <a:r>
              <a:t> </a:t>
            </a:r>
            <a:endParaRPr sz="800"/>
          </a:p>
        </p:txBody>
      </p:sp>
      <p:sp>
        <p:nvSpPr>
          <p:cNvPr id="211" name="Google Shape;211;p28"/>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9"/>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ja" noProof="1"/>
              <a:t>Consumer-Leader Open Source Value Map</a:t>
            </a:r>
            <a:endParaRPr/>
          </a:p>
        </p:txBody>
      </p:sp>
      <p:pic>
        <p:nvPicPr>
          <p:cNvPr id="217" name="Google Shape;217;p29"/>
          <p:cNvPicPr preferRelativeResize="0"/>
          <p:nvPr/>
        </p:nvPicPr>
        <p:blipFill>
          <a:blip r:embed="rId3">
            <a:alphaModFix/>
          </a:blip>
          <a:stretch>
            <a:fillRect/>
          </a:stretch>
        </p:blipFill>
        <p:spPr>
          <a:xfrm>
            <a:off x="152400" y="781224"/>
            <a:ext cx="8099674" cy="4209878"/>
          </a:xfrm>
          <a:prstGeom prst="rect">
            <a:avLst/>
          </a:prstGeom>
          <a:noFill/>
          <a:ln>
            <a:noFill/>
          </a:ln>
        </p:spPr>
      </p:pic>
      <p:sp>
        <p:nvSpPr>
          <p:cNvPr id="218" name="Google Shape;218;p29"/>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0"/>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Consumer-Leader Open Source Value Map</a:t>
            </a:r>
            <a:endParaRPr/>
          </a:p>
        </p:txBody>
      </p:sp>
      <p:graphicFrame>
        <p:nvGraphicFramePr>
          <p:cNvPr id="224" name="Google Shape;224;p30"/>
          <p:cNvGraphicFramePr/>
          <p:nvPr/>
        </p:nvGraphicFramePr>
        <p:xfrm>
          <a:off x="74800" y="767525"/>
          <a:ext cx="3000000" cy="3000000"/>
        </p:xfrm>
        <a:graphic>
          <a:graphicData uri="http://schemas.openxmlformats.org/drawingml/2006/table">
            <a:tbl>
              <a:tblPr>
                <a:noFill/>
                <a:tableStyleId>{FA691572-F3AE-4C50-9FBC-A2B79843BC87}</a:tableStyleId>
              </a:tblPr>
              <a:tblGrid>
                <a:gridCol w="398725">
                  <a:extLst>
                    <a:ext uri="{9D8B030D-6E8A-4147-A177-3AD203B41FA5}">
                      <a16:colId xmlns:a16="http://schemas.microsoft.com/office/drawing/2014/main" val="20000"/>
                    </a:ext>
                  </a:extLst>
                </a:gridCol>
                <a:gridCol w="2145025">
                  <a:extLst>
                    <a:ext uri="{9D8B030D-6E8A-4147-A177-3AD203B41FA5}">
                      <a16:colId xmlns:a16="http://schemas.microsoft.com/office/drawing/2014/main" val="20001"/>
                    </a:ext>
                  </a:extLst>
                </a:gridCol>
                <a:gridCol w="929375">
                  <a:extLst>
                    <a:ext uri="{9D8B030D-6E8A-4147-A177-3AD203B41FA5}">
                      <a16:colId xmlns:a16="http://schemas.microsoft.com/office/drawing/2014/main" val="20002"/>
                    </a:ext>
                  </a:extLst>
                </a:gridCol>
                <a:gridCol w="1100600">
                  <a:extLst>
                    <a:ext uri="{9D8B030D-6E8A-4147-A177-3AD203B41FA5}">
                      <a16:colId xmlns:a16="http://schemas.microsoft.com/office/drawing/2014/main" val="20003"/>
                    </a:ext>
                  </a:extLst>
                </a:gridCol>
                <a:gridCol w="1100600">
                  <a:extLst>
                    <a:ext uri="{9D8B030D-6E8A-4147-A177-3AD203B41FA5}">
                      <a16:colId xmlns:a16="http://schemas.microsoft.com/office/drawing/2014/main" val="20004"/>
                    </a:ext>
                  </a:extLst>
                </a:gridCol>
                <a:gridCol w="1100600">
                  <a:extLst>
                    <a:ext uri="{9D8B030D-6E8A-4147-A177-3AD203B41FA5}">
                      <a16:colId xmlns:a16="http://schemas.microsoft.com/office/drawing/2014/main" val="20005"/>
                    </a:ext>
                  </a:extLst>
                </a:gridCol>
                <a:gridCol w="1100600">
                  <a:extLst>
                    <a:ext uri="{9D8B030D-6E8A-4147-A177-3AD203B41FA5}">
                      <a16:colId xmlns:a16="http://schemas.microsoft.com/office/drawing/2014/main" val="20006"/>
                    </a:ext>
                  </a:extLst>
                </a:gridCol>
                <a:gridCol w="1100600">
                  <a:extLst>
                    <a:ext uri="{9D8B030D-6E8A-4147-A177-3AD203B41FA5}">
                      <a16:colId xmlns:a16="http://schemas.microsoft.com/office/drawing/2014/main" val="20007"/>
                    </a:ext>
                  </a:extLst>
                </a:gridCol>
              </a:tblGrid>
              <a:tr h="405875">
                <a:tc>
                  <a:txBody>
                    <a:bodyPr/>
                    <a:lstStyle/>
                    <a:p>
                      <a:pPr marL="0" lvl="0" indent="0" algn="l" rtl="0">
                        <a:lnSpc>
                          <a:spcPct val="115000"/>
                        </a:lnSpc>
                        <a:spcBef>
                          <a:spcPts val="0"/>
                        </a:spcBef>
                        <a:spcAft>
                          <a:spcPts val="0"/>
                        </a:spcAft>
                        <a:buNone/>
                      </a:pPr>
                      <a:r>
                        <a:t> </a:t>
                      </a:r>
                      <a:endParaRPr sz="960" b="1">
                        <a:solidFill>
                          <a:srgbClr val="FFFFFF"/>
                        </a:solidFill>
                      </a:endParaRPr>
                    </a:p>
                  </a:txBody>
                  <a:tcPr marL="91425" marR="91425" marT="91425" marB="91425">
                    <a:solidFill>
                      <a:schemeClr val="accent5"/>
                    </a:solidFill>
                  </a:tcPr>
                </a:tc>
                <a:tc>
                  <a:txBody>
                    <a:bodyPr/>
                    <a:lstStyle/>
                    <a:p>
                      <a:pPr marL="0" lvl="0" indent="0" algn="l" rtl="0">
                        <a:lnSpc>
                          <a:spcPct val="115000"/>
                        </a:lnSpc>
                        <a:spcBef>
                          <a:spcPts val="0"/>
                        </a:spcBef>
                        <a:spcAft>
                          <a:spcPts val="0"/>
                        </a:spcAft>
                        <a:buNone/>
                      </a:pPr>
                      <a:r>
                        <a:rPr lang="ja" sz="960" b="1" noProof="1">
                          <a:solidFill>
                            <a:srgbClr val="FFFFFF"/>
                          </a:solidFill>
                        </a:rPr>
                        <a:t>Human Resource Value (Individual)</a:t>
                      </a:r>
                      <a:endParaRPr sz="960" b="1">
                        <a:solidFill>
                          <a:srgbClr val="FFFFFF"/>
                        </a:solidFill>
                      </a:endParaRPr>
                    </a:p>
                  </a:txBody>
                  <a:tcPr marL="91425" marR="91425" marT="91425" marB="91425">
                    <a:solidFill>
                      <a:schemeClr val="accent5"/>
                    </a:solidFill>
                  </a:tcPr>
                </a:tc>
                <a:tc>
                  <a:txBody>
                    <a:bodyPr/>
                    <a:lstStyle/>
                    <a:p>
                      <a:pPr marL="0" lvl="0" indent="0" algn="l" rtl="0">
                        <a:lnSpc>
                          <a:spcPct val="115000"/>
                        </a:lnSpc>
                        <a:spcBef>
                          <a:spcPts val="0"/>
                        </a:spcBef>
                        <a:spcAft>
                          <a:spcPts val="0"/>
                        </a:spcAft>
                        <a:buNone/>
                      </a:pPr>
                      <a:r>
                        <a:rPr lang="ja" sz="960" b="1" noProof="1">
                          <a:solidFill>
                            <a:srgbClr val="FFFFFF"/>
                          </a:solidFill>
                        </a:rPr>
                        <a:t>(Company)</a:t>
                      </a:r>
                      <a:endParaRPr sz="960" b="1">
                        <a:solidFill>
                          <a:srgbClr val="FFFFFF"/>
                        </a:solidFill>
                      </a:endParaRPr>
                    </a:p>
                  </a:txBody>
                  <a:tcPr marL="91425" marR="91425" marT="91425" marB="91425">
                    <a:solidFill>
                      <a:schemeClr val="accent5"/>
                    </a:solidFill>
                  </a:tcPr>
                </a:tc>
                <a:tc>
                  <a:txBody>
                    <a:bodyPr/>
                    <a:lstStyle/>
                    <a:p>
                      <a:pPr marL="0" lvl="0" indent="0" algn="l" rtl="0">
                        <a:lnSpc>
                          <a:spcPct val="115000"/>
                        </a:lnSpc>
                        <a:spcBef>
                          <a:spcPts val="0"/>
                        </a:spcBef>
                        <a:spcAft>
                          <a:spcPts val="0"/>
                        </a:spcAft>
                        <a:buNone/>
                      </a:pPr>
                      <a:r>
                        <a:rPr lang="ja" sz="960" b="1" noProof="1">
                          <a:solidFill>
                            <a:srgbClr val="FFFFFF"/>
                          </a:solidFill>
                        </a:rPr>
                        <a:t>Technical Value</a:t>
                      </a:r>
                      <a:endParaRPr sz="960" b="1">
                        <a:solidFill>
                          <a:srgbClr val="FFFFFF"/>
                        </a:solidFill>
                      </a:endParaRPr>
                    </a:p>
                  </a:txBody>
                  <a:tcPr marL="91425" marR="91425" marT="91425" marB="91425">
                    <a:solidFill>
                      <a:schemeClr val="accent5"/>
                    </a:solidFill>
                  </a:tcPr>
                </a:tc>
                <a:tc>
                  <a:txBody>
                    <a:bodyPr/>
                    <a:lstStyle/>
                    <a:p>
                      <a:pPr marL="0" lvl="0" indent="0" algn="l" rtl="0">
                        <a:lnSpc>
                          <a:spcPct val="115000"/>
                        </a:lnSpc>
                        <a:spcBef>
                          <a:spcPts val="0"/>
                        </a:spcBef>
                        <a:spcAft>
                          <a:spcPts val="0"/>
                        </a:spcAft>
                        <a:buNone/>
                      </a:pPr>
                      <a:r>
                        <a:rPr lang="ja" sz="960" b="1" noProof="1">
                          <a:solidFill>
                            <a:srgbClr val="FFFFFF"/>
                          </a:solidFill>
                        </a:rPr>
                        <a:t>Expense Value</a:t>
                      </a:r>
                      <a:endParaRPr sz="960" b="1">
                        <a:solidFill>
                          <a:srgbClr val="FFFFFF"/>
                        </a:solidFill>
                      </a:endParaRPr>
                    </a:p>
                  </a:txBody>
                  <a:tcPr marL="91425" marR="91425" marT="91425" marB="91425">
                    <a:solidFill>
                      <a:schemeClr val="accent5"/>
                    </a:solidFill>
                  </a:tcPr>
                </a:tc>
                <a:tc>
                  <a:txBody>
                    <a:bodyPr/>
                    <a:lstStyle/>
                    <a:p>
                      <a:pPr marL="0" lvl="0" indent="0" algn="l" rtl="0">
                        <a:lnSpc>
                          <a:spcPct val="115000"/>
                        </a:lnSpc>
                        <a:spcBef>
                          <a:spcPts val="0"/>
                        </a:spcBef>
                        <a:spcAft>
                          <a:spcPts val="0"/>
                        </a:spcAft>
                        <a:buNone/>
                      </a:pPr>
                      <a:r>
                        <a:rPr lang="ja" sz="960" b="1" noProof="1">
                          <a:solidFill>
                            <a:srgbClr val="FFFFFF"/>
                          </a:solidFill>
                        </a:rPr>
                        <a:t>Creative Value</a:t>
                      </a:r>
                      <a:endParaRPr sz="960" b="1">
                        <a:solidFill>
                          <a:srgbClr val="FFFFFF"/>
                        </a:solidFill>
                      </a:endParaRPr>
                    </a:p>
                  </a:txBody>
                  <a:tcPr marL="91425" marR="91425" marT="91425" marB="91425">
                    <a:solidFill>
                      <a:schemeClr val="accent5"/>
                    </a:solidFill>
                  </a:tcPr>
                </a:tc>
                <a:tc>
                  <a:txBody>
                    <a:bodyPr/>
                    <a:lstStyle/>
                    <a:p>
                      <a:pPr marL="0" lvl="0" indent="0" algn="l" rtl="0">
                        <a:lnSpc>
                          <a:spcPct val="115000"/>
                        </a:lnSpc>
                        <a:spcBef>
                          <a:spcPts val="0"/>
                        </a:spcBef>
                        <a:spcAft>
                          <a:spcPts val="0"/>
                        </a:spcAft>
                        <a:buNone/>
                      </a:pPr>
                      <a:r>
                        <a:rPr lang="ja" sz="960" b="1" noProof="1">
                          <a:solidFill>
                            <a:srgbClr val="FFFFFF"/>
                          </a:solidFill>
                        </a:rPr>
                        <a:t>Brand Value</a:t>
                      </a:r>
                      <a:endParaRPr sz="960" b="1">
                        <a:solidFill>
                          <a:srgbClr val="FFFFFF"/>
                        </a:solidFill>
                      </a:endParaRPr>
                    </a:p>
                  </a:txBody>
                  <a:tcPr marL="91425" marR="91425" marT="91425" marB="91425">
                    <a:solidFill>
                      <a:schemeClr val="accent5"/>
                    </a:solidFill>
                  </a:tcPr>
                </a:tc>
                <a:tc>
                  <a:txBody>
                    <a:bodyPr/>
                    <a:lstStyle/>
                    <a:p>
                      <a:pPr marL="0" lvl="0" indent="0" algn="l" rtl="0">
                        <a:lnSpc>
                          <a:spcPct val="115000"/>
                        </a:lnSpc>
                        <a:spcBef>
                          <a:spcPts val="0"/>
                        </a:spcBef>
                        <a:spcAft>
                          <a:spcPts val="0"/>
                        </a:spcAft>
                        <a:buNone/>
                      </a:pPr>
                      <a:r>
                        <a:rPr lang="ja" sz="960" b="1" noProof="1">
                          <a:solidFill>
                            <a:srgbClr val="FFFFFF"/>
                          </a:solidFill>
                        </a:rPr>
                        <a:t>Customer Value</a:t>
                      </a:r>
                      <a:endParaRPr sz="960" b="1">
                        <a:solidFill>
                          <a:srgbClr val="FFFFFF"/>
                        </a:solidFill>
                      </a:endParaRPr>
                    </a:p>
                  </a:txBody>
                  <a:tcPr marL="91425" marR="91425" marT="91425" marB="91425">
                    <a:solidFill>
                      <a:schemeClr val="accent5"/>
                    </a:solidFill>
                  </a:tcPr>
                </a:tc>
                <a:extLst>
                  <a:ext uri="{0D108BD9-81ED-4DB2-BD59-A6C34878D82A}">
                    <a16:rowId xmlns:a16="http://schemas.microsoft.com/office/drawing/2014/main" val="10000"/>
                  </a:ext>
                </a:extLst>
              </a:tr>
              <a:tr h="889000">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extLst>
                  <a:ext uri="{0D108BD9-81ED-4DB2-BD59-A6C34878D82A}">
                    <a16:rowId xmlns:a16="http://schemas.microsoft.com/office/drawing/2014/main" val="10001"/>
                  </a:ext>
                </a:extLst>
              </a:tr>
              <a:tr h="889000">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extLst>
                  <a:ext uri="{0D108BD9-81ED-4DB2-BD59-A6C34878D82A}">
                    <a16:rowId xmlns:a16="http://schemas.microsoft.com/office/drawing/2014/main" val="10002"/>
                  </a:ext>
                </a:extLst>
              </a:tr>
              <a:tr h="889000">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extLst>
                  <a:ext uri="{0D108BD9-81ED-4DB2-BD59-A6C34878D82A}">
                    <a16:rowId xmlns:a16="http://schemas.microsoft.com/office/drawing/2014/main" val="10003"/>
                  </a:ext>
                </a:extLst>
              </a:tr>
              <a:tr h="889000">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tc>
                  <a:txBody>
                    <a:bodyPr/>
                    <a:lstStyle/>
                    <a:p>
                      <a:pPr marL="0" lvl="0" indent="0" algn="l" rtl="0">
                        <a:spcBef>
                          <a:spcPts val="0"/>
                        </a:spcBef>
                        <a:spcAft>
                          <a:spcPts val="0"/>
                        </a:spcAft>
                        <a:buNone/>
                      </a:pPr>
                      <a:r>
                        <a:t> </a:t>
                      </a:r>
                    </a:p>
                  </a:txBody>
                  <a:tcPr marL="91425" marR="91425" marT="91425" marB="91425"/>
                </a:tc>
                <a:extLst>
                  <a:ext uri="{0D108BD9-81ED-4DB2-BD59-A6C34878D82A}">
                    <a16:rowId xmlns:a16="http://schemas.microsoft.com/office/drawing/2014/main" val="10004"/>
                  </a:ext>
                </a:extLst>
              </a:tr>
            </a:tbl>
          </a:graphicData>
        </a:graphic>
      </p:graphicFrame>
      <p:sp>
        <p:nvSpPr>
          <p:cNvPr id="225" name="Google Shape;225;p30"/>
          <p:cNvSpPr txBox="1"/>
          <p:nvPr/>
        </p:nvSpPr>
        <p:spPr>
          <a:xfrm rot="-5400000">
            <a:off x="-183800" y="1432000"/>
            <a:ext cx="890700" cy="37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1040" noProof="1"/>
              <a:t>Leader</a:t>
            </a:r>
            <a:endParaRPr sz="1040"/>
          </a:p>
        </p:txBody>
      </p:sp>
      <p:sp>
        <p:nvSpPr>
          <p:cNvPr id="226" name="Google Shape;226;p30"/>
          <p:cNvSpPr txBox="1"/>
          <p:nvPr/>
        </p:nvSpPr>
        <p:spPr>
          <a:xfrm rot="-5400000">
            <a:off x="-183800" y="2321000"/>
            <a:ext cx="890700" cy="37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880" noProof="1"/>
              <a:t>Contributor</a:t>
            </a:r>
            <a:endParaRPr sz="880"/>
          </a:p>
        </p:txBody>
      </p:sp>
      <p:sp>
        <p:nvSpPr>
          <p:cNvPr id="227" name="Google Shape;227;p30"/>
          <p:cNvSpPr txBox="1"/>
          <p:nvPr/>
        </p:nvSpPr>
        <p:spPr>
          <a:xfrm rot="-5400000">
            <a:off x="-183800" y="3211700"/>
            <a:ext cx="890700" cy="37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880" noProof="1"/>
              <a:t>Participant</a:t>
            </a:r>
            <a:endParaRPr sz="880"/>
          </a:p>
        </p:txBody>
      </p:sp>
      <p:sp>
        <p:nvSpPr>
          <p:cNvPr id="228" name="Google Shape;228;p30"/>
          <p:cNvSpPr txBox="1"/>
          <p:nvPr/>
        </p:nvSpPr>
        <p:spPr>
          <a:xfrm rot="-5400000">
            <a:off x="-183800" y="4099000"/>
            <a:ext cx="890700" cy="37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880" noProof="1"/>
              <a:t>Consumer</a:t>
            </a:r>
            <a:endParaRPr sz="880"/>
          </a:p>
        </p:txBody>
      </p:sp>
      <p:sp>
        <p:nvSpPr>
          <p:cNvPr id="229" name="Google Shape;229;p30"/>
          <p:cNvSpPr txBox="1"/>
          <p:nvPr/>
        </p:nvSpPr>
        <p:spPr>
          <a:xfrm>
            <a:off x="490400" y="1191525"/>
            <a:ext cx="8560500" cy="306600"/>
          </a:xfrm>
          <a:prstGeom prst="rect">
            <a:avLst/>
          </a:prstGeom>
          <a:solidFill>
            <a:schemeClr val="l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ja" noProof="1"/>
              <a:t>the state of automatically gathering</a:t>
            </a:r>
            <a:endParaRPr/>
          </a:p>
        </p:txBody>
      </p:sp>
      <p:sp>
        <p:nvSpPr>
          <p:cNvPr id="230" name="Google Shape;230;p30"/>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1"/>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Qx</a:t>
            </a:r>
            <a:endParaRPr/>
          </a:p>
        </p:txBody>
      </p:sp>
      <p:sp>
        <p:nvSpPr>
          <p:cNvPr id="236" name="Google Shape;236;p31"/>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noProof="1"/>
              <a:t>Q: </a:t>
            </a:r>
            <a:r>
              <a:rPr lang="ja" noProof="1">
                <a:solidFill>
                  <a:schemeClr val="dk1"/>
                </a:solidFill>
              </a:rPr>
              <a:t>Why is community leadership so difficult?</a:t>
            </a:r>
            <a:endParaRPr/>
          </a:p>
        </p:txBody>
      </p:sp>
      <p:sp>
        <p:nvSpPr>
          <p:cNvPr id="237" name="Google Shape;237;p31"/>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ja" noProof="1"/>
              <a:t>A:</a:t>
            </a:r>
            <a:r>
              <a:rPr lang="ja"/>
              <a:t>  </a:t>
            </a:r>
            <a:endParaRPr/>
          </a:p>
          <a:p>
            <a:pPr marL="457200" lvl="0" indent="-317500" algn="l" rtl="0">
              <a:spcBef>
                <a:spcPts val="0"/>
              </a:spcBef>
              <a:spcAft>
                <a:spcPts val="0"/>
              </a:spcAft>
              <a:buSzPts val="1400"/>
              <a:buChar char="●"/>
            </a:pPr>
            <a:r>
              <a:t> </a:t>
            </a:r>
          </a:p>
        </p:txBody>
      </p:sp>
      <p:sp>
        <p:nvSpPr>
          <p:cNvPr id="238" name="Google Shape;238;p31"/>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2"/>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Qx</a:t>
            </a:r>
            <a:endParaRPr/>
          </a:p>
        </p:txBody>
      </p:sp>
      <p:sp>
        <p:nvSpPr>
          <p:cNvPr id="244" name="Google Shape;244;p32"/>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noProof="1"/>
              <a:t>Q: </a:t>
            </a:r>
            <a:r>
              <a:rPr lang="ja" noProof="1">
                <a:solidFill>
                  <a:schemeClr val="dk1"/>
                </a:solidFill>
              </a:rPr>
              <a:t>Why is unified OSS management necessary?</a:t>
            </a:r>
            <a:r>
              <a:rPr lang="ja" noProof="1"/>
              <a:t> </a:t>
            </a:r>
            <a:r>
              <a:rPr lang="ja" noProof="1">
                <a:solidFill>
                  <a:schemeClr val="dk1"/>
                </a:solidFill>
              </a:rPr>
              <a:t>(Why now, with so much OSS already in use,)</a:t>
            </a:r>
            <a:endParaRPr/>
          </a:p>
        </p:txBody>
      </p:sp>
      <p:sp>
        <p:nvSpPr>
          <p:cNvPr id="245" name="Google Shape;245;p32"/>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ja" noProof="1"/>
              <a:t>A:</a:t>
            </a:r>
            <a:r>
              <a:rPr lang="ja"/>
              <a:t>  </a:t>
            </a:r>
            <a:endParaRPr/>
          </a:p>
          <a:p>
            <a:pPr marL="457200" lvl="0" indent="-310832" algn="l" rtl="0">
              <a:spcBef>
                <a:spcPts val="0"/>
              </a:spcBef>
              <a:spcAft>
                <a:spcPts val="0"/>
              </a:spcAft>
              <a:buSzPct val="100000"/>
              <a:buChar char="●"/>
            </a:pPr>
            <a:r>
              <a:rPr lang="ja" noProof="1"/>
              <a:t>Importance</a:t>
            </a:r>
            <a:endParaRPr/>
          </a:p>
          <a:p>
            <a:pPr marL="914400" lvl="1" indent="-310832" algn="l" rtl="0">
              <a:spcBef>
                <a:spcPts val="0"/>
              </a:spcBef>
              <a:spcAft>
                <a:spcPts val="0"/>
              </a:spcAft>
              <a:buSzPct val="100000"/>
              <a:buChar char="○"/>
            </a:pPr>
            <a:r>
              <a:rPr lang="ja" noProof="1"/>
              <a:t>US President's order requiring OSS supply chain management: It has become a procurement condition</a:t>
            </a:r>
            <a:endParaRPr/>
          </a:p>
          <a:p>
            <a:pPr marL="1371600" lvl="2" indent="-310832" algn="l" rtl="0">
              <a:spcBef>
                <a:spcPts val="0"/>
              </a:spcBef>
              <a:spcAft>
                <a:spcPts val="0"/>
              </a:spcAft>
              <a:buSzPct val="100000"/>
              <a:buChar char="■"/>
            </a:pPr>
            <a:r>
              <a:rPr lang="ja" noProof="1"/>
              <a:t>It is required to manage it firmly from a security perspective</a:t>
            </a:r>
            <a:endParaRPr/>
          </a:p>
          <a:p>
            <a:pPr marL="914400" lvl="1" indent="-310832" algn="l" rtl="0">
              <a:spcBef>
                <a:spcPts val="0"/>
              </a:spcBef>
              <a:spcAft>
                <a:spcPts val="0"/>
              </a:spcAft>
              <a:buSzPct val="100000"/>
              <a:buChar char="○"/>
            </a:pPr>
            <a:r>
              <a:rPr lang="ja" noProof="1"/>
              <a:t>OSS has become a support for social infrastructure systems</a:t>
            </a:r>
            <a:endParaRPr/>
          </a:p>
          <a:p>
            <a:pPr marL="1371600" lvl="2" indent="-310832" algn="l" rtl="0">
              <a:spcBef>
                <a:spcPts val="0"/>
              </a:spcBef>
              <a:spcAft>
                <a:spcPts val="0"/>
              </a:spcAft>
              <a:buSzPct val="100000"/>
              <a:buChar char="■"/>
            </a:pPr>
            <a:r>
              <a:rPr lang="ja" noProof="1"/>
              <a:t>If there is a problem with the included OSS, it will have a big impact</a:t>
            </a:r>
            <a:endParaRPr/>
          </a:p>
          <a:p>
            <a:pPr marL="914400" lvl="1" indent="-310832" algn="l" rtl="0">
              <a:spcBef>
                <a:spcPts val="0"/>
              </a:spcBef>
              <a:spcAft>
                <a:spcPts val="0"/>
              </a:spcAft>
              <a:buSzPct val="100000"/>
              <a:buChar char="○"/>
            </a:pPr>
            <a:r>
              <a:rPr lang="ja" noProof="1"/>
              <a:t>ISO adoption and industry movement (Teleco WG, etc.)</a:t>
            </a:r>
            <a:endParaRPr/>
          </a:p>
          <a:p>
            <a:pPr marL="457200" lvl="0" indent="-310832" algn="l" rtl="0">
              <a:spcBef>
                <a:spcPts val="0"/>
              </a:spcBef>
              <a:spcAft>
                <a:spcPts val="0"/>
              </a:spcAft>
              <a:buSzPct val="100000"/>
              <a:buChar char="●"/>
            </a:pPr>
            <a:r>
              <a:rPr lang="ja" noProof="1"/>
              <a:t>Need for unified management throughout the company</a:t>
            </a:r>
            <a:endParaRPr/>
          </a:p>
          <a:p>
            <a:pPr marL="914400" lvl="1" indent="-310832" algn="l" rtl="0">
              <a:spcBef>
                <a:spcPts val="0"/>
              </a:spcBef>
              <a:spcAft>
                <a:spcPts val="0"/>
              </a:spcAft>
              <a:buSzPct val="100000"/>
              <a:buChar char="○"/>
            </a:pPr>
            <a:r>
              <a:rPr lang="ja" noProof="1"/>
              <a:t>Mistakes made by one department affect the entire company (reputation for mistakes made by other divisions becomes evaluation of own division)</a:t>
            </a:r>
            <a:endParaRPr/>
          </a:p>
          <a:p>
            <a:pPr marL="914400" lvl="1" indent="-310832" algn="l" rtl="0">
              <a:spcBef>
                <a:spcPts val="0"/>
              </a:spcBef>
              <a:spcAft>
                <a:spcPts val="0"/>
              </a:spcAft>
              <a:buSzPct val="100000"/>
              <a:buChar char="○"/>
            </a:pPr>
            <a:r>
              <a:rPr lang="ja" noProof="1"/>
              <a:t>Improving the overall level of the internal supply chain</a:t>
            </a:r>
            <a:endParaRPr/>
          </a:p>
          <a:p>
            <a:pPr marL="914400" lvl="1" indent="-310832" algn="l" rtl="0">
              <a:spcBef>
                <a:spcPts val="0"/>
              </a:spcBef>
              <a:spcAft>
                <a:spcPts val="0"/>
              </a:spcAft>
              <a:buSzPct val="100000"/>
              <a:buChar char="○"/>
            </a:pPr>
            <a:r>
              <a:rPr lang="ja" noProof="1"/>
              <a:t>More and more cases are handled by people other than software engineers</a:t>
            </a:r>
            <a:endParaRPr/>
          </a:p>
          <a:p>
            <a:pPr marL="1371600" lvl="2" indent="-310832" algn="l" rtl="0">
              <a:spcBef>
                <a:spcPts val="0"/>
              </a:spcBef>
              <a:spcAft>
                <a:spcPts val="0"/>
              </a:spcAft>
              <a:buSzPct val="100000"/>
              <a:buChar char="■"/>
            </a:pPr>
            <a:r>
              <a:rPr lang="ja" noProof="1"/>
              <a:t>Management of outsourcing, hardware managers manage entire products including software, understanding of OSS compliance by outsourcees varies, etc.</a:t>
            </a:r>
            <a:endParaRPr/>
          </a:p>
          <a:p>
            <a:pPr marL="457200" lvl="0" indent="-310832" algn="l" rtl="0">
              <a:spcBef>
                <a:spcPts val="0"/>
              </a:spcBef>
              <a:spcAft>
                <a:spcPts val="0"/>
              </a:spcAft>
              <a:buSzPct val="100000"/>
              <a:buChar char="●"/>
            </a:pPr>
            <a:r>
              <a:rPr lang="ja"/>
              <a:t>　</a:t>
            </a:r>
            <a:endParaRPr/>
          </a:p>
          <a:p>
            <a:pPr marL="457200" lvl="0" indent="-310832" algn="l" rtl="0">
              <a:spcBef>
                <a:spcPts val="0"/>
              </a:spcBef>
              <a:spcAft>
                <a:spcPts val="0"/>
              </a:spcAft>
              <a:buSzPct val="100000"/>
              <a:buChar char="●"/>
            </a:pPr>
            <a:r>
              <a:rPr lang="ja" noProof="1"/>
              <a:t>Q background:</a:t>
            </a:r>
            <a:endParaRPr/>
          </a:p>
          <a:p>
            <a:pPr marL="914400" lvl="1" indent="-310832" algn="l" rtl="0">
              <a:spcBef>
                <a:spcPts val="0"/>
              </a:spcBef>
              <a:spcAft>
                <a:spcPts val="0"/>
              </a:spcAft>
              <a:buSzPct val="100000"/>
              <a:buChar char="○"/>
            </a:pPr>
            <a:r>
              <a:rPr lang="ja" noProof="1"/>
              <a:t>I am proud that I have been doing this because I thought it should be done in the field, but why is the whole company trying to do it now?</a:t>
            </a:r>
            <a:endParaRPr/>
          </a:p>
          <a:p>
            <a:pPr marL="914400" lvl="1" indent="-310832" algn="l" rtl="0">
              <a:spcBef>
                <a:spcPts val="0"/>
              </a:spcBef>
              <a:spcAft>
                <a:spcPts val="0"/>
              </a:spcAft>
              <a:buSzPct val="100000"/>
              <a:buChar char="○"/>
            </a:pPr>
            <a:r>
              <a:rPr lang="ja" noProof="1"/>
              <a:t>There is no problem, but there is a negative reaction to the way of making rules.</a:t>
            </a:r>
            <a:endParaRPr/>
          </a:p>
        </p:txBody>
      </p:sp>
      <p:sp>
        <p:nvSpPr>
          <p:cNvPr id="246" name="Google Shape;246;p32"/>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3"/>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Qx</a:t>
            </a:r>
            <a:endParaRPr/>
          </a:p>
        </p:txBody>
      </p:sp>
      <p:sp>
        <p:nvSpPr>
          <p:cNvPr id="252" name="Google Shape;252;p33"/>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noProof="1"/>
              <a:t>Q: </a:t>
            </a:r>
            <a:r>
              <a:rPr lang="ja" noProof="1">
                <a:solidFill>
                  <a:schemeClr val="dk1"/>
                </a:solidFill>
              </a:rPr>
              <a:t>How should I proceed with OSPO?</a:t>
            </a:r>
            <a:endParaRPr/>
          </a:p>
        </p:txBody>
      </p:sp>
      <p:sp>
        <p:nvSpPr>
          <p:cNvPr id="253" name="Google Shape;253;p33"/>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ja" noProof="1"/>
              <a:t>A:</a:t>
            </a:r>
            <a:r>
              <a:rPr lang="ja"/>
              <a:t>  </a:t>
            </a:r>
            <a:endParaRPr/>
          </a:p>
          <a:p>
            <a:pPr marL="0" lvl="0" indent="0" algn="l" rtl="0">
              <a:spcBef>
                <a:spcPts val="0"/>
              </a:spcBef>
              <a:spcAft>
                <a:spcPts val="0"/>
              </a:spcAft>
              <a:buNone/>
            </a:pPr>
            <a:r>
              <a:t> </a:t>
            </a:r>
          </a:p>
          <a:p>
            <a:pPr marL="457200" lvl="0" indent="-310832" algn="l" rtl="0">
              <a:spcBef>
                <a:spcPts val="0"/>
              </a:spcBef>
              <a:spcAft>
                <a:spcPts val="0"/>
              </a:spcAft>
              <a:buSzPct val="100000"/>
              <a:buChar char="●"/>
            </a:pPr>
            <a:r>
              <a:rPr lang="ja" noProof="1"/>
              <a:t>Start by looking at examples from other companies and finding issues that your company is not aware of.</a:t>
            </a:r>
            <a:endParaRPr/>
          </a:p>
          <a:p>
            <a:pPr marL="457200" lvl="0" indent="-310832" algn="l" rtl="0">
              <a:spcBef>
                <a:spcPts val="0"/>
              </a:spcBef>
              <a:spcAft>
                <a:spcPts val="0"/>
              </a:spcAft>
              <a:buSzPct val="100000"/>
              <a:buChar char="●"/>
            </a:pPr>
            <a:r>
              <a:rPr lang="ja" noProof="1"/>
              <a:t>Tell them why you created OSPO.</a:t>
            </a:r>
            <a:endParaRPr/>
          </a:p>
          <a:p>
            <a:pPr marL="457200" lvl="0" indent="-310832" algn="l" rtl="0">
              <a:spcBef>
                <a:spcPts val="0"/>
              </a:spcBef>
              <a:spcAft>
                <a:spcPts val="0"/>
              </a:spcAft>
              <a:buSzPct val="100000"/>
              <a:buChar char="●"/>
            </a:pPr>
            <a:r>
              <a:rPr lang="ja" noProof="1"/>
              <a:t>Prepare answers for people who are thinking about creating OSPO for the first time.</a:t>
            </a:r>
            <a:endParaRPr/>
          </a:p>
          <a:p>
            <a:pPr marL="914400" lvl="1" indent="-310832" algn="l" rtl="0">
              <a:spcBef>
                <a:spcPts val="0"/>
              </a:spcBef>
              <a:spcAft>
                <a:spcPts val="0"/>
              </a:spcAft>
              <a:buSzPct val="100000"/>
              <a:buChar char="○"/>
            </a:pPr>
            <a:r>
              <a:rPr lang="ja" noProof="1"/>
              <a:t>(Example)When you try to create OSPO internally, it is easier to educate your company if you have examples from other companies.</a:t>
            </a:r>
            <a:endParaRPr/>
          </a:p>
          <a:p>
            <a:pPr marL="457200" lvl="0" indent="-310832" algn="l" rtl="0">
              <a:spcBef>
                <a:spcPts val="0"/>
              </a:spcBef>
              <a:spcAft>
                <a:spcPts val="0"/>
              </a:spcAft>
              <a:buSzPct val="100000"/>
              <a:buChar char="●"/>
            </a:pPr>
            <a:r>
              <a:rPr lang="ja" noProof="1"/>
              <a:t>The shape of OSPO is different for each company.</a:t>
            </a:r>
            <a:endParaRPr/>
          </a:p>
          <a:p>
            <a:pPr marL="914400" lvl="1" indent="-310832" algn="l" rtl="0">
              <a:spcBef>
                <a:spcPts val="0"/>
              </a:spcBef>
              <a:spcAft>
                <a:spcPts val="0"/>
              </a:spcAft>
              <a:buSzPct val="100000"/>
              <a:buChar char="○"/>
            </a:pPr>
            <a:r>
              <a:rPr lang="ja" noProof="1"/>
              <a:t>It is good to start by clarifying the reason why you want to create OSPO.</a:t>
            </a:r>
            <a:endParaRPr/>
          </a:p>
          <a:p>
            <a:pPr marL="457200" lvl="0" indent="-310832" algn="l" rtl="0">
              <a:spcBef>
                <a:spcPts val="0"/>
              </a:spcBef>
              <a:spcAft>
                <a:spcPts val="0"/>
              </a:spcAft>
              <a:buSzPct val="100000"/>
              <a:buChar char="●"/>
            </a:pPr>
            <a:r>
              <a:rPr lang="ja" noProof="1"/>
              <a:t>For example,</a:t>
            </a:r>
            <a:endParaRPr/>
          </a:p>
          <a:p>
            <a:pPr marL="914400" lvl="1" indent="-310832" algn="l" rtl="0">
              <a:spcBef>
                <a:spcPts val="0"/>
              </a:spcBef>
              <a:spcAft>
                <a:spcPts val="0"/>
              </a:spcAft>
              <a:buSzPct val="100000"/>
              <a:buChar char="○"/>
            </a:pPr>
            <a:r>
              <a:rPr lang="ja" noProof="1"/>
              <a:t>Software house type company A:</a:t>
            </a:r>
            <a:endParaRPr/>
          </a:p>
          <a:p>
            <a:pPr marL="1371600" lvl="2" indent="-310832" algn="l" rtl="0">
              <a:spcBef>
                <a:spcPts val="0"/>
              </a:spcBef>
              <a:spcAft>
                <a:spcPts val="0"/>
              </a:spcAft>
              <a:buSzPct val="100000"/>
              <a:buChar char="■"/>
            </a:pPr>
            <a:r>
              <a:rPr lang="ja" noProof="1"/>
              <a:t>The principal is each organization. OSPO supports this.</a:t>
            </a:r>
            <a:endParaRPr/>
          </a:p>
          <a:p>
            <a:pPr marL="1371600" lvl="2" indent="-310832" algn="l" rtl="0">
              <a:spcBef>
                <a:spcPts val="0"/>
              </a:spcBef>
              <a:spcAft>
                <a:spcPts val="0"/>
              </a:spcAft>
              <a:buSzPct val="100000"/>
              <a:buChar char="■"/>
            </a:pPr>
            <a:r>
              <a:rPr lang="ja" noProof="1"/>
              <a:t>There are OSPO members in each department. OSPO is a virtual organization.</a:t>
            </a:r>
            <a:endParaRPr/>
          </a:p>
          <a:p>
            <a:pPr marL="457200" lvl="0" indent="-310832" algn="l" rtl="0">
              <a:spcBef>
                <a:spcPts val="0"/>
              </a:spcBef>
              <a:spcAft>
                <a:spcPts val="0"/>
              </a:spcAft>
              <a:buSzPct val="100000"/>
              <a:buChar char="●"/>
            </a:pPr>
            <a:r>
              <a:rPr lang="ja" noProof="1"/>
              <a:t>(For software-house and non-software-house companies)</a:t>
            </a:r>
            <a:endParaRPr/>
          </a:p>
          <a:p>
            <a:pPr marL="457200" lvl="0" indent="-310832" algn="l" rtl="0">
              <a:spcBef>
                <a:spcPts val="0"/>
              </a:spcBef>
              <a:spcAft>
                <a:spcPts val="0"/>
              </a:spcAft>
              <a:buSzPct val="100000"/>
              <a:buChar char="●"/>
            </a:pPr>
            <a:r>
              <a:rPr lang="ja" noProof="1"/>
              <a:t>Reference</a:t>
            </a:r>
            <a:endParaRPr/>
          </a:p>
          <a:p>
            <a:pPr marL="914400" lvl="1" indent="-310832" algn="l" rtl="0">
              <a:spcBef>
                <a:spcPts val="0"/>
              </a:spcBef>
              <a:spcAft>
                <a:spcPts val="0"/>
              </a:spcAft>
              <a:buSzPct val="100000"/>
              <a:buChar char="○"/>
            </a:pPr>
            <a:r>
              <a:rPr lang="ja" u="sng" noProof="1">
                <a:solidFill>
                  <a:schemeClr val="hlink"/>
                </a:solidFill>
                <a:hlinkClick r:id="rId3"/>
              </a:rPr>
              <a:t>https://www.linuxfoundation.jp/publications/2022/11/a-deep-dive-into-open-source-program-offices/</a:t>
            </a:r>
            <a:endParaRPr/>
          </a:p>
          <a:p>
            <a:pPr marL="914400" lvl="1" indent="-310832" algn="l" rtl="0">
              <a:spcBef>
                <a:spcPts val="0"/>
              </a:spcBef>
              <a:spcAft>
                <a:spcPts val="0"/>
              </a:spcAft>
              <a:buSzPct val="100000"/>
              <a:buChar char="○"/>
            </a:pPr>
            <a:r>
              <a:rPr lang="ja" u="sng" noProof="1">
                <a:solidFill>
                  <a:schemeClr val="hlink"/>
                </a:solidFill>
                <a:hlinkClick r:id="rId4"/>
              </a:rPr>
              <a:t>https://www.linuxfoundation.jp/wp-content/uploads/2022/11/ja_LFR_LFAID_Deep_Dive_Open_Source_Program_Offices_0830.pdf</a:t>
            </a:r>
            <a:endParaRPr/>
          </a:p>
          <a:p>
            <a:pPr marL="914400" lvl="1" indent="-310832" algn="l" rtl="0">
              <a:spcBef>
                <a:spcPts val="0"/>
              </a:spcBef>
              <a:spcAft>
                <a:spcPts val="0"/>
              </a:spcAft>
              <a:buSzPct val="100000"/>
              <a:buChar char="○"/>
            </a:pPr>
            <a:r>
              <a:t> </a:t>
            </a:r>
          </a:p>
        </p:txBody>
      </p:sp>
      <p:sp>
        <p:nvSpPr>
          <p:cNvPr id="254" name="Google Shape;254;p33"/>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4"/>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Qx</a:t>
            </a:r>
            <a:endParaRPr/>
          </a:p>
        </p:txBody>
      </p:sp>
      <p:sp>
        <p:nvSpPr>
          <p:cNvPr id="260" name="Google Shape;260;p34"/>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noProof="1"/>
              <a:t>Q: (TO: Companies that </a:t>
            </a:r>
            <a:r>
              <a:rPr lang="ja" noProof="1">
                <a:solidFill>
                  <a:schemeClr val="dk1"/>
                </a:solidFill>
              </a:rPr>
              <a:t>already</a:t>
            </a:r>
            <a:r>
              <a:rPr lang="ja" noProof="1"/>
              <a:t> have an OSPO organization) </a:t>
            </a:r>
            <a:r>
              <a:rPr lang="ja" noProof="1">
                <a:solidFill>
                  <a:schemeClr val="dk1"/>
                </a:solidFill>
              </a:rPr>
              <a:t>Why did you create an OSPO?</a:t>
            </a:r>
            <a:endParaRPr/>
          </a:p>
        </p:txBody>
      </p:sp>
      <p:sp>
        <p:nvSpPr>
          <p:cNvPr id="261" name="Google Shape;261;p34"/>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ja" noProof="1"/>
              <a:t>A:</a:t>
            </a:r>
            <a:r>
              <a:rPr lang="ja"/>
              <a:t>  </a:t>
            </a:r>
            <a:endParaRPr/>
          </a:p>
          <a:p>
            <a:pPr marL="0" lvl="0" indent="0" algn="l" rtl="0">
              <a:spcBef>
                <a:spcPts val="0"/>
              </a:spcBef>
              <a:spcAft>
                <a:spcPts val="0"/>
              </a:spcAft>
              <a:buNone/>
            </a:pPr>
            <a:r>
              <a:t> </a:t>
            </a:r>
          </a:p>
          <a:p>
            <a:pPr marL="457200" lvl="0" indent="-310832" algn="l" rtl="0">
              <a:spcBef>
                <a:spcPts val="0"/>
              </a:spcBef>
              <a:spcAft>
                <a:spcPts val="0"/>
              </a:spcAft>
              <a:buSzPct val="100000"/>
              <a:buChar char="●"/>
            </a:pPr>
            <a:r>
              <a:rPr lang="ja" noProof="1"/>
              <a:t>Start by looking at examples from other companies and finding issues that your company is not aware of.</a:t>
            </a:r>
            <a:endParaRPr/>
          </a:p>
          <a:p>
            <a:pPr marL="457200" lvl="0" indent="-310832" algn="l" rtl="0">
              <a:spcBef>
                <a:spcPts val="0"/>
              </a:spcBef>
              <a:spcAft>
                <a:spcPts val="0"/>
              </a:spcAft>
              <a:buSzPct val="100000"/>
              <a:buChar char="●"/>
            </a:pPr>
            <a:r>
              <a:rPr lang="ja" noProof="1"/>
              <a:t>Tell them why you created an OSPO.</a:t>
            </a:r>
            <a:endParaRPr/>
          </a:p>
          <a:p>
            <a:pPr marL="457200" lvl="0" indent="-310832" algn="l" rtl="0">
              <a:spcBef>
                <a:spcPts val="0"/>
              </a:spcBef>
              <a:spcAft>
                <a:spcPts val="0"/>
              </a:spcAft>
              <a:buSzPct val="100000"/>
              <a:buChar char="●"/>
            </a:pPr>
            <a:r>
              <a:rPr lang="ja" noProof="1"/>
              <a:t>Prepare answers for people who are thinking about creating an OSPO for the first time.</a:t>
            </a:r>
            <a:endParaRPr/>
          </a:p>
          <a:p>
            <a:pPr marL="914400" lvl="1" indent="-310832" algn="l" rtl="0">
              <a:spcBef>
                <a:spcPts val="0"/>
              </a:spcBef>
              <a:spcAft>
                <a:spcPts val="0"/>
              </a:spcAft>
              <a:buSzPct val="100000"/>
              <a:buChar char="○"/>
            </a:pPr>
            <a:r>
              <a:rPr lang="ja" noProof="1"/>
              <a:t>(Example)When you try to create an OSPO within your company, it is easier to educate your company if you have examples from other companies.</a:t>
            </a:r>
            <a:endParaRPr/>
          </a:p>
          <a:p>
            <a:pPr marL="457200" lvl="0" indent="-310832" algn="l" rtl="0">
              <a:spcBef>
                <a:spcPts val="0"/>
              </a:spcBef>
              <a:spcAft>
                <a:spcPts val="0"/>
              </a:spcAft>
              <a:buSzPct val="100000"/>
              <a:buChar char="●"/>
            </a:pPr>
            <a:r>
              <a:rPr lang="ja" noProof="1"/>
              <a:t>The shape of an OSPO can be different for each company.</a:t>
            </a:r>
            <a:endParaRPr/>
          </a:p>
          <a:p>
            <a:pPr marL="914400" lvl="1" indent="-310832" algn="l" rtl="0">
              <a:spcBef>
                <a:spcPts val="0"/>
              </a:spcBef>
              <a:spcAft>
                <a:spcPts val="0"/>
              </a:spcAft>
              <a:buSzPct val="100000"/>
              <a:buChar char="○"/>
            </a:pPr>
            <a:r>
              <a:rPr lang="ja" noProof="1"/>
              <a:t>It is good to start by clarifying why you want to create an OSPO.</a:t>
            </a:r>
            <a:endParaRPr/>
          </a:p>
          <a:p>
            <a:pPr marL="457200" lvl="0" indent="-310832" algn="l" rtl="0">
              <a:spcBef>
                <a:spcPts val="0"/>
              </a:spcBef>
              <a:spcAft>
                <a:spcPts val="0"/>
              </a:spcAft>
              <a:buSzPct val="100000"/>
              <a:buChar char="●"/>
            </a:pPr>
            <a:r>
              <a:rPr lang="ja" noProof="1"/>
              <a:t>For example,</a:t>
            </a:r>
            <a:endParaRPr/>
          </a:p>
          <a:p>
            <a:pPr marL="914400" lvl="1" indent="-310832" algn="l" rtl="0">
              <a:spcBef>
                <a:spcPts val="0"/>
              </a:spcBef>
              <a:spcAft>
                <a:spcPts val="0"/>
              </a:spcAft>
              <a:buSzPct val="100000"/>
              <a:buChar char="○"/>
            </a:pPr>
            <a:r>
              <a:rPr lang="ja" noProof="1"/>
              <a:t>Software house type company A:</a:t>
            </a:r>
            <a:endParaRPr/>
          </a:p>
          <a:p>
            <a:pPr marL="1371600" lvl="2" indent="-310832" algn="l" rtl="0">
              <a:spcBef>
                <a:spcPts val="0"/>
              </a:spcBef>
              <a:spcAft>
                <a:spcPts val="0"/>
              </a:spcAft>
              <a:buSzPct val="100000"/>
              <a:buChar char="■"/>
            </a:pPr>
            <a:r>
              <a:rPr lang="ja" noProof="1"/>
              <a:t>The principal is each organization. OSPO supports this.</a:t>
            </a:r>
            <a:endParaRPr/>
          </a:p>
          <a:p>
            <a:pPr marL="1371600" lvl="2" indent="-310832" algn="l" rtl="0">
              <a:spcBef>
                <a:spcPts val="0"/>
              </a:spcBef>
              <a:spcAft>
                <a:spcPts val="0"/>
              </a:spcAft>
              <a:buSzPct val="100000"/>
              <a:buChar char="■"/>
            </a:pPr>
            <a:r>
              <a:rPr lang="ja" noProof="1"/>
              <a:t>There are OSPO members in each department. OSPO is a virtual organization.</a:t>
            </a:r>
            <a:endParaRPr/>
          </a:p>
          <a:p>
            <a:pPr marL="457200" lvl="0" indent="-310832" algn="l" rtl="0">
              <a:spcBef>
                <a:spcPts val="0"/>
              </a:spcBef>
              <a:spcAft>
                <a:spcPts val="0"/>
              </a:spcAft>
              <a:buSzPct val="100000"/>
              <a:buChar char="●"/>
            </a:pPr>
            <a:r>
              <a:rPr lang="ja" noProof="1"/>
              <a:t>(For software-house and non-software-house companies)</a:t>
            </a:r>
            <a:endParaRPr/>
          </a:p>
          <a:p>
            <a:pPr marL="457200" lvl="0" indent="-310832" algn="l" rtl="0">
              <a:spcBef>
                <a:spcPts val="0"/>
              </a:spcBef>
              <a:spcAft>
                <a:spcPts val="0"/>
              </a:spcAft>
              <a:buSzPct val="100000"/>
              <a:buChar char="●"/>
            </a:pPr>
            <a:r>
              <a:rPr lang="ja" noProof="1"/>
              <a:t>Reference</a:t>
            </a:r>
            <a:endParaRPr/>
          </a:p>
          <a:p>
            <a:pPr marL="914400" lvl="1" indent="-310832" algn="l" rtl="0">
              <a:spcBef>
                <a:spcPts val="0"/>
              </a:spcBef>
              <a:spcAft>
                <a:spcPts val="0"/>
              </a:spcAft>
              <a:buSzPct val="100000"/>
              <a:buChar char="○"/>
            </a:pPr>
            <a:r>
              <a:rPr lang="ja" u="sng" noProof="1">
                <a:solidFill>
                  <a:schemeClr val="hlink"/>
                </a:solidFill>
                <a:hlinkClick r:id="rId3"/>
              </a:rPr>
              <a:t>https://www.linuxfoundation.jp/publications/2022/11/a-deep-dive-into-open-source-program-offices/</a:t>
            </a:r>
            <a:endParaRPr/>
          </a:p>
          <a:p>
            <a:pPr marL="914400" lvl="1" indent="-310832" algn="l" rtl="0">
              <a:spcBef>
                <a:spcPts val="0"/>
              </a:spcBef>
              <a:spcAft>
                <a:spcPts val="0"/>
              </a:spcAft>
              <a:buSzPct val="100000"/>
              <a:buChar char="○"/>
            </a:pPr>
            <a:r>
              <a:rPr lang="ja" u="sng" noProof="1">
                <a:solidFill>
                  <a:schemeClr val="hlink"/>
                </a:solidFill>
                <a:hlinkClick r:id="rId4"/>
              </a:rPr>
              <a:t>https://www.linuxfoundation.jp/wp-content/uploads/2022/11/ja_LFR_LFAID_Deep_Dive_Open_Source_Program_Offices_0830.pdf</a:t>
            </a:r>
            <a:endParaRPr/>
          </a:p>
          <a:p>
            <a:pPr marL="914400" lvl="1" indent="-310832" algn="l" rtl="0">
              <a:spcBef>
                <a:spcPts val="0"/>
              </a:spcBef>
              <a:spcAft>
                <a:spcPts val="0"/>
              </a:spcAft>
              <a:buSzPct val="100000"/>
              <a:buChar char="○"/>
            </a:pPr>
            <a:r>
              <a:t> </a:t>
            </a:r>
          </a:p>
        </p:txBody>
      </p:sp>
      <p:sp>
        <p:nvSpPr>
          <p:cNvPr id="262" name="Google Shape;262;p34"/>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5"/>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Qx</a:t>
            </a:r>
            <a:endParaRPr/>
          </a:p>
        </p:txBody>
      </p:sp>
      <p:sp>
        <p:nvSpPr>
          <p:cNvPr id="268" name="Google Shape;268;p35"/>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noProof="1"/>
              <a:t>Q: I want to create an OSPO. What should I start with?</a:t>
            </a:r>
            <a:endParaRPr/>
          </a:p>
        </p:txBody>
      </p:sp>
      <p:sp>
        <p:nvSpPr>
          <p:cNvPr id="269" name="Google Shape;269;p35"/>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ja" noProof="1"/>
              <a:t>A:</a:t>
            </a:r>
            <a:r>
              <a:rPr lang="ja"/>
              <a:t>  </a:t>
            </a:r>
            <a:endParaRPr/>
          </a:p>
          <a:p>
            <a:pPr marL="0" lvl="0" indent="0" algn="l" rtl="0">
              <a:spcBef>
                <a:spcPts val="0"/>
              </a:spcBef>
              <a:spcAft>
                <a:spcPts val="0"/>
              </a:spcAft>
              <a:buNone/>
            </a:pPr>
            <a:r>
              <a:t> </a:t>
            </a:r>
          </a:p>
          <a:p>
            <a:pPr marL="457200" lvl="0" indent="-310832" algn="l" rtl="0">
              <a:spcBef>
                <a:spcPts val="0"/>
              </a:spcBef>
              <a:spcAft>
                <a:spcPts val="0"/>
              </a:spcAft>
              <a:buSzPct val="100000"/>
              <a:buChar char="●"/>
            </a:pPr>
            <a:r>
              <a:rPr lang="ja" noProof="1"/>
              <a:t>Start by looking at examples from other companies and finding issues that your company is not aware of.</a:t>
            </a:r>
            <a:endParaRPr/>
          </a:p>
          <a:p>
            <a:pPr marL="457200" lvl="0" indent="-310832" algn="l" rtl="0">
              <a:spcBef>
                <a:spcPts val="0"/>
              </a:spcBef>
              <a:spcAft>
                <a:spcPts val="0"/>
              </a:spcAft>
              <a:buSzPct val="100000"/>
              <a:buChar char="●"/>
            </a:pPr>
            <a:r>
              <a:rPr lang="ja" noProof="1"/>
              <a:t>Tell them why you created an OSPO.</a:t>
            </a:r>
            <a:endParaRPr/>
          </a:p>
          <a:p>
            <a:pPr marL="457200" lvl="0" indent="-310832" algn="l" rtl="0">
              <a:spcBef>
                <a:spcPts val="0"/>
              </a:spcBef>
              <a:spcAft>
                <a:spcPts val="0"/>
              </a:spcAft>
              <a:buSzPct val="100000"/>
              <a:buChar char="●"/>
            </a:pPr>
            <a:r>
              <a:rPr lang="ja" noProof="1"/>
              <a:t>Prepare answers for people who are thinking of creating an OSPO for the first time.</a:t>
            </a:r>
            <a:endParaRPr/>
          </a:p>
          <a:p>
            <a:pPr marL="914400" lvl="1" indent="-310832" algn="l" rtl="0">
              <a:spcBef>
                <a:spcPts val="0"/>
              </a:spcBef>
              <a:spcAft>
                <a:spcPts val="0"/>
              </a:spcAft>
              <a:buSzPct val="100000"/>
              <a:buChar char="○"/>
            </a:pPr>
            <a:r>
              <a:rPr lang="ja" noProof="1"/>
              <a:t>(Example)When you try to create an OSPO within your company, it is easier to educate your company if you have examples from other companies.</a:t>
            </a:r>
            <a:endParaRPr/>
          </a:p>
          <a:p>
            <a:pPr marL="457200" lvl="0" indent="-310832" algn="l" rtl="0">
              <a:spcBef>
                <a:spcPts val="0"/>
              </a:spcBef>
              <a:spcAft>
                <a:spcPts val="0"/>
              </a:spcAft>
              <a:buSzPct val="100000"/>
              <a:buChar char="●"/>
            </a:pPr>
            <a:r>
              <a:rPr lang="ja" noProof="1"/>
              <a:t>The shape of an OSPO can be different for each company.</a:t>
            </a:r>
            <a:endParaRPr/>
          </a:p>
          <a:p>
            <a:pPr marL="914400" lvl="1" indent="-310832" algn="l" rtl="0">
              <a:spcBef>
                <a:spcPts val="0"/>
              </a:spcBef>
              <a:spcAft>
                <a:spcPts val="0"/>
              </a:spcAft>
              <a:buSzPct val="100000"/>
              <a:buChar char="○"/>
            </a:pPr>
            <a:r>
              <a:rPr lang="ja" noProof="1"/>
              <a:t>It is good to start by clarifying why you want to create an OSPO.</a:t>
            </a:r>
            <a:endParaRPr/>
          </a:p>
          <a:p>
            <a:pPr marL="457200" lvl="0" indent="-310832" algn="l" rtl="0">
              <a:spcBef>
                <a:spcPts val="0"/>
              </a:spcBef>
              <a:spcAft>
                <a:spcPts val="0"/>
              </a:spcAft>
              <a:buSzPct val="100000"/>
              <a:buChar char="●"/>
            </a:pPr>
            <a:r>
              <a:rPr lang="ja" noProof="1"/>
              <a:t>For example,</a:t>
            </a:r>
            <a:endParaRPr/>
          </a:p>
          <a:p>
            <a:pPr marL="914400" lvl="1" indent="-310832" algn="l" rtl="0">
              <a:spcBef>
                <a:spcPts val="0"/>
              </a:spcBef>
              <a:spcAft>
                <a:spcPts val="0"/>
              </a:spcAft>
              <a:buSzPct val="100000"/>
              <a:buChar char="○"/>
            </a:pPr>
            <a:r>
              <a:rPr lang="ja" noProof="1"/>
              <a:t>Software house type company A:</a:t>
            </a:r>
            <a:endParaRPr/>
          </a:p>
          <a:p>
            <a:pPr marL="1371600" lvl="2" indent="-310832" algn="l" rtl="0">
              <a:spcBef>
                <a:spcPts val="0"/>
              </a:spcBef>
              <a:spcAft>
                <a:spcPts val="0"/>
              </a:spcAft>
              <a:buSzPct val="100000"/>
              <a:buChar char="■"/>
            </a:pPr>
            <a:r>
              <a:rPr lang="ja" noProof="1"/>
              <a:t>The principal is each organization. OSPO supports this.</a:t>
            </a:r>
            <a:endParaRPr/>
          </a:p>
          <a:p>
            <a:pPr marL="1371600" lvl="2" indent="-310832" algn="l" rtl="0">
              <a:spcBef>
                <a:spcPts val="0"/>
              </a:spcBef>
              <a:spcAft>
                <a:spcPts val="0"/>
              </a:spcAft>
              <a:buSzPct val="100000"/>
              <a:buChar char="■"/>
            </a:pPr>
            <a:r>
              <a:rPr lang="ja" noProof="1"/>
              <a:t>There are OSPO members in each department. OSPO is a virtual organization.</a:t>
            </a:r>
            <a:endParaRPr/>
          </a:p>
          <a:p>
            <a:pPr marL="457200" lvl="0" indent="-310832" algn="l" rtl="0">
              <a:spcBef>
                <a:spcPts val="0"/>
              </a:spcBef>
              <a:spcAft>
                <a:spcPts val="0"/>
              </a:spcAft>
              <a:buSzPct val="100000"/>
              <a:buChar char="●"/>
            </a:pPr>
            <a:r>
              <a:rPr lang="ja" noProof="1"/>
              <a:t>(For software-house and non-software-house companies)</a:t>
            </a:r>
            <a:endParaRPr/>
          </a:p>
          <a:p>
            <a:pPr marL="457200" lvl="0" indent="-310832" algn="l" rtl="0">
              <a:spcBef>
                <a:spcPts val="0"/>
              </a:spcBef>
              <a:spcAft>
                <a:spcPts val="0"/>
              </a:spcAft>
              <a:buSzPct val="100000"/>
              <a:buChar char="●"/>
            </a:pPr>
            <a:r>
              <a:rPr lang="ja" noProof="1"/>
              <a:t>Reference</a:t>
            </a:r>
            <a:endParaRPr/>
          </a:p>
          <a:p>
            <a:pPr marL="914400" lvl="1" indent="-310832" algn="l" rtl="0">
              <a:spcBef>
                <a:spcPts val="0"/>
              </a:spcBef>
              <a:spcAft>
                <a:spcPts val="0"/>
              </a:spcAft>
              <a:buSzPct val="100000"/>
              <a:buChar char="○"/>
            </a:pPr>
            <a:r>
              <a:rPr lang="ja" u="sng" noProof="1">
                <a:solidFill>
                  <a:schemeClr val="hlink"/>
                </a:solidFill>
                <a:hlinkClick r:id="rId3"/>
              </a:rPr>
              <a:t>https://www.linuxfoundation.jp/publications/2022/11/a-deep-dive-into-open-source-program-offices/</a:t>
            </a:r>
            <a:endParaRPr/>
          </a:p>
          <a:p>
            <a:pPr marL="914400" lvl="1" indent="-310832" algn="l" rtl="0">
              <a:spcBef>
                <a:spcPts val="0"/>
              </a:spcBef>
              <a:spcAft>
                <a:spcPts val="0"/>
              </a:spcAft>
              <a:buSzPct val="100000"/>
              <a:buChar char="○"/>
            </a:pPr>
            <a:r>
              <a:rPr lang="ja" u="sng" noProof="1">
                <a:solidFill>
                  <a:schemeClr val="hlink"/>
                </a:solidFill>
                <a:hlinkClick r:id="rId4"/>
              </a:rPr>
              <a:t>https://www.linuxfoundation.jp/wp-content/uploads/2022/11/ja_LFR_LFAID_Deep_Dive_Open_Source_Program_Offices_0830.pdf</a:t>
            </a:r>
            <a:endParaRPr/>
          </a:p>
          <a:p>
            <a:pPr marL="914400" lvl="1" indent="-310832" algn="l" rtl="0">
              <a:spcBef>
                <a:spcPts val="0"/>
              </a:spcBef>
              <a:spcAft>
                <a:spcPts val="0"/>
              </a:spcAft>
              <a:buSzPct val="100000"/>
              <a:buChar char="○"/>
            </a:pPr>
            <a:r>
              <a:t> </a:t>
            </a:r>
          </a:p>
        </p:txBody>
      </p:sp>
      <p:sp>
        <p:nvSpPr>
          <p:cNvPr id="270" name="Google Shape;270;p35"/>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6"/>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Q1</a:t>
            </a:r>
            <a:endParaRPr/>
          </a:p>
        </p:txBody>
      </p:sp>
      <p:sp>
        <p:nvSpPr>
          <p:cNvPr id="276" name="Google Shape;276;p36"/>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noProof="1"/>
              <a:t>Q: What is the organization and member structure of OSPO?</a:t>
            </a:r>
            <a:endParaRPr/>
          </a:p>
        </p:txBody>
      </p:sp>
      <p:sp>
        <p:nvSpPr>
          <p:cNvPr id="277" name="Google Shape;277;p36"/>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ja" noProof="1"/>
              <a:t>A:</a:t>
            </a:r>
            <a:r>
              <a:rPr lang="ja"/>
              <a:t>  </a:t>
            </a:r>
            <a:endParaRPr/>
          </a:p>
          <a:p>
            <a:pPr marL="0" lvl="0" indent="0" algn="l" rtl="0">
              <a:spcBef>
                <a:spcPts val="0"/>
              </a:spcBef>
              <a:spcAft>
                <a:spcPts val="0"/>
              </a:spcAft>
              <a:buNone/>
            </a:pPr>
            <a:r>
              <a:t> </a:t>
            </a:r>
          </a:p>
          <a:p>
            <a:pPr marL="457200" lvl="0" indent="-317500" algn="l" rtl="0">
              <a:spcBef>
                <a:spcPts val="0"/>
              </a:spcBef>
              <a:spcAft>
                <a:spcPts val="0"/>
              </a:spcAft>
              <a:buSzPts val="1400"/>
              <a:buChar char="●"/>
            </a:pPr>
            <a:r>
              <a:rPr lang="ja" noProof="1"/>
              <a:t>I would like to prepare answers for people who are thinking of creating an OSPO for the first time.</a:t>
            </a:r>
            <a:endParaRPr/>
          </a:p>
          <a:p>
            <a:pPr marL="914400" lvl="1" indent="-317500" algn="l" rtl="0">
              <a:spcBef>
                <a:spcPts val="0"/>
              </a:spcBef>
              <a:spcAft>
                <a:spcPts val="0"/>
              </a:spcAft>
              <a:buSzPts val="1400"/>
              <a:buChar char="○"/>
            </a:pPr>
            <a:r>
              <a:rPr lang="ja" noProof="1"/>
              <a:t>(Example)When creating an OSPO within the company, it is easier to educate the company if you have examples from other companies.</a:t>
            </a:r>
            <a:endParaRPr/>
          </a:p>
          <a:p>
            <a:pPr marL="457200" lvl="0" indent="-317500" algn="l" rtl="0">
              <a:spcBef>
                <a:spcPts val="0"/>
              </a:spcBef>
              <a:spcAft>
                <a:spcPts val="0"/>
              </a:spcAft>
              <a:buSzPts val="1400"/>
              <a:buChar char="●"/>
            </a:pPr>
            <a:r>
              <a:rPr lang="ja" noProof="1"/>
              <a:t>The form of OSPO is different for each company.</a:t>
            </a:r>
            <a:endParaRPr/>
          </a:p>
          <a:p>
            <a:pPr marL="914400" lvl="1" indent="-317500" algn="l" rtl="0">
              <a:spcBef>
                <a:spcPts val="0"/>
              </a:spcBef>
              <a:spcAft>
                <a:spcPts val="0"/>
              </a:spcAft>
              <a:buSzPts val="1400"/>
              <a:buChar char="○"/>
            </a:pPr>
            <a:r>
              <a:rPr lang="ja" noProof="1"/>
              <a:t>It is good to start by clarifying the reason why you want to create an OSPO.</a:t>
            </a:r>
            <a:endParaRPr/>
          </a:p>
          <a:p>
            <a:pPr marL="457200" lvl="0" indent="-317500" algn="l" rtl="0">
              <a:spcBef>
                <a:spcPts val="0"/>
              </a:spcBef>
              <a:spcAft>
                <a:spcPts val="0"/>
              </a:spcAft>
              <a:buSzPts val="1400"/>
              <a:buChar char="●"/>
            </a:pPr>
            <a:r>
              <a:rPr lang="ja" noProof="1"/>
              <a:t>For example:</a:t>
            </a:r>
            <a:endParaRPr/>
          </a:p>
          <a:p>
            <a:pPr marL="914400" lvl="1" indent="-317500" algn="l" rtl="0">
              <a:spcBef>
                <a:spcPts val="0"/>
              </a:spcBef>
              <a:spcAft>
                <a:spcPts val="0"/>
              </a:spcAft>
              <a:buSzPts val="1400"/>
              <a:buChar char="○"/>
            </a:pPr>
            <a:r>
              <a:rPr lang="ja" noProof="1"/>
              <a:t>Software house company A:</a:t>
            </a:r>
            <a:endParaRPr/>
          </a:p>
          <a:p>
            <a:pPr marL="1371600" lvl="2" indent="-317500" algn="l" rtl="0">
              <a:spcBef>
                <a:spcPts val="0"/>
              </a:spcBef>
              <a:spcAft>
                <a:spcPts val="0"/>
              </a:spcAft>
              <a:buSzPts val="1400"/>
              <a:buChar char="■"/>
            </a:pPr>
            <a:r>
              <a:rPr lang="ja" noProof="1"/>
              <a:t>The main body is each organization. This is supported by the OSPO.</a:t>
            </a:r>
            <a:endParaRPr/>
          </a:p>
          <a:p>
            <a:pPr marL="1371600" lvl="2" indent="-317500" algn="l" rtl="0">
              <a:spcBef>
                <a:spcPts val="0"/>
              </a:spcBef>
              <a:spcAft>
                <a:spcPts val="0"/>
              </a:spcAft>
              <a:buSzPts val="1400"/>
              <a:buChar char="■"/>
            </a:pPr>
            <a:r>
              <a:rPr lang="ja" noProof="1"/>
              <a:t>There are OSPO members in each department, and the OSPO is a virtual organization.</a:t>
            </a:r>
            <a:endParaRPr/>
          </a:p>
          <a:p>
            <a:pPr marL="457200" lvl="0" indent="-317500" algn="l" rtl="0">
              <a:spcBef>
                <a:spcPts val="0"/>
              </a:spcBef>
              <a:spcAft>
                <a:spcPts val="0"/>
              </a:spcAft>
              <a:buSzPts val="1400"/>
              <a:buChar char="●"/>
            </a:pPr>
            <a:r>
              <a:rPr lang="ja" noProof="1"/>
              <a:t>(For software-house and non-software-house companies)</a:t>
            </a:r>
            <a:endParaRPr/>
          </a:p>
          <a:p>
            <a:pPr marL="457200" lvl="0" indent="-317500" algn="l" rtl="0">
              <a:spcBef>
                <a:spcPts val="0"/>
              </a:spcBef>
              <a:spcAft>
                <a:spcPts val="0"/>
              </a:spcAft>
              <a:buSzPts val="1400"/>
              <a:buChar char="●"/>
            </a:pPr>
            <a:r>
              <a:rPr lang="ja" noProof="1"/>
              <a:t>References</a:t>
            </a:r>
            <a:endParaRPr/>
          </a:p>
          <a:p>
            <a:pPr marL="914400" lvl="1" indent="-317500" algn="l" rtl="0">
              <a:spcBef>
                <a:spcPts val="0"/>
              </a:spcBef>
              <a:spcAft>
                <a:spcPts val="0"/>
              </a:spcAft>
              <a:buSzPts val="1400"/>
              <a:buChar char="○"/>
            </a:pPr>
            <a:r>
              <a:rPr lang="ja" u="sng" noProof="1">
                <a:solidFill>
                  <a:schemeClr val="hlink"/>
                </a:solidFill>
                <a:hlinkClick r:id="rId3"/>
              </a:rPr>
              <a:t>https://www.linuxfoundation.jp/publications/2022/11/a-deep-dive-into-open-source-program-offices/</a:t>
            </a:r>
            <a:endParaRPr/>
          </a:p>
          <a:p>
            <a:pPr marL="914400" lvl="1" indent="-317500" algn="l" rtl="0">
              <a:spcBef>
                <a:spcPts val="0"/>
              </a:spcBef>
              <a:spcAft>
                <a:spcPts val="0"/>
              </a:spcAft>
              <a:buSzPts val="1400"/>
              <a:buChar char="○"/>
            </a:pPr>
            <a:r>
              <a:rPr lang="ja" u="sng" noProof="1">
                <a:solidFill>
                  <a:schemeClr val="hlink"/>
                </a:solidFill>
                <a:hlinkClick r:id="rId4"/>
              </a:rPr>
              <a:t>https://www.linuxfoundation.jp/wp-content/uploads/2022/11/ja_LFR_LFAID_Deep_Dive_Open_Source_Program_Offices_0830.pdf</a:t>
            </a:r>
            <a:endParaRPr/>
          </a:p>
          <a:p>
            <a:pPr marL="914400" lvl="1" indent="-317500" algn="l" rtl="0">
              <a:spcBef>
                <a:spcPts val="0"/>
              </a:spcBef>
              <a:spcAft>
                <a:spcPts val="0"/>
              </a:spcAft>
              <a:buSzPts val="1400"/>
              <a:buChar char="○"/>
            </a:pPr>
            <a:r>
              <a:t> </a:t>
            </a:r>
          </a:p>
        </p:txBody>
      </p:sp>
      <p:sp>
        <p:nvSpPr>
          <p:cNvPr id="278" name="Google Shape;278;p36"/>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7"/>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ja" noProof="1"/>
              <a:t>Q1 Reference Links</a:t>
            </a:r>
            <a:endParaRPr/>
          </a:p>
        </p:txBody>
      </p:sp>
      <p:sp>
        <p:nvSpPr>
          <p:cNvPr id="284" name="Google Shape;284;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ja" noProof="1"/>
              <a:t>A Deep Dive into Open Source Program Offices: Structure, Roles, Responsibilities, and Challenges</a:t>
            </a:r>
            <a:endParaRPr/>
          </a:p>
          <a:p>
            <a:pPr marL="914400" lvl="1" indent="-317500" algn="l" rtl="0">
              <a:spcBef>
                <a:spcPts val="0"/>
              </a:spcBef>
              <a:spcAft>
                <a:spcPts val="0"/>
              </a:spcAft>
              <a:buSzPts val="1400"/>
              <a:buChar char="○"/>
            </a:pPr>
            <a:r>
              <a:rPr lang="ja" u="sng" noProof="1">
                <a:solidFill>
                  <a:schemeClr val="hlink"/>
                </a:solidFill>
                <a:hlinkClick r:id="rId3"/>
              </a:rPr>
              <a:t>https://www.linuxfoundation.org/research/a-deep-dive-into-open-source-program-offices</a:t>
            </a:r>
            <a:endParaRPr/>
          </a:p>
          <a:p>
            <a:pPr marL="457200" lvl="0" indent="-317500" algn="l" rtl="0">
              <a:spcBef>
                <a:spcPts val="0"/>
              </a:spcBef>
              <a:spcAft>
                <a:spcPts val="0"/>
              </a:spcAft>
              <a:buSzPts val="1400"/>
              <a:buChar char="●"/>
            </a:pPr>
            <a:r>
              <a:rPr lang="ja" noProof="1"/>
              <a:t>Deep Dive: Open Source Program Office Organizational Structure, Roles, Responsibilities, and Challenges</a:t>
            </a:r>
            <a:endParaRPr/>
          </a:p>
          <a:p>
            <a:pPr marL="914400" lvl="1" indent="-317500" algn="l" rtl="0">
              <a:spcBef>
                <a:spcPts val="0"/>
              </a:spcBef>
              <a:spcAft>
                <a:spcPts val="0"/>
              </a:spcAft>
              <a:buSzPts val="1400"/>
              <a:buChar char="○"/>
            </a:pPr>
            <a:r>
              <a:rPr lang="ja" u="sng" noProof="1">
                <a:solidFill>
                  <a:schemeClr val="hlink"/>
                </a:solidFill>
                <a:hlinkClick r:id="rId4"/>
              </a:rPr>
              <a:t>https://www.linuxfoundation.jp/blog/2022/11/japanese-version-of-a-deep-dive-into-open-source-program-offices-launch/</a:t>
            </a:r>
            <a:endParaRPr/>
          </a:p>
          <a:p>
            <a:pPr marL="457200" lvl="0" indent="-317500" algn="l" rtl="0">
              <a:spcBef>
                <a:spcPts val="0"/>
              </a:spcBef>
              <a:spcAft>
                <a:spcPts val="0"/>
              </a:spcAft>
              <a:buSzPts val="1400"/>
              <a:buChar char="●"/>
            </a:pPr>
            <a:r>
              <a:rPr lang="ja" noProof="1"/>
              <a:t>Creating an Open Source Program</a:t>
            </a:r>
            <a:endParaRPr/>
          </a:p>
          <a:p>
            <a:pPr marL="914400" lvl="1" indent="-317500" algn="l" rtl="0">
              <a:spcBef>
                <a:spcPts val="0"/>
              </a:spcBef>
              <a:spcAft>
                <a:spcPts val="0"/>
              </a:spcAft>
              <a:buSzPts val="1400"/>
              <a:buChar char="○"/>
            </a:pPr>
            <a:r>
              <a:rPr lang="ja" u="sng" noProof="1">
                <a:solidFill>
                  <a:schemeClr val="hlink"/>
                </a:solidFill>
                <a:hlinkClick r:id="rId5"/>
              </a:rPr>
              <a:t>https://www.linuxfoundation.org/resources/open-source-guides/creating-an-open-source-program?hsLang=en</a:t>
            </a:r>
            <a:endParaRPr/>
          </a:p>
          <a:p>
            <a:pPr marL="457200" lvl="0" indent="-317500" algn="l" rtl="0">
              <a:spcBef>
                <a:spcPts val="0"/>
              </a:spcBef>
              <a:spcAft>
                <a:spcPts val="0"/>
              </a:spcAft>
              <a:buClr>
                <a:schemeClr val="dk1"/>
              </a:buClr>
              <a:buSzPts val="1400"/>
              <a:buChar char="●"/>
            </a:pPr>
            <a:r>
              <a:rPr lang="ja" noProof="1">
                <a:solidFill>
                  <a:schemeClr val="dk1"/>
                </a:solidFill>
              </a:rPr>
              <a:t>Creating Open Source Programs</a:t>
            </a:r>
            <a:endParaRPr>
              <a:solidFill>
                <a:schemeClr val="dk1"/>
              </a:solidFill>
            </a:endParaRPr>
          </a:p>
          <a:p>
            <a:pPr marL="914400" lvl="1" indent="-317500" algn="l" rtl="0">
              <a:spcBef>
                <a:spcPts val="0"/>
              </a:spcBef>
              <a:spcAft>
                <a:spcPts val="0"/>
              </a:spcAft>
              <a:buClr>
                <a:schemeClr val="dk1"/>
              </a:buClr>
              <a:buSzPts val="1400"/>
              <a:buChar char="○"/>
            </a:pPr>
            <a:r>
              <a:rPr lang="ja" u="sng" noProof="1">
                <a:solidFill>
                  <a:schemeClr val="hlink"/>
                </a:solidFill>
                <a:hlinkClick r:id="rId6"/>
              </a:rPr>
              <a:t>https://www.linuxfoundation.jp/resources/open-source-guides/creating-an-open-source-program/</a:t>
            </a:r>
            <a:endParaRPr/>
          </a:p>
          <a:p>
            <a:pPr marL="457200" lvl="0" indent="-317500" algn="l" rtl="0">
              <a:spcBef>
                <a:spcPts val="0"/>
              </a:spcBef>
              <a:spcAft>
                <a:spcPts val="0"/>
              </a:spcAft>
              <a:buSzPts val="1400"/>
              <a:buChar char="●"/>
            </a:pPr>
            <a:r>
              <a:rPr lang="ja" noProof="1"/>
              <a:t>OSPO 101 Training Modules</a:t>
            </a:r>
            <a:endParaRPr/>
          </a:p>
          <a:p>
            <a:pPr marL="914400" lvl="1" indent="-317500" algn="l" rtl="0">
              <a:spcBef>
                <a:spcPts val="0"/>
              </a:spcBef>
              <a:spcAft>
                <a:spcPts val="0"/>
              </a:spcAft>
              <a:buSzPts val="1400"/>
              <a:buChar char="○"/>
            </a:pPr>
            <a:r>
              <a:rPr lang="ja" u="sng" noProof="1">
                <a:solidFill>
                  <a:schemeClr val="hlink"/>
                </a:solidFill>
                <a:hlinkClick r:id="rId7"/>
              </a:rPr>
              <a:t>https://github.com/todogroup/ospo-career-path/tree/main/OSPO-101</a:t>
            </a:r>
            <a:endParaRPr/>
          </a:p>
          <a:p>
            <a:pPr marL="457200" lvl="0" indent="-317500" algn="l" rtl="0">
              <a:spcBef>
                <a:spcPts val="0"/>
              </a:spcBef>
              <a:spcAft>
                <a:spcPts val="0"/>
              </a:spcAft>
              <a:buSzPts val="1400"/>
              <a:buChar char="●"/>
            </a:pPr>
            <a:r>
              <a:rPr lang="ja" noProof="1"/>
              <a:t>Evolution of Open Source Program Office (OSPO)</a:t>
            </a:r>
            <a:endParaRPr/>
          </a:p>
          <a:p>
            <a:pPr marL="914400" lvl="1" indent="-317500" algn="l" rtl="0">
              <a:spcBef>
                <a:spcPts val="0"/>
              </a:spcBef>
              <a:spcAft>
                <a:spcPts val="0"/>
              </a:spcAft>
              <a:buSzPts val="1400"/>
              <a:buChar char="○"/>
            </a:pPr>
            <a:r>
              <a:rPr lang="ja" u="sng" noProof="1">
                <a:solidFill>
                  <a:schemeClr val="hlink"/>
                </a:solidFill>
                <a:hlinkClick r:id="rId8"/>
              </a:rPr>
              <a:t>https://www.linuxfoundation.jp/wp-content/uploads//2022/08/LFResearch_OSPO_Report-jp.pdf</a:t>
            </a:r>
            <a:endParaRPr/>
          </a:p>
          <a:p>
            <a:pPr marL="457200" lvl="0" indent="0" algn="l" rtl="0">
              <a:spcBef>
                <a:spcPts val="0"/>
              </a:spcBef>
              <a:spcAft>
                <a:spcPts val="0"/>
              </a:spcAft>
              <a:buNone/>
            </a:pPr>
            <a: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8"/>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Question candidates (in blue, added in MTG)</a:t>
            </a:r>
            <a:endParaRPr/>
          </a:p>
        </p:txBody>
      </p:sp>
      <p:sp>
        <p:nvSpPr>
          <p:cNvPr id="290" name="Google Shape;290;p38"/>
          <p:cNvSpPr txBox="1"/>
          <p:nvPr/>
        </p:nvSpPr>
        <p:spPr>
          <a:xfrm>
            <a:off x="432100" y="918350"/>
            <a:ext cx="8280000" cy="3897900"/>
          </a:xfrm>
          <a:prstGeom prst="rect">
            <a:avLst/>
          </a:prstGeom>
          <a:noFill/>
          <a:ln>
            <a:noFill/>
          </a:ln>
        </p:spPr>
        <p:txBody>
          <a:bodyPr spcFirstLastPara="1" wrap="square" lIns="91425" tIns="91425" rIns="91425" bIns="91425" anchor="t" anchorCtr="0">
            <a:normAutofit fontScale="70000" lnSpcReduction="20000"/>
          </a:bodyPr>
          <a:lstStyle/>
          <a:p>
            <a:pPr marL="457200" lvl="0" indent="-290830" algn="l" rtl="0">
              <a:lnSpc>
                <a:spcPct val="110000"/>
              </a:lnSpc>
              <a:spcBef>
                <a:spcPts val="0"/>
              </a:spcBef>
              <a:spcAft>
                <a:spcPts val="0"/>
              </a:spcAft>
              <a:buClr>
                <a:srgbClr val="0000FF"/>
              </a:buClr>
              <a:buSzPct val="100000"/>
              <a:buAutoNum type="arabicPeriod"/>
            </a:pPr>
            <a:r>
              <a:rPr lang="ja" noProof="1">
                <a:solidFill>
                  <a:srgbClr val="0000FF"/>
                </a:solidFill>
              </a:rPr>
              <a:t>Why do you need to manage OSS? (Why now, with so much OSS already in use,) </a:t>
            </a:r>
            <a:r>
              <a:rPr lang="ja" u="sng" noProof="1">
                <a:solidFill>
                  <a:schemeClr val="hlink"/>
                </a:solidFill>
                <a:hlinkClick r:id="rId3" action="ppaction://hlinksldjump"/>
              </a:rPr>
              <a:t>Slide link</a:t>
            </a:r>
            <a:endParaRPr>
              <a:solidFill>
                <a:srgbClr val="0000FF"/>
              </a:solidFill>
            </a:endParaRPr>
          </a:p>
          <a:p>
            <a:pPr marL="457200" lvl="0" indent="-290830" algn="l" rtl="0">
              <a:lnSpc>
                <a:spcPct val="110000"/>
              </a:lnSpc>
              <a:spcBef>
                <a:spcPts val="0"/>
              </a:spcBef>
              <a:spcAft>
                <a:spcPts val="0"/>
              </a:spcAft>
              <a:buClr>
                <a:srgbClr val="0000FF"/>
              </a:buClr>
              <a:buSzPct val="100000"/>
              <a:buAutoNum type="arabicPeriod"/>
            </a:pPr>
            <a:r>
              <a:rPr lang="ja" noProof="1">
                <a:solidFill>
                  <a:srgbClr val="0000FF"/>
                </a:solidFill>
              </a:rPr>
              <a:t>What is OSPO?</a:t>
            </a:r>
            <a:endParaRPr>
              <a:solidFill>
                <a:srgbClr val="0000FF"/>
              </a:solidFill>
            </a:endParaRPr>
          </a:p>
          <a:p>
            <a:pPr marL="457200" lvl="0" indent="-290830" algn="l" rtl="0">
              <a:lnSpc>
                <a:spcPct val="110000"/>
              </a:lnSpc>
              <a:spcBef>
                <a:spcPts val="0"/>
              </a:spcBef>
              <a:spcAft>
                <a:spcPts val="0"/>
              </a:spcAft>
              <a:buClr>
                <a:srgbClr val="0000FF"/>
              </a:buClr>
              <a:buSzPct val="100000"/>
              <a:buAutoNum type="arabicPeriod"/>
            </a:pPr>
            <a:r>
              <a:rPr lang="ja" noProof="1">
                <a:solidFill>
                  <a:srgbClr val="0000FF"/>
                </a:solidFill>
              </a:rPr>
              <a:t>(TO: Companies that already have an OSPO organization) Why did you create an OSPO?</a:t>
            </a:r>
            <a:endParaRPr>
              <a:solidFill>
                <a:srgbClr val="0000FF"/>
              </a:solidFill>
            </a:endParaRPr>
          </a:p>
          <a:p>
            <a:pPr marL="457200" lvl="0" indent="-290830" algn="l" rtl="0">
              <a:spcBef>
                <a:spcPts val="0"/>
              </a:spcBef>
              <a:spcAft>
                <a:spcPts val="0"/>
              </a:spcAft>
              <a:buClr>
                <a:srgbClr val="0000FF"/>
              </a:buClr>
              <a:buSzPct val="100000"/>
              <a:buAutoNum type="arabicPeriod"/>
            </a:pPr>
            <a:r>
              <a:rPr lang="ja" noProof="1">
                <a:solidFill>
                  <a:srgbClr val="0000FF"/>
                </a:solidFill>
              </a:rPr>
              <a:t>I would like to create an OSPO, but where do I start?</a:t>
            </a:r>
            <a:endParaRPr>
              <a:solidFill>
                <a:srgbClr val="0000FF"/>
              </a:solidFill>
            </a:endParaRPr>
          </a:p>
          <a:p>
            <a:pPr marL="457200" lvl="0" indent="-290830" algn="l" rtl="0">
              <a:lnSpc>
                <a:spcPct val="110000"/>
              </a:lnSpc>
              <a:spcBef>
                <a:spcPts val="0"/>
              </a:spcBef>
              <a:spcAft>
                <a:spcPts val="0"/>
              </a:spcAft>
              <a:buSzPct val="100000"/>
              <a:buAutoNum type="arabicPeriod"/>
            </a:pPr>
            <a:r>
              <a:rPr lang="ja" noProof="1"/>
              <a:t>What is the organization and membership structure of OSPO?</a:t>
            </a:r>
            <a:r>
              <a:rPr lang="ja"/>
              <a:t> </a:t>
            </a:r>
            <a:endParaRPr/>
          </a:p>
          <a:p>
            <a:pPr marL="914400" lvl="1" indent="-290830" algn="l" rtl="0">
              <a:lnSpc>
                <a:spcPct val="110000"/>
              </a:lnSpc>
              <a:spcBef>
                <a:spcPts val="0"/>
              </a:spcBef>
              <a:spcAft>
                <a:spcPts val="0"/>
              </a:spcAft>
              <a:buSzPct val="100000"/>
              <a:buAutoNum type="alphaLcPeriod"/>
            </a:pPr>
            <a:r>
              <a:rPr lang="ja" noProof="1"/>
              <a:t>(For software-house and non-software-house companies)</a:t>
            </a:r>
            <a:r>
              <a:rPr lang="ja"/>
              <a:t>  </a:t>
            </a:r>
            <a:endParaRPr/>
          </a:p>
          <a:p>
            <a:pPr marL="457200" lvl="0" indent="-290830" algn="l" rtl="0">
              <a:lnSpc>
                <a:spcPct val="110000"/>
              </a:lnSpc>
              <a:spcBef>
                <a:spcPts val="0"/>
              </a:spcBef>
              <a:spcAft>
                <a:spcPts val="0"/>
              </a:spcAft>
              <a:buSzPct val="100000"/>
              <a:buAutoNum type="arabicPeriod"/>
            </a:pPr>
            <a:r>
              <a:rPr lang="ja" noProof="1"/>
              <a:t>What is the organization and authority of OSPO?</a:t>
            </a:r>
            <a:r>
              <a:rPr lang="ja"/>
              <a:t> </a:t>
            </a:r>
            <a:endParaRPr/>
          </a:p>
          <a:p>
            <a:pPr marL="914400" lvl="1" indent="-290830" algn="l" rtl="0">
              <a:lnSpc>
                <a:spcPct val="110000"/>
              </a:lnSpc>
              <a:spcBef>
                <a:spcPts val="0"/>
              </a:spcBef>
              <a:spcAft>
                <a:spcPts val="0"/>
              </a:spcAft>
              <a:buSzPct val="100000"/>
              <a:buAutoNum type="alphaLcPeriod"/>
            </a:pPr>
            <a:r>
              <a:rPr lang="ja" noProof="1"/>
              <a:t>(OSPO Budget, OSPO Report Line, OSPO Default Corporate Rule Violations, etc.)</a:t>
            </a:r>
            <a:endParaRPr/>
          </a:p>
          <a:p>
            <a:pPr marL="457200" lvl="0" indent="-290830" algn="l" rtl="0">
              <a:lnSpc>
                <a:spcPct val="110000"/>
              </a:lnSpc>
              <a:spcBef>
                <a:spcPts val="0"/>
              </a:spcBef>
              <a:spcAft>
                <a:spcPts val="0"/>
              </a:spcAft>
              <a:buSzPct val="100000"/>
              <a:buAutoNum type="arabicPeriod"/>
            </a:pPr>
            <a:r>
              <a:rPr lang="ja" noProof="1"/>
              <a:t>Do you require SBOM from software suppliers?</a:t>
            </a:r>
            <a:r>
              <a:rPr lang="ja"/>
              <a:t> </a:t>
            </a:r>
            <a:endParaRPr/>
          </a:p>
          <a:p>
            <a:pPr marL="914400" lvl="1" indent="-290830" algn="l" rtl="0">
              <a:lnSpc>
                <a:spcPct val="110000"/>
              </a:lnSpc>
              <a:spcBef>
                <a:spcPts val="0"/>
              </a:spcBef>
              <a:spcAft>
                <a:spcPts val="0"/>
              </a:spcAft>
              <a:buSzPct val="100000"/>
              <a:buAutoNum type="alphaLcPeriod"/>
            </a:pPr>
            <a:r>
              <a:rPr lang="ja" noProof="1"/>
              <a:t>(Timing? Format? Did you check the contents? How often do you update? Requesting an update?)</a:t>
            </a:r>
            <a:endParaRPr/>
          </a:p>
          <a:p>
            <a:pPr marL="457200" lvl="0" indent="-290830" algn="l" rtl="0">
              <a:lnSpc>
                <a:spcPct val="110000"/>
              </a:lnSpc>
              <a:spcBef>
                <a:spcPts val="0"/>
              </a:spcBef>
              <a:spcAft>
                <a:spcPts val="0"/>
              </a:spcAft>
              <a:buSzPct val="100000"/>
              <a:buAutoNum type="arabicPeriod"/>
            </a:pPr>
            <a:r>
              <a:rPr lang="ja" noProof="1"/>
              <a:t>Do you have enough SBOM management tools?</a:t>
            </a:r>
            <a:endParaRPr/>
          </a:p>
          <a:p>
            <a:pPr marL="914400" lvl="1" indent="-290830" algn="l" rtl="0">
              <a:lnSpc>
                <a:spcPct val="110000"/>
              </a:lnSpc>
              <a:spcBef>
                <a:spcPts val="0"/>
              </a:spcBef>
              <a:spcAft>
                <a:spcPts val="0"/>
              </a:spcAft>
              <a:buSzPct val="100000"/>
              <a:buAutoNum type="alphaLcPeriod"/>
            </a:pPr>
            <a:r>
              <a:rPr lang="ja" noProof="1"/>
              <a:t>(How do you see what's in the SBOM? What are SBOM quality decisions/criteria? Can I see the SBOM difference?)</a:t>
            </a:r>
            <a:r>
              <a:rPr lang="ja"/>
              <a:t>  </a:t>
            </a:r>
            <a:endParaRPr/>
          </a:p>
          <a:p>
            <a:pPr marL="457200" lvl="0" indent="-290830" algn="l" rtl="0">
              <a:lnSpc>
                <a:spcPct val="110000"/>
              </a:lnSpc>
              <a:spcBef>
                <a:spcPts val="0"/>
              </a:spcBef>
              <a:spcAft>
                <a:spcPts val="0"/>
              </a:spcAft>
              <a:buSzPct val="100000"/>
              <a:buAutoNum type="arabicPeriod"/>
            </a:pPr>
            <a:r>
              <a:rPr lang="ja" noProof="1"/>
              <a:t>What is the copyright of OSS?</a:t>
            </a:r>
            <a:endParaRPr/>
          </a:p>
          <a:p>
            <a:pPr marL="914400" lvl="1" indent="-290830" algn="l" rtl="0">
              <a:lnSpc>
                <a:spcPct val="110000"/>
              </a:lnSpc>
              <a:spcBef>
                <a:spcPts val="0"/>
              </a:spcBef>
              <a:spcAft>
                <a:spcPts val="0"/>
              </a:spcAft>
              <a:buSzPct val="100000"/>
              <a:buAutoNum type="alphaLcPeriod"/>
            </a:pPr>
            <a:r>
              <a:rPr lang="ja" noProof="1"/>
              <a:t>(According to copyright law? Do you have company rules? Is community work a business? What about personal OSS for pre-employment development?)</a:t>
            </a:r>
            <a:endParaRPr/>
          </a:p>
          <a:p>
            <a:pPr marL="457200" lvl="0" indent="-290830" algn="l" rtl="0">
              <a:lnSpc>
                <a:spcPct val="110000"/>
              </a:lnSpc>
              <a:spcBef>
                <a:spcPts val="0"/>
              </a:spcBef>
              <a:spcAft>
                <a:spcPts val="0"/>
              </a:spcAft>
              <a:buSzPct val="100000"/>
              <a:buAutoNum type="arabicPeriod"/>
            </a:pPr>
            <a:r>
              <a:rPr lang="ja"/>
              <a:t> </a:t>
            </a:r>
            <a:r>
              <a:rPr lang="ja" noProof="1"/>
              <a:t>Do you manage OSS with OSS?</a:t>
            </a:r>
            <a:endParaRPr/>
          </a:p>
          <a:p>
            <a:pPr marL="914400" lvl="1" indent="-290830" algn="l" rtl="0">
              <a:lnSpc>
                <a:spcPct val="110000"/>
              </a:lnSpc>
              <a:spcBef>
                <a:spcPts val="0"/>
              </a:spcBef>
              <a:spcAft>
                <a:spcPts val="0"/>
              </a:spcAft>
              <a:buSzPct val="100000"/>
              <a:buAutoNum type="alphaLcPeriod"/>
            </a:pPr>
            <a:r>
              <a:rPr lang="ja" noProof="1"/>
              <a:t>(What are the precautions? What is your view on unsecured/unguaranteed OSS managing OSS? What is the internal explanation logic?)</a:t>
            </a:r>
            <a:endParaRPr/>
          </a:p>
          <a:p>
            <a:pPr marL="457200" lvl="0" indent="-290830" algn="l" rtl="0">
              <a:lnSpc>
                <a:spcPct val="110000"/>
              </a:lnSpc>
              <a:spcBef>
                <a:spcPts val="0"/>
              </a:spcBef>
              <a:spcAft>
                <a:spcPts val="0"/>
              </a:spcAft>
              <a:buSzPct val="100000"/>
              <a:buAutoNum type="arabicPeriod"/>
            </a:pPr>
            <a:r>
              <a:rPr lang="ja"/>
              <a:t> </a:t>
            </a:r>
            <a:r>
              <a:rPr lang="ja" noProof="1"/>
              <a:t>Do you apply for the use of software using OSS from the internal development department?</a:t>
            </a:r>
            <a:endParaRPr/>
          </a:p>
          <a:p>
            <a:pPr marL="914400" lvl="1" indent="-290830" algn="l" rtl="0">
              <a:lnSpc>
                <a:spcPct val="110000"/>
              </a:lnSpc>
              <a:spcBef>
                <a:spcPts val="0"/>
              </a:spcBef>
              <a:spcAft>
                <a:spcPts val="0"/>
              </a:spcAft>
              <a:buSzPct val="100000"/>
              <a:buAutoNum type="alphaLcPeriod"/>
            </a:pPr>
            <a:r>
              <a:rPr lang="ja" noProof="1"/>
              <a:t>(What is the content of the application? What if I violate my application? How do I check for application violations after application approval?)</a:t>
            </a:r>
            <a:endParaRPr/>
          </a:p>
          <a:p>
            <a:pPr marL="457200" lvl="0" indent="-290830" algn="l" rtl="0">
              <a:lnSpc>
                <a:spcPct val="110000"/>
              </a:lnSpc>
              <a:spcBef>
                <a:spcPts val="0"/>
              </a:spcBef>
              <a:spcAft>
                <a:spcPts val="0"/>
              </a:spcAft>
              <a:buSzPct val="100000"/>
              <a:buAutoNum type="arabicPeriod"/>
            </a:pPr>
            <a:r>
              <a:rPr lang="ja" noProof="1"/>
              <a:t>[2/10] What is the contribution of Legal and Intellectual Property to OSPO?</a:t>
            </a:r>
            <a:endParaRPr/>
          </a:p>
          <a:p>
            <a:pPr marL="914400" lvl="1" indent="-290830" algn="l" rtl="0">
              <a:lnSpc>
                <a:spcPct val="110000"/>
              </a:lnSpc>
              <a:spcBef>
                <a:spcPts val="0"/>
              </a:spcBef>
              <a:spcAft>
                <a:spcPts val="0"/>
              </a:spcAft>
              <a:buSzPct val="100000"/>
              <a:buAutoNum type="alphaLcPeriod"/>
            </a:pPr>
            <a:r>
              <a:rPr lang="ja" noProof="1"/>
              <a:t>Who is responsible for legal decisions? )</a:t>
            </a:r>
            <a:endParaRPr/>
          </a:p>
          <a:p>
            <a:pPr marL="457200" lvl="0" indent="-290830" algn="l" rtl="0">
              <a:lnSpc>
                <a:spcPct val="110000"/>
              </a:lnSpc>
              <a:spcBef>
                <a:spcPts val="0"/>
              </a:spcBef>
              <a:spcAft>
                <a:spcPts val="0"/>
              </a:spcAft>
              <a:buSzPct val="100000"/>
              <a:buAutoNum type="arabicPeriod"/>
            </a:pPr>
            <a:r>
              <a:rPr lang="ja" noProof="1"/>
              <a:t>[2/10] Who is responsible for SBOM requests during procurement?</a:t>
            </a:r>
            <a:endParaRPr/>
          </a:p>
          <a:p>
            <a:pPr marL="914400" lvl="1" indent="-290830" algn="l" rtl="0">
              <a:lnSpc>
                <a:spcPct val="110000"/>
              </a:lnSpc>
              <a:spcBef>
                <a:spcPts val="0"/>
              </a:spcBef>
              <a:spcAft>
                <a:spcPts val="0"/>
              </a:spcAft>
              <a:buSzPct val="100000"/>
              <a:buAutoNum type="alphaLcPeriod"/>
            </a:pPr>
            <a:r>
              <a:rPr lang="ja" noProof="1"/>
              <a:t>(What are my responsibilities for content, contracts, and unsubmitted SBOMs?)</a:t>
            </a:r>
            <a:endParaRPr/>
          </a:p>
          <a:p>
            <a:pPr marL="457200" lvl="0" indent="-290830" algn="l" rtl="0">
              <a:lnSpc>
                <a:spcPct val="110000"/>
              </a:lnSpc>
              <a:spcBef>
                <a:spcPts val="0"/>
              </a:spcBef>
              <a:spcAft>
                <a:spcPts val="0"/>
              </a:spcAft>
              <a:buClr>
                <a:srgbClr val="0000FF"/>
              </a:buClr>
              <a:buSzPct val="100000"/>
              <a:buAutoNum type="arabicPeriod"/>
            </a:pPr>
            <a:r>
              <a:rPr lang="ja" noProof="1">
                <a:solidFill>
                  <a:srgbClr val="0000FF"/>
                </a:solidFill>
              </a:rPr>
              <a:t>What issues does OSPO deal with?</a:t>
            </a:r>
            <a:endParaRPr>
              <a:solidFill>
                <a:srgbClr val="0000FF"/>
              </a:solidFill>
            </a:endParaRPr>
          </a:p>
          <a:p>
            <a:pPr marL="457200" lvl="0" indent="-290830" algn="l" rtl="0">
              <a:lnSpc>
                <a:spcPct val="110000"/>
              </a:lnSpc>
              <a:spcBef>
                <a:spcPts val="0"/>
              </a:spcBef>
              <a:spcAft>
                <a:spcPts val="0"/>
              </a:spcAft>
              <a:buClr>
                <a:srgbClr val="0000FF"/>
              </a:buClr>
              <a:buSzPct val="100000"/>
              <a:buAutoNum type="arabicPeriod"/>
            </a:pPr>
            <a:r>
              <a:rPr lang="ja" noProof="1">
                <a:solidFill>
                  <a:srgbClr val="0000FF"/>
                </a:solidFill>
              </a:rPr>
              <a:t>Why is OpenChain activity necessary?</a:t>
            </a:r>
            <a:endParaRPr>
              <a:solidFill>
                <a:srgbClr val="0000FF"/>
              </a:solidFill>
            </a:endParaRPr>
          </a:p>
          <a:p>
            <a:pPr marL="457200" lvl="0" indent="-290830" algn="l" rtl="0">
              <a:lnSpc>
                <a:spcPct val="110000"/>
              </a:lnSpc>
              <a:spcBef>
                <a:spcPts val="0"/>
              </a:spcBef>
              <a:spcAft>
                <a:spcPts val="0"/>
              </a:spcAft>
              <a:buClr>
                <a:srgbClr val="0000FF"/>
              </a:buClr>
              <a:buSzPct val="100000"/>
              <a:buAutoNum type="arabicPeriod"/>
            </a:pPr>
            <a:r>
              <a:rPr lang="ja" noProof="1">
                <a:solidFill>
                  <a:srgbClr val="0000FF"/>
                </a:solidFill>
              </a:rPr>
              <a:t>How can we find vulnerabilities in OSS?</a:t>
            </a:r>
            <a:endParaRPr>
              <a:solidFill>
                <a:srgbClr val="0000FF"/>
              </a:solidFill>
            </a:endParaRPr>
          </a:p>
          <a:p>
            <a:pPr marL="457200" lvl="0" indent="-290830" algn="l" rtl="0">
              <a:lnSpc>
                <a:spcPct val="110000"/>
              </a:lnSpc>
              <a:spcBef>
                <a:spcPts val="0"/>
              </a:spcBef>
              <a:spcAft>
                <a:spcPts val="0"/>
              </a:spcAft>
              <a:buClr>
                <a:srgbClr val="0000FF"/>
              </a:buClr>
              <a:buSzPct val="100000"/>
              <a:buAutoNum type="arabicPeriod"/>
            </a:pPr>
            <a:r>
              <a:rPr lang="ja" noProof="1">
                <a:solidFill>
                  <a:srgbClr val="0000FF"/>
                </a:solidFill>
              </a:rPr>
              <a:t>How can we interact with the community?</a:t>
            </a:r>
            <a:endParaRPr>
              <a:solidFill>
                <a:srgbClr val="0000FF"/>
              </a:solidFill>
            </a:endParaRPr>
          </a:p>
        </p:txBody>
      </p:sp>
      <p:sp>
        <p:nvSpPr>
          <p:cNvPr id="291" name="Google Shape;291;p38"/>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9"/>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ja" noProof="1"/>
              <a:t>2023/3/24</a:t>
            </a:r>
            <a:r>
              <a:rPr lang="ja"/>
              <a:t>  </a:t>
            </a:r>
            <a:r>
              <a:rPr lang="ja" noProof="1"/>
              <a:t>Meeting chat</a:t>
            </a:r>
            <a:endParaRPr/>
          </a:p>
        </p:txBody>
      </p:sp>
      <p:sp>
        <p:nvSpPr>
          <p:cNvPr id="297" name="Google Shape;297;p39"/>
          <p:cNvSpPr txBox="1">
            <a:spLocks noGrp="1"/>
          </p:cNvSpPr>
          <p:nvPr>
            <p:ph type="body" idx="1"/>
          </p:nvPr>
        </p:nvSpPr>
        <p:spPr>
          <a:xfrm>
            <a:off x="311700" y="1152475"/>
            <a:ext cx="4157400" cy="3416400"/>
          </a:xfrm>
          <a:prstGeom prst="rect">
            <a:avLst/>
          </a:prstGeom>
        </p:spPr>
        <p:txBody>
          <a:bodyPr spcFirstLastPara="1" wrap="square" lIns="91425" tIns="91425" rIns="91425" bIns="91425" anchor="t" anchorCtr="0">
            <a:normAutofit fontScale="40000" lnSpcReduction="10000"/>
          </a:bodyPr>
          <a:lstStyle/>
          <a:p>
            <a:pPr marL="457200" lvl="0" indent="-264160" algn="l" rtl="0">
              <a:spcBef>
                <a:spcPts val="0"/>
              </a:spcBef>
              <a:spcAft>
                <a:spcPts val="0"/>
              </a:spcAft>
              <a:buSzPct val="100000"/>
              <a:buChar char="●"/>
            </a:pPr>
            <a:r>
              <a:rPr lang="ja" noProof="1"/>
              <a:t>15:06:12</a:t>
            </a:r>
            <a:endParaRPr/>
          </a:p>
          <a:p>
            <a:pPr marL="457200" lvl="0" indent="-264160" algn="l" rtl="0">
              <a:spcBef>
                <a:spcPts val="0"/>
              </a:spcBef>
              <a:spcAft>
                <a:spcPts val="0"/>
              </a:spcAft>
              <a:buSzPct val="100000"/>
              <a:buChar char="●"/>
            </a:pPr>
            <a:r>
              <a:rPr lang="ja"/>
              <a:t>	</a:t>
            </a:r>
            <a:r>
              <a:rPr lang="ja" noProof="1"/>
              <a:t>What is OSPO?</a:t>
            </a:r>
            <a:endParaRPr/>
          </a:p>
          <a:p>
            <a:pPr marL="457200" lvl="0" indent="-264160" algn="l" rtl="0">
              <a:spcBef>
                <a:spcPts val="0"/>
              </a:spcBef>
              <a:spcAft>
                <a:spcPts val="0"/>
              </a:spcAft>
              <a:buSzPct val="100000"/>
              <a:buChar char="●"/>
            </a:pPr>
            <a:r>
              <a:rPr lang="ja" noProof="1"/>
              <a:t>15:07:11</a:t>
            </a:r>
            <a:endParaRPr/>
          </a:p>
          <a:p>
            <a:pPr marL="457200" lvl="0" indent="-264160" algn="l" rtl="0">
              <a:spcBef>
                <a:spcPts val="0"/>
              </a:spcBef>
              <a:spcAft>
                <a:spcPts val="0"/>
              </a:spcAft>
              <a:buSzPct val="100000"/>
              <a:buChar char="●"/>
            </a:pPr>
            <a:r>
              <a:rPr lang="ja"/>
              <a:t>	</a:t>
            </a:r>
            <a:r>
              <a:rPr lang="ja" noProof="1"/>
              <a:t>What is OSPO? ...</a:t>
            </a:r>
            <a:r>
              <a:rPr lang="ja"/>
              <a:t> </a:t>
            </a:r>
            <a:r>
              <a:rPr lang="ja" noProof="1"/>
              <a:t>to??</a:t>
            </a:r>
            <a:r>
              <a:rPr lang="ja"/>
              <a:t> </a:t>
            </a:r>
            <a:r>
              <a:rPr lang="ja" noProof="1"/>
              <a:t>Responded with</a:t>
            </a:r>
            <a:endParaRPr/>
          </a:p>
          <a:p>
            <a:pPr marL="457200" lvl="0" indent="-264160" algn="l" rtl="0">
              <a:spcBef>
                <a:spcPts val="0"/>
              </a:spcBef>
              <a:spcAft>
                <a:spcPts val="0"/>
              </a:spcAft>
              <a:buSzPct val="100000"/>
              <a:buChar char="●"/>
            </a:pPr>
            <a:r>
              <a:rPr lang="ja" noProof="1"/>
              <a:t>15:07:45</a:t>
            </a:r>
            <a:endParaRPr/>
          </a:p>
          <a:p>
            <a:pPr marL="457200" lvl="0" indent="-264160" algn="l" rtl="0">
              <a:spcBef>
                <a:spcPts val="0"/>
              </a:spcBef>
              <a:spcAft>
                <a:spcPts val="0"/>
              </a:spcAft>
              <a:buSzPct val="100000"/>
              <a:buChar char="●"/>
            </a:pPr>
            <a:r>
              <a:rPr lang="ja"/>
              <a:t>	</a:t>
            </a:r>
            <a:r>
              <a:rPr lang="ja" noProof="1"/>
              <a:t>This is a white paper describing the organization structure of TODO.</a:t>
            </a:r>
            <a:endParaRPr/>
          </a:p>
          <a:p>
            <a:pPr marL="457200" lvl="0" indent="-264160" algn="l" rtl="0">
              <a:spcBef>
                <a:spcPts val="0"/>
              </a:spcBef>
              <a:spcAft>
                <a:spcPts val="0"/>
              </a:spcAft>
              <a:buSzPct val="100000"/>
              <a:buChar char="●"/>
            </a:pPr>
            <a:r>
              <a:rPr lang="ja"/>
              <a:t>	</a:t>
            </a:r>
            <a:r>
              <a:rPr lang="ja" noProof="1"/>
              <a:t>https://www.linuxfoundation.org/research/a-deep-dive-into-open-source-program-offices</a:t>
            </a:r>
            <a:endParaRPr/>
          </a:p>
          <a:p>
            <a:pPr marL="457200" lvl="0" indent="-264160" algn="l" rtl="0">
              <a:spcBef>
                <a:spcPts val="0"/>
              </a:spcBef>
              <a:spcAft>
                <a:spcPts val="0"/>
              </a:spcAft>
              <a:buSzPct val="100000"/>
              <a:buChar char="●"/>
            </a:pPr>
            <a:r>
              <a:rPr lang="ja" noProof="1"/>
              <a:t>15:07:47</a:t>
            </a:r>
            <a:endParaRPr/>
          </a:p>
          <a:p>
            <a:pPr marL="457200" lvl="0" indent="-264160" algn="l" rtl="0">
              <a:spcBef>
                <a:spcPts val="0"/>
              </a:spcBef>
              <a:spcAft>
                <a:spcPts val="0"/>
              </a:spcAft>
              <a:buSzPct val="100000"/>
              <a:buChar char="●"/>
            </a:pPr>
            <a:r>
              <a:rPr lang="ja"/>
              <a:t>	</a:t>
            </a:r>
            <a:r>
              <a:rPr lang="ja" noProof="1"/>
              <a:t>Some of the documents I've seen before can be found here</a:t>
            </a:r>
            <a:endParaRPr/>
          </a:p>
          <a:p>
            <a:pPr marL="457200" lvl="0" indent="-264160" algn="l" rtl="0">
              <a:spcBef>
                <a:spcPts val="0"/>
              </a:spcBef>
              <a:spcAft>
                <a:spcPts val="0"/>
              </a:spcAft>
              <a:buSzPct val="100000"/>
              <a:buChar char="●"/>
            </a:pPr>
            <a:r>
              <a:rPr lang="ja"/>
              <a:t>	</a:t>
            </a:r>
            <a:r>
              <a:rPr lang="ja" noProof="1"/>
              <a:t>Deep Dive: The Open Source Program Office Organization, Roles, Responsibilities, and Challenges By Linux Foundation Japan November 29, 2022</a:t>
            </a:r>
            <a:endParaRPr/>
          </a:p>
          <a:p>
            <a:pPr marL="457200" lvl="0" indent="-264160" algn="l" rtl="0">
              <a:spcBef>
                <a:spcPts val="0"/>
              </a:spcBef>
              <a:spcAft>
                <a:spcPts val="0"/>
              </a:spcAft>
              <a:buSzPct val="100000"/>
              <a:buChar char="●"/>
            </a:pPr>
            <a:r>
              <a:rPr lang="ja"/>
              <a:t>	</a:t>
            </a:r>
            <a:r>
              <a:rPr lang="ja" noProof="1"/>
              <a:t>https://www.linuxfoundation.jp/blog/2022/11/japanese-version-of-a-deep-dive-into-open-source-program-offices-launch/</a:t>
            </a:r>
            <a:endParaRPr/>
          </a:p>
          <a:p>
            <a:pPr marL="457200" lvl="0" indent="-264160" algn="l" rtl="0">
              <a:spcBef>
                <a:spcPts val="0"/>
              </a:spcBef>
              <a:spcAft>
                <a:spcPts val="0"/>
              </a:spcAft>
              <a:buSzPct val="100000"/>
              <a:buChar char="●"/>
            </a:pPr>
            <a:r>
              <a:rPr lang="ja" noProof="1"/>
              <a:t>15:10:42</a:t>
            </a:r>
            <a:endParaRPr/>
          </a:p>
          <a:p>
            <a:pPr marL="457200" lvl="0" indent="-264160" algn="l" rtl="0">
              <a:spcBef>
                <a:spcPts val="0"/>
              </a:spcBef>
              <a:spcAft>
                <a:spcPts val="0"/>
              </a:spcAft>
              <a:buSzPct val="100000"/>
              <a:buChar char="●"/>
            </a:pPr>
            <a:r>
              <a:rPr lang="ja"/>
              <a:t>	</a:t>
            </a:r>
            <a:r>
              <a:rPr lang="ja" noProof="1"/>
              <a:t>Maybe some of the documents I've seen before are gone ・・・?</a:t>
            </a:r>
            <a:endParaRPr/>
          </a:p>
          <a:p>
            <a:pPr marL="457200" lvl="0" indent="-264160" algn="l" rtl="0">
              <a:spcBef>
                <a:spcPts val="0"/>
              </a:spcBef>
              <a:spcAft>
                <a:spcPts val="0"/>
              </a:spcAft>
              <a:buSzPct val="100000"/>
              <a:buChar char="●"/>
            </a:pPr>
            <a:r>
              <a:rPr lang="ja"/>
              <a:t>	</a:t>
            </a:r>
            <a:r>
              <a:rPr lang="ja" noProof="1"/>
              <a:t>https://www.linuxfoundation.org/resources/open-source-guides/creating-an-open-source-program?hsLang=en</a:t>
            </a:r>
            <a:endParaRPr/>
          </a:p>
          <a:p>
            <a:pPr marL="457200" lvl="0" indent="-264160" algn="l" rtl="0">
              <a:spcBef>
                <a:spcPts val="0"/>
              </a:spcBef>
              <a:spcAft>
                <a:spcPts val="0"/>
              </a:spcAft>
              <a:buSzPct val="100000"/>
              <a:buChar char="●"/>
            </a:pPr>
            <a:r>
              <a:rPr lang="ja" noProof="1"/>
              <a:t>15:13:07</a:t>
            </a:r>
            <a:endParaRPr/>
          </a:p>
          <a:p>
            <a:pPr marL="457200" lvl="0" indent="-264160" algn="l" rtl="0">
              <a:spcBef>
                <a:spcPts val="0"/>
              </a:spcBef>
              <a:spcAft>
                <a:spcPts val="0"/>
              </a:spcAft>
              <a:buSzPct val="100000"/>
              <a:buChar char="●"/>
            </a:pPr>
            <a:r>
              <a:rPr lang="ja"/>
              <a:t>	</a:t>
            </a:r>
            <a:r>
              <a:rPr lang="ja" noProof="1"/>
              <a:t>They can be found here</a:t>
            </a:r>
            <a:endParaRPr/>
          </a:p>
          <a:p>
            <a:pPr marL="457200" lvl="0" indent="-264160" algn="l" rtl="0">
              <a:spcBef>
                <a:spcPts val="0"/>
              </a:spcBef>
              <a:spcAft>
                <a:spcPts val="0"/>
              </a:spcAft>
              <a:buSzPct val="100000"/>
              <a:buChar char="●"/>
            </a:pPr>
            <a:r>
              <a:rPr lang="ja" noProof="1"/>
              <a:t>15:13:09</a:t>
            </a:r>
            <a:endParaRPr/>
          </a:p>
          <a:p>
            <a:pPr marL="457200" lvl="0" indent="-264160" algn="l" rtl="0">
              <a:spcBef>
                <a:spcPts val="0"/>
              </a:spcBef>
              <a:spcAft>
                <a:spcPts val="0"/>
              </a:spcAft>
              <a:buSzPct val="100000"/>
              <a:buChar char="●"/>
            </a:pPr>
            <a:r>
              <a:rPr lang="ja"/>
              <a:t>	</a:t>
            </a:r>
            <a:r>
              <a:rPr lang="ja" noProof="1"/>
              <a:t>https://github.com/todogroup/ospo-career-path/blob/main/module3/README.md</a:t>
            </a:r>
            <a:endParaRPr/>
          </a:p>
          <a:p>
            <a:pPr marL="457200" lvl="0" indent="-264160" algn="l" rtl="0">
              <a:spcBef>
                <a:spcPts val="0"/>
              </a:spcBef>
              <a:spcAft>
                <a:spcPts val="0"/>
              </a:spcAft>
              <a:buSzPct val="100000"/>
              <a:buChar char="●"/>
            </a:pPr>
            <a:r>
              <a:rPr lang="ja" noProof="1"/>
              <a:t>15:13:57</a:t>
            </a:r>
            <a:endParaRPr/>
          </a:p>
          <a:p>
            <a:pPr marL="457200" lvl="0" indent="-264160" algn="l" rtl="0">
              <a:spcBef>
                <a:spcPts val="0"/>
              </a:spcBef>
              <a:spcAft>
                <a:spcPts val="0"/>
              </a:spcAft>
              <a:buSzPct val="100000"/>
              <a:buChar char="●"/>
            </a:pPr>
            <a:r>
              <a:rPr lang="ja"/>
              <a:t>	</a:t>
            </a:r>
            <a:r>
              <a:rPr lang="ja" noProof="1"/>
              <a:t>https://github.com/todogroup/ospo-career-path/blob/main/OSPO-101/module3/README.md</a:t>
            </a:r>
            <a:endParaRPr/>
          </a:p>
          <a:p>
            <a:pPr marL="457200" lvl="0" indent="-264160" algn="l" rtl="0">
              <a:spcBef>
                <a:spcPts val="0"/>
              </a:spcBef>
              <a:spcAft>
                <a:spcPts val="0"/>
              </a:spcAft>
              <a:buSzPct val="100000"/>
              <a:buChar char="●"/>
            </a:pPr>
            <a:r>
              <a:rPr lang="ja" noProof="1"/>
              <a:t>15:14:15</a:t>
            </a:r>
            <a:endParaRPr/>
          </a:p>
          <a:p>
            <a:pPr marL="457200" lvl="0" indent="-264160" algn="l" rtl="0">
              <a:spcBef>
                <a:spcPts val="0"/>
              </a:spcBef>
              <a:spcAft>
                <a:spcPts val="0"/>
              </a:spcAft>
              <a:buSzPct val="100000"/>
              <a:buChar char="●"/>
            </a:pPr>
            <a:r>
              <a:rPr lang="ja"/>
              <a:t>	</a:t>
            </a:r>
            <a:r>
              <a:rPr lang="ja" noProof="1"/>
              <a:t>Is this it?</a:t>
            </a:r>
            <a:endParaRPr/>
          </a:p>
          <a:p>
            <a:pPr marL="457200" lvl="0" indent="-264160" algn="l" rtl="0">
              <a:spcBef>
                <a:spcPts val="0"/>
              </a:spcBef>
              <a:spcAft>
                <a:spcPts val="0"/>
              </a:spcAft>
              <a:buSzPct val="100000"/>
              <a:buChar char="●"/>
            </a:pPr>
            <a:r>
              <a:rPr lang="ja" noProof="1"/>
              <a:t>15:14:16</a:t>
            </a:r>
            <a:endParaRPr/>
          </a:p>
          <a:p>
            <a:pPr marL="457200" lvl="0" indent="-264160" algn="l" rtl="0">
              <a:spcBef>
                <a:spcPts val="0"/>
              </a:spcBef>
              <a:spcAft>
                <a:spcPts val="0"/>
              </a:spcAft>
              <a:buSzPct val="100000"/>
              <a:buChar char="●"/>
            </a:pPr>
            <a:r>
              <a:rPr lang="ja"/>
              <a:t>	</a:t>
            </a:r>
            <a:r>
              <a:rPr lang="ja" noProof="1"/>
              <a:t>https://github.com/todogroup/ospo-career-path</a:t>
            </a:r>
            <a:endParaRPr/>
          </a:p>
          <a:p>
            <a:pPr marL="457200" lvl="0" indent="-264160" algn="l" rtl="0">
              <a:spcBef>
                <a:spcPts val="0"/>
              </a:spcBef>
              <a:spcAft>
                <a:spcPts val="0"/>
              </a:spcAft>
              <a:buSzPct val="100000"/>
              <a:buChar char="●"/>
            </a:pPr>
            <a:r>
              <a:rPr lang="ja" noProof="1"/>
              <a:t>15:15:09</a:t>
            </a:r>
            <a:endParaRPr/>
          </a:p>
          <a:p>
            <a:pPr marL="457200" lvl="0" indent="-264160" algn="l" rtl="0">
              <a:spcBef>
                <a:spcPts val="0"/>
              </a:spcBef>
              <a:spcAft>
                <a:spcPts val="0"/>
              </a:spcAft>
              <a:buSzPct val="100000"/>
              <a:buChar char="●"/>
            </a:pPr>
            <a:r>
              <a:rPr lang="ja"/>
              <a:t>	</a:t>
            </a:r>
            <a:r>
              <a:rPr lang="ja" noProof="1"/>
              <a:t>https://www.linuxfoundation.jp/resources/open-source-guides/creating-an-open-source-program/#4</a:t>
            </a:r>
            <a:endParaRPr/>
          </a:p>
          <a:p>
            <a:pPr marL="457200" lvl="0" indent="-264160" algn="l" rtl="0">
              <a:spcBef>
                <a:spcPts val="0"/>
              </a:spcBef>
              <a:spcAft>
                <a:spcPts val="0"/>
              </a:spcAft>
              <a:buSzPct val="100000"/>
              <a:buChar char="●"/>
            </a:pPr>
            <a:r>
              <a:rPr lang="ja" noProof="1"/>
              <a:t>15:15:14</a:t>
            </a:r>
            <a:endParaRPr/>
          </a:p>
          <a:p>
            <a:pPr marL="457200" lvl="0" indent="-264160" algn="l" rtl="0">
              <a:spcBef>
                <a:spcPts val="0"/>
              </a:spcBef>
              <a:spcAft>
                <a:spcPts val="0"/>
              </a:spcAft>
              <a:buSzPct val="100000"/>
              <a:buChar char="●"/>
            </a:pPr>
            <a:r>
              <a:rPr lang="ja"/>
              <a:t>	</a:t>
            </a:r>
            <a:r>
              <a:rPr lang="ja" noProof="1"/>
              <a:t>It's also important to organize the information you've shared into a list.</a:t>
            </a:r>
            <a:endParaRPr/>
          </a:p>
          <a:p>
            <a:pPr marL="457200" lvl="0" indent="-264160" algn="l" rtl="0">
              <a:spcBef>
                <a:spcPts val="0"/>
              </a:spcBef>
              <a:spcAft>
                <a:spcPts val="0"/>
              </a:spcAft>
              <a:buSzPct val="100000"/>
              <a:buChar char="●"/>
            </a:pPr>
            <a:r>
              <a:rPr lang="ja" noProof="1"/>
              <a:t>15:20:09</a:t>
            </a:r>
            <a:endParaRPr/>
          </a:p>
          <a:p>
            <a:pPr marL="457200" lvl="0" indent="-264160" algn="l" rtl="0">
              <a:spcBef>
                <a:spcPts val="0"/>
              </a:spcBef>
              <a:spcAft>
                <a:spcPts val="0"/>
              </a:spcAft>
              <a:buSzPct val="100000"/>
              <a:buChar char="●"/>
            </a:pPr>
            <a:r>
              <a:rPr lang="ja"/>
              <a:t>	</a:t>
            </a:r>
            <a:r>
              <a:rPr lang="ja" noProof="1"/>
              <a:t>https://www.linuxfoundation.jp/resources/open-source-guides/creating-an-open-source-program/</a:t>
            </a:r>
            <a:endParaRPr/>
          </a:p>
          <a:p>
            <a:pPr marL="457200" lvl="0" indent="-264160" algn="l" rtl="0">
              <a:spcBef>
                <a:spcPts val="0"/>
              </a:spcBef>
              <a:spcAft>
                <a:spcPts val="0"/>
              </a:spcAft>
              <a:buSzPct val="100000"/>
              <a:buChar char="●"/>
            </a:pPr>
            <a:r>
              <a:rPr lang="ja"/>
              <a:t>	</a:t>
            </a:r>
            <a:r>
              <a:rPr lang="ja" noProof="1"/>
              <a:t>Here it is...</a:t>
            </a:r>
            <a:endParaRPr/>
          </a:p>
          <a:p>
            <a:pPr marL="457200" lvl="0" indent="-264160" algn="l" rtl="0">
              <a:spcBef>
                <a:spcPts val="0"/>
              </a:spcBef>
              <a:spcAft>
                <a:spcPts val="0"/>
              </a:spcAft>
              <a:buSzPct val="100000"/>
              <a:buChar char="●"/>
            </a:pPr>
            <a:r>
              <a:rPr lang="ja" noProof="1"/>
              <a:t>15:22:13</a:t>
            </a:r>
            <a:endParaRPr/>
          </a:p>
          <a:p>
            <a:pPr marL="457200" lvl="0" indent="-264160" algn="l" rtl="0">
              <a:spcBef>
                <a:spcPts val="0"/>
              </a:spcBef>
              <a:spcAft>
                <a:spcPts val="0"/>
              </a:spcAft>
              <a:buSzPct val="100000"/>
              <a:buChar char="●"/>
            </a:pPr>
            <a:r>
              <a:rPr lang="ja"/>
              <a:t>	</a:t>
            </a:r>
            <a:r>
              <a:rPr lang="ja" noProof="1"/>
              <a:t>OSS promotion, I guess</a:t>
            </a:r>
            <a:endParaRPr/>
          </a:p>
          <a:p>
            <a:pPr marL="457200" lvl="0" indent="-264160" algn="l" rtl="0">
              <a:spcBef>
                <a:spcPts val="0"/>
              </a:spcBef>
              <a:spcAft>
                <a:spcPts val="0"/>
              </a:spcAft>
              <a:buSzPct val="100000"/>
              <a:buChar char="●"/>
            </a:pPr>
            <a:r>
              <a:rPr lang="ja" noProof="1"/>
              <a:t>15:23:10</a:t>
            </a:r>
            <a:endParaRPr/>
          </a:p>
          <a:p>
            <a:pPr marL="457200" lvl="0" indent="-264160" algn="l" rtl="0">
              <a:spcBef>
                <a:spcPts val="0"/>
              </a:spcBef>
              <a:spcAft>
                <a:spcPts val="0"/>
              </a:spcAft>
              <a:buSzPct val="100000"/>
              <a:buChar char="●"/>
            </a:pPr>
            <a:r>
              <a:rPr lang="ja"/>
              <a:t>	</a:t>
            </a:r>
            <a:r>
              <a:rPr lang="ja" noProof="1"/>
              <a:t>Reacted to OSS promotion, I guess with??</a:t>
            </a:r>
            <a:endParaRPr/>
          </a:p>
          <a:p>
            <a:pPr marL="457200" lvl="0" indent="-264160" algn="l" rtl="0">
              <a:spcBef>
                <a:spcPts val="0"/>
              </a:spcBef>
              <a:spcAft>
                <a:spcPts val="0"/>
              </a:spcAft>
              <a:buSzPct val="100000"/>
              <a:buChar char="●"/>
            </a:pPr>
            <a:r>
              <a:t> </a:t>
            </a:r>
          </a:p>
        </p:txBody>
      </p:sp>
      <p:sp>
        <p:nvSpPr>
          <p:cNvPr id="298" name="Google Shape;298;p39"/>
          <p:cNvSpPr txBox="1">
            <a:spLocks noGrp="1"/>
          </p:cNvSpPr>
          <p:nvPr>
            <p:ph type="body" idx="1"/>
          </p:nvPr>
        </p:nvSpPr>
        <p:spPr>
          <a:xfrm>
            <a:off x="4674900" y="1017725"/>
            <a:ext cx="4157400" cy="3416400"/>
          </a:xfrm>
          <a:prstGeom prst="rect">
            <a:avLst/>
          </a:prstGeom>
        </p:spPr>
        <p:txBody>
          <a:bodyPr spcFirstLastPara="1" wrap="square" lIns="91425" tIns="91425" rIns="91425" bIns="91425" anchor="t" anchorCtr="0">
            <a:normAutofit fontScale="40000" lnSpcReduction="10000"/>
          </a:bodyPr>
          <a:lstStyle/>
          <a:p>
            <a:pPr marL="457200" lvl="0" indent="-264160" algn="l" rtl="0">
              <a:spcBef>
                <a:spcPts val="0"/>
              </a:spcBef>
              <a:spcAft>
                <a:spcPts val="0"/>
              </a:spcAft>
              <a:buClr>
                <a:schemeClr val="dk1"/>
              </a:buClr>
              <a:buSzPct val="100000"/>
              <a:buChar char="●"/>
            </a:pPr>
            <a:r>
              <a:rPr lang="ja" noProof="1">
                <a:solidFill>
                  <a:schemeClr val="dk1"/>
                </a:solidFill>
              </a:rPr>
              <a:t>15:38:26</a:t>
            </a:r>
            <a:endParaRPr>
              <a:solidFill>
                <a:schemeClr val="dk1"/>
              </a:solidFill>
            </a:endParaRPr>
          </a:p>
          <a:p>
            <a:pPr marL="457200" lvl="0" indent="-264160" algn="l" rtl="0">
              <a:spcBef>
                <a:spcPts val="0"/>
              </a:spcBef>
              <a:spcAft>
                <a:spcPts val="0"/>
              </a:spcAft>
              <a:buClr>
                <a:schemeClr val="dk1"/>
              </a:buClr>
              <a:buSzPct val="100000"/>
              <a:buChar char="●"/>
            </a:pPr>
            <a:r>
              <a:rPr lang="ja">
                <a:solidFill>
                  <a:schemeClr val="dk1"/>
                </a:solidFill>
              </a:rPr>
              <a:t>	</a:t>
            </a:r>
            <a:r>
              <a:rPr lang="ja" noProof="1">
                <a:solidFill>
                  <a:schemeClr val="dk1"/>
                </a:solidFill>
              </a:rPr>
              <a:t>I thought it would be easier to understand if the why came first.</a:t>
            </a:r>
            <a:endParaRPr>
              <a:solidFill>
                <a:schemeClr val="dk1"/>
              </a:solidFill>
            </a:endParaRPr>
          </a:p>
          <a:p>
            <a:pPr marL="457200" lvl="0" indent="-264160" algn="l" rtl="0">
              <a:spcBef>
                <a:spcPts val="0"/>
              </a:spcBef>
              <a:spcAft>
                <a:spcPts val="0"/>
              </a:spcAft>
              <a:buSzPct val="100000"/>
              <a:buChar char="●"/>
            </a:pPr>
            <a:r>
              <a:rPr lang="ja" noProof="1"/>
              <a:t>15:42:19</a:t>
            </a:r>
            <a:endParaRPr/>
          </a:p>
          <a:p>
            <a:pPr marL="457200" lvl="0" indent="-264160" algn="l" rtl="0">
              <a:spcBef>
                <a:spcPts val="0"/>
              </a:spcBef>
              <a:spcAft>
                <a:spcPts val="0"/>
              </a:spcAft>
              <a:buSzPct val="100000"/>
              <a:buChar char="●"/>
            </a:pPr>
            <a:r>
              <a:rPr lang="ja"/>
              <a:t>	</a:t>
            </a:r>
            <a:r>
              <a:rPr lang="ja" noProof="1"/>
              <a:t>Maybe it would be nice to have an OSPO maturity stage.</a:t>
            </a:r>
            <a:endParaRPr/>
          </a:p>
          <a:p>
            <a:pPr marL="457200" lvl="0" indent="-264160" algn="l" rtl="0">
              <a:spcBef>
                <a:spcPts val="0"/>
              </a:spcBef>
              <a:spcAft>
                <a:spcPts val="0"/>
              </a:spcAft>
              <a:buSzPct val="100000"/>
              <a:buChar char="●"/>
            </a:pPr>
            <a:r>
              <a:rPr lang="ja" noProof="1"/>
              <a:t>15:46:44</a:t>
            </a:r>
            <a:endParaRPr/>
          </a:p>
          <a:p>
            <a:pPr marL="457200" lvl="0" indent="-264160" algn="l" rtl="0">
              <a:spcBef>
                <a:spcPts val="0"/>
              </a:spcBef>
              <a:spcAft>
                <a:spcPts val="0"/>
              </a:spcAft>
              <a:buSzPct val="100000"/>
              <a:buChar char="●"/>
            </a:pPr>
            <a:r>
              <a:rPr lang="ja"/>
              <a:t>	</a:t>
            </a:r>
            <a:r>
              <a:rPr lang="ja" noProof="1"/>
              <a:t>https://www.linuxfoundation.jp/resources/open-source-guides/creating-an-open-source-program/#2</a:t>
            </a:r>
            <a:endParaRPr/>
          </a:p>
          <a:p>
            <a:pPr marL="457200" lvl="0" indent="-264160" algn="l" rtl="0">
              <a:spcBef>
                <a:spcPts val="0"/>
              </a:spcBef>
              <a:spcAft>
                <a:spcPts val="0"/>
              </a:spcAft>
              <a:buSzPct val="100000"/>
              <a:buChar char="●"/>
            </a:pPr>
            <a:r>
              <a:rPr lang="ja"/>
              <a:t>	</a:t>
            </a:r>
            <a:r>
              <a:rPr lang="ja" noProof="1"/>
              <a:t>There are definitely a lot of places in this role that start at the bottom.</a:t>
            </a:r>
            <a:endParaRPr/>
          </a:p>
          <a:p>
            <a:pPr marL="457200" lvl="0" indent="-264160" algn="l" rtl="0">
              <a:spcBef>
                <a:spcPts val="0"/>
              </a:spcBef>
              <a:spcAft>
                <a:spcPts val="0"/>
              </a:spcAft>
              <a:buSzPct val="100000"/>
              <a:buChar char="●"/>
            </a:pPr>
            <a:r>
              <a:rPr lang="ja" noProof="1"/>
              <a:t>15:48:13</a:t>
            </a:r>
            <a:endParaRPr/>
          </a:p>
          <a:p>
            <a:pPr marL="457200" lvl="0" indent="-264160" algn="l" rtl="0">
              <a:spcBef>
                <a:spcPts val="0"/>
              </a:spcBef>
              <a:spcAft>
                <a:spcPts val="0"/>
              </a:spcAft>
              <a:buSzPct val="100000"/>
              <a:buChar char="●"/>
            </a:pPr>
            <a:r>
              <a:rPr lang="ja"/>
              <a:t>	</a:t>
            </a:r>
            <a:r>
              <a:rPr lang="ja" noProof="1"/>
              <a:t>Save the chat at the end and save it as text with the minutes.</a:t>
            </a:r>
            <a:endParaRPr/>
          </a:p>
          <a:p>
            <a:pPr marL="457200" lvl="0" indent="-264160" algn="l" rtl="0">
              <a:spcBef>
                <a:spcPts val="0"/>
              </a:spcBef>
              <a:spcAft>
                <a:spcPts val="0"/>
              </a:spcAft>
              <a:buSzPct val="100000"/>
              <a:buChar char="●"/>
            </a:pPr>
            <a:r>
              <a:rPr lang="ja" noProof="1"/>
              <a:t>15:48:36</a:t>
            </a:r>
            <a:endParaRPr/>
          </a:p>
          <a:p>
            <a:pPr marL="457200" lvl="0" indent="-264160" algn="l" rtl="0">
              <a:spcBef>
                <a:spcPts val="0"/>
              </a:spcBef>
              <a:spcAft>
                <a:spcPts val="0"/>
              </a:spcAft>
              <a:buSzPct val="100000"/>
              <a:buChar char="●"/>
            </a:pPr>
            <a:r>
              <a:rPr lang="ja"/>
              <a:t>	</a:t>
            </a:r>
            <a:r>
              <a:rPr lang="ja" noProof="1"/>
              <a:t>Reacted to "Save the chat at the end ..."</a:t>
            </a:r>
            <a:r>
              <a:rPr lang="ja"/>
              <a:t> </a:t>
            </a:r>
            <a:r>
              <a:rPr lang="ja" noProof="1"/>
              <a:t>with ??</a:t>
            </a:r>
            <a:endParaRPr/>
          </a:p>
          <a:p>
            <a:pPr marL="457200" lvl="0" indent="-264160" algn="l" rtl="0">
              <a:spcBef>
                <a:spcPts val="0"/>
              </a:spcBef>
              <a:spcAft>
                <a:spcPts val="0"/>
              </a:spcAft>
              <a:buSzPct val="100000"/>
              <a:buChar char="●"/>
            </a:pPr>
            <a:r>
              <a:rPr lang="ja" noProof="1"/>
              <a:t>15:50:44</a:t>
            </a:r>
            <a:endParaRPr/>
          </a:p>
          <a:p>
            <a:pPr marL="457200" lvl="0" indent="-264160" algn="l" rtl="0">
              <a:spcBef>
                <a:spcPts val="0"/>
              </a:spcBef>
              <a:spcAft>
                <a:spcPts val="0"/>
              </a:spcAft>
              <a:buSzPct val="100000"/>
              <a:buChar char="●"/>
            </a:pPr>
            <a:r>
              <a:rPr lang="ja"/>
              <a:t>	</a:t>
            </a:r>
            <a:r>
              <a:rPr lang="ja" noProof="1"/>
              <a:t>What about the contents of the leaflet?</a:t>
            </a:r>
            <a:endParaRPr/>
          </a:p>
          <a:p>
            <a:pPr marL="457200" lvl="0" indent="-264160" algn="l" rtl="0">
              <a:spcBef>
                <a:spcPts val="0"/>
              </a:spcBef>
              <a:spcAft>
                <a:spcPts val="0"/>
              </a:spcAft>
              <a:buSzPct val="100000"/>
              <a:buChar char="●"/>
            </a:pPr>
            <a:r>
              <a:rPr lang="ja" noProof="1"/>
              <a:t>15:50:55</a:t>
            </a:r>
            <a:endParaRPr/>
          </a:p>
          <a:p>
            <a:pPr marL="457200" lvl="0" indent="-264160" algn="l" rtl="0">
              <a:spcBef>
                <a:spcPts val="0"/>
              </a:spcBef>
              <a:spcAft>
                <a:spcPts val="0"/>
              </a:spcAft>
              <a:buSzPct val="100000"/>
              <a:buChar char="●"/>
            </a:pPr>
            <a:r>
              <a:rPr lang="ja"/>
              <a:t>	</a:t>
            </a:r>
            <a:r>
              <a:rPr lang="ja" noProof="1"/>
              <a:t>Reacted to "What about the contents of the leaflet? "</a:t>
            </a:r>
            <a:r>
              <a:rPr lang="ja"/>
              <a:t> </a:t>
            </a:r>
            <a:r>
              <a:rPr lang="ja" noProof="1"/>
              <a:t>with ??</a:t>
            </a:r>
            <a:endParaRPr/>
          </a:p>
          <a:p>
            <a:pPr marL="457200" lvl="0" indent="-264160" algn="l" rtl="0">
              <a:spcBef>
                <a:spcPts val="0"/>
              </a:spcBef>
              <a:spcAft>
                <a:spcPts val="0"/>
              </a:spcAft>
              <a:buSzPct val="100000"/>
              <a:buChar char="●"/>
            </a:pPr>
            <a:r>
              <a:rPr lang="ja" noProof="1"/>
              <a:t>15:52:37</a:t>
            </a:r>
            <a:endParaRPr/>
          </a:p>
          <a:p>
            <a:pPr marL="457200" lvl="0" indent="-264160" algn="l" rtl="0">
              <a:spcBef>
                <a:spcPts val="0"/>
              </a:spcBef>
              <a:spcAft>
                <a:spcPts val="0"/>
              </a:spcAft>
              <a:buSzPct val="100000"/>
              <a:buChar char="●"/>
            </a:pPr>
            <a:r>
              <a:rPr lang="ja"/>
              <a:t>	</a:t>
            </a:r>
            <a:r>
              <a:rPr lang="ja" noProof="1"/>
              <a:t>"Contents of the leaflet ..."</a:t>
            </a:r>
            <a:r>
              <a:rPr lang="ja"/>
              <a:t> </a:t>
            </a:r>
            <a:r>
              <a:rPr lang="ja" noProof="1"/>
              <a:t>Reacted to??</a:t>
            </a:r>
            <a:r>
              <a:rPr lang="ja"/>
              <a:t> </a:t>
            </a:r>
            <a:r>
              <a:rPr lang="ja" noProof="1"/>
              <a:t>Reacted to</a:t>
            </a:r>
            <a:endParaRPr/>
          </a:p>
          <a:p>
            <a:pPr marL="457200" lvl="0" indent="-264160" algn="l" rtl="0">
              <a:spcBef>
                <a:spcPts val="0"/>
              </a:spcBef>
              <a:spcAft>
                <a:spcPts val="0"/>
              </a:spcAft>
              <a:buSzPct val="100000"/>
              <a:buChar char="●"/>
            </a:pPr>
            <a:r>
              <a:rPr lang="ja" noProof="1"/>
              <a:t>15:52:53</a:t>
            </a:r>
            <a:endParaRPr/>
          </a:p>
          <a:p>
            <a:pPr marL="457200" lvl="0" indent="-264160" algn="l" rtl="0">
              <a:spcBef>
                <a:spcPts val="0"/>
              </a:spcBef>
              <a:spcAft>
                <a:spcPts val="0"/>
              </a:spcAft>
              <a:buSzPct val="100000"/>
              <a:buChar char="●"/>
            </a:pPr>
            <a:r>
              <a:rPr lang="ja"/>
              <a:t>	</a:t>
            </a:r>
            <a:r>
              <a:rPr lang="ja" noProof="1"/>
              <a:t>It's like literacy.</a:t>
            </a:r>
            <a:endParaRPr/>
          </a:p>
          <a:p>
            <a:pPr marL="457200" lvl="0" indent="-264160" algn="l" rtl="0">
              <a:spcBef>
                <a:spcPts val="0"/>
              </a:spcBef>
              <a:spcAft>
                <a:spcPts val="0"/>
              </a:spcAft>
              <a:buSzPct val="100000"/>
              <a:buChar char="●"/>
            </a:pPr>
            <a:r>
              <a:rPr lang="ja" noProof="1"/>
              <a:t>15:54:14</a:t>
            </a:r>
            <a:endParaRPr/>
          </a:p>
          <a:p>
            <a:pPr marL="457200" lvl="0" indent="-264160" algn="l" rtl="0">
              <a:spcBef>
                <a:spcPts val="0"/>
              </a:spcBef>
              <a:spcAft>
                <a:spcPts val="0"/>
              </a:spcAft>
              <a:buSzPct val="100000"/>
              <a:buChar char="●"/>
            </a:pPr>
            <a:r>
              <a:rPr lang="ja"/>
              <a:t>	</a:t>
            </a:r>
            <a:r>
              <a:rPr lang="ja" noProof="1"/>
              <a:t>In the past, I explained that you would become a thief.</a:t>
            </a:r>
            <a:endParaRPr/>
          </a:p>
          <a:p>
            <a:pPr marL="457200" lvl="0" indent="-264160" algn="l" rtl="0">
              <a:spcBef>
                <a:spcPts val="0"/>
              </a:spcBef>
              <a:spcAft>
                <a:spcPts val="0"/>
              </a:spcAft>
              <a:buSzPct val="100000"/>
              <a:buChar char="●"/>
            </a:pPr>
            <a:r>
              <a:rPr lang="ja" noProof="1"/>
              <a:t>15:55:53</a:t>
            </a:r>
            <a:endParaRPr/>
          </a:p>
          <a:p>
            <a:pPr marL="457200" lvl="0" indent="-264160" algn="l" rtl="0">
              <a:spcBef>
                <a:spcPts val="0"/>
              </a:spcBef>
              <a:spcAft>
                <a:spcPts val="0"/>
              </a:spcAft>
              <a:buSzPct val="100000"/>
              <a:buChar char="●"/>
            </a:pPr>
            <a:r>
              <a:rPr lang="ja"/>
              <a:t>	</a:t>
            </a:r>
            <a:r>
              <a:rPr lang="ja" noProof="1"/>
              <a:t>When I say "executive order," I think it would be better to break it down a little further and write "executive order requiring OSS supply chain management."</a:t>
            </a:r>
            <a:endParaRPr/>
          </a:p>
          <a:p>
            <a:pPr marL="457200" lvl="0" indent="-264160" algn="l" rtl="0">
              <a:spcBef>
                <a:spcPts val="0"/>
              </a:spcBef>
              <a:spcAft>
                <a:spcPts val="0"/>
              </a:spcAft>
              <a:buSzPct val="100000"/>
              <a:buChar char="●"/>
            </a:pPr>
            <a:r>
              <a:rPr lang="ja" noProof="1"/>
              <a:t>15:56:58</a:t>
            </a:r>
            <a:endParaRPr/>
          </a:p>
          <a:p>
            <a:pPr marL="457200" lvl="0" indent="-264160" algn="l" rtl="0">
              <a:spcBef>
                <a:spcPts val="0"/>
              </a:spcBef>
              <a:spcAft>
                <a:spcPts val="0"/>
              </a:spcAft>
              <a:buSzPct val="100000"/>
              <a:buChar char="●"/>
            </a:pPr>
            <a:r>
              <a:rPr lang="ja"/>
              <a:t>	</a:t>
            </a:r>
            <a:r>
              <a:rPr lang="ja" noProof="1"/>
              <a:t>I once said "No More OSS Thieves" (like a movie thief).</a:t>
            </a:r>
            <a:endParaRPr/>
          </a:p>
          <a:p>
            <a:pPr marL="457200" lvl="0" indent="-264160" algn="l" rtl="0">
              <a:spcBef>
                <a:spcPts val="0"/>
              </a:spcBef>
              <a:spcAft>
                <a:spcPts val="0"/>
              </a:spcAft>
              <a:buSzPct val="100000"/>
              <a:buChar char="●"/>
            </a:pPr>
            <a:r>
              <a:rPr lang="ja" noProof="1"/>
              <a:t>15:57:19</a:t>
            </a:r>
            <a:endParaRPr/>
          </a:p>
          <a:p>
            <a:pPr marL="457200" lvl="0" indent="-264160" algn="l" rtl="0">
              <a:spcBef>
                <a:spcPts val="0"/>
              </a:spcBef>
              <a:spcAft>
                <a:spcPts val="0"/>
              </a:spcAft>
              <a:buSzPct val="100000"/>
              <a:buChar char="●"/>
            </a:pPr>
            <a:r>
              <a:rPr lang="ja"/>
              <a:t>	</a:t>
            </a:r>
            <a:r>
              <a:rPr lang="ja" noProof="1"/>
              <a:t>The executive order is more about security than license management.</a:t>
            </a:r>
            <a:endParaRPr/>
          </a:p>
          <a:p>
            <a:pPr marL="457200" lvl="0" indent="-264160" algn="l" rtl="0">
              <a:spcBef>
                <a:spcPts val="0"/>
              </a:spcBef>
              <a:spcAft>
                <a:spcPts val="0"/>
              </a:spcAft>
              <a:buSzPct val="100000"/>
              <a:buChar char="●"/>
            </a:pPr>
            <a:r>
              <a:rPr lang="ja" noProof="1"/>
              <a:t>15:57:27</a:t>
            </a:r>
            <a:endParaRPr/>
          </a:p>
          <a:p>
            <a:pPr marL="457200" lvl="0" indent="-264160" algn="l" rtl="0">
              <a:spcBef>
                <a:spcPts val="0"/>
              </a:spcBef>
              <a:spcAft>
                <a:spcPts val="0"/>
              </a:spcAft>
              <a:buSzPct val="100000"/>
              <a:buChar char="●"/>
            </a:pPr>
            <a:r>
              <a:rPr lang="ja"/>
              <a:t>	</a:t>
            </a:r>
            <a:r>
              <a:rPr lang="ja" noProof="1"/>
              <a:t>Reacted to "The executive order is more important than license management ..."</a:t>
            </a:r>
            <a:r>
              <a:rPr lang="ja"/>
              <a:t> </a:t>
            </a:r>
            <a:r>
              <a:rPr lang="ja" noProof="1"/>
              <a:t>with ??</a:t>
            </a:r>
            <a:endParaRPr/>
          </a:p>
          <a:p>
            <a:pPr marL="457200" lvl="0" indent="-264160" algn="l" rtl="0">
              <a:spcBef>
                <a:spcPts val="0"/>
              </a:spcBef>
              <a:spcAft>
                <a:spcPts val="0"/>
              </a:spcAft>
              <a:buSzPct val="100000"/>
              <a:buChar char="●"/>
            </a:pPr>
            <a:r>
              <a:rPr lang="ja" noProof="1"/>
              <a:t>15:57:52</a:t>
            </a:r>
            <a:endParaRPr/>
          </a:p>
          <a:p>
            <a:pPr marL="457200" lvl="0" indent="-264160" algn="l" rtl="0">
              <a:spcBef>
                <a:spcPts val="0"/>
              </a:spcBef>
              <a:spcAft>
                <a:spcPts val="0"/>
              </a:spcAft>
              <a:buSzPct val="100000"/>
              <a:buChar char="●"/>
            </a:pPr>
            <a:r>
              <a:rPr lang="ja"/>
              <a:t>	</a:t>
            </a:r>
            <a:r>
              <a:rPr lang="ja" noProof="1"/>
              <a:t>Reacted to "No More OSS Thief ..."</a:t>
            </a:r>
            <a:r>
              <a:rPr lang="ja"/>
              <a:t> </a:t>
            </a:r>
            <a:r>
              <a:rPr lang="ja" noProof="1"/>
              <a:t>with ??</a:t>
            </a:r>
            <a:endParaRPr/>
          </a:p>
          <a:p>
            <a:pPr marL="457200" lvl="0" indent="-264160" algn="l" rtl="0">
              <a:spcBef>
                <a:spcPts val="0"/>
              </a:spcBef>
              <a:spcAft>
                <a:spcPts val="0"/>
              </a:spcAft>
              <a:buSzPct val="100000"/>
              <a:buChar char="●"/>
            </a:pPr>
            <a:r>
              <a:rPr lang="ja" noProof="1"/>
              <a:t>15:59:26</a:t>
            </a:r>
            <a:endParaRPr/>
          </a:p>
          <a:p>
            <a:pPr marL="457200" lvl="0" indent="-264160" algn="l" rtl="0">
              <a:spcBef>
                <a:spcPts val="0"/>
              </a:spcBef>
              <a:spcAft>
                <a:spcPts val="0"/>
              </a:spcAft>
              <a:buSzPct val="100000"/>
              <a:buChar char="●"/>
            </a:pPr>
            <a:r>
              <a:rPr lang="ja"/>
              <a:t>	</a:t>
            </a:r>
            <a:r>
              <a:rPr lang="ja" noProof="1"/>
              <a:t>He even referred to the Tokyo Olympics logo theft ...</a:t>
            </a:r>
            <a:endParaRPr/>
          </a:p>
          <a:p>
            <a:pPr marL="457200" lvl="0" indent="-264160" algn="l" rtl="0">
              <a:spcBef>
                <a:spcPts val="0"/>
              </a:spcBef>
              <a:spcAft>
                <a:spcPts val="0"/>
              </a:spcAft>
              <a:buSzPct val="100000"/>
              <a:buChar char="●"/>
            </a:pPr>
            <a:r>
              <a:rPr lang="ja" noProof="1"/>
              <a:t>16:00:17</a:t>
            </a:r>
            <a:endParaRPr/>
          </a:p>
          <a:p>
            <a:pPr marL="457200" lvl="0" indent="-264160" algn="l" rtl="0">
              <a:spcBef>
                <a:spcPts val="0"/>
              </a:spcBef>
              <a:spcAft>
                <a:spcPts val="0"/>
              </a:spcAft>
              <a:buSzPct val="100000"/>
              <a:buChar char="●"/>
            </a:pPr>
            <a:r>
              <a:rPr lang="ja"/>
              <a:t>	</a:t>
            </a:r>
            <a:r>
              <a:rPr lang="ja" noProof="1"/>
              <a:t>Reacted to "He referred to the Tokyo Olympics logo theft ..."</a:t>
            </a:r>
            <a:r>
              <a:rPr lang="ja"/>
              <a:t> </a:t>
            </a:r>
            <a:r>
              <a:rPr lang="ja" noProof="1"/>
              <a:t>with ??</a:t>
            </a:r>
            <a:endParaRPr/>
          </a:p>
          <a:p>
            <a:pPr marL="457200" lvl="0" indent="-264160" algn="l" rtl="0">
              <a:spcBef>
                <a:spcPts val="0"/>
              </a:spcBef>
              <a:spcAft>
                <a:spcPts val="0"/>
              </a:spcAft>
              <a:buSzPct val="100000"/>
              <a:buChar char="●"/>
            </a:pPr>
            <a:r>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0"/>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ja" noProof="1"/>
              <a:t>The relationship between the benefits of OSS, the role of OSPO, and the level of understanding of OSS</a:t>
            </a:r>
            <a:endParaRPr/>
          </a:p>
        </p:txBody>
      </p:sp>
      <p:sp>
        <p:nvSpPr>
          <p:cNvPr id="304" name="Google Shape;304;p40"/>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77500" lnSpcReduction="10000"/>
          </a:bodyPr>
          <a:lstStyle/>
          <a:p>
            <a:pPr marL="457200" lvl="0" indent="-317182" algn="l" rtl="0">
              <a:spcBef>
                <a:spcPts val="0"/>
              </a:spcBef>
              <a:spcAft>
                <a:spcPts val="0"/>
              </a:spcAft>
              <a:buSzPct val="100000"/>
              <a:buChar char="•"/>
            </a:pPr>
            <a:r>
              <a:rPr lang="ja" noProof="1"/>
              <a:t>The view of the benefits of OSS changes as the understanding of OSS and the community deepens</a:t>
            </a:r>
            <a:endParaRPr/>
          </a:p>
          <a:p>
            <a:pPr marL="457200" lvl="0" indent="-317182" algn="l" rtl="0">
              <a:spcBef>
                <a:spcPts val="0"/>
              </a:spcBef>
              <a:spcAft>
                <a:spcPts val="0"/>
              </a:spcAft>
              <a:buSzPct val="100000"/>
              <a:buChar char="•"/>
            </a:pPr>
            <a:r>
              <a:rPr lang="ja" noProof="1"/>
              <a:t>The role of OSPO changes as the understanding of OSS and the community deepens</a:t>
            </a:r>
            <a:endParaRPr/>
          </a:p>
          <a:p>
            <a:pPr marL="457200" lvl="0" indent="-317182" algn="l" rtl="0">
              <a:spcBef>
                <a:spcPts val="0"/>
              </a:spcBef>
              <a:spcAft>
                <a:spcPts val="0"/>
              </a:spcAft>
              <a:buSzPct val="100000"/>
              <a:buChar char="•"/>
            </a:pPr>
            <a:r>
              <a:rPr lang="ja" noProof="1"/>
              <a:t>Steps for deepening the understanding of OSS</a:t>
            </a:r>
            <a:endParaRPr/>
          </a:p>
          <a:p>
            <a:pPr marL="914400" lvl="0" indent="-317182" algn="l" rtl="0">
              <a:spcBef>
                <a:spcPts val="0"/>
              </a:spcBef>
              <a:spcAft>
                <a:spcPts val="0"/>
              </a:spcAft>
              <a:buSzPct val="100000"/>
              <a:buAutoNum type="arabicPeriod"/>
            </a:pPr>
            <a:r>
              <a:rPr lang="ja" noProof="1"/>
              <a:t>OSS = software whose source code is disclosed and free copying, modification, and distribution are permitted</a:t>
            </a:r>
            <a:endParaRPr/>
          </a:p>
          <a:p>
            <a:pPr marL="1371600" lvl="1" indent="-302418" algn="l" rtl="0">
              <a:spcBef>
                <a:spcPts val="0"/>
              </a:spcBef>
              <a:spcAft>
                <a:spcPts val="0"/>
              </a:spcAft>
              <a:buSzPct val="100000"/>
              <a:buChar char="•"/>
            </a:pPr>
            <a:r>
              <a:rPr lang="ja" noProof="1"/>
              <a:t>"It's good because it's free"</a:t>
            </a:r>
            <a:endParaRPr/>
          </a:p>
          <a:p>
            <a:pPr marL="914400" lvl="0" indent="-317182" algn="l" rtl="0">
              <a:spcBef>
                <a:spcPts val="0"/>
              </a:spcBef>
              <a:spcAft>
                <a:spcPts val="0"/>
              </a:spcAft>
              <a:buSzPct val="100000"/>
              <a:buAutoNum type="arabicPeriod"/>
            </a:pPr>
            <a:r>
              <a:rPr lang="ja" noProof="1"/>
              <a:t>You must comply with the terms of the license, such as copyright and license presentation</a:t>
            </a:r>
            <a:endParaRPr/>
          </a:p>
          <a:p>
            <a:pPr marL="1371600" lvl="1" indent="-302418" algn="l" rtl="0">
              <a:spcBef>
                <a:spcPts val="0"/>
              </a:spcBef>
              <a:spcAft>
                <a:spcPts val="0"/>
              </a:spcAft>
              <a:buSzPct val="100000"/>
              <a:buChar char="•"/>
            </a:pPr>
            <a:r>
              <a:rPr lang="ja" noProof="1"/>
              <a:t>You must understand the license and be sure to comply with it</a:t>
            </a:r>
            <a:endParaRPr/>
          </a:p>
          <a:p>
            <a:pPr marL="914400" lvl="0" indent="-317182" algn="l" rtl="0">
              <a:spcBef>
                <a:spcPts val="0"/>
              </a:spcBef>
              <a:spcAft>
                <a:spcPts val="0"/>
              </a:spcAft>
              <a:buSzPct val="100000"/>
              <a:buAutoNum type="arabicPeriod"/>
            </a:pPr>
            <a:r>
              <a:rPr lang="ja" noProof="1"/>
              <a:t>The quality is high, but there is no guarantee</a:t>
            </a:r>
            <a:endParaRPr/>
          </a:p>
          <a:p>
            <a:pPr marL="1371600" lvl="1" indent="-302418" algn="l" rtl="0">
              <a:spcBef>
                <a:spcPts val="0"/>
              </a:spcBef>
              <a:spcAft>
                <a:spcPts val="0"/>
              </a:spcAft>
              <a:buSzPct val="100000"/>
              <a:buChar char="•"/>
            </a:pPr>
            <a:r>
              <a:rPr lang="ja" noProof="1"/>
              <a:t>You must provide your own commercial guarantee</a:t>
            </a:r>
            <a:endParaRPr/>
          </a:p>
          <a:p>
            <a:pPr marL="914400" lvl="0" indent="-317182" algn="l" rtl="0">
              <a:spcBef>
                <a:spcPts val="0"/>
              </a:spcBef>
              <a:spcAft>
                <a:spcPts val="0"/>
              </a:spcAft>
              <a:buSzPct val="100000"/>
              <a:buAutoNum type="arabicPeriod"/>
            </a:pPr>
            <a:r>
              <a:rPr lang="ja" noProof="1"/>
              <a:t>Quality is high because many engineers are involved in development and use (verification)</a:t>
            </a:r>
            <a:endParaRPr/>
          </a:p>
          <a:p>
            <a:pPr marL="1371600" lvl="1" indent="-302418" algn="l" rtl="0">
              <a:spcBef>
                <a:spcPts val="0"/>
              </a:spcBef>
              <a:spcAft>
                <a:spcPts val="0"/>
              </a:spcAft>
              <a:buSzPct val="100000"/>
              <a:buChar char="•"/>
            </a:pPr>
            <a:r>
              <a:rPr lang="ja" noProof="1"/>
              <a:t>Quality varies depending on how many people are involved</a:t>
            </a:r>
            <a:endParaRPr/>
          </a:p>
          <a:p>
            <a:pPr marL="1371600" lvl="1" indent="-302418" algn="l" rtl="0">
              <a:spcBef>
                <a:spcPts val="0"/>
              </a:spcBef>
              <a:spcAft>
                <a:spcPts val="0"/>
              </a:spcAft>
              <a:buSzPct val="100000"/>
              <a:buChar char="•"/>
            </a:pPr>
            <a:r>
              <a:rPr lang="ja" noProof="1"/>
              <a:t>You should know about the development community</a:t>
            </a:r>
            <a:endParaRPr/>
          </a:p>
          <a:p>
            <a:pPr marL="914400" lvl="0" indent="-317182" algn="l" rtl="0">
              <a:spcBef>
                <a:spcPts val="0"/>
              </a:spcBef>
              <a:spcAft>
                <a:spcPts val="0"/>
              </a:spcAft>
              <a:buSzPct val="100000"/>
              <a:buAutoNum type="arabicPeriod"/>
            </a:pPr>
            <a:r>
              <a:rPr lang="ja" noProof="1"/>
              <a:t>If you don't provide your own fixes to the community, you won't be able to support the product</a:t>
            </a:r>
            <a:endParaRPr/>
          </a:p>
          <a:p>
            <a:pPr marL="1371600" lvl="1" indent="-302418" algn="l" rtl="0">
              <a:spcBef>
                <a:spcPts val="0"/>
              </a:spcBef>
              <a:spcAft>
                <a:spcPts val="0"/>
              </a:spcAft>
              <a:buSzPct val="100000"/>
              <a:buChar char="•"/>
            </a:pPr>
            <a:r>
              <a:rPr lang="ja" noProof="1"/>
              <a:t>If you keep your fixes in-house, it's more expensive than developing them from scratch</a:t>
            </a:r>
            <a:endParaRPr/>
          </a:p>
          <a:p>
            <a:pPr marL="1828800" lvl="2" indent="-287655" algn="l" rtl="0">
              <a:spcBef>
                <a:spcPts val="0"/>
              </a:spcBef>
              <a:spcAft>
                <a:spcPts val="0"/>
              </a:spcAft>
              <a:buSzPct val="100000"/>
              <a:buChar char="•"/>
            </a:pPr>
            <a:r>
              <a:rPr lang="ja" noProof="1"/>
              <a:t>In order to catch up with OSS versions, you'll need to backport by yourself</a:t>
            </a:r>
            <a:endParaRPr/>
          </a:p>
          <a:p>
            <a:pPr marL="1828800" lvl="2" indent="-287655" algn="l" rtl="0">
              <a:spcBef>
                <a:spcPts val="0"/>
              </a:spcBef>
              <a:spcAft>
                <a:spcPts val="0"/>
              </a:spcAft>
              <a:buSzPct val="100000"/>
              <a:buChar char="•"/>
            </a:pPr>
            <a:r>
              <a:rPr lang="ja" noProof="1"/>
              <a:t>If you give up backporting, you won't be able to update OSS versions that are tied to your own fixes</a:t>
            </a:r>
            <a:endParaRPr/>
          </a:p>
          <a:p>
            <a:pPr marL="914400" lvl="0" indent="-317182" algn="l" rtl="0">
              <a:spcBef>
                <a:spcPts val="0"/>
              </a:spcBef>
              <a:spcAft>
                <a:spcPts val="0"/>
              </a:spcAft>
              <a:buSzPct val="100000"/>
              <a:buAutoNum type="arabicPeriod"/>
            </a:pPr>
            <a:r>
              <a:rPr lang="ja" noProof="1"/>
              <a:t>You'll get better results if you work together in the community</a:t>
            </a:r>
            <a:endParaRPr/>
          </a:p>
          <a:p>
            <a:pPr marL="914400" lvl="0" indent="-317182" algn="l" rtl="0">
              <a:spcBef>
                <a:spcPts val="0"/>
              </a:spcBef>
              <a:spcAft>
                <a:spcPts val="0"/>
              </a:spcAft>
              <a:buSzPct val="100000"/>
              <a:buAutoNum type="arabicPeriod"/>
            </a:pPr>
            <a:r>
              <a:rPr lang="ja" noProof="1"/>
              <a:t>By contributing, the community becomes active and stable, making it easier to guarantee products</a:t>
            </a:r>
            <a:endParaRPr/>
          </a:p>
          <a:p>
            <a:pPr marL="914400" lvl="0" indent="-317182" algn="l" rtl="0">
              <a:spcBef>
                <a:spcPts val="0"/>
              </a:spcBef>
              <a:spcAft>
                <a:spcPts val="0"/>
              </a:spcAft>
              <a:buSzPct val="100000"/>
              <a:buAutoNum type="arabicPeriod"/>
            </a:pPr>
            <a:r>
              <a:rPr lang="ja" noProof="1"/>
              <a:t>By taking the lead in managing the OSS community that is important to your products, you can differentiate your products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1"/>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 Leveraging OSS, what are the benefits of OSS activities?</a:t>
            </a:r>
            <a:endParaRPr/>
          </a:p>
        </p:txBody>
      </p:sp>
      <p:pic>
        <p:nvPicPr>
          <p:cNvPr id="310" name="Google Shape;310;p41"/>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311" name="Google Shape;311;p41"/>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ja" sz="560" u="sng" noProof="1">
                <a:solidFill>
                  <a:schemeClr val="hlink"/>
                </a:solidFill>
                <a:hlinkClick r:id="rId4"/>
              </a:rPr>
              <a:t>https://www.linuxfoundation.jp/wp-content/uploads/2022/11/ja_LFR_LFAID_Deep_Dive_Open_Source_Program_Offices_0830.pdf</a:t>
            </a:r>
            <a:endParaRPr sz="560" u="sng">
              <a:solidFill>
                <a:schemeClr val="hlink"/>
              </a:solidFill>
            </a:endParaRPr>
          </a:p>
          <a:p>
            <a:pPr marL="0" lvl="0" indent="0" algn="l" rtl="0">
              <a:lnSpc>
                <a:spcPct val="115000"/>
              </a:lnSpc>
              <a:spcBef>
                <a:spcPts val="0"/>
              </a:spcBef>
              <a:spcAft>
                <a:spcPts val="0"/>
              </a:spcAft>
              <a:buClr>
                <a:schemeClr val="dk1"/>
              </a:buClr>
              <a:buSzPts val="1100"/>
              <a:buFont typeface="Arial"/>
              <a:buNone/>
            </a:pPr>
            <a:r>
              <a:rPr lang="ja" sz="560" noProof="1">
                <a:solidFill>
                  <a:schemeClr val="dk1"/>
                </a:solidFill>
              </a:rPr>
              <a:t>Ibrahim Haddad, “</a:t>
            </a:r>
            <a:r>
              <a:rPr lang="ja" sz="560" b="1" noProof="1">
                <a:solidFill>
                  <a:schemeClr val="dk1"/>
                </a:solidFill>
              </a:rPr>
              <a:t>A Deep Dive Into Open Source Program Offices:</a:t>
            </a:r>
            <a:endParaRPr sz="560" b="1">
              <a:solidFill>
                <a:schemeClr val="dk1"/>
              </a:solidFill>
            </a:endParaRPr>
          </a:p>
          <a:p>
            <a:pPr marL="0" lvl="0" indent="0" algn="l" rtl="0">
              <a:lnSpc>
                <a:spcPct val="115000"/>
              </a:lnSpc>
              <a:spcBef>
                <a:spcPts val="0"/>
              </a:spcBef>
              <a:spcAft>
                <a:spcPts val="0"/>
              </a:spcAft>
              <a:buNone/>
            </a:pPr>
            <a:r>
              <a:rPr lang="ja" sz="560" b="1" noProof="1">
                <a:solidFill>
                  <a:schemeClr val="dk1"/>
                </a:solidFill>
              </a:rPr>
              <a:t>Structure, Roles, Responsibilities, and Challenges “ foreword by Chris Aniszczyk, August, 2022</a:t>
            </a:r>
            <a:endParaRPr sz="640"/>
          </a:p>
        </p:txBody>
      </p:sp>
      <p:grpSp>
        <p:nvGrpSpPr>
          <p:cNvPr id="312" name="Google Shape;312;p41"/>
          <p:cNvGrpSpPr/>
          <p:nvPr/>
        </p:nvGrpSpPr>
        <p:grpSpPr>
          <a:xfrm>
            <a:off x="874325" y="1899650"/>
            <a:ext cx="5919925" cy="2446800"/>
            <a:chOff x="874325" y="1899650"/>
            <a:chExt cx="5919925" cy="2446800"/>
          </a:xfrm>
        </p:grpSpPr>
        <p:sp>
          <p:nvSpPr>
            <p:cNvPr id="313" name="Google Shape;313;p41"/>
            <p:cNvSpPr/>
            <p:nvPr/>
          </p:nvSpPr>
          <p:spPr>
            <a:xfrm>
              <a:off x="4572000" y="3026025"/>
              <a:ext cx="1984500" cy="1278300"/>
            </a:xfrm>
            <a:prstGeom prst="wedgeRectCallout">
              <a:avLst>
                <a:gd name="adj1" fmla="val -49565"/>
                <a:gd name="adj2" fmla="val -1653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Leadership</a:t>
              </a:r>
              <a:endParaRPr sz="800"/>
            </a:p>
            <a:p>
              <a:pPr marL="269999" lvl="1" indent="-168275" algn="l" rtl="0">
                <a:spcBef>
                  <a:spcPts val="0"/>
                </a:spcBef>
                <a:spcAft>
                  <a:spcPts val="0"/>
                </a:spcAft>
                <a:buSzPts val="1000"/>
                <a:buChar char="○"/>
              </a:pPr>
              <a:r>
                <a:rPr lang="ja" sz="800" noProof="1"/>
                <a:t>Core member of decision-making as a community leader</a:t>
              </a:r>
              <a:endParaRPr sz="800"/>
            </a:p>
            <a:p>
              <a:pPr marL="89999" lvl="0" indent="-158750" algn="l" rtl="0">
                <a:spcBef>
                  <a:spcPts val="0"/>
                </a:spcBef>
                <a:spcAft>
                  <a:spcPts val="0"/>
                </a:spcAft>
                <a:buSzPts val="1000"/>
                <a:buChar char="●"/>
              </a:pPr>
              <a:r>
                <a:rPr lang="ja" sz="800" noProof="1"/>
                <a:t>Engagement</a:t>
              </a:r>
              <a:endParaRPr sz="800"/>
            </a:p>
            <a:p>
              <a:pPr marL="269999" lvl="1" indent="-168275" algn="l" rtl="0">
                <a:spcBef>
                  <a:spcPts val="0"/>
                </a:spcBef>
                <a:spcAft>
                  <a:spcPts val="0"/>
                </a:spcAft>
                <a:buSzPts val="1000"/>
                <a:buChar char="○"/>
              </a:pPr>
              <a:r>
                <a:rPr lang="ja" sz="800" noProof="1"/>
                <a:t>Decision-making meeting participants</a:t>
              </a:r>
              <a:endParaRPr sz="800"/>
            </a:p>
            <a:p>
              <a:pPr marL="89999" lvl="0" indent="-158750" algn="l" rtl="0">
                <a:spcBef>
                  <a:spcPts val="0"/>
                </a:spcBef>
                <a:spcAft>
                  <a:spcPts val="0"/>
                </a:spcAft>
                <a:buSzPts val="1000"/>
                <a:buChar char="●"/>
              </a:pPr>
              <a:r>
                <a:rPr lang="ja" sz="800" noProof="1"/>
                <a:t>Community education</a:t>
              </a:r>
              <a:endParaRPr sz="800"/>
            </a:p>
            <a:p>
              <a:pPr marL="269999" lvl="1" indent="-168275" algn="l" rtl="0">
                <a:spcBef>
                  <a:spcPts val="0"/>
                </a:spcBef>
                <a:spcAft>
                  <a:spcPts val="0"/>
                </a:spcAft>
                <a:buSzPts val="1000"/>
                <a:buChar char="○"/>
              </a:pPr>
              <a:r>
                <a:rPr lang="ja" sz="800" noProof="1"/>
                <a:t>Early contributors</a:t>
              </a:r>
              <a:endParaRPr sz="800"/>
            </a:p>
          </p:txBody>
        </p:sp>
        <p:sp>
          <p:nvSpPr>
            <p:cNvPr id="314" name="Google Shape;314;p41"/>
            <p:cNvSpPr/>
            <p:nvPr/>
          </p:nvSpPr>
          <p:spPr>
            <a:xfrm>
              <a:off x="874325" y="3236925"/>
              <a:ext cx="1234200" cy="1109400"/>
            </a:xfrm>
            <a:prstGeom prst="donut">
              <a:avLst>
                <a:gd name="adj" fmla="val 3730"/>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15" name="Google Shape;315;p41"/>
            <p:cNvSpPr/>
            <p:nvPr/>
          </p:nvSpPr>
          <p:spPr>
            <a:xfrm>
              <a:off x="2083350" y="1899650"/>
              <a:ext cx="4710900" cy="24468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16" name="Google Shape;316;p41"/>
            <p:cNvSpPr/>
            <p:nvPr/>
          </p:nvSpPr>
          <p:spPr>
            <a:xfrm>
              <a:off x="2042775" y="3943625"/>
              <a:ext cx="117300" cy="360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17" name="Google Shape;317;p41"/>
            <p:cNvSpPr/>
            <p:nvPr/>
          </p:nvSpPr>
          <p:spPr>
            <a:xfrm>
              <a:off x="2013750" y="4037325"/>
              <a:ext cx="117300" cy="267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18" name="Google Shape;318;p41"/>
            <p:cNvSpPr/>
            <p:nvPr/>
          </p:nvSpPr>
          <p:spPr>
            <a:xfrm>
              <a:off x="1976725" y="4079325"/>
              <a:ext cx="117300" cy="225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19" name="Google Shape;319;p41"/>
            <p:cNvSpPr/>
            <p:nvPr/>
          </p:nvSpPr>
          <p:spPr>
            <a:xfrm>
              <a:off x="1940875" y="4135675"/>
              <a:ext cx="117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20" name="Google Shape;320;p41"/>
            <p:cNvSpPr/>
            <p:nvPr/>
          </p:nvSpPr>
          <p:spPr>
            <a:xfrm>
              <a:off x="1896450" y="4162425"/>
              <a:ext cx="117300" cy="14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21" name="Google Shape;321;p41"/>
            <p:cNvSpPr/>
            <p:nvPr/>
          </p:nvSpPr>
          <p:spPr>
            <a:xfrm>
              <a:off x="1835425" y="42044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22" name="Google Shape;322;p41"/>
            <p:cNvSpPr/>
            <p:nvPr/>
          </p:nvSpPr>
          <p:spPr>
            <a:xfrm>
              <a:off x="1779150" y="4252400"/>
              <a:ext cx="11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23" name="Google Shape;323;p41"/>
            <p:cNvSpPr/>
            <p:nvPr/>
          </p:nvSpPr>
          <p:spPr>
            <a:xfrm>
              <a:off x="1127225" y="4252400"/>
              <a:ext cx="11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24" name="Google Shape;324;p41"/>
            <p:cNvSpPr/>
            <p:nvPr/>
          </p:nvSpPr>
          <p:spPr>
            <a:xfrm>
              <a:off x="1718125" y="4267725"/>
              <a:ext cx="11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25" name="Google Shape;325;p41"/>
            <p:cNvSpPr/>
            <p:nvPr/>
          </p:nvSpPr>
          <p:spPr>
            <a:xfrm>
              <a:off x="2058175" y="3450300"/>
              <a:ext cx="117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26" name="Google Shape;326;p41"/>
            <p:cNvSpPr/>
            <p:nvPr/>
          </p:nvSpPr>
          <p:spPr>
            <a:xfrm>
              <a:off x="1985889" y="3330550"/>
              <a:ext cx="117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27" name="Google Shape;327;p41"/>
            <p:cNvSpPr/>
            <p:nvPr/>
          </p:nvSpPr>
          <p:spPr>
            <a:xfrm>
              <a:off x="2026239" y="3389575"/>
              <a:ext cx="117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grpSp>
      <p:sp>
        <p:nvSpPr>
          <p:cNvPr id="328" name="Google Shape;328;p41"/>
          <p:cNvSpPr/>
          <p:nvPr/>
        </p:nvSpPr>
        <p:spPr>
          <a:xfrm>
            <a:off x="39275" y="2375625"/>
            <a:ext cx="2293200" cy="861300"/>
          </a:xfrm>
          <a:prstGeom prst="wedgeRectCallout">
            <a:avLst>
              <a:gd name="adj1" fmla="val 7120"/>
              <a:gd name="adj2" fmla="val 130152"/>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800" noProof="1"/>
              <a:t>Use existing software (make development easier)</a:t>
            </a:r>
            <a:endParaRPr sz="800"/>
          </a:p>
          <a:p>
            <a:pPr marL="89999" lvl="0" indent="-149225" algn="l" rtl="0">
              <a:spcBef>
                <a:spcPts val="0"/>
              </a:spcBef>
              <a:spcAft>
                <a:spcPts val="0"/>
              </a:spcAft>
              <a:buSzPts val="1000"/>
              <a:buChar char="●"/>
            </a:pPr>
            <a:r>
              <a:rPr lang="ja" sz="800" noProof="1"/>
              <a:t>Use cutting-edge software (technology)</a:t>
            </a:r>
            <a:endParaRPr sz="800"/>
          </a:p>
          <a:p>
            <a:pPr marL="89999" lvl="0" indent="-149225" algn="l" rtl="0">
              <a:spcBef>
                <a:spcPts val="0"/>
              </a:spcBef>
              <a:spcAft>
                <a:spcPts val="0"/>
              </a:spcAft>
              <a:buSzPts val="1000"/>
              <a:buChar char="●"/>
            </a:pPr>
            <a:r>
              <a:rPr lang="ja" sz="800" noProof="1"/>
              <a:t>Software created by many people, so it's at a high level</a:t>
            </a:r>
            <a:endParaRPr sz="800"/>
          </a:p>
        </p:txBody>
      </p:sp>
      <p:sp>
        <p:nvSpPr>
          <p:cNvPr id="329" name="Google Shape;329;p41"/>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2"/>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 Leveraging OSS, what are the benefits of OSS activities?</a:t>
            </a:r>
            <a:endParaRPr/>
          </a:p>
        </p:txBody>
      </p:sp>
      <p:pic>
        <p:nvPicPr>
          <p:cNvPr id="335" name="Google Shape;335;p42"/>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336" name="Google Shape;336;p42"/>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ja" sz="560" u="sng" noProof="1">
                <a:solidFill>
                  <a:schemeClr val="hlink"/>
                </a:solidFill>
                <a:hlinkClick r:id="rId4"/>
              </a:rPr>
              <a:t>https://www.linuxfoundation.jp/wp-content/uploads/2022/11/ja_LFR_LFAID_Deep_Dive_Open_Source_Program_Offices_0830.pdf</a:t>
            </a:r>
            <a:endParaRPr sz="560" u="sng">
              <a:solidFill>
                <a:schemeClr val="hlink"/>
              </a:solidFill>
            </a:endParaRPr>
          </a:p>
          <a:p>
            <a:pPr marL="0" lvl="0" indent="0" algn="l" rtl="0">
              <a:lnSpc>
                <a:spcPct val="115000"/>
              </a:lnSpc>
              <a:spcBef>
                <a:spcPts val="0"/>
              </a:spcBef>
              <a:spcAft>
                <a:spcPts val="0"/>
              </a:spcAft>
              <a:buClr>
                <a:schemeClr val="dk1"/>
              </a:buClr>
              <a:buSzPts val="1100"/>
              <a:buFont typeface="Arial"/>
              <a:buNone/>
            </a:pPr>
            <a:r>
              <a:rPr lang="ja" sz="560" noProof="1">
                <a:solidFill>
                  <a:schemeClr val="dk1"/>
                </a:solidFill>
              </a:rPr>
              <a:t>Ibrahim Haddad, “</a:t>
            </a:r>
            <a:r>
              <a:rPr lang="ja" sz="560" b="1" noProof="1">
                <a:solidFill>
                  <a:schemeClr val="dk1"/>
                </a:solidFill>
              </a:rPr>
              <a:t>A Deep Dive Into Open Source Program Offices:</a:t>
            </a:r>
            <a:endParaRPr sz="560" b="1">
              <a:solidFill>
                <a:schemeClr val="dk1"/>
              </a:solidFill>
            </a:endParaRPr>
          </a:p>
          <a:p>
            <a:pPr marL="0" lvl="0" indent="0" algn="l" rtl="0">
              <a:lnSpc>
                <a:spcPct val="115000"/>
              </a:lnSpc>
              <a:spcBef>
                <a:spcPts val="0"/>
              </a:spcBef>
              <a:spcAft>
                <a:spcPts val="0"/>
              </a:spcAft>
              <a:buNone/>
            </a:pPr>
            <a:r>
              <a:rPr lang="ja" sz="560" b="1" noProof="1">
                <a:solidFill>
                  <a:schemeClr val="dk1"/>
                </a:solidFill>
              </a:rPr>
              <a:t>Structure, Roles, Responsibilities, and Challenges “ foreword by Chris Aniszczyk, August, 2022</a:t>
            </a:r>
            <a:endParaRPr sz="640"/>
          </a:p>
        </p:txBody>
      </p:sp>
      <p:grpSp>
        <p:nvGrpSpPr>
          <p:cNvPr id="337" name="Google Shape;337;p42"/>
          <p:cNvGrpSpPr/>
          <p:nvPr/>
        </p:nvGrpSpPr>
        <p:grpSpPr>
          <a:xfrm>
            <a:off x="874325" y="1899650"/>
            <a:ext cx="5920000" cy="2446800"/>
            <a:chOff x="874325" y="1899650"/>
            <a:chExt cx="5920000" cy="2446800"/>
          </a:xfrm>
        </p:grpSpPr>
        <p:sp>
          <p:nvSpPr>
            <p:cNvPr id="338" name="Google Shape;338;p42"/>
            <p:cNvSpPr/>
            <p:nvPr/>
          </p:nvSpPr>
          <p:spPr>
            <a:xfrm>
              <a:off x="4572000" y="3026025"/>
              <a:ext cx="1984500" cy="1278300"/>
            </a:xfrm>
            <a:prstGeom prst="wedgeRectCallout">
              <a:avLst>
                <a:gd name="adj1" fmla="val -49565"/>
                <a:gd name="adj2" fmla="val -1653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Leadership</a:t>
              </a:r>
              <a:endParaRPr sz="800"/>
            </a:p>
            <a:p>
              <a:pPr marL="269999" lvl="1" indent="-168275" algn="l" rtl="0">
                <a:spcBef>
                  <a:spcPts val="0"/>
                </a:spcBef>
                <a:spcAft>
                  <a:spcPts val="0"/>
                </a:spcAft>
                <a:buSzPts val="1000"/>
                <a:buChar char="○"/>
              </a:pPr>
              <a:r>
                <a:rPr lang="ja" sz="800" noProof="1"/>
                <a:t>Core member of decision-making as a community leader</a:t>
              </a:r>
              <a:endParaRPr sz="800"/>
            </a:p>
            <a:p>
              <a:pPr marL="89999" lvl="0" indent="-158750" algn="l" rtl="0">
                <a:spcBef>
                  <a:spcPts val="0"/>
                </a:spcBef>
                <a:spcAft>
                  <a:spcPts val="0"/>
                </a:spcAft>
                <a:buSzPts val="1000"/>
                <a:buChar char="●"/>
              </a:pPr>
              <a:r>
                <a:rPr lang="ja" sz="800" noProof="1"/>
                <a:t>Engagement</a:t>
              </a:r>
              <a:endParaRPr sz="800"/>
            </a:p>
            <a:p>
              <a:pPr marL="269999" lvl="1" indent="-168275" algn="l" rtl="0">
                <a:spcBef>
                  <a:spcPts val="0"/>
                </a:spcBef>
                <a:spcAft>
                  <a:spcPts val="0"/>
                </a:spcAft>
                <a:buSzPts val="1000"/>
                <a:buChar char="○"/>
              </a:pPr>
              <a:r>
                <a:rPr lang="ja" sz="800" noProof="1"/>
                <a:t>Decision-making meeting participants</a:t>
              </a:r>
              <a:endParaRPr sz="800"/>
            </a:p>
            <a:p>
              <a:pPr marL="89999" lvl="0" indent="-158750" algn="l" rtl="0">
                <a:spcBef>
                  <a:spcPts val="0"/>
                </a:spcBef>
                <a:spcAft>
                  <a:spcPts val="0"/>
                </a:spcAft>
                <a:buSzPts val="1000"/>
                <a:buChar char="●"/>
              </a:pPr>
              <a:r>
                <a:rPr lang="ja" sz="800" noProof="1"/>
                <a:t>Community education</a:t>
              </a:r>
              <a:endParaRPr sz="800"/>
            </a:p>
            <a:p>
              <a:pPr marL="269999" lvl="1" indent="-168275" algn="l" rtl="0">
                <a:spcBef>
                  <a:spcPts val="0"/>
                </a:spcBef>
                <a:spcAft>
                  <a:spcPts val="0"/>
                </a:spcAft>
                <a:buSzPts val="1000"/>
                <a:buChar char="○"/>
              </a:pPr>
              <a:r>
                <a:rPr lang="ja" sz="800" noProof="1"/>
                <a:t>Early contributors</a:t>
              </a:r>
              <a:endParaRPr sz="800"/>
            </a:p>
          </p:txBody>
        </p:sp>
        <p:sp>
          <p:nvSpPr>
            <p:cNvPr id="339" name="Google Shape;339;p42"/>
            <p:cNvSpPr/>
            <p:nvPr/>
          </p:nvSpPr>
          <p:spPr>
            <a:xfrm>
              <a:off x="874325" y="3029925"/>
              <a:ext cx="2476200" cy="1316400"/>
            </a:xfrm>
            <a:prstGeom prst="donut">
              <a:avLst>
                <a:gd name="adj" fmla="val 3730"/>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40" name="Google Shape;340;p42"/>
            <p:cNvSpPr/>
            <p:nvPr/>
          </p:nvSpPr>
          <p:spPr>
            <a:xfrm>
              <a:off x="3308025" y="1899650"/>
              <a:ext cx="3486300" cy="24468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41" name="Google Shape;341;p42"/>
            <p:cNvSpPr/>
            <p:nvPr/>
          </p:nvSpPr>
          <p:spPr>
            <a:xfrm>
              <a:off x="3197807" y="3943625"/>
              <a:ext cx="117300" cy="360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42" name="Google Shape;342;p42"/>
            <p:cNvSpPr/>
            <p:nvPr/>
          </p:nvSpPr>
          <p:spPr>
            <a:xfrm>
              <a:off x="3097321" y="4037325"/>
              <a:ext cx="188700" cy="267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43" name="Google Shape;343;p42"/>
            <p:cNvSpPr/>
            <p:nvPr/>
          </p:nvSpPr>
          <p:spPr>
            <a:xfrm>
              <a:off x="3023119" y="4079325"/>
              <a:ext cx="225900" cy="225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44" name="Google Shape;344;p42"/>
            <p:cNvSpPr/>
            <p:nvPr/>
          </p:nvSpPr>
          <p:spPr>
            <a:xfrm>
              <a:off x="2966968" y="4135675"/>
              <a:ext cx="246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45" name="Google Shape;345;p42"/>
            <p:cNvSpPr/>
            <p:nvPr/>
          </p:nvSpPr>
          <p:spPr>
            <a:xfrm>
              <a:off x="2884766" y="4162425"/>
              <a:ext cx="284100" cy="14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46" name="Google Shape;346;p42"/>
            <p:cNvSpPr/>
            <p:nvPr/>
          </p:nvSpPr>
          <p:spPr>
            <a:xfrm>
              <a:off x="2756412" y="4204425"/>
              <a:ext cx="351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47" name="Google Shape;347;p42"/>
            <p:cNvSpPr/>
            <p:nvPr/>
          </p:nvSpPr>
          <p:spPr>
            <a:xfrm>
              <a:off x="2579955" y="4252400"/>
              <a:ext cx="4716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48" name="Google Shape;348;p42"/>
            <p:cNvSpPr/>
            <p:nvPr/>
          </p:nvSpPr>
          <p:spPr>
            <a:xfrm>
              <a:off x="1147275" y="4268000"/>
              <a:ext cx="511800" cy="36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49" name="Google Shape;349;p42"/>
            <p:cNvSpPr/>
            <p:nvPr/>
          </p:nvSpPr>
          <p:spPr>
            <a:xfrm>
              <a:off x="3153875" y="4001125"/>
              <a:ext cx="11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50" name="Google Shape;350;p42"/>
            <p:cNvSpPr/>
            <p:nvPr/>
          </p:nvSpPr>
          <p:spPr>
            <a:xfrm>
              <a:off x="3286025" y="38447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51" name="Google Shape;351;p42"/>
            <p:cNvSpPr/>
            <p:nvPr/>
          </p:nvSpPr>
          <p:spPr>
            <a:xfrm>
              <a:off x="3249025" y="38859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52" name="Google Shape;352;p42"/>
            <p:cNvSpPr/>
            <p:nvPr/>
          </p:nvSpPr>
          <p:spPr>
            <a:xfrm>
              <a:off x="3261050" y="3410700"/>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53" name="Google Shape;353;p42"/>
            <p:cNvSpPr/>
            <p:nvPr/>
          </p:nvSpPr>
          <p:spPr>
            <a:xfrm>
              <a:off x="1161850" y="4228275"/>
              <a:ext cx="3750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54" name="Google Shape;354;p42"/>
            <p:cNvSpPr/>
            <p:nvPr/>
          </p:nvSpPr>
          <p:spPr>
            <a:xfrm>
              <a:off x="1134450" y="4192175"/>
              <a:ext cx="2841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55" name="Google Shape;355;p42"/>
            <p:cNvSpPr/>
            <p:nvPr/>
          </p:nvSpPr>
          <p:spPr>
            <a:xfrm>
              <a:off x="1117725" y="4144875"/>
              <a:ext cx="210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56" name="Google Shape;356;p42"/>
            <p:cNvSpPr/>
            <p:nvPr/>
          </p:nvSpPr>
          <p:spPr>
            <a:xfrm>
              <a:off x="1035500" y="4116350"/>
              <a:ext cx="210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57" name="Google Shape;357;p42"/>
            <p:cNvSpPr/>
            <p:nvPr/>
          </p:nvSpPr>
          <p:spPr>
            <a:xfrm>
              <a:off x="2510100" y="2232975"/>
              <a:ext cx="246300" cy="921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grpSp>
      <p:sp>
        <p:nvSpPr>
          <p:cNvPr id="358" name="Google Shape;358;p42"/>
          <p:cNvSpPr/>
          <p:nvPr/>
        </p:nvSpPr>
        <p:spPr>
          <a:xfrm>
            <a:off x="39275" y="2375625"/>
            <a:ext cx="2293200" cy="861300"/>
          </a:xfrm>
          <a:prstGeom prst="wedgeRectCallout">
            <a:avLst>
              <a:gd name="adj1" fmla="val 7120"/>
              <a:gd name="adj2" fmla="val 13015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800" noProof="1"/>
              <a:t>Use existing software (make development easier)</a:t>
            </a:r>
            <a:endParaRPr sz="800"/>
          </a:p>
          <a:p>
            <a:pPr marL="89999" lvl="0" indent="-149225" algn="l" rtl="0">
              <a:spcBef>
                <a:spcPts val="0"/>
              </a:spcBef>
              <a:spcAft>
                <a:spcPts val="0"/>
              </a:spcAft>
              <a:buSzPts val="1000"/>
              <a:buChar char="●"/>
            </a:pPr>
            <a:r>
              <a:rPr lang="ja" sz="800" noProof="1"/>
              <a:t>Use cutting-edge software (technology)</a:t>
            </a:r>
            <a:endParaRPr sz="800"/>
          </a:p>
          <a:p>
            <a:pPr marL="89999" lvl="0" indent="-149225" algn="l" rtl="0">
              <a:spcBef>
                <a:spcPts val="0"/>
              </a:spcBef>
              <a:spcAft>
                <a:spcPts val="0"/>
              </a:spcAft>
              <a:buSzPts val="1000"/>
              <a:buChar char="●"/>
            </a:pPr>
            <a:r>
              <a:rPr lang="ja" sz="800" noProof="1"/>
              <a:t>Because the software was created by many people, it is at a high level</a:t>
            </a:r>
            <a:endParaRPr sz="800"/>
          </a:p>
        </p:txBody>
      </p:sp>
      <p:sp>
        <p:nvSpPr>
          <p:cNvPr id="359" name="Google Shape;359;p42"/>
          <p:cNvSpPr/>
          <p:nvPr/>
        </p:nvSpPr>
        <p:spPr>
          <a:xfrm>
            <a:off x="1940875" y="1390500"/>
            <a:ext cx="2181900" cy="1005900"/>
          </a:xfrm>
          <a:prstGeom prst="wedgeRectCallout">
            <a:avLst>
              <a:gd name="adj1" fmla="val 1319"/>
              <a:gd name="adj2" fmla="val 159653"/>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Use OSS safely in business</a:t>
            </a:r>
            <a:endParaRPr sz="800"/>
          </a:p>
          <a:p>
            <a:pPr marL="89999" lvl="0" indent="-158750" algn="l" rtl="0">
              <a:spcBef>
                <a:spcPts val="0"/>
              </a:spcBef>
              <a:spcAft>
                <a:spcPts val="0"/>
              </a:spcAft>
              <a:buSzPts val="1000"/>
              <a:buChar char="●"/>
            </a:pPr>
            <a:r>
              <a:rPr lang="ja" sz="800" noProof="1"/>
              <a:t>Use OSS in its original form necessary for inter-company transactions</a:t>
            </a:r>
            <a:endParaRPr sz="800"/>
          </a:p>
          <a:p>
            <a:pPr marL="89999" lvl="0" indent="-158750" algn="l" rtl="0">
              <a:spcBef>
                <a:spcPts val="0"/>
              </a:spcBef>
              <a:spcAft>
                <a:spcPts val="0"/>
              </a:spcAft>
              <a:buSzPts val="1000"/>
              <a:buChar char="●"/>
            </a:pPr>
            <a:r>
              <a:rPr lang="ja" sz="800" noProof="1"/>
              <a:t>Risk control of OSS use throughout the supply chain</a:t>
            </a:r>
            <a:endParaRPr sz="800"/>
          </a:p>
        </p:txBody>
      </p:sp>
      <p:sp>
        <p:nvSpPr>
          <p:cNvPr id="360" name="Google Shape;360;p42"/>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3"/>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 What are the benefits of OSS activities?</a:t>
            </a:r>
            <a:endParaRPr/>
          </a:p>
        </p:txBody>
      </p:sp>
      <p:pic>
        <p:nvPicPr>
          <p:cNvPr id="366" name="Google Shape;366;p43"/>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367" name="Google Shape;367;p43"/>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ja" sz="560" u="sng" noProof="1">
                <a:solidFill>
                  <a:schemeClr val="hlink"/>
                </a:solidFill>
                <a:hlinkClick r:id="rId4"/>
              </a:rPr>
              <a:t>https://www.linuxfoundation.jp/wp-content/uploads/2022/11/ja_LFR_LFAID_Deep_Dive_Open_Source_Program_Offices_0830.pdf</a:t>
            </a:r>
            <a:endParaRPr sz="560" u="sng">
              <a:solidFill>
                <a:schemeClr val="hlink"/>
              </a:solidFill>
            </a:endParaRPr>
          </a:p>
          <a:p>
            <a:pPr marL="0" lvl="0" indent="0" algn="l" rtl="0">
              <a:lnSpc>
                <a:spcPct val="115000"/>
              </a:lnSpc>
              <a:spcBef>
                <a:spcPts val="0"/>
              </a:spcBef>
              <a:spcAft>
                <a:spcPts val="0"/>
              </a:spcAft>
              <a:buClr>
                <a:schemeClr val="dk1"/>
              </a:buClr>
              <a:buSzPts val="1100"/>
              <a:buFont typeface="Arial"/>
              <a:buNone/>
            </a:pPr>
            <a:r>
              <a:rPr lang="ja" sz="560" noProof="1">
                <a:solidFill>
                  <a:schemeClr val="dk1"/>
                </a:solidFill>
              </a:rPr>
              <a:t>Ibrahim Haddad, “</a:t>
            </a:r>
            <a:r>
              <a:rPr lang="ja" sz="560" b="1" noProof="1">
                <a:solidFill>
                  <a:schemeClr val="dk1"/>
                </a:solidFill>
              </a:rPr>
              <a:t>A Deep Dive Into Open Source Program Offices:</a:t>
            </a:r>
            <a:endParaRPr sz="560" b="1">
              <a:solidFill>
                <a:schemeClr val="dk1"/>
              </a:solidFill>
            </a:endParaRPr>
          </a:p>
          <a:p>
            <a:pPr marL="0" lvl="0" indent="0" algn="l" rtl="0">
              <a:lnSpc>
                <a:spcPct val="115000"/>
              </a:lnSpc>
              <a:spcBef>
                <a:spcPts val="0"/>
              </a:spcBef>
              <a:spcAft>
                <a:spcPts val="0"/>
              </a:spcAft>
              <a:buNone/>
            </a:pPr>
            <a:r>
              <a:rPr lang="ja" sz="560" b="1" noProof="1">
                <a:solidFill>
                  <a:schemeClr val="dk1"/>
                </a:solidFill>
              </a:rPr>
              <a:t>Structure, Roles, Responsibilities, and Challenges “ foreword by Chris Aniszczyk, August, 2022</a:t>
            </a:r>
            <a:endParaRPr sz="640"/>
          </a:p>
        </p:txBody>
      </p:sp>
      <p:grpSp>
        <p:nvGrpSpPr>
          <p:cNvPr id="368" name="Google Shape;368;p43"/>
          <p:cNvGrpSpPr/>
          <p:nvPr/>
        </p:nvGrpSpPr>
        <p:grpSpPr>
          <a:xfrm>
            <a:off x="496725" y="1899650"/>
            <a:ext cx="6297594" cy="2446800"/>
            <a:chOff x="496725" y="1899650"/>
            <a:chExt cx="6297594" cy="2446800"/>
          </a:xfrm>
        </p:grpSpPr>
        <p:sp>
          <p:nvSpPr>
            <p:cNvPr id="369" name="Google Shape;369;p43"/>
            <p:cNvSpPr/>
            <p:nvPr/>
          </p:nvSpPr>
          <p:spPr>
            <a:xfrm>
              <a:off x="496725" y="2571750"/>
              <a:ext cx="4707300" cy="1774500"/>
            </a:xfrm>
            <a:prstGeom prst="donut">
              <a:avLst>
                <a:gd name="adj" fmla="val 4256"/>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70" name="Google Shape;370;p43"/>
            <p:cNvSpPr/>
            <p:nvPr/>
          </p:nvSpPr>
          <p:spPr>
            <a:xfrm>
              <a:off x="5123319" y="1899650"/>
              <a:ext cx="1671000" cy="24468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71" name="Google Shape;371;p43"/>
            <p:cNvSpPr/>
            <p:nvPr/>
          </p:nvSpPr>
          <p:spPr>
            <a:xfrm>
              <a:off x="5026607" y="3715025"/>
              <a:ext cx="117300" cy="360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72" name="Google Shape;372;p43"/>
            <p:cNvSpPr/>
            <p:nvPr/>
          </p:nvSpPr>
          <p:spPr>
            <a:xfrm>
              <a:off x="4536775" y="4037325"/>
              <a:ext cx="596400" cy="267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73" name="Google Shape;373;p43"/>
            <p:cNvSpPr/>
            <p:nvPr/>
          </p:nvSpPr>
          <p:spPr>
            <a:xfrm>
              <a:off x="4386726" y="4079325"/>
              <a:ext cx="766500" cy="225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74" name="Google Shape;374;p43"/>
            <p:cNvSpPr/>
            <p:nvPr/>
          </p:nvSpPr>
          <p:spPr>
            <a:xfrm>
              <a:off x="4257625" y="4116350"/>
              <a:ext cx="784500" cy="203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75" name="Google Shape;375;p43"/>
            <p:cNvSpPr/>
            <p:nvPr/>
          </p:nvSpPr>
          <p:spPr>
            <a:xfrm>
              <a:off x="4104570" y="4162425"/>
              <a:ext cx="893100" cy="14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76" name="Google Shape;376;p43"/>
            <p:cNvSpPr/>
            <p:nvPr/>
          </p:nvSpPr>
          <p:spPr>
            <a:xfrm>
              <a:off x="3904427" y="4204425"/>
              <a:ext cx="10320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77" name="Google Shape;377;p43"/>
            <p:cNvSpPr/>
            <p:nvPr/>
          </p:nvSpPr>
          <p:spPr>
            <a:xfrm>
              <a:off x="3596291" y="4252400"/>
              <a:ext cx="12840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78" name="Google Shape;378;p43"/>
            <p:cNvSpPr/>
            <p:nvPr/>
          </p:nvSpPr>
          <p:spPr>
            <a:xfrm>
              <a:off x="1147275" y="4268000"/>
              <a:ext cx="965700" cy="36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79" name="Google Shape;379;p43"/>
            <p:cNvSpPr/>
            <p:nvPr/>
          </p:nvSpPr>
          <p:spPr>
            <a:xfrm>
              <a:off x="4604975" y="4001125"/>
              <a:ext cx="4950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80" name="Google Shape;380;p43"/>
            <p:cNvSpPr/>
            <p:nvPr/>
          </p:nvSpPr>
          <p:spPr>
            <a:xfrm>
              <a:off x="5114825" y="36161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81" name="Google Shape;381;p43"/>
            <p:cNvSpPr/>
            <p:nvPr/>
          </p:nvSpPr>
          <p:spPr>
            <a:xfrm>
              <a:off x="5077825" y="36573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82" name="Google Shape;382;p43"/>
            <p:cNvSpPr/>
            <p:nvPr/>
          </p:nvSpPr>
          <p:spPr>
            <a:xfrm>
              <a:off x="5064075" y="3172875"/>
              <a:ext cx="1173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83" name="Google Shape;383;p43"/>
            <p:cNvSpPr/>
            <p:nvPr/>
          </p:nvSpPr>
          <p:spPr>
            <a:xfrm>
              <a:off x="1161850" y="4228275"/>
              <a:ext cx="7335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84" name="Google Shape;384;p43"/>
            <p:cNvSpPr/>
            <p:nvPr/>
          </p:nvSpPr>
          <p:spPr>
            <a:xfrm>
              <a:off x="1134450" y="4192175"/>
              <a:ext cx="5481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85" name="Google Shape;385;p43"/>
            <p:cNvSpPr/>
            <p:nvPr/>
          </p:nvSpPr>
          <p:spPr>
            <a:xfrm>
              <a:off x="1117725" y="4144875"/>
              <a:ext cx="4176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86" name="Google Shape;386;p43"/>
            <p:cNvSpPr/>
            <p:nvPr/>
          </p:nvSpPr>
          <p:spPr>
            <a:xfrm>
              <a:off x="1035500" y="4116350"/>
              <a:ext cx="3348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87" name="Google Shape;387;p43"/>
            <p:cNvSpPr/>
            <p:nvPr/>
          </p:nvSpPr>
          <p:spPr>
            <a:xfrm>
              <a:off x="2510100" y="2232975"/>
              <a:ext cx="246300" cy="921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88" name="Google Shape;388;p43"/>
            <p:cNvSpPr/>
            <p:nvPr/>
          </p:nvSpPr>
          <p:spPr>
            <a:xfrm>
              <a:off x="1006400" y="4079325"/>
              <a:ext cx="3348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89" name="Google Shape;389;p43"/>
            <p:cNvSpPr/>
            <p:nvPr/>
          </p:nvSpPr>
          <p:spPr>
            <a:xfrm>
              <a:off x="4689350" y="3941275"/>
              <a:ext cx="361800" cy="73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90" name="Google Shape;390;p43"/>
            <p:cNvSpPr/>
            <p:nvPr/>
          </p:nvSpPr>
          <p:spPr>
            <a:xfrm>
              <a:off x="4817725" y="3887250"/>
              <a:ext cx="233400" cy="73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91" name="Google Shape;391;p43"/>
            <p:cNvSpPr/>
            <p:nvPr/>
          </p:nvSpPr>
          <p:spPr>
            <a:xfrm>
              <a:off x="4910500" y="3845225"/>
              <a:ext cx="204300" cy="73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92" name="Google Shape;392;p43"/>
            <p:cNvSpPr/>
            <p:nvPr/>
          </p:nvSpPr>
          <p:spPr>
            <a:xfrm>
              <a:off x="4962525" y="3793288"/>
              <a:ext cx="204300" cy="73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93" name="Google Shape;393;p43"/>
            <p:cNvSpPr/>
            <p:nvPr/>
          </p:nvSpPr>
          <p:spPr>
            <a:xfrm>
              <a:off x="5015875" y="3118213"/>
              <a:ext cx="1173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94" name="Google Shape;394;p43"/>
            <p:cNvSpPr/>
            <p:nvPr/>
          </p:nvSpPr>
          <p:spPr>
            <a:xfrm>
              <a:off x="4936425" y="3060600"/>
              <a:ext cx="2043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95" name="Google Shape;395;p43"/>
            <p:cNvSpPr/>
            <p:nvPr/>
          </p:nvSpPr>
          <p:spPr>
            <a:xfrm>
              <a:off x="4859775" y="3003675"/>
              <a:ext cx="2733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96" name="Google Shape;396;p43"/>
            <p:cNvSpPr/>
            <p:nvPr/>
          </p:nvSpPr>
          <p:spPr>
            <a:xfrm>
              <a:off x="4797775" y="2956700"/>
              <a:ext cx="3348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397" name="Google Shape;397;p43"/>
            <p:cNvSpPr/>
            <p:nvPr/>
          </p:nvSpPr>
          <p:spPr>
            <a:xfrm>
              <a:off x="4729275" y="2558550"/>
              <a:ext cx="437700" cy="414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grpSp>
      <p:sp>
        <p:nvSpPr>
          <p:cNvPr id="398" name="Google Shape;398;p43"/>
          <p:cNvSpPr/>
          <p:nvPr/>
        </p:nvSpPr>
        <p:spPr>
          <a:xfrm>
            <a:off x="4257600" y="812375"/>
            <a:ext cx="2476200" cy="1371600"/>
          </a:xfrm>
          <a:prstGeom prst="wedgeRectCallout">
            <a:avLst>
              <a:gd name="adj1" fmla="val -44299"/>
              <a:gd name="adj2" fmla="val 109493"/>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Clr>
                <a:schemeClr val="dk1"/>
              </a:buClr>
              <a:buSzPts val="1000"/>
              <a:buChar char="●"/>
            </a:pPr>
            <a:r>
              <a:rPr lang="ja" sz="800" noProof="1">
                <a:solidFill>
                  <a:schemeClr val="dk1"/>
                </a:solidFill>
              </a:rPr>
              <a:t>Bugs are easier to find and more accurate and faster to fix by many engineers than by the company alone</a:t>
            </a:r>
            <a:endParaRPr sz="800"/>
          </a:p>
          <a:p>
            <a:pPr marL="89999" lvl="0" indent="-158750" algn="l" rtl="0">
              <a:spcBef>
                <a:spcPts val="0"/>
              </a:spcBef>
              <a:spcAft>
                <a:spcPts val="0"/>
              </a:spcAft>
              <a:buSzPts val="1000"/>
              <a:buChar char="●"/>
            </a:pPr>
            <a:r>
              <a:rPr lang="ja" sz="800" noProof="1"/>
              <a:t>Efficiency of development resources through community cooperation</a:t>
            </a:r>
            <a:endParaRPr sz="800"/>
          </a:p>
          <a:p>
            <a:pPr marL="89999" lvl="0" indent="-158750" algn="l" rtl="0">
              <a:spcBef>
                <a:spcPts val="0"/>
              </a:spcBef>
              <a:spcAft>
                <a:spcPts val="0"/>
              </a:spcAft>
              <a:buSzPts val="1000"/>
              <a:buChar char="●"/>
            </a:pPr>
            <a:r>
              <a:rPr lang="ja" sz="800" noProof="1">
                <a:solidFill>
                  <a:schemeClr val="dk1"/>
                </a:solidFill>
              </a:rPr>
              <a:t>Opportunities for human resource development and retention/acquisition</a:t>
            </a:r>
            <a:endParaRPr sz="800"/>
          </a:p>
          <a:p>
            <a:pPr marL="89999" lvl="0" indent="-158750" algn="l" rtl="0">
              <a:spcBef>
                <a:spcPts val="0"/>
              </a:spcBef>
              <a:spcAft>
                <a:spcPts val="0"/>
              </a:spcAft>
              <a:buSzPts val="1000"/>
              <a:buChar char="●"/>
            </a:pPr>
            <a:r>
              <a:rPr lang="ja" sz="800" noProof="1"/>
              <a:t>Enhancement of market value for engineers and ability to attract human resources by providing opportunities for activities</a:t>
            </a:r>
            <a:endParaRPr sz="800"/>
          </a:p>
        </p:txBody>
      </p:sp>
      <p:sp>
        <p:nvSpPr>
          <p:cNvPr id="399" name="Google Shape;399;p43"/>
          <p:cNvSpPr/>
          <p:nvPr/>
        </p:nvSpPr>
        <p:spPr>
          <a:xfrm>
            <a:off x="39275" y="2375625"/>
            <a:ext cx="2293200" cy="861300"/>
          </a:xfrm>
          <a:prstGeom prst="wedgeRectCallout">
            <a:avLst>
              <a:gd name="adj1" fmla="val 7120"/>
              <a:gd name="adj2" fmla="val 13015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800" noProof="1"/>
              <a:t>Use of existing software (ease of development)</a:t>
            </a:r>
            <a:endParaRPr sz="800"/>
          </a:p>
          <a:p>
            <a:pPr marL="89999" lvl="0" indent="-149225" algn="l" rtl="0">
              <a:spcBef>
                <a:spcPts val="0"/>
              </a:spcBef>
              <a:spcAft>
                <a:spcPts val="0"/>
              </a:spcAft>
              <a:buSzPts val="1000"/>
              <a:buChar char="●"/>
            </a:pPr>
            <a:r>
              <a:rPr lang="ja" sz="800" noProof="1"/>
              <a:t>Use of cutting-edge software (technology)</a:t>
            </a:r>
            <a:endParaRPr sz="800"/>
          </a:p>
          <a:p>
            <a:pPr marL="89999" lvl="0" indent="-149225" algn="l" rtl="0">
              <a:spcBef>
                <a:spcPts val="0"/>
              </a:spcBef>
              <a:spcAft>
                <a:spcPts val="0"/>
              </a:spcAft>
              <a:buSzPts val="1000"/>
              <a:buChar char="●"/>
            </a:pPr>
            <a:r>
              <a:rPr lang="ja" sz="800" noProof="1"/>
              <a:t>This software was created by many people, so it is of a high level.</a:t>
            </a:r>
            <a:endParaRPr sz="800"/>
          </a:p>
        </p:txBody>
      </p:sp>
      <p:sp>
        <p:nvSpPr>
          <p:cNvPr id="400" name="Google Shape;400;p43"/>
          <p:cNvSpPr/>
          <p:nvPr/>
        </p:nvSpPr>
        <p:spPr>
          <a:xfrm>
            <a:off x="1940875" y="1390500"/>
            <a:ext cx="2181900" cy="1005900"/>
          </a:xfrm>
          <a:prstGeom prst="wedgeRectCallout">
            <a:avLst>
              <a:gd name="adj1" fmla="val 1319"/>
              <a:gd name="adj2" fmla="val 1596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You can safely use OSS in your business.</a:t>
            </a:r>
            <a:endParaRPr sz="800"/>
          </a:p>
          <a:p>
            <a:pPr marL="89999" lvl="0" indent="-158750" algn="l" rtl="0">
              <a:spcBef>
                <a:spcPts val="0"/>
              </a:spcBef>
              <a:spcAft>
                <a:spcPts val="0"/>
              </a:spcAft>
              <a:buSzPts val="1000"/>
              <a:buChar char="●"/>
            </a:pPr>
            <a:r>
              <a:rPr lang="ja" sz="800" noProof="1"/>
              <a:t>You can use OSS in its original form, which is necessary for business-to-business transactions.</a:t>
            </a:r>
            <a:endParaRPr sz="800"/>
          </a:p>
          <a:p>
            <a:pPr marL="89999" lvl="0" indent="-158750" algn="l" rtl="0">
              <a:spcBef>
                <a:spcPts val="0"/>
              </a:spcBef>
              <a:spcAft>
                <a:spcPts val="0"/>
              </a:spcAft>
              <a:buSzPts val="1000"/>
              <a:buChar char="●"/>
            </a:pPr>
            <a:r>
              <a:rPr lang="ja" sz="800" noProof="1"/>
              <a:t>Risk control for OSS use throughout the supply chain.</a:t>
            </a:r>
            <a:endParaRPr sz="800"/>
          </a:p>
        </p:txBody>
      </p:sp>
      <p:sp>
        <p:nvSpPr>
          <p:cNvPr id="401" name="Google Shape;401;p43"/>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44"/>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 What are the benefits of OSS activities?</a:t>
            </a:r>
            <a:endParaRPr/>
          </a:p>
        </p:txBody>
      </p:sp>
      <p:pic>
        <p:nvPicPr>
          <p:cNvPr id="407" name="Google Shape;407;p44"/>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grpSp>
        <p:nvGrpSpPr>
          <p:cNvPr id="408" name="Google Shape;408;p44"/>
          <p:cNvGrpSpPr/>
          <p:nvPr/>
        </p:nvGrpSpPr>
        <p:grpSpPr>
          <a:xfrm>
            <a:off x="220525" y="2139963"/>
            <a:ext cx="6938400" cy="2206438"/>
            <a:chOff x="220525" y="2139963"/>
            <a:chExt cx="6938400" cy="2206438"/>
          </a:xfrm>
        </p:grpSpPr>
        <p:sp>
          <p:nvSpPr>
            <p:cNvPr id="409" name="Google Shape;409;p44"/>
            <p:cNvSpPr/>
            <p:nvPr/>
          </p:nvSpPr>
          <p:spPr>
            <a:xfrm>
              <a:off x="220525" y="2306700"/>
              <a:ext cx="6938400" cy="2039700"/>
            </a:xfrm>
            <a:prstGeom prst="donut">
              <a:avLst>
                <a:gd name="adj" fmla="val 4256"/>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10" name="Google Shape;410;p44"/>
            <p:cNvSpPr/>
            <p:nvPr/>
          </p:nvSpPr>
          <p:spPr>
            <a:xfrm>
              <a:off x="6283125" y="3943625"/>
              <a:ext cx="5370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11" name="Google Shape;411;p44"/>
            <p:cNvSpPr/>
            <p:nvPr/>
          </p:nvSpPr>
          <p:spPr>
            <a:xfrm>
              <a:off x="6022224" y="4037325"/>
              <a:ext cx="768900" cy="267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12" name="Google Shape;412;p44"/>
            <p:cNvSpPr/>
            <p:nvPr/>
          </p:nvSpPr>
          <p:spPr>
            <a:xfrm>
              <a:off x="5797325" y="4079325"/>
              <a:ext cx="957000" cy="225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13" name="Google Shape;413;p44"/>
            <p:cNvSpPr/>
            <p:nvPr/>
          </p:nvSpPr>
          <p:spPr>
            <a:xfrm>
              <a:off x="5668000" y="4135675"/>
              <a:ext cx="10506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14" name="Google Shape;414;p44"/>
            <p:cNvSpPr/>
            <p:nvPr/>
          </p:nvSpPr>
          <p:spPr>
            <a:xfrm>
              <a:off x="5442625" y="4162425"/>
              <a:ext cx="1231500" cy="14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15" name="Google Shape;415;p44"/>
            <p:cNvSpPr/>
            <p:nvPr/>
          </p:nvSpPr>
          <p:spPr>
            <a:xfrm>
              <a:off x="5135626" y="4204425"/>
              <a:ext cx="14772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16" name="Google Shape;416;p44"/>
            <p:cNvSpPr/>
            <p:nvPr/>
          </p:nvSpPr>
          <p:spPr>
            <a:xfrm>
              <a:off x="4709424" y="4252400"/>
              <a:ext cx="18474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17" name="Google Shape;417;p44"/>
            <p:cNvSpPr/>
            <p:nvPr/>
          </p:nvSpPr>
          <p:spPr>
            <a:xfrm>
              <a:off x="1147275" y="4268000"/>
              <a:ext cx="1734000" cy="36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18" name="Google Shape;418;p44"/>
            <p:cNvSpPr/>
            <p:nvPr/>
          </p:nvSpPr>
          <p:spPr>
            <a:xfrm>
              <a:off x="6172925" y="4001125"/>
              <a:ext cx="6036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19" name="Google Shape;419;p44"/>
            <p:cNvSpPr/>
            <p:nvPr/>
          </p:nvSpPr>
          <p:spPr>
            <a:xfrm>
              <a:off x="6791225" y="38447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20" name="Google Shape;420;p44"/>
            <p:cNvSpPr/>
            <p:nvPr/>
          </p:nvSpPr>
          <p:spPr>
            <a:xfrm>
              <a:off x="6445075" y="3885925"/>
              <a:ext cx="357600" cy="74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21" name="Google Shape;421;p44"/>
            <p:cNvSpPr/>
            <p:nvPr/>
          </p:nvSpPr>
          <p:spPr>
            <a:xfrm>
              <a:off x="5748125" y="2139963"/>
              <a:ext cx="1072200" cy="4317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22" name="Google Shape;422;p44"/>
            <p:cNvSpPr/>
            <p:nvPr/>
          </p:nvSpPr>
          <p:spPr>
            <a:xfrm>
              <a:off x="1161850" y="4228275"/>
              <a:ext cx="143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23" name="Google Shape;423;p44"/>
            <p:cNvSpPr/>
            <p:nvPr/>
          </p:nvSpPr>
          <p:spPr>
            <a:xfrm>
              <a:off x="1134450" y="4192175"/>
              <a:ext cx="12114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24" name="Google Shape;424;p44"/>
            <p:cNvSpPr/>
            <p:nvPr/>
          </p:nvSpPr>
          <p:spPr>
            <a:xfrm>
              <a:off x="1117725" y="4144875"/>
              <a:ext cx="9714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25" name="Google Shape;425;p44"/>
            <p:cNvSpPr/>
            <p:nvPr/>
          </p:nvSpPr>
          <p:spPr>
            <a:xfrm>
              <a:off x="1035500" y="4116350"/>
              <a:ext cx="8436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26" name="Google Shape;426;p44"/>
            <p:cNvSpPr/>
            <p:nvPr/>
          </p:nvSpPr>
          <p:spPr>
            <a:xfrm>
              <a:off x="2510100" y="2232975"/>
              <a:ext cx="246300" cy="921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27" name="Google Shape;427;p44"/>
            <p:cNvSpPr/>
            <p:nvPr/>
          </p:nvSpPr>
          <p:spPr>
            <a:xfrm>
              <a:off x="6585625" y="3827425"/>
              <a:ext cx="217200" cy="74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28" name="Google Shape;428;p44"/>
            <p:cNvSpPr/>
            <p:nvPr/>
          </p:nvSpPr>
          <p:spPr>
            <a:xfrm>
              <a:off x="6705600" y="3784225"/>
              <a:ext cx="85500" cy="74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29" name="Google Shape;429;p44"/>
            <p:cNvSpPr/>
            <p:nvPr/>
          </p:nvSpPr>
          <p:spPr>
            <a:xfrm>
              <a:off x="1156400" y="4044000"/>
              <a:ext cx="376800" cy="87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30" name="Google Shape;430;p44"/>
            <p:cNvSpPr/>
            <p:nvPr/>
          </p:nvSpPr>
          <p:spPr>
            <a:xfrm>
              <a:off x="1156400" y="3982225"/>
              <a:ext cx="117300" cy="74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31" name="Google Shape;431;p44"/>
            <p:cNvSpPr/>
            <p:nvPr/>
          </p:nvSpPr>
          <p:spPr>
            <a:xfrm>
              <a:off x="6017525" y="2524947"/>
              <a:ext cx="7737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32" name="Google Shape;432;p44"/>
            <p:cNvSpPr/>
            <p:nvPr/>
          </p:nvSpPr>
          <p:spPr>
            <a:xfrm>
              <a:off x="6177525" y="2589300"/>
              <a:ext cx="6252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33" name="Google Shape;433;p44"/>
            <p:cNvSpPr/>
            <p:nvPr/>
          </p:nvSpPr>
          <p:spPr>
            <a:xfrm>
              <a:off x="6361950" y="2646975"/>
              <a:ext cx="4410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34" name="Google Shape;434;p44"/>
            <p:cNvSpPr/>
            <p:nvPr/>
          </p:nvSpPr>
          <p:spPr>
            <a:xfrm>
              <a:off x="6514350" y="2713350"/>
              <a:ext cx="3060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35" name="Google Shape;435;p44"/>
            <p:cNvSpPr/>
            <p:nvPr/>
          </p:nvSpPr>
          <p:spPr>
            <a:xfrm>
              <a:off x="6674125" y="2769000"/>
              <a:ext cx="1779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grpSp>
      <p:sp>
        <p:nvSpPr>
          <p:cNvPr id="436" name="Google Shape;436;p44"/>
          <p:cNvSpPr/>
          <p:nvPr/>
        </p:nvSpPr>
        <p:spPr>
          <a:xfrm>
            <a:off x="39275" y="2375625"/>
            <a:ext cx="2293200" cy="861300"/>
          </a:xfrm>
          <a:prstGeom prst="wedgeRectCallout">
            <a:avLst>
              <a:gd name="adj1" fmla="val 7120"/>
              <a:gd name="adj2" fmla="val 13015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800" noProof="1"/>
              <a:t>Using existing software (making development easier)</a:t>
            </a:r>
            <a:endParaRPr sz="800"/>
          </a:p>
          <a:p>
            <a:pPr marL="89999" lvl="0" indent="-149225" algn="l" rtl="0">
              <a:spcBef>
                <a:spcPts val="0"/>
              </a:spcBef>
              <a:spcAft>
                <a:spcPts val="0"/>
              </a:spcAft>
              <a:buSzPts val="1000"/>
              <a:buChar char="●"/>
            </a:pPr>
            <a:r>
              <a:rPr lang="ja" sz="800" noProof="1"/>
              <a:t>Using cutting-edge software (technology)</a:t>
            </a:r>
            <a:endParaRPr sz="800"/>
          </a:p>
          <a:p>
            <a:pPr marL="89999" lvl="0" indent="-149225" algn="l" rtl="0">
              <a:spcBef>
                <a:spcPts val="0"/>
              </a:spcBef>
              <a:spcAft>
                <a:spcPts val="0"/>
              </a:spcAft>
              <a:buSzPts val="1000"/>
              <a:buChar char="●"/>
            </a:pPr>
            <a:r>
              <a:rPr lang="ja" sz="800" noProof="1"/>
              <a:t>Software created by many people, so the level is high</a:t>
            </a:r>
            <a:endParaRPr sz="800"/>
          </a:p>
        </p:txBody>
      </p:sp>
      <p:sp>
        <p:nvSpPr>
          <p:cNvPr id="437" name="Google Shape;437;p44"/>
          <p:cNvSpPr/>
          <p:nvPr/>
        </p:nvSpPr>
        <p:spPr>
          <a:xfrm>
            <a:off x="1940875" y="1390500"/>
            <a:ext cx="2181900" cy="1005900"/>
          </a:xfrm>
          <a:prstGeom prst="wedgeRectCallout">
            <a:avLst>
              <a:gd name="adj1" fmla="val 1319"/>
              <a:gd name="adj2" fmla="val 1596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Using OSS safely in business</a:t>
            </a:r>
            <a:endParaRPr sz="800"/>
          </a:p>
          <a:p>
            <a:pPr marL="89999" lvl="0" indent="-158750" algn="l" rtl="0">
              <a:spcBef>
                <a:spcPts val="0"/>
              </a:spcBef>
              <a:spcAft>
                <a:spcPts val="0"/>
              </a:spcAft>
              <a:buSzPts val="1000"/>
              <a:buChar char="●"/>
            </a:pPr>
            <a:r>
              <a:rPr lang="ja" sz="800" noProof="1"/>
              <a:t>Using OSS in its original form necessary for business-to-business transactions</a:t>
            </a:r>
            <a:endParaRPr sz="800"/>
          </a:p>
          <a:p>
            <a:pPr marL="89999" lvl="0" indent="-158750" algn="l" rtl="0">
              <a:spcBef>
                <a:spcPts val="0"/>
              </a:spcBef>
              <a:spcAft>
                <a:spcPts val="0"/>
              </a:spcAft>
              <a:buSzPts val="1000"/>
              <a:buChar char="●"/>
            </a:pPr>
            <a:r>
              <a:rPr lang="ja" sz="800" noProof="1"/>
              <a:t>Controlling the risk of using OSS throughout the supply chain</a:t>
            </a:r>
            <a:endParaRPr sz="800"/>
          </a:p>
        </p:txBody>
      </p:sp>
      <p:sp>
        <p:nvSpPr>
          <p:cNvPr id="438" name="Google Shape;438;p44"/>
          <p:cNvSpPr/>
          <p:nvPr/>
        </p:nvSpPr>
        <p:spPr>
          <a:xfrm>
            <a:off x="4257600" y="812375"/>
            <a:ext cx="2476200" cy="1371600"/>
          </a:xfrm>
          <a:prstGeom prst="wedgeRectCallout">
            <a:avLst>
              <a:gd name="adj1" fmla="val -44299"/>
              <a:gd name="adj2" fmla="val 10949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Clr>
                <a:schemeClr val="dk1"/>
              </a:buClr>
              <a:buSzPts val="1000"/>
              <a:buChar char="●"/>
            </a:pPr>
            <a:r>
              <a:rPr lang="ja" sz="800" noProof="1">
                <a:solidFill>
                  <a:schemeClr val="dk1"/>
                </a:solidFill>
              </a:rPr>
              <a:t>Bugs are easier to find and faster to correct by many engineers than by the company itself</a:t>
            </a:r>
            <a:endParaRPr sz="800"/>
          </a:p>
          <a:p>
            <a:pPr marL="89999" lvl="0" indent="-158750" algn="l" rtl="0">
              <a:spcBef>
                <a:spcPts val="0"/>
              </a:spcBef>
              <a:spcAft>
                <a:spcPts val="0"/>
              </a:spcAft>
              <a:buSzPts val="1000"/>
              <a:buChar char="●"/>
            </a:pPr>
            <a:r>
              <a:rPr lang="ja" sz="800" noProof="1"/>
              <a:t>Efficiency of development resources through community cooperation</a:t>
            </a:r>
            <a:endParaRPr sz="800"/>
          </a:p>
          <a:p>
            <a:pPr marL="89999" lvl="0" indent="-158750" algn="l" rtl="0">
              <a:spcBef>
                <a:spcPts val="0"/>
              </a:spcBef>
              <a:spcAft>
                <a:spcPts val="0"/>
              </a:spcAft>
              <a:buSzPts val="1000"/>
              <a:buChar char="●"/>
            </a:pPr>
            <a:r>
              <a:rPr lang="ja" sz="800" noProof="1">
                <a:solidFill>
                  <a:schemeClr val="dk1"/>
                </a:solidFill>
              </a:rPr>
              <a:t>Place for human resource development and retention/acquisition of human resources</a:t>
            </a:r>
            <a:endParaRPr sz="800"/>
          </a:p>
          <a:p>
            <a:pPr marL="89999" lvl="0" indent="-158750" algn="l" rtl="0">
              <a:spcBef>
                <a:spcPts val="0"/>
              </a:spcBef>
              <a:spcAft>
                <a:spcPts val="0"/>
              </a:spcAft>
              <a:buSzPts val="1000"/>
              <a:buChar char="●"/>
            </a:pPr>
            <a:r>
              <a:rPr lang="ja" sz="800" noProof="1"/>
              <a:t>Increasing market value and providing opportunities for engineers to attract human resources</a:t>
            </a:r>
            <a:endParaRPr sz="800"/>
          </a:p>
        </p:txBody>
      </p:sp>
      <p:pic>
        <p:nvPicPr>
          <p:cNvPr id="439" name="Google Shape;439;p44"/>
          <p:cNvPicPr preferRelativeResize="0"/>
          <p:nvPr/>
        </p:nvPicPr>
        <p:blipFill rotWithShape="1">
          <a:blip r:embed="rId3">
            <a:alphaModFix/>
          </a:blip>
          <a:srcRect l="90101" t="-1800" r="1428" b="1800"/>
          <a:stretch/>
        </p:blipFill>
        <p:spPr>
          <a:xfrm>
            <a:off x="6812125" y="1680325"/>
            <a:ext cx="725826" cy="3036700"/>
          </a:xfrm>
          <a:prstGeom prst="rect">
            <a:avLst/>
          </a:prstGeom>
          <a:noFill/>
          <a:ln>
            <a:noFill/>
          </a:ln>
        </p:spPr>
      </p:pic>
      <p:sp>
        <p:nvSpPr>
          <p:cNvPr id="440" name="Google Shape;440;p44"/>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ja" sz="560" u="sng" noProof="1">
                <a:solidFill>
                  <a:schemeClr val="hlink"/>
                </a:solidFill>
                <a:hlinkClick r:id="rId4"/>
              </a:rPr>
              <a:t>https://www.linuxfoundation.jp/wp-content/uploads/2022/11/ja_LFR_LFAID_Deep_Dive_Open_Source_Program_Offices_0830.pdf</a:t>
            </a:r>
            <a:endParaRPr sz="560" u="sng">
              <a:solidFill>
                <a:schemeClr val="hlink"/>
              </a:solidFill>
            </a:endParaRPr>
          </a:p>
          <a:p>
            <a:pPr marL="0" lvl="0" indent="0" algn="l" rtl="0">
              <a:lnSpc>
                <a:spcPct val="115000"/>
              </a:lnSpc>
              <a:spcBef>
                <a:spcPts val="0"/>
              </a:spcBef>
              <a:spcAft>
                <a:spcPts val="0"/>
              </a:spcAft>
              <a:buClr>
                <a:schemeClr val="dk1"/>
              </a:buClr>
              <a:buSzPts val="1100"/>
              <a:buFont typeface="Arial"/>
              <a:buNone/>
            </a:pPr>
            <a:r>
              <a:rPr lang="ja" sz="560" noProof="1">
                <a:solidFill>
                  <a:schemeClr val="dk1"/>
                </a:solidFill>
              </a:rPr>
              <a:t>Ibrahim Haddad, “</a:t>
            </a:r>
            <a:r>
              <a:rPr lang="ja" sz="560" b="1" noProof="1">
                <a:solidFill>
                  <a:schemeClr val="dk1"/>
                </a:solidFill>
              </a:rPr>
              <a:t>A Deep Dive Into Open Source Program Offices:</a:t>
            </a:r>
            <a:endParaRPr sz="560" b="1">
              <a:solidFill>
                <a:schemeClr val="dk1"/>
              </a:solidFill>
            </a:endParaRPr>
          </a:p>
          <a:p>
            <a:pPr marL="0" lvl="0" indent="0" algn="l" rtl="0">
              <a:lnSpc>
                <a:spcPct val="115000"/>
              </a:lnSpc>
              <a:spcBef>
                <a:spcPts val="0"/>
              </a:spcBef>
              <a:spcAft>
                <a:spcPts val="0"/>
              </a:spcAft>
              <a:buNone/>
            </a:pPr>
            <a:r>
              <a:rPr lang="ja" sz="560" b="1" noProof="1">
                <a:solidFill>
                  <a:schemeClr val="dk1"/>
                </a:solidFill>
              </a:rPr>
              <a:t>Structure, Roles, Responsibilities, and Challenges “ foreword by Chris Aniszczyk, August, 2022</a:t>
            </a:r>
            <a:endParaRPr sz="640"/>
          </a:p>
        </p:txBody>
      </p:sp>
      <p:sp>
        <p:nvSpPr>
          <p:cNvPr id="441" name="Google Shape;441;p44"/>
          <p:cNvSpPr/>
          <p:nvPr/>
        </p:nvSpPr>
        <p:spPr>
          <a:xfrm>
            <a:off x="6868625" y="2541525"/>
            <a:ext cx="2127600" cy="921600"/>
          </a:xfrm>
          <a:prstGeom prst="wedgeRectCallout">
            <a:avLst>
              <a:gd name="adj1" fmla="val -56599"/>
              <a:gd name="adj2" fmla="val -18187"/>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Matching expectations of the company through the community with community movements</a:t>
            </a:r>
            <a:endParaRPr sz="800"/>
          </a:p>
          <a:p>
            <a:pPr marL="269999" lvl="1" indent="-168275" algn="l" rtl="0">
              <a:spcBef>
                <a:spcPts val="0"/>
              </a:spcBef>
              <a:spcAft>
                <a:spcPts val="0"/>
              </a:spcAft>
              <a:buSzPts val="1000"/>
              <a:buChar char="○"/>
            </a:pPr>
            <a:r>
              <a:rPr lang="ja" sz="800" noProof="1"/>
              <a:t>Involvement in development direction</a:t>
            </a:r>
            <a:endParaRPr sz="800"/>
          </a:p>
          <a:p>
            <a:pPr marL="89999" lvl="0" indent="-158750" algn="l" rtl="0">
              <a:spcBef>
                <a:spcPts val="0"/>
              </a:spcBef>
              <a:spcAft>
                <a:spcPts val="0"/>
              </a:spcAft>
              <a:buSzPts val="1000"/>
              <a:buChar char="●"/>
            </a:pPr>
            <a:r>
              <a:rPr lang="ja" sz="800" noProof="1"/>
              <a:t>Increasing motivation of engineers</a:t>
            </a:r>
            <a:endParaRPr sz="800"/>
          </a:p>
        </p:txBody>
      </p:sp>
      <p:sp>
        <p:nvSpPr>
          <p:cNvPr id="442" name="Google Shape;442;p44"/>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45"/>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 What are the benefits of OSS activities?</a:t>
            </a:r>
            <a:endParaRPr/>
          </a:p>
        </p:txBody>
      </p:sp>
      <p:pic>
        <p:nvPicPr>
          <p:cNvPr id="448" name="Google Shape;448;p45"/>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449" name="Google Shape;449;p45"/>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ja" sz="560" u="sng" noProof="1">
                <a:solidFill>
                  <a:schemeClr val="hlink"/>
                </a:solidFill>
                <a:hlinkClick r:id="rId4"/>
              </a:rPr>
              <a:t>https://www.linuxfoundation.jp/wp-content/uploads/2022/11/ja_LFR_LFAID_Deep_Dive_Open_Source_Program_Offices_0830.pdf</a:t>
            </a:r>
            <a:endParaRPr sz="560" u="sng">
              <a:solidFill>
                <a:schemeClr val="hlink"/>
              </a:solidFill>
            </a:endParaRPr>
          </a:p>
          <a:p>
            <a:pPr marL="0" lvl="0" indent="0" algn="l" rtl="0">
              <a:lnSpc>
                <a:spcPct val="115000"/>
              </a:lnSpc>
              <a:spcBef>
                <a:spcPts val="0"/>
              </a:spcBef>
              <a:spcAft>
                <a:spcPts val="0"/>
              </a:spcAft>
              <a:buClr>
                <a:schemeClr val="dk1"/>
              </a:buClr>
              <a:buSzPts val="1100"/>
              <a:buFont typeface="Arial"/>
              <a:buNone/>
            </a:pPr>
            <a:r>
              <a:rPr lang="ja" sz="560" noProof="1">
                <a:solidFill>
                  <a:schemeClr val="dk1"/>
                </a:solidFill>
              </a:rPr>
              <a:t>Ibrahim Haddad, “</a:t>
            </a:r>
            <a:r>
              <a:rPr lang="ja" sz="560" b="1" noProof="1">
                <a:solidFill>
                  <a:schemeClr val="dk1"/>
                </a:solidFill>
              </a:rPr>
              <a:t>A Deep Dive Into Open Source Program Offices:</a:t>
            </a:r>
            <a:endParaRPr sz="560" b="1">
              <a:solidFill>
                <a:schemeClr val="dk1"/>
              </a:solidFill>
            </a:endParaRPr>
          </a:p>
          <a:p>
            <a:pPr marL="0" lvl="0" indent="0" algn="l" rtl="0">
              <a:lnSpc>
                <a:spcPct val="115000"/>
              </a:lnSpc>
              <a:spcBef>
                <a:spcPts val="0"/>
              </a:spcBef>
              <a:spcAft>
                <a:spcPts val="0"/>
              </a:spcAft>
              <a:buNone/>
            </a:pPr>
            <a:r>
              <a:rPr lang="ja" sz="560" b="1" noProof="1">
                <a:solidFill>
                  <a:schemeClr val="dk1"/>
                </a:solidFill>
              </a:rPr>
              <a:t>Structure, Roles, Responsibilities, and Challenges “ foreword by Chris Aniszczyk, August, 2022</a:t>
            </a:r>
            <a:endParaRPr sz="640"/>
          </a:p>
        </p:txBody>
      </p:sp>
      <p:sp>
        <p:nvSpPr>
          <p:cNvPr id="450" name="Google Shape;450;p45"/>
          <p:cNvSpPr/>
          <p:nvPr/>
        </p:nvSpPr>
        <p:spPr>
          <a:xfrm>
            <a:off x="39275" y="2375625"/>
            <a:ext cx="2293200" cy="861300"/>
          </a:xfrm>
          <a:prstGeom prst="wedgeRectCallout">
            <a:avLst>
              <a:gd name="adj1" fmla="val 7120"/>
              <a:gd name="adj2" fmla="val 13015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800" noProof="1"/>
              <a:t>Using existing software (making development easier)</a:t>
            </a:r>
            <a:endParaRPr sz="800"/>
          </a:p>
          <a:p>
            <a:pPr marL="89999" lvl="0" indent="-149225" algn="l" rtl="0">
              <a:spcBef>
                <a:spcPts val="0"/>
              </a:spcBef>
              <a:spcAft>
                <a:spcPts val="0"/>
              </a:spcAft>
              <a:buSzPts val="1000"/>
              <a:buChar char="●"/>
            </a:pPr>
            <a:r>
              <a:rPr lang="ja" sz="800" noProof="1"/>
              <a:t>Using cutting-edge software (technology)</a:t>
            </a:r>
            <a:endParaRPr sz="800"/>
          </a:p>
          <a:p>
            <a:pPr marL="89999" lvl="0" indent="-149225" algn="l" rtl="0">
              <a:spcBef>
                <a:spcPts val="0"/>
              </a:spcBef>
              <a:spcAft>
                <a:spcPts val="0"/>
              </a:spcAft>
              <a:buSzPts val="1000"/>
              <a:buChar char="●"/>
            </a:pPr>
            <a:r>
              <a:rPr lang="ja" sz="800" noProof="1"/>
              <a:t>Software created by many people, so the level is high</a:t>
            </a:r>
            <a:endParaRPr sz="800"/>
          </a:p>
        </p:txBody>
      </p:sp>
      <p:sp>
        <p:nvSpPr>
          <p:cNvPr id="451" name="Google Shape;451;p45"/>
          <p:cNvSpPr/>
          <p:nvPr/>
        </p:nvSpPr>
        <p:spPr>
          <a:xfrm>
            <a:off x="1940875" y="1390500"/>
            <a:ext cx="2181900" cy="1005900"/>
          </a:xfrm>
          <a:prstGeom prst="wedgeRectCallout">
            <a:avLst>
              <a:gd name="adj1" fmla="val 1319"/>
              <a:gd name="adj2" fmla="val 1596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Using OSS safely in business</a:t>
            </a:r>
            <a:endParaRPr sz="800"/>
          </a:p>
          <a:p>
            <a:pPr marL="89999" lvl="0" indent="-158750" algn="l" rtl="0">
              <a:spcBef>
                <a:spcPts val="0"/>
              </a:spcBef>
              <a:spcAft>
                <a:spcPts val="0"/>
              </a:spcAft>
              <a:buSzPts val="1000"/>
              <a:buChar char="●"/>
            </a:pPr>
            <a:r>
              <a:rPr lang="ja" sz="800" noProof="1"/>
              <a:t>Using OSS in its original form necessary for inter-company transactions</a:t>
            </a:r>
            <a:endParaRPr sz="800"/>
          </a:p>
          <a:p>
            <a:pPr marL="89999" lvl="0" indent="-158750" algn="l" rtl="0">
              <a:spcBef>
                <a:spcPts val="0"/>
              </a:spcBef>
              <a:spcAft>
                <a:spcPts val="0"/>
              </a:spcAft>
              <a:buSzPts val="1000"/>
              <a:buChar char="●"/>
            </a:pPr>
            <a:r>
              <a:rPr lang="ja" sz="800" noProof="1"/>
              <a:t>Controlling the risk of using OSS throughout the supply chain</a:t>
            </a:r>
            <a:endParaRPr sz="800"/>
          </a:p>
        </p:txBody>
      </p:sp>
      <p:sp>
        <p:nvSpPr>
          <p:cNvPr id="452" name="Google Shape;452;p45"/>
          <p:cNvSpPr/>
          <p:nvPr/>
        </p:nvSpPr>
        <p:spPr>
          <a:xfrm>
            <a:off x="4257600" y="812375"/>
            <a:ext cx="2476200" cy="1371600"/>
          </a:xfrm>
          <a:prstGeom prst="wedgeRectCallout">
            <a:avLst>
              <a:gd name="adj1" fmla="val -44299"/>
              <a:gd name="adj2" fmla="val 10949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Clr>
                <a:schemeClr val="dk1"/>
              </a:buClr>
              <a:buSzPts val="1000"/>
              <a:buChar char="●"/>
            </a:pPr>
            <a:r>
              <a:rPr lang="ja" sz="800" noProof="1">
                <a:solidFill>
                  <a:schemeClr val="dk1"/>
                </a:solidFill>
              </a:rPr>
              <a:t>More engineers can find bugs and fix them more accurately and quickly than if they were handled by the company alone.</a:t>
            </a:r>
            <a:endParaRPr sz="800"/>
          </a:p>
          <a:p>
            <a:pPr marL="89999" lvl="0" indent="-158750" algn="l" rtl="0">
              <a:spcBef>
                <a:spcPts val="0"/>
              </a:spcBef>
              <a:spcAft>
                <a:spcPts val="0"/>
              </a:spcAft>
              <a:buSzPts val="1000"/>
              <a:buChar char="●"/>
            </a:pPr>
            <a:r>
              <a:rPr lang="ja" sz="800" noProof="1"/>
              <a:t>Efficiency of development resources through community cooperation</a:t>
            </a:r>
            <a:endParaRPr sz="800"/>
          </a:p>
          <a:p>
            <a:pPr marL="89999" lvl="0" indent="-158750" algn="l" rtl="0">
              <a:spcBef>
                <a:spcPts val="0"/>
              </a:spcBef>
              <a:spcAft>
                <a:spcPts val="0"/>
              </a:spcAft>
              <a:buSzPts val="1000"/>
              <a:buChar char="●"/>
            </a:pPr>
            <a:r>
              <a:rPr lang="ja" sz="800" noProof="1">
                <a:solidFill>
                  <a:schemeClr val="dk1"/>
                </a:solidFill>
              </a:rPr>
              <a:t>Opportunities for human resource development and retention/acquisition</a:t>
            </a:r>
            <a:endParaRPr sz="800"/>
          </a:p>
          <a:p>
            <a:pPr marL="89999" lvl="0" indent="-158750" algn="l" rtl="0">
              <a:spcBef>
                <a:spcPts val="0"/>
              </a:spcBef>
              <a:spcAft>
                <a:spcPts val="0"/>
              </a:spcAft>
              <a:buSzPts val="1000"/>
              <a:buChar char="●"/>
            </a:pPr>
            <a:r>
              <a:rPr lang="ja" sz="800" noProof="1"/>
              <a:t>Enhancement of market value for engineers and incentive power for human resources by providing opportunities for activities</a:t>
            </a:r>
            <a:endParaRPr sz="800"/>
          </a:p>
        </p:txBody>
      </p:sp>
      <p:sp>
        <p:nvSpPr>
          <p:cNvPr id="453" name="Google Shape;453;p45"/>
          <p:cNvSpPr/>
          <p:nvPr/>
        </p:nvSpPr>
        <p:spPr>
          <a:xfrm>
            <a:off x="6868625" y="2541525"/>
            <a:ext cx="2127600" cy="921600"/>
          </a:xfrm>
          <a:prstGeom prst="wedgeRectCallout">
            <a:avLst>
              <a:gd name="adj1" fmla="val -56599"/>
              <a:gd name="adj2" fmla="val -1818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Alignment of expectations as a company through communities with community movements</a:t>
            </a:r>
            <a:endParaRPr sz="800"/>
          </a:p>
          <a:p>
            <a:pPr marL="269999" lvl="1" indent="-168275" algn="l" rtl="0">
              <a:spcBef>
                <a:spcPts val="0"/>
              </a:spcBef>
              <a:spcAft>
                <a:spcPts val="0"/>
              </a:spcAft>
              <a:buSzPts val="1000"/>
              <a:buChar char="○"/>
            </a:pPr>
            <a:r>
              <a:rPr lang="ja" sz="800" noProof="1"/>
              <a:t>Involvement in development direction</a:t>
            </a:r>
            <a:endParaRPr sz="800"/>
          </a:p>
          <a:p>
            <a:pPr marL="89999" lvl="0" indent="-158750" algn="l" rtl="0">
              <a:spcBef>
                <a:spcPts val="0"/>
              </a:spcBef>
              <a:spcAft>
                <a:spcPts val="0"/>
              </a:spcAft>
              <a:buSzPts val="1000"/>
              <a:buChar char="●"/>
            </a:pPr>
            <a:r>
              <a:rPr lang="ja" sz="800" noProof="1"/>
              <a:t>Enhancement of motivation of engineers</a:t>
            </a:r>
            <a:endParaRPr sz="800"/>
          </a:p>
        </p:txBody>
      </p:sp>
      <p:sp>
        <p:nvSpPr>
          <p:cNvPr id="454" name="Google Shape;454;p45"/>
          <p:cNvSpPr/>
          <p:nvPr/>
        </p:nvSpPr>
        <p:spPr>
          <a:xfrm>
            <a:off x="6868625" y="990300"/>
            <a:ext cx="2127600" cy="1316400"/>
          </a:xfrm>
          <a:prstGeom prst="wedgeRectCallout">
            <a:avLst>
              <a:gd name="adj1" fmla="val -54408"/>
              <a:gd name="adj2" fmla="val 48627"/>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Clr>
                <a:schemeClr val="dk1"/>
              </a:buClr>
              <a:buSzPts val="1000"/>
              <a:buChar char="●"/>
            </a:pPr>
            <a:r>
              <a:rPr lang="ja" sz="800" noProof="1">
                <a:solidFill>
                  <a:schemeClr val="dk1"/>
                </a:solidFill>
              </a:rPr>
              <a:t>Creation of businesses utilizing OSS</a:t>
            </a:r>
            <a:endParaRPr sz="800">
              <a:solidFill>
                <a:schemeClr val="dk1"/>
              </a:solidFill>
            </a:endParaRPr>
          </a:p>
          <a:p>
            <a:pPr marL="179999" lvl="1" indent="-168275" algn="l" rtl="0">
              <a:spcBef>
                <a:spcPts val="0"/>
              </a:spcBef>
              <a:spcAft>
                <a:spcPts val="0"/>
              </a:spcAft>
              <a:buClr>
                <a:schemeClr val="dk1"/>
              </a:buClr>
              <a:buSzPts val="1000"/>
              <a:buChar char="○"/>
            </a:pPr>
            <a:r>
              <a:rPr lang="ja" sz="800" noProof="1">
                <a:solidFill>
                  <a:schemeClr val="dk1"/>
                </a:solidFill>
              </a:rPr>
              <a:t>Expansion of market and potential customer base</a:t>
            </a:r>
            <a:endParaRPr sz="800">
              <a:solidFill>
                <a:schemeClr val="dk1"/>
              </a:solidFill>
            </a:endParaRPr>
          </a:p>
          <a:p>
            <a:pPr marL="179999" lvl="1" indent="-168275" algn="l" rtl="0">
              <a:spcBef>
                <a:spcPts val="0"/>
              </a:spcBef>
              <a:spcAft>
                <a:spcPts val="0"/>
              </a:spcAft>
              <a:buClr>
                <a:schemeClr val="dk1"/>
              </a:buClr>
              <a:buSzPts val="1000"/>
              <a:buChar char="○"/>
            </a:pPr>
            <a:r>
              <a:rPr lang="ja" sz="800" noProof="1">
                <a:solidFill>
                  <a:schemeClr val="dk1"/>
                </a:solidFill>
              </a:rPr>
              <a:t>Establishment and dissemination of de facto standards</a:t>
            </a:r>
            <a:endParaRPr sz="800">
              <a:solidFill>
                <a:schemeClr val="dk1"/>
              </a:solidFill>
            </a:endParaRPr>
          </a:p>
          <a:p>
            <a:pPr marL="179999" lvl="1" indent="-168275" algn="l" rtl="0">
              <a:spcBef>
                <a:spcPts val="0"/>
              </a:spcBef>
              <a:spcAft>
                <a:spcPts val="0"/>
              </a:spcAft>
              <a:buClr>
                <a:schemeClr val="dk1"/>
              </a:buClr>
              <a:buSzPts val="1000"/>
              <a:buChar char="○"/>
            </a:pPr>
            <a:r>
              <a:rPr lang="ja" sz="800" noProof="1">
                <a:solidFill>
                  <a:schemeClr val="dk1"/>
                </a:solidFill>
              </a:rPr>
              <a:t>Build an ecosystem</a:t>
            </a:r>
            <a:endParaRPr sz="800">
              <a:solidFill>
                <a:schemeClr val="dk1"/>
              </a:solidFill>
            </a:endParaRPr>
          </a:p>
          <a:p>
            <a:pPr marL="179999" lvl="1" indent="-168275" algn="l" rtl="0">
              <a:spcBef>
                <a:spcPts val="0"/>
              </a:spcBef>
              <a:spcAft>
                <a:spcPts val="0"/>
              </a:spcAft>
              <a:buClr>
                <a:schemeClr val="dk1"/>
              </a:buClr>
              <a:buSzPts val="1000"/>
              <a:buChar char="○"/>
            </a:pPr>
            <a:r>
              <a:rPr lang="ja" sz="800" noProof="1">
                <a:solidFill>
                  <a:schemeClr val="dk1"/>
                </a:solidFill>
              </a:rPr>
              <a:t>Gain legitimacy for activities</a:t>
            </a:r>
            <a:endParaRPr sz="800">
              <a:solidFill>
                <a:schemeClr val="dk1"/>
              </a:solidFill>
            </a:endParaRPr>
          </a:p>
          <a:p>
            <a:pPr marL="360000" lvl="2" indent="-177800" algn="l" rtl="0">
              <a:spcBef>
                <a:spcPts val="0"/>
              </a:spcBef>
              <a:spcAft>
                <a:spcPts val="0"/>
              </a:spcAft>
              <a:buClr>
                <a:schemeClr val="dk1"/>
              </a:buClr>
              <a:buSzPts val="1000"/>
              <a:buChar char="■"/>
            </a:pPr>
            <a:r>
              <a:rPr lang="ja" sz="800" noProof="1">
                <a:solidFill>
                  <a:schemeClr val="dk1"/>
                </a:solidFill>
              </a:rPr>
              <a:t>Gain endorsements from community participants</a:t>
            </a:r>
            <a:endParaRPr sz="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46"/>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Qx</a:t>
            </a:r>
            <a:endParaRPr/>
          </a:p>
        </p:txBody>
      </p:sp>
      <p:pic>
        <p:nvPicPr>
          <p:cNvPr id="460" name="Google Shape;460;p46"/>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461" name="Google Shape;461;p46"/>
          <p:cNvSpPr/>
          <p:nvPr/>
        </p:nvSpPr>
        <p:spPr>
          <a:xfrm>
            <a:off x="4572000" y="3026025"/>
            <a:ext cx="1984500" cy="1278300"/>
          </a:xfrm>
          <a:prstGeom prst="wedgeRectCallout">
            <a:avLst>
              <a:gd name="adj1" fmla="val -49565"/>
              <a:gd name="adj2" fmla="val -1653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Leadership</a:t>
            </a:r>
            <a:endParaRPr sz="800"/>
          </a:p>
          <a:p>
            <a:pPr marL="269999" lvl="1" indent="-168275" algn="l" rtl="0">
              <a:spcBef>
                <a:spcPts val="0"/>
              </a:spcBef>
              <a:spcAft>
                <a:spcPts val="0"/>
              </a:spcAft>
              <a:buSzPts val="1000"/>
              <a:buChar char="○"/>
            </a:pPr>
            <a:r>
              <a:rPr lang="ja" sz="800" noProof="1"/>
              <a:t>Decision-making core members as community leaders</a:t>
            </a:r>
            <a:endParaRPr sz="800"/>
          </a:p>
          <a:p>
            <a:pPr marL="89999" lvl="0" indent="-158750" algn="l" rtl="0">
              <a:spcBef>
                <a:spcPts val="0"/>
              </a:spcBef>
              <a:spcAft>
                <a:spcPts val="0"/>
              </a:spcAft>
              <a:buSzPts val="1000"/>
              <a:buChar char="●"/>
            </a:pPr>
            <a:r>
              <a:rPr lang="ja" sz="800" noProof="1"/>
              <a:t>Engagement</a:t>
            </a:r>
            <a:endParaRPr sz="800"/>
          </a:p>
          <a:p>
            <a:pPr marL="269999" lvl="1" indent="-168275" algn="l" rtl="0">
              <a:spcBef>
                <a:spcPts val="0"/>
              </a:spcBef>
              <a:spcAft>
                <a:spcPts val="0"/>
              </a:spcAft>
              <a:buSzPts val="1000"/>
              <a:buChar char="○"/>
            </a:pPr>
            <a:r>
              <a:rPr lang="ja" sz="800" noProof="1"/>
              <a:t>Decision-making meeting participants</a:t>
            </a:r>
            <a:endParaRPr sz="800"/>
          </a:p>
          <a:p>
            <a:pPr marL="89999" lvl="0" indent="-158750" algn="l" rtl="0">
              <a:spcBef>
                <a:spcPts val="0"/>
              </a:spcBef>
              <a:spcAft>
                <a:spcPts val="0"/>
              </a:spcAft>
              <a:buSzPts val="1000"/>
              <a:buChar char="●"/>
            </a:pPr>
            <a:r>
              <a:rPr lang="ja" sz="800" noProof="1"/>
              <a:t>Community education</a:t>
            </a:r>
            <a:endParaRPr sz="800"/>
          </a:p>
          <a:p>
            <a:pPr marL="269999" lvl="1" indent="-168275" algn="l" rtl="0">
              <a:spcBef>
                <a:spcPts val="0"/>
              </a:spcBef>
              <a:spcAft>
                <a:spcPts val="0"/>
              </a:spcAft>
              <a:buSzPts val="1000"/>
              <a:buChar char="○"/>
            </a:pPr>
            <a:r>
              <a:rPr lang="ja" sz="800" noProof="1"/>
              <a:t>Early contributors</a:t>
            </a:r>
            <a:endParaRPr sz="800"/>
          </a:p>
        </p:txBody>
      </p:sp>
      <p:sp>
        <p:nvSpPr>
          <p:cNvPr id="462" name="Google Shape;462;p46"/>
          <p:cNvSpPr txBox="1"/>
          <p:nvPr/>
        </p:nvSpPr>
        <p:spPr>
          <a:xfrm>
            <a:off x="846000" y="34525"/>
            <a:ext cx="6737400" cy="5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ja" noProof="1">
                <a:solidFill>
                  <a:schemeClr val="dk1"/>
                </a:solidFill>
              </a:rPr>
              <a:t>What is an OSPO?</a:t>
            </a:r>
            <a:endParaRPr>
              <a:solidFill>
                <a:schemeClr val="dk1"/>
              </a:solidFill>
            </a:endParaRPr>
          </a:p>
          <a:p>
            <a:pPr marL="0" lvl="0" indent="0" algn="l" rtl="0">
              <a:spcBef>
                <a:spcPts val="0"/>
              </a:spcBef>
              <a:spcAft>
                <a:spcPts val="0"/>
              </a:spcAft>
              <a:buNone/>
            </a:pPr>
            <a:r>
              <a:rPr lang="ja" noProof="1"/>
              <a:t>A summary of what an OSPO does at each stage of the company</a:t>
            </a:r>
            <a:endParaRPr/>
          </a:p>
        </p:txBody>
      </p:sp>
      <p:sp>
        <p:nvSpPr>
          <p:cNvPr id="463" name="Google Shape;463;p46"/>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ja" sz="560" u="sng" noProof="1">
                <a:solidFill>
                  <a:schemeClr val="hlink"/>
                </a:solidFill>
                <a:hlinkClick r:id="rId4"/>
              </a:rPr>
              <a:t>https://www.linuxfoundation.jp/wp-content/uploads/2022/11/ja_LFR_LFAID_Deep_Dive_Open_Source_Program_Offices_0830.pdf</a:t>
            </a:r>
            <a:endParaRPr sz="560" u="sng">
              <a:solidFill>
                <a:schemeClr val="hlink"/>
              </a:solidFill>
            </a:endParaRPr>
          </a:p>
          <a:p>
            <a:pPr marL="0" lvl="0" indent="0" algn="l" rtl="0">
              <a:lnSpc>
                <a:spcPct val="115000"/>
              </a:lnSpc>
              <a:spcBef>
                <a:spcPts val="0"/>
              </a:spcBef>
              <a:spcAft>
                <a:spcPts val="0"/>
              </a:spcAft>
              <a:buNone/>
            </a:pPr>
            <a:r>
              <a:rPr lang="ja" sz="560" noProof="1">
                <a:solidFill>
                  <a:schemeClr val="dk1"/>
                </a:solidFill>
              </a:rPr>
              <a:t>Ibrahim Haddad, “</a:t>
            </a:r>
            <a:r>
              <a:rPr lang="ja" sz="560" b="1" noProof="1">
                <a:solidFill>
                  <a:schemeClr val="dk1"/>
                </a:solidFill>
              </a:rPr>
              <a:t>A Deep Dive Into Open Source Program Offices:</a:t>
            </a:r>
            <a:endParaRPr sz="560" b="1">
              <a:solidFill>
                <a:schemeClr val="dk1"/>
              </a:solidFill>
            </a:endParaRPr>
          </a:p>
          <a:p>
            <a:pPr marL="0" lvl="0" indent="0" algn="l" rtl="0">
              <a:lnSpc>
                <a:spcPct val="115000"/>
              </a:lnSpc>
              <a:spcBef>
                <a:spcPts val="0"/>
              </a:spcBef>
              <a:spcAft>
                <a:spcPts val="0"/>
              </a:spcAft>
              <a:buNone/>
            </a:pPr>
            <a:r>
              <a:rPr lang="ja" sz="560" b="1" noProof="1">
                <a:solidFill>
                  <a:schemeClr val="dk1"/>
                </a:solidFill>
              </a:rPr>
              <a:t>Structure, Roles, Responsibilities, and Challenges “ foreword by Chris Aniszczyk, August, 2022</a:t>
            </a:r>
            <a:endParaRPr sz="640"/>
          </a:p>
        </p:txBody>
      </p:sp>
      <p:grpSp>
        <p:nvGrpSpPr>
          <p:cNvPr id="464" name="Google Shape;464;p46"/>
          <p:cNvGrpSpPr/>
          <p:nvPr/>
        </p:nvGrpSpPr>
        <p:grpSpPr>
          <a:xfrm>
            <a:off x="874325" y="1899650"/>
            <a:ext cx="5919925" cy="2446800"/>
            <a:chOff x="874325" y="1899650"/>
            <a:chExt cx="5919925" cy="2446800"/>
          </a:xfrm>
        </p:grpSpPr>
        <p:sp>
          <p:nvSpPr>
            <p:cNvPr id="465" name="Google Shape;465;p46"/>
            <p:cNvSpPr/>
            <p:nvPr/>
          </p:nvSpPr>
          <p:spPr>
            <a:xfrm>
              <a:off x="4572000" y="3026025"/>
              <a:ext cx="1984500" cy="1278300"/>
            </a:xfrm>
            <a:prstGeom prst="wedgeRectCallout">
              <a:avLst>
                <a:gd name="adj1" fmla="val -49565"/>
                <a:gd name="adj2" fmla="val -1653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Leadership</a:t>
              </a:r>
              <a:endParaRPr sz="800"/>
            </a:p>
            <a:p>
              <a:pPr marL="269999" lvl="1" indent="-168275" algn="l" rtl="0">
                <a:spcBef>
                  <a:spcPts val="0"/>
                </a:spcBef>
                <a:spcAft>
                  <a:spcPts val="0"/>
                </a:spcAft>
                <a:buSzPts val="1000"/>
                <a:buChar char="○"/>
              </a:pPr>
              <a:r>
                <a:rPr lang="ja" sz="800" noProof="1"/>
                <a:t>Decision-making core members as community leaders</a:t>
              </a:r>
              <a:endParaRPr sz="800"/>
            </a:p>
            <a:p>
              <a:pPr marL="89999" lvl="0" indent="-158750" algn="l" rtl="0">
                <a:spcBef>
                  <a:spcPts val="0"/>
                </a:spcBef>
                <a:spcAft>
                  <a:spcPts val="0"/>
                </a:spcAft>
                <a:buSzPts val="1000"/>
                <a:buChar char="●"/>
              </a:pPr>
              <a:r>
                <a:rPr lang="ja" sz="800" noProof="1"/>
                <a:t>Engagement</a:t>
              </a:r>
              <a:endParaRPr sz="800"/>
            </a:p>
            <a:p>
              <a:pPr marL="269999" lvl="1" indent="-168275" algn="l" rtl="0">
                <a:spcBef>
                  <a:spcPts val="0"/>
                </a:spcBef>
                <a:spcAft>
                  <a:spcPts val="0"/>
                </a:spcAft>
                <a:buSzPts val="1000"/>
                <a:buChar char="○"/>
              </a:pPr>
              <a:r>
                <a:rPr lang="ja" sz="800" noProof="1"/>
                <a:t>Decision-making meeting participants</a:t>
              </a:r>
              <a:endParaRPr sz="800"/>
            </a:p>
            <a:p>
              <a:pPr marL="89999" lvl="0" indent="-158750" algn="l" rtl="0">
                <a:spcBef>
                  <a:spcPts val="0"/>
                </a:spcBef>
                <a:spcAft>
                  <a:spcPts val="0"/>
                </a:spcAft>
                <a:buSzPts val="1000"/>
                <a:buChar char="●"/>
              </a:pPr>
              <a:r>
                <a:rPr lang="ja" sz="800" noProof="1"/>
                <a:t>Community education</a:t>
              </a:r>
              <a:endParaRPr sz="800"/>
            </a:p>
            <a:p>
              <a:pPr marL="269999" lvl="1" indent="-168275" algn="l" rtl="0">
                <a:spcBef>
                  <a:spcPts val="0"/>
                </a:spcBef>
                <a:spcAft>
                  <a:spcPts val="0"/>
                </a:spcAft>
                <a:buSzPts val="1000"/>
                <a:buChar char="○"/>
              </a:pPr>
              <a:r>
                <a:rPr lang="ja" sz="800" noProof="1"/>
                <a:t>Early contributors</a:t>
              </a:r>
              <a:endParaRPr sz="800"/>
            </a:p>
          </p:txBody>
        </p:sp>
        <p:sp>
          <p:nvSpPr>
            <p:cNvPr id="466" name="Google Shape;466;p46"/>
            <p:cNvSpPr/>
            <p:nvPr/>
          </p:nvSpPr>
          <p:spPr>
            <a:xfrm>
              <a:off x="874325" y="3236925"/>
              <a:ext cx="1234200" cy="1109400"/>
            </a:xfrm>
            <a:prstGeom prst="donut">
              <a:avLst>
                <a:gd name="adj" fmla="val 3730"/>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67" name="Google Shape;467;p46"/>
            <p:cNvSpPr/>
            <p:nvPr/>
          </p:nvSpPr>
          <p:spPr>
            <a:xfrm>
              <a:off x="2083350" y="1899650"/>
              <a:ext cx="4710900" cy="24468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68" name="Google Shape;468;p46"/>
            <p:cNvSpPr/>
            <p:nvPr/>
          </p:nvSpPr>
          <p:spPr>
            <a:xfrm>
              <a:off x="2042775" y="3943625"/>
              <a:ext cx="117300" cy="360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69" name="Google Shape;469;p46"/>
            <p:cNvSpPr/>
            <p:nvPr/>
          </p:nvSpPr>
          <p:spPr>
            <a:xfrm>
              <a:off x="2013750" y="4037325"/>
              <a:ext cx="117300" cy="267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70" name="Google Shape;470;p46"/>
            <p:cNvSpPr/>
            <p:nvPr/>
          </p:nvSpPr>
          <p:spPr>
            <a:xfrm>
              <a:off x="1976725" y="4079325"/>
              <a:ext cx="117300" cy="225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71" name="Google Shape;471;p46"/>
            <p:cNvSpPr/>
            <p:nvPr/>
          </p:nvSpPr>
          <p:spPr>
            <a:xfrm>
              <a:off x="1940875" y="4135675"/>
              <a:ext cx="117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72" name="Google Shape;472;p46"/>
            <p:cNvSpPr/>
            <p:nvPr/>
          </p:nvSpPr>
          <p:spPr>
            <a:xfrm>
              <a:off x="1896450" y="4162425"/>
              <a:ext cx="117300" cy="14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73" name="Google Shape;473;p46"/>
            <p:cNvSpPr/>
            <p:nvPr/>
          </p:nvSpPr>
          <p:spPr>
            <a:xfrm>
              <a:off x="1835425" y="42044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74" name="Google Shape;474;p46"/>
            <p:cNvSpPr/>
            <p:nvPr/>
          </p:nvSpPr>
          <p:spPr>
            <a:xfrm>
              <a:off x="1779150" y="4252400"/>
              <a:ext cx="11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75" name="Google Shape;475;p46"/>
            <p:cNvSpPr/>
            <p:nvPr/>
          </p:nvSpPr>
          <p:spPr>
            <a:xfrm>
              <a:off x="1127225" y="4252400"/>
              <a:ext cx="11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76" name="Google Shape;476;p46"/>
            <p:cNvSpPr/>
            <p:nvPr/>
          </p:nvSpPr>
          <p:spPr>
            <a:xfrm>
              <a:off x="1718125" y="4267725"/>
              <a:ext cx="11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77" name="Google Shape;477;p46"/>
            <p:cNvSpPr/>
            <p:nvPr/>
          </p:nvSpPr>
          <p:spPr>
            <a:xfrm>
              <a:off x="2058175" y="3450300"/>
              <a:ext cx="117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78" name="Google Shape;478;p46"/>
            <p:cNvSpPr/>
            <p:nvPr/>
          </p:nvSpPr>
          <p:spPr>
            <a:xfrm>
              <a:off x="1985889" y="3330550"/>
              <a:ext cx="117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79" name="Google Shape;479;p46"/>
            <p:cNvSpPr/>
            <p:nvPr/>
          </p:nvSpPr>
          <p:spPr>
            <a:xfrm>
              <a:off x="2026239" y="3389575"/>
              <a:ext cx="117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grpSp>
      <p:sp>
        <p:nvSpPr>
          <p:cNvPr id="480" name="Google Shape;480;p46"/>
          <p:cNvSpPr/>
          <p:nvPr/>
        </p:nvSpPr>
        <p:spPr>
          <a:xfrm>
            <a:off x="39275" y="2375625"/>
            <a:ext cx="2293200" cy="861300"/>
          </a:xfrm>
          <a:prstGeom prst="wedgeRectCallout">
            <a:avLst>
              <a:gd name="adj1" fmla="val 7667"/>
              <a:gd name="adj2" fmla="val 123406"/>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800" noProof="1"/>
              <a:t>Role in educating and promoting licensing</a:t>
            </a:r>
            <a:endParaRPr sz="800"/>
          </a:p>
          <a:p>
            <a:pPr marL="89999" lvl="0" indent="-149225" algn="l" rtl="0">
              <a:spcBef>
                <a:spcPts val="0"/>
              </a:spcBef>
              <a:spcAft>
                <a:spcPts val="0"/>
              </a:spcAft>
              <a:buSzPts val="1000"/>
              <a:buChar char="●"/>
            </a:pPr>
            <a:r>
              <a:rPr lang="ja" sz="800"/>
              <a:t>  </a:t>
            </a:r>
            <a:r>
              <a:rPr lang="ja" sz="800" noProof="1"/>
              <a:t>Activities to spread the message that OSS is important and that licenses should be protected</a:t>
            </a:r>
            <a:endParaRPr sz="800"/>
          </a:p>
        </p:txBody>
      </p:sp>
      <p:sp>
        <p:nvSpPr>
          <p:cNvPr id="481" name="Google Shape;481;p46"/>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47"/>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Qx</a:t>
            </a:r>
            <a:endParaRPr/>
          </a:p>
        </p:txBody>
      </p:sp>
      <p:pic>
        <p:nvPicPr>
          <p:cNvPr id="487" name="Google Shape;487;p47"/>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488" name="Google Shape;488;p47"/>
          <p:cNvSpPr/>
          <p:nvPr/>
        </p:nvSpPr>
        <p:spPr>
          <a:xfrm>
            <a:off x="4572000" y="3026025"/>
            <a:ext cx="1984500" cy="1278300"/>
          </a:xfrm>
          <a:prstGeom prst="wedgeRectCallout">
            <a:avLst>
              <a:gd name="adj1" fmla="val -49565"/>
              <a:gd name="adj2" fmla="val -1653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Leadership</a:t>
            </a:r>
            <a:endParaRPr sz="800"/>
          </a:p>
          <a:p>
            <a:pPr marL="269999" lvl="1" indent="-168275" algn="l" rtl="0">
              <a:spcBef>
                <a:spcPts val="0"/>
              </a:spcBef>
              <a:spcAft>
                <a:spcPts val="0"/>
              </a:spcAft>
              <a:buSzPts val="1000"/>
              <a:buChar char="○"/>
            </a:pPr>
            <a:r>
              <a:rPr lang="ja" sz="800" noProof="1"/>
              <a:t>Decision-making core members as community leaders</a:t>
            </a:r>
            <a:endParaRPr sz="800"/>
          </a:p>
          <a:p>
            <a:pPr marL="89999" lvl="0" indent="-158750" algn="l" rtl="0">
              <a:spcBef>
                <a:spcPts val="0"/>
              </a:spcBef>
              <a:spcAft>
                <a:spcPts val="0"/>
              </a:spcAft>
              <a:buSzPts val="1000"/>
              <a:buChar char="●"/>
            </a:pPr>
            <a:r>
              <a:rPr lang="ja" sz="800" noProof="1"/>
              <a:t>Engagement</a:t>
            </a:r>
            <a:endParaRPr sz="800"/>
          </a:p>
          <a:p>
            <a:pPr marL="269999" lvl="1" indent="-168275" algn="l" rtl="0">
              <a:spcBef>
                <a:spcPts val="0"/>
              </a:spcBef>
              <a:spcAft>
                <a:spcPts val="0"/>
              </a:spcAft>
              <a:buSzPts val="1000"/>
              <a:buChar char="○"/>
            </a:pPr>
            <a:r>
              <a:rPr lang="ja" sz="800" noProof="1"/>
              <a:t>Decision-making meeting participants</a:t>
            </a:r>
            <a:endParaRPr sz="800"/>
          </a:p>
          <a:p>
            <a:pPr marL="89999" lvl="0" indent="-158750" algn="l" rtl="0">
              <a:spcBef>
                <a:spcPts val="0"/>
              </a:spcBef>
              <a:spcAft>
                <a:spcPts val="0"/>
              </a:spcAft>
              <a:buSzPts val="1000"/>
              <a:buChar char="●"/>
            </a:pPr>
            <a:r>
              <a:rPr lang="ja" sz="800" noProof="1"/>
              <a:t>Community education</a:t>
            </a:r>
            <a:endParaRPr sz="800"/>
          </a:p>
          <a:p>
            <a:pPr marL="269999" lvl="1" indent="-168275" algn="l" rtl="0">
              <a:spcBef>
                <a:spcPts val="0"/>
              </a:spcBef>
              <a:spcAft>
                <a:spcPts val="0"/>
              </a:spcAft>
              <a:buSzPts val="1000"/>
              <a:buChar char="○"/>
            </a:pPr>
            <a:r>
              <a:rPr lang="ja" sz="800" noProof="1"/>
              <a:t>Early contributors</a:t>
            </a:r>
            <a:endParaRPr sz="800"/>
          </a:p>
        </p:txBody>
      </p:sp>
      <p:sp>
        <p:nvSpPr>
          <p:cNvPr id="489" name="Google Shape;489;p47"/>
          <p:cNvSpPr txBox="1"/>
          <p:nvPr/>
        </p:nvSpPr>
        <p:spPr>
          <a:xfrm>
            <a:off x="846000" y="34525"/>
            <a:ext cx="6737400" cy="5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ja" noProof="1">
                <a:solidFill>
                  <a:schemeClr val="dk1"/>
                </a:solidFill>
              </a:rPr>
              <a:t>What is an OSPO?</a:t>
            </a:r>
            <a:endParaRPr>
              <a:solidFill>
                <a:schemeClr val="dk1"/>
              </a:solidFill>
            </a:endParaRPr>
          </a:p>
          <a:p>
            <a:pPr marL="0" lvl="0" indent="0" algn="l" rtl="0">
              <a:spcBef>
                <a:spcPts val="0"/>
              </a:spcBef>
              <a:spcAft>
                <a:spcPts val="0"/>
              </a:spcAft>
              <a:buNone/>
            </a:pPr>
            <a:r>
              <a:rPr lang="ja" noProof="1"/>
              <a:t>A summary of what an OSPO does at each stage of the company</a:t>
            </a:r>
            <a:endParaRPr/>
          </a:p>
        </p:txBody>
      </p:sp>
      <p:sp>
        <p:nvSpPr>
          <p:cNvPr id="490" name="Google Shape;490;p47"/>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ja" sz="560" u="sng" noProof="1">
                <a:solidFill>
                  <a:schemeClr val="hlink"/>
                </a:solidFill>
                <a:hlinkClick r:id="rId4"/>
              </a:rPr>
              <a:t>https://www.linuxfoundation.jp/wp-content/uploads/2022/11/ja_LFR_LFAID_Deep_Dive_Open_Source_Program_Offices_0830.pdf</a:t>
            </a:r>
            <a:endParaRPr sz="560" u="sng">
              <a:solidFill>
                <a:schemeClr val="hlink"/>
              </a:solidFill>
            </a:endParaRPr>
          </a:p>
          <a:p>
            <a:pPr marL="0" lvl="0" indent="0" algn="l" rtl="0">
              <a:lnSpc>
                <a:spcPct val="115000"/>
              </a:lnSpc>
              <a:spcBef>
                <a:spcPts val="0"/>
              </a:spcBef>
              <a:spcAft>
                <a:spcPts val="0"/>
              </a:spcAft>
              <a:buNone/>
            </a:pPr>
            <a:r>
              <a:rPr lang="ja" sz="560" noProof="1">
                <a:solidFill>
                  <a:schemeClr val="dk1"/>
                </a:solidFill>
              </a:rPr>
              <a:t>Ibrahim Haddad, “</a:t>
            </a:r>
            <a:r>
              <a:rPr lang="ja" sz="560" b="1" noProof="1">
                <a:solidFill>
                  <a:schemeClr val="dk1"/>
                </a:solidFill>
              </a:rPr>
              <a:t>A Deep Dive Into Open Source Program Offices:</a:t>
            </a:r>
            <a:endParaRPr sz="560" b="1">
              <a:solidFill>
                <a:schemeClr val="dk1"/>
              </a:solidFill>
            </a:endParaRPr>
          </a:p>
          <a:p>
            <a:pPr marL="0" lvl="0" indent="0" algn="l" rtl="0">
              <a:lnSpc>
                <a:spcPct val="115000"/>
              </a:lnSpc>
              <a:spcBef>
                <a:spcPts val="0"/>
              </a:spcBef>
              <a:spcAft>
                <a:spcPts val="0"/>
              </a:spcAft>
              <a:buNone/>
            </a:pPr>
            <a:r>
              <a:rPr lang="ja" sz="560" b="1" noProof="1">
                <a:solidFill>
                  <a:schemeClr val="dk1"/>
                </a:solidFill>
              </a:rPr>
              <a:t>Structure, Roles, Responsibilities, and Challenges “ foreword by Chris Aniszczyk, August, 2022</a:t>
            </a:r>
            <a:endParaRPr sz="640"/>
          </a:p>
        </p:txBody>
      </p:sp>
      <p:grpSp>
        <p:nvGrpSpPr>
          <p:cNvPr id="491" name="Google Shape;491;p47"/>
          <p:cNvGrpSpPr/>
          <p:nvPr/>
        </p:nvGrpSpPr>
        <p:grpSpPr>
          <a:xfrm>
            <a:off x="874325" y="1899650"/>
            <a:ext cx="5920000" cy="2446800"/>
            <a:chOff x="874325" y="1899650"/>
            <a:chExt cx="5920000" cy="2446800"/>
          </a:xfrm>
        </p:grpSpPr>
        <p:sp>
          <p:nvSpPr>
            <p:cNvPr id="492" name="Google Shape;492;p47"/>
            <p:cNvSpPr/>
            <p:nvPr/>
          </p:nvSpPr>
          <p:spPr>
            <a:xfrm>
              <a:off x="4572000" y="3026025"/>
              <a:ext cx="1984500" cy="1278300"/>
            </a:xfrm>
            <a:prstGeom prst="wedgeRectCallout">
              <a:avLst>
                <a:gd name="adj1" fmla="val -49565"/>
                <a:gd name="adj2" fmla="val -1653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Leadership</a:t>
              </a:r>
              <a:endParaRPr sz="800"/>
            </a:p>
            <a:p>
              <a:pPr marL="269999" lvl="1" indent="-168275" algn="l" rtl="0">
                <a:spcBef>
                  <a:spcPts val="0"/>
                </a:spcBef>
                <a:spcAft>
                  <a:spcPts val="0"/>
                </a:spcAft>
                <a:buSzPts val="1000"/>
                <a:buChar char="○"/>
              </a:pPr>
              <a:r>
                <a:rPr lang="ja" sz="800" noProof="1"/>
                <a:t>Decision-making core members as community leaders</a:t>
              </a:r>
              <a:endParaRPr sz="800"/>
            </a:p>
            <a:p>
              <a:pPr marL="89999" lvl="0" indent="-158750" algn="l" rtl="0">
                <a:spcBef>
                  <a:spcPts val="0"/>
                </a:spcBef>
                <a:spcAft>
                  <a:spcPts val="0"/>
                </a:spcAft>
                <a:buSzPts val="1000"/>
                <a:buChar char="●"/>
              </a:pPr>
              <a:r>
                <a:rPr lang="ja" sz="800" noProof="1"/>
                <a:t>Engagement</a:t>
              </a:r>
              <a:endParaRPr sz="800"/>
            </a:p>
            <a:p>
              <a:pPr marL="269999" lvl="1" indent="-168275" algn="l" rtl="0">
                <a:spcBef>
                  <a:spcPts val="0"/>
                </a:spcBef>
                <a:spcAft>
                  <a:spcPts val="0"/>
                </a:spcAft>
                <a:buSzPts val="1000"/>
                <a:buChar char="○"/>
              </a:pPr>
              <a:r>
                <a:rPr lang="ja" sz="800" noProof="1"/>
                <a:t>Decision-making meeting participants</a:t>
              </a:r>
              <a:endParaRPr sz="800"/>
            </a:p>
            <a:p>
              <a:pPr marL="89999" lvl="0" indent="-158750" algn="l" rtl="0">
                <a:spcBef>
                  <a:spcPts val="0"/>
                </a:spcBef>
                <a:spcAft>
                  <a:spcPts val="0"/>
                </a:spcAft>
                <a:buSzPts val="1000"/>
                <a:buChar char="●"/>
              </a:pPr>
              <a:r>
                <a:rPr lang="ja" sz="800" noProof="1"/>
                <a:t>Community education</a:t>
              </a:r>
              <a:endParaRPr sz="800"/>
            </a:p>
            <a:p>
              <a:pPr marL="269999" lvl="1" indent="-168275" algn="l" rtl="0">
                <a:spcBef>
                  <a:spcPts val="0"/>
                </a:spcBef>
                <a:spcAft>
                  <a:spcPts val="0"/>
                </a:spcAft>
                <a:buSzPts val="1000"/>
                <a:buChar char="○"/>
              </a:pPr>
              <a:r>
                <a:rPr lang="ja" sz="800" noProof="1"/>
                <a:t>Early contributors</a:t>
              </a:r>
              <a:endParaRPr sz="800"/>
            </a:p>
          </p:txBody>
        </p:sp>
        <p:sp>
          <p:nvSpPr>
            <p:cNvPr id="493" name="Google Shape;493;p47"/>
            <p:cNvSpPr/>
            <p:nvPr/>
          </p:nvSpPr>
          <p:spPr>
            <a:xfrm>
              <a:off x="874325" y="3029925"/>
              <a:ext cx="2476200" cy="1316400"/>
            </a:xfrm>
            <a:prstGeom prst="donut">
              <a:avLst>
                <a:gd name="adj" fmla="val 3730"/>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94" name="Google Shape;494;p47"/>
            <p:cNvSpPr/>
            <p:nvPr/>
          </p:nvSpPr>
          <p:spPr>
            <a:xfrm>
              <a:off x="3308025" y="1899650"/>
              <a:ext cx="3486300" cy="24468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95" name="Google Shape;495;p47"/>
            <p:cNvSpPr/>
            <p:nvPr/>
          </p:nvSpPr>
          <p:spPr>
            <a:xfrm>
              <a:off x="3197807" y="3943625"/>
              <a:ext cx="117300" cy="360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96" name="Google Shape;496;p47"/>
            <p:cNvSpPr/>
            <p:nvPr/>
          </p:nvSpPr>
          <p:spPr>
            <a:xfrm>
              <a:off x="3097321" y="4037325"/>
              <a:ext cx="188700" cy="267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97" name="Google Shape;497;p47"/>
            <p:cNvSpPr/>
            <p:nvPr/>
          </p:nvSpPr>
          <p:spPr>
            <a:xfrm>
              <a:off x="3023119" y="4079325"/>
              <a:ext cx="225900" cy="225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98" name="Google Shape;498;p47"/>
            <p:cNvSpPr/>
            <p:nvPr/>
          </p:nvSpPr>
          <p:spPr>
            <a:xfrm>
              <a:off x="2966968" y="4135675"/>
              <a:ext cx="246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499" name="Google Shape;499;p47"/>
            <p:cNvSpPr/>
            <p:nvPr/>
          </p:nvSpPr>
          <p:spPr>
            <a:xfrm>
              <a:off x="2884766" y="4162425"/>
              <a:ext cx="284100" cy="14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00" name="Google Shape;500;p47"/>
            <p:cNvSpPr/>
            <p:nvPr/>
          </p:nvSpPr>
          <p:spPr>
            <a:xfrm>
              <a:off x="2756412" y="4204425"/>
              <a:ext cx="351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01" name="Google Shape;501;p47"/>
            <p:cNvSpPr/>
            <p:nvPr/>
          </p:nvSpPr>
          <p:spPr>
            <a:xfrm>
              <a:off x="2579955" y="4252400"/>
              <a:ext cx="4716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02" name="Google Shape;502;p47"/>
            <p:cNvSpPr/>
            <p:nvPr/>
          </p:nvSpPr>
          <p:spPr>
            <a:xfrm>
              <a:off x="1147275" y="4268000"/>
              <a:ext cx="511800" cy="36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03" name="Google Shape;503;p47"/>
            <p:cNvSpPr/>
            <p:nvPr/>
          </p:nvSpPr>
          <p:spPr>
            <a:xfrm>
              <a:off x="3153875" y="4001125"/>
              <a:ext cx="11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04" name="Google Shape;504;p47"/>
            <p:cNvSpPr/>
            <p:nvPr/>
          </p:nvSpPr>
          <p:spPr>
            <a:xfrm>
              <a:off x="3286025" y="38447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05" name="Google Shape;505;p47"/>
            <p:cNvSpPr/>
            <p:nvPr/>
          </p:nvSpPr>
          <p:spPr>
            <a:xfrm>
              <a:off x="3249025" y="38859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06" name="Google Shape;506;p47"/>
            <p:cNvSpPr/>
            <p:nvPr/>
          </p:nvSpPr>
          <p:spPr>
            <a:xfrm>
              <a:off x="3261050" y="3410700"/>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07" name="Google Shape;507;p47"/>
            <p:cNvSpPr/>
            <p:nvPr/>
          </p:nvSpPr>
          <p:spPr>
            <a:xfrm>
              <a:off x="1161850" y="4228275"/>
              <a:ext cx="3750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08" name="Google Shape;508;p47"/>
            <p:cNvSpPr/>
            <p:nvPr/>
          </p:nvSpPr>
          <p:spPr>
            <a:xfrm>
              <a:off x="1134450" y="4192175"/>
              <a:ext cx="2841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09" name="Google Shape;509;p47"/>
            <p:cNvSpPr/>
            <p:nvPr/>
          </p:nvSpPr>
          <p:spPr>
            <a:xfrm>
              <a:off x="1117725" y="4144875"/>
              <a:ext cx="210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10" name="Google Shape;510;p47"/>
            <p:cNvSpPr/>
            <p:nvPr/>
          </p:nvSpPr>
          <p:spPr>
            <a:xfrm>
              <a:off x="1035500" y="4116350"/>
              <a:ext cx="210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11" name="Google Shape;511;p47"/>
            <p:cNvSpPr/>
            <p:nvPr/>
          </p:nvSpPr>
          <p:spPr>
            <a:xfrm>
              <a:off x="2510100" y="2232975"/>
              <a:ext cx="246300" cy="921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grpSp>
      <p:sp>
        <p:nvSpPr>
          <p:cNvPr id="512" name="Google Shape;512;p47"/>
          <p:cNvSpPr/>
          <p:nvPr/>
        </p:nvSpPr>
        <p:spPr>
          <a:xfrm>
            <a:off x="39275" y="2375625"/>
            <a:ext cx="2293200" cy="861300"/>
          </a:xfrm>
          <a:prstGeom prst="wedgeRectCallout">
            <a:avLst>
              <a:gd name="adj1" fmla="val 7667"/>
              <a:gd name="adj2" fmla="val 123406"/>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800" noProof="1"/>
              <a:t>Role in educating and promoting licensing</a:t>
            </a:r>
            <a:endParaRPr sz="800"/>
          </a:p>
          <a:p>
            <a:pPr marL="89999" lvl="0" indent="-149225" algn="l" rtl="0">
              <a:spcBef>
                <a:spcPts val="0"/>
              </a:spcBef>
              <a:spcAft>
                <a:spcPts val="0"/>
              </a:spcAft>
              <a:buSzPts val="1000"/>
              <a:buChar char="●"/>
            </a:pPr>
            <a:r>
              <a:rPr lang="ja" sz="800"/>
              <a:t>  </a:t>
            </a:r>
            <a:r>
              <a:rPr lang="ja" sz="800" noProof="1"/>
              <a:t>Activities to spread the message that OSS is important and that licenses should be protected</a:t>
            </a:r>
            <a:endParaRPr sz="800"/>
          </a:p>
        </p:txBody>
      </p:sp>
      <p:sp>
        <p:nvSpPr>
          <p:cNvPr id="513" name="Google Shape;513;p47"/>
          <p:cNvSpPr/>
          <p:nvPr/>
        </p:nvSpPr>
        <p:spPr>
          <a:xfrm>
            <a:off x="1283575" y="877325"/>
            <a:ext cx="2798700" cy="1453500"/>
          </a:xfrm>
          <a:prstGeom prst="wedgeRectCallout">
            <a:avLst>
              <a:gd name="adj1" fmla="val 6634"/>
              <a:gd name="adj2" fmla="val 131447"/>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Responsible for promoting compliance with licenses throughout the company</a:t>
            </a:r>
            <a:endParaRPr sz="800"/>
          </a:p>
          <a:p>
            <a:pPr marL="89999" lvl="0" indent="-158750" algn="l" rtl="0">
              <a:spcBef>
                <a:spcPts val="0"/>
              </a:spcBef>
              <a:spcAft>
                <a:spcPts val="0"/>
              </a:spcAft>
              <a:buSzPts val="1000"/>
              <a:buChar char="●"/>
            </a:pPr>
            <a:r>
              <a:rPr lang="ja" sz="800" noProof="1"/>
              <a:t>Preparatory office to understand the OSS culture and act appropriately within the company in order to utilize the OSS community</a:t>
            </a:r>
            <a:endParaRPr sz="800"/>
          </a:p>
          <a:p>
            <a:pPr marL="89999" lvl="0" indent="-158750" algn="l" rtl="0">
              <a:spcBef>
                <a:spcPts val="0"/>
              </a:spcBef>
              <a:spcAft>
                <a:spcPts val="0"/>
              </a:spcAft>
              <a:buSzPts val="1000"/>
              <a:buChar char="●"/>
            </a:pPr>
            <a:r>
              <a:rPr lang="ja" sz="800" noProof="1"/>
              <a:t>In order to contribute to the OSS community outside the company in the future, first of all, share OSS information within the company, build an OSS community within the company, and activate exchanges</a:t>
            </a:r>
            <a:endParaRPr sz="800"/>
          </a:p>
        </p:txBody>
      </p:sp>
      <p:sp>
        <p:nvSpPr>
          <p:cNvPr id="514" name="Google Shape;514;p47"/>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48"/>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Qx</a:t>
            </a:r>
            <a:endParaRPr/>
          </a:p>
        </p:txBody>
      </p:sp>
      <p:pic>
        <p:nvPicPr>
          <p:cNvPr id="520" name="Google Shape;520;p48"/>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521" name="Google Shape;521;p48"/>
          <p:cNvSpPr txBox="1"/>
          <p:nvPr/>
        </p:nvSpPr>
        <p:spPr>
          <a:xfrm>
            <a:off x="846000" y="34525"/>
            <a:ext cx="6737400" cy="5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ja" noProof="1">
                <a:solidFill>
                  <a:schemeClr val="dk1"/>
                </a:solidFill>
              </a:rPr>
              <a:t>What is OSPO?</a:t>
            </a:r>
            <a:endParaRPr>
              <a:solidFill>
                <a:schemeClr val="dk1"/>
              </a:solidFill>
            </a:endParaRPr>
          </a:p>
          <a:p>
            <a:pPr marL="0" lvl="0" indent="0" algn="l" rtl="0">
              <a:spcBef>
                <a:spcPts val="0"/>
              </a:spcBef>
              <a:spcAft>
                <a:spcPts val="0"/>
              </a:spcAft>
              <a:buNone/>
            </a:pPr>
            <a:r>
              <a:rPr lang="ja" noProof="1"/>
              <a:t>Here is a summary of what OSPO does in each stage of the company</a:t>
            </a:r>
            <a:endParaRPr/>
          </a:p>
        </p:txBody>
      </p:sp>
      <p:sp>
        <p:nvSpPr>
          <p:cNvPr id="522" name="Google Shape;522;p48"/>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ja" sz="560" u="sng" noProof="1">
                <a:solidFill>
                  <a:schemeClr val="hlink"/>
                </a:solidFill>
                <a:hlinkClick r:id="rId4"/>
              </a:rPr>
              <a:t>https://www.linuxfoundation.jp/wp-content/uploads/2022/11/ja_LFR_LFAID_Deep_Dive_Open_Source_Program_Offices_0830.pdf</a:t>
            </a:r>
            <a:endParaRPr sz="560" u="sng">
              <a:solidFill>
                <a:schemeClr val="hlink"/>
              </a:solidFill>
            </a:endParaRPr>
          </a:p>
          <a:p>
            <a:pPr marL="0" lvl="0" indent="0" algn="l" rtl="0">
              <a:lnSpc>
                <a:spcPct val="115000"/>
              </a:lnSpc>
              <a:spcBef>
                <a:spcPts val="0"/>
              </a:spcBef>
              <a:spcAft>
                <a:spcPts val="0"/>
              </a:spcAft>
              <a:buNone/>
            </a:pPr>
            <a:r>
              <a:rPr lang="ja" sz="560" noProof="1">
                <a:solidFill>
                  <a:schemeClr val="dk1"/>
                </a:solidFill>
              </a:rPr>
              <a:t>Ibrahim Haddad, “</a:t>
            </a:r>
            <a:r>
              <a:rPr lang="ja" sz="560" b="1" noProof="1">
                <a:solidFill>
                  <a:schemeClr val="dk1"/>
                </a:solidFill>
              </a:rPr>
              <a:t>A Deep Dive Into Open Source Program Offices:</a:t>
            </a:r>
            <a:endParaRPr sz="560" b="1">
              <a:solidFill>
                <a:schemeClr val="dk1"/>
              </a:solidFill>
            </a:endParaRPr>
          </a:p>
          <a:p>
            <a:pPr marL="0" lvl="0" indent="0" algn="l" rtl="0">
              <a:lnSpc>
                <a:spcPct val="115000"/>
              </a:lnSpc>
              <a:spcBef>
                <a:spcPts val="0"/>
              </a:spcBef>
              <a:spcAft>
                <a:spcPts val="0"/>
              </a:spcAft>
              <a:buNone/>
            </a:pPr>
            <a:r>
              <a:rPr lang="ja" sz="560" b="1" noProof="1">
                <a:solidFill>
                  <a:schemeClr val="dk1"/>
                </a:solidFill>
              </a:rPr>
              <a:t>Structure, Roles, Responsibilities, and Challenges “ foreword by Chris Aniszczyk, August, 2022</a:t>
            </a:r>
            <a:endParaRPr sz="640"/>
          </a:p>
        </p:txBody>
      </p:sp>
      <p:grpSp>
        <p:nvGrpSpPr>
          <p:cNvPr id="523" name="Google Shape;523;p48"/>
          <p:cNvGrpSpPr/>
          <p:nvPr/>
        </p:nvGrpSpPr>
        <p:grpSpPr>
          <a:xfrm>
            <a:off x="496725" y="1899650"/>
            <a:ext cx="6297594" cy="2446800"/>
            <a:chOff x="496725" y="1899650"/>
            <a:chExt cx="6297594" cy="2446800"/>
          </a:xfrm>
        </p:grpSpPr>
        <p:sp>
          <p:nvSpPr>
            <p:cNvPr id="524" name="Google Shape;524;p48"/>
            <p:cNvSpPr/>
            <p:nvPr/>
          </p:nvSpPr>
          <p:spPr>
            <a:xfrm>
              <a:off x="496725" y="2571750"/>
              <a:ext cx="4707300" cy="1774500"/>
            </a:xfrm>
            <a:prstGeom prst="donut">
              <a:avLst>
                <a:gd name="adj" fmla="val 4256"/>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25" name="Google Shape;525;p48"/>
            <p:cNvSpPr/>
            <p:nvPr/>
          </p:nvSpPr>
          <p:spPr>
            <a:xfrm>
              <a:off x="5123319" y="1899650"/>
              <a:ext cx="1671000" cy="24468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26" name="Google Shape;526;p48"/>
            <p:cNvSpPr/>
            <p:nvPr/>
          </p:nvSpPr>
          <p:spPr>
            <a:xfrm>
              <a:off x="5026607" y="3715025"/>
              <a:ext cx="117300" cy="360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27" name="Google Shape;527;p48"/>
            <p:cNvSpPr/>
            <p:nvPr/>
          </p:nvSpPr>
          <p:spPr>
            <a:xfrm>
              <a:off x="4536775" y="4037325"/>
              <a:ext cx="596400" cy="267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28" name="Google Shape;528;p48"/>
            <p:cNvSpPr/>
            <p:nvPr/>
          </p:nvSpPr>
          <p:spPr>
            <a:xfrm>
              <a:off x="4386726" y="4079325"/>
              <a:ext cx="766500" cy="225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29" name="Google Shape;529;p48"/>
            <p:cNvSpPr/>
            <p:nvPr/>
          </p:nvSpPr>
          <p:spPr>
            <a:xfrm>
              <a:off x="4257625" y="4116350"/>
              <a:ext cx="784500" cy="203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30" name="Google Shape;530;p48"/>
            <p:cNvSpPr/>
            <p:nvPr/>
          </p:nvSpPr>
          <p:spPr>
            <a:xfrm>
              <a:off x="4104570" y="4162425"/>
              <a:ext cx="893100" cy="14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31" name="Google Shape;531;p48"/>
            <p:cNvSpPr/>
            <p:nvPr/>
          </p:nvSpPr>
          <p:spPr>
            <a:xfrm>
              <a:off x="3904427" y="4204425"/>
              <a:ext cx="10320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32" name="Google Shape;532;p48"/>
            <p:cNvSpPr/>
            <p:nvPr/>
          </p:nvSpPr>
          <p:spPr>
            <a:xfrm>
              <a:off x="3596291" y="4252400"/>
              <a:ext cx="12840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33" name="Google Shape;533;p48"/>
            <p:cNvSpPr/>
            <p:nvPr/>
          </p:nvSpPr>
          <p:spPr>
            <a:xfrm>
              <a:off x="1147275" y="4268000"/>
              <a:ext cx="965700" cy="36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34" name="Google Shape;534;p48"/>
            <p:cNvSpPr/>
            <p:nvPr/>
          </p:nvSpPr>
          <p:spPr>
            <a:xfrm>
              <a:off x="4604975" y="4001125"/>
              <a:ext cx="4950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35" name="Google Shape;535;p48"/>
            <p:cNvSpPr/>
            <p:nvPr/>
          </p:nvSpPr>
          <p:spPr>
            <a:xfrm>
              <a:off x="5114825" y="36161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36" name="Google Shape;536;p48"/>
            <p:cNvSpPr/>
            <p:nvPr/>
          </p:nvSpPr>
          <p:spPr>
            <a:xfrm>
              <a:off x="5077825" y="36573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37" name="Google Shape;537;p48"/>
            <p:cNvSpPr/>
            <p:nvPr/>
          </p:nvSpPr>
          <p:spPr>
            <a:xfrm>
              <a:off x="5064075" y="3172875"/>
              <a:ext cx="1173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38" name="Google Shape;538;p48"/>
            <p:cNvSpPr/>
            <p:nvPr/>
          </p:nvSpPr>
          <p:spPr>
            <a:xfrm>
              <a:off x="1161850" y="4228275"/>
              <a:ext cx="7335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39" name="Google Shape;539;p48"/>
            <p:cNvSpPr/>
            <p:nvPr/>
          </p:nvSpPr>
          <p:spPr>
            <a:xfrm>
              <a:off x="1134450" y="4192175"/>
              <a:ext cx="5481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40" name="Google Shape;540;p48"/>
            <p:cNvSpPr/>
            <p:nvPr/>
          </p:nvSpPr>
          <p:spPr>
            <a:xfrm>
              <a:off x="1117725" y="4144875"/>
              <a:ext cx="4176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41" name="Google Shape;541;p48"/>
            <p:cNvSpPr/>
            <p:nvPr/>
          </p:nvSpPr>
          <p:spPr>
            <a:xfrm>
              <a:off x="1035500" y="4116350"/>
              <a:ext cx="3348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42" name="Google Shape;542;p48"/>
            <p:cNvSpPr/>
            <p:nvPr/>
          </p:nvSpPr>
          <p:spPr>
            <a:xfrm>
              <a:off x="2510100" y="2232975"/>
              <a:ext cx="246300" cy="921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43" name="Google Shape;543;p48"/>
            <p:cNvSpPr/>
            <p:nvPr/>
          </p:nvSpPr>
          <p:spPr>
            <a:xfrm>
              <a:off x="1006400" y="4079325"/>
              <a:ext cx="3348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44" name="Google Shape;544;p48"/>
            <p:cNvSpPr/>
            <p:nvPr/>
          </p:nvSpPr>
          <p:spPr>
            <a:xfrm>
              <a:off x="4689350" y="3941275"/>
              <a:ext cx="361800" cy="73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45" name="Google Shape;545;p48"/>
            <p:cNvSpPr/>
            <p:nvPr/>
          </p:nvSpPr>
          <p:spPr>
            <a:xfrm>
              <a:off x="4817725" y="3887250"/>
              <a:ext cx="233400" cy="73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46" name="Google Shape;546;p48"/>
            <p:cNvSpPr/>
            <p:nvPr/>
          </p:nvSpPr>
          <p:spPr>
            <a:xfrm>
              <a:off x="4910500" y="3845225"/>
              <a:ext cx="204300" cy="73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47" name="Google Shape;547;p48"/>
            <p:cNvSpPr/>
            <p:nvPr/>
          </p:nvSpPr>
          <p:spPr>
            <a:xfrm>
              <a:off x="4962525" y="3793288"/>
              <a:ext cx="204300" cy="73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48" name="Google Shape;548;p48"/>
            <p:cNvSpPr/>
            <p:nvPr/>
          </p:nvSpPr>
          <p:spPr>
            <a:xfrm>
              <a:off x="5015875" y="3118213"/>
              <a:ext cx="1173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49" name="Google Shape;549;p48"/>
            <p:cNvSpPr/>
            <p:nvPr/>
          </p:nvSpPr>
          <p:spPr>
            <a:xfrm>
              <a:off x="4936425" y="3060600"/>
              <a:ext cx="2043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50" name="Google Shape;550;p48"/>
            <p:cNvSpPr/>
            <p:nvPr/>
          </p:nvSpPr>
          <p:spPr>
            <a:xfrm>
              <a:off x="4859775" y="3003675"/>
              <a:ext cx="2733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51" name="Google Shape;551;p48"/>
            <p:cNvSpPr/>
            <p:nvPr/>
          </p:nvSpPr>
          <p:spPr>
            <a:xfrm>
              <a:off x="4797775" y="2956700"/>
              <a:ext cx="3348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52" name="Google Shape;552;p48"/>
            <p:cNvSpPr/>
            <p:nvPr/>
          </p:nvSpPr>
          <p:spPr>
            <a:xfrm>
              <a:off x="4729275" y="2558550"/>
              <a:ext cx="437700" cy="414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grpSp>
      <p:sp>
        <p:nvSpPr>
          <p:cNvPr id="553" name="Google Shape;553;p48"/>
          <p:cNvSpPr/>
          <p:nvPr/>
        </p:nvSpPr>
        <p:spPr>
          <a:xfrm>
            <a:off x="39275" y="2375625"/>
            <a:ext cx="2293200" cy="861300"/>
          </a:xfrm>
          <a:prstGeom prst="wedgeRectCallout">
            <a:avLst>
              <a:gd name="adj1" fmla="val 7667"/>
              <a:gd name="adj2" fmla="val 123406"/>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800" noProof="1"/>
              <a:t>It plays a role in educating and disseminating licenses</a:t>
            </a:r>
            <a:endParaRPr sz="800"/>
          </a:p>
          <a:p>
            <a:pPr marL="89999" lvl="0" indent="-149225" algn="l" rtl="0">
              <a:spcBef>
                <a:spcPts val="0"/>
              </a:spcBef>
              <a:spcAft>
                <a:spcPts val="0"/>
              </a:spcAft>
              <a:buSzPts val="1000"/>
              <a:buChar char="●"/>
            </a:pPr>
            <a:r>
              <a:rPr lang="ja" sz="800"/>
              <a:t>  </a:t>
            </a:r>
            <a:r>
              <a:rPr lang="ja" sz="800" noProof="1"/>
              <a:t>It is an activity to spread the message that OSS is important and that licenses should be observed</a:t>
            </a:r>
            <a:endParaRPr sz="800"/>
          </a:p>
        </p:txBody>
      </p:sp>
      <p:sp>
        <p:nvSpPr>
          <p:cNvPr id="554" name="Google Shape;554;p48"/>
          <p:cNvSpPr/>
          <p:nvPr/>
        </p:nvSpPr>
        <p:spPr>
          <a:xfrm>
            <a:off x="4274375" y="668225"/>
            <a:ext cx="2476200" cy="1453500"/>
          </a:xfrm>
          <a:prstGeom prst="wedgeRectCallout">
            <a:avLst>
              <a:gd name="adj1" fmla="val -43620"/>
              <a:gd name="adj2" fmla="val 114071"/>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OSPO is a framework to bridge companies to cooperate with different cultures of Open Source and to make smooth use of it</a:t>
            </a:r>
            <a:endParaRPr sz="800"/>
          </a:p>
          <a:p>
            <a:pPr marL="89999" lvl="0" indent="-158750" algn="l" rtl="0">
              <a:spcBef>
                <a:spcPts val="0"/>
              </a:spcBef>
              <a:spcAft>
                <a:spcPts val="0"/>
              </a:spcAft>
              <a:buSzPts val="1000"/>
              <a:buChar char="●"/>
            </a:pPr>
            <a:r>
              <a:rPr lang="ja" sz="800" noProof="1"/>
              <a:t>OSPO is an organization to realize cooperation between the OSS community and organizations with different cultures of Open Source and to make their activities naturally incorporated into the movement of the community</a:t>
            </a:r>
            <a:endParaRPr sz="800"/>
          </a:p>
        </p:txBody>
      </p:sp>
      <p:sp>
        <p:nvSpPr>
          <p:cNvPr id="555" name="Google Shape;555;p48"/>
          <p:cNvSpPr/>
          <p:nvPr/>
        </p:nvSpPr>
        <p:spPr>
          <a:xfrm>
            <a:off x="1283575" y="877325"/>
            <a:ext cx="2798700" cy="1453500"/>
          </a:xfrm>
          <a:prstGeom prst="wedgeRectCallout">
            <a:avLst>
              <a:gd name="adj1" fmla="val 6634"/>
              <a:gd name="adj2" fmla="val 13144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Responsible for promoting compliance with licenses throughout the company</a:t>
            </a:r>
            <a:endParaRPr sz="800"/>
          </a:p>
          <a:p>
            <a:pPr marL="89999" lvl="0" indent="-158750" algn="l" rtl="0">
              <a:spcBef>
                <a:spcPts val="0"/>
              </a:spcBef>
              <a:spcAft>
                <a:spcPts val="0"/>
              </a:spcAft>
              <a:buSzPts val="1000"/>
              <a:buChar char="●"/>
            </a:pPr>
            <a:r>
              <a:rPr lang="ja" sz="800" noProof="1"/>
              <a:t>Preparatory office to understand the OSS culture and act appropriately within the company in order to utilize the OSS community</a:t>
            </a:r>
            <a:endParaRPr sz="800"/>
          </a:p>
          <a:p>
            <a:pPr marL="89999" lvl="0" indent="-158750" algn="l" rtl="0">
              <a:spcBef>
                <a:spcPts val="0"/>
              </a:spcBef>
              <a:spcAft>
                <a:spcPts val="0"/>
              </a:spcAft>
              <a:buSzPts val="1000"/>
              <a:buChar char="●"/>
            </a:pPr>
            <a:r>
              <a:rPr lang="ja" sz="800" noProof="1"/>
              <a:t>In order to contribute to the OSS community outside the company in the future, first of all, share OSS information within the company, build an OSS community within the company, and activate exchanges</a:t>
            </a:r>
            <a:endParaRPr sz="800"/>
          </a:p>
        </p:txBody>
      </p:sp>
      <p:sp>
        <p:nvSpPr>
          <p:cNvPr id="556" name="Google Shape;556;p48"/>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49"/>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Qx</a:t>
            </a:r>
            <a:endParaRPr/>
          </a:p>
        </p:txBody>
      </p:sp>
      <p:pic>
        <p:nvPicPr>
          <p:cNvPr id="562" name="Google Shape;562;p49"/>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563" name="Google Shape;563;p49"/>
          <p:cNvSpPr txBox="1"/>
          <p:nvPr/>
        </p:nvSpPr>
        <p:spPr>
          <a:xfrm>
            <a:off x="846000" y="34525"/>
            <a:ext cx="6737400" cy="5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ja" noProof="1">
                <a:solidFill>
                  <a:schemeClr val="dk1"/>
                </a:solidFill>
              </a:rPr>
              <a:t>What is OSPO?</a:t>
            </a:r>
            <a:endParaRPr>
              <a:solidFill>
                <a:schemeClr val="dk1"/>
              </a:solidFill>
            </a:endParaRPr>
          </a:p>
          <a:p>
            <a:pPr marL="0" lvl="0" indent="0" algn="l" rtl="0">
              <a:spcBef>
                <a:spcPts val="0"/>
              </a:spcBef>
              <a:spcAft>
                <a:spcPts val="0"/>
              </a:spcAft>
              <a:buNone/>
            </a:pPr>
            <a:r>
              <a:rPr lang="ja" noProof="1"/>
              <a:t>Here is a summary of what OSPO does in each stage of the company</a:t>
            </a:r>
            <a:endParaRPr/>
          </a:p>
        </p:txBody>
      </p:sp>
      <p:sp>
        <p:nvSpPr>
          <p:cNvPr id="564" name="Google Shape;564;p49"/>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ja" sz="560" u="sng" noProof="1">
                <a:solidFill>
                  <a:schemeClr val="hlink"/>
                </a:solidFill>
                <a:hlinkClick r:id="rId4"/>
              </a:rPr>
              <a:t>https://www.linuxfoundation.jp/wp-content/uploads/2022/11/ja_LFR_LFAID_Deep_Dive_Open_Source_Program_Offices_0830.pdf</a:t>
            </a:r>
            <a:endParaRPr sz="560" u="sng">
              <a:solidFill>
                <a:schemeClr val="hlink"/>
              </a:solidFill>
            </a:endParaRPr>
          </a:p>
          <a:p>
            <a:pPr marL="0" lvl="0" indent="0" algn="l" rtl="0">
              <a:lnSpc>
                <a:spcPct val="115000"/>
              </a:lnSpc>
              <a:spcBef>
                <a:spcPts val="0"/>
              </a:spcBef>
              <a:spcAft>
                <a:spcPts val="0"/>
              </a:spcAft>
              <a:buNone/>
            </a:pPr>
            <a:r>
              <a:rPr lang="ja" sz="560" noProof="1">
                <a:solidFill>
                  <a:schemeClr val="dk1"/>
                </a:solidFill>
              </a:rPr>
              <a:t>Ibrahim Haddad, “</a:t>
            </a:r>
            <a:r>
              <a:rPr lang="ja" sz="560" b="1" noProof="1">
                <a:solidFill>
                  <a:schemeClr val="dk1"/>
                </a:solidFill>
              </a:rPr>
              <a:t>A Deep Dive Into Open Source Program Offices:</a:t>
            </a:r>
            <a:endParaRPr sz="560" b="1">
              <a:solidFill>
                <a:schemeClr val="dk1"/>
              </a:solidFill>
            </a:endParaRPr>
          </a:p>
          <a:p>
            <a:pPr marL="0" lvl="0" indent="0" algn="l" rtl="0">
              <a:lnSpc>
                <a:spcPct val="115000"/>
              </a:lnSpc>
              <a:spcBef>
                <a:spcPts val="0"/>
              </a:spcBef>
              <a:spcAft>
                <a:spcPts val="0"/>
              </a:spcAft>
              <a:buNone/>
            </a:pPr>
            <a:r>
              <a:rPr lang="ja" sz="560" b="1" noProof="1">
                <a:solidFill>
                  <a:schemeClr val="dk1"/>
                </a:solidFill>
              </a:rPr>
              <a:t>Structure, Roles, Responsibilities, and Challenges “ foreword by Chris Aniszczyk, August, 2022</a:t>
            </a:r>
            <a:endParaRPr sz="640"/>
          </a:p>
        </p:txBody>
      </p:sp>
      <p:grpSp>
        <p:nvGrpSpPr>
          <p:cNvPr id="565" name="Google Shape;565;p49"/>
          <p:cNvGrpSpPr/>
          <p:nvPr/>
        </p:nvGrpSpPr>
        <p:grpSpPr>
          <a:xfrm>
            <a:off x="220525" y="2139963"/>
            <a:ext cx="6938400" cy="2206438"/>
            <a:chOff x="220525" y="2139963"/>
            <a:chExt cx="6938400" cy="2206438"/>
          </a:xfrm>
        </p:grpSpPr>
        <p:sp>
          <p:nvSpPr>
            <p:cNvPr id="566" name="Google Shape;566;p49"/>
            <p:cNvSpPr/>
            <p:nvPr/>
          </p:nvSpPr>
          <p:spPr>
            <a:xfrm>
              <a:off x="220525" y="2306700"/>
              <a:ext cx="6938400" cy="2039700"/>
            </a:xfrm>
            <a:prstGeom prst="donut">
              <a:avLst>
                <a:gd name="adj" fmla="val 4256"/>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67" name="Google Shape;567;p49"/>
            <p:cNvSpPr/>
            <p:nvPr/>
          </p:nvSpPr>
          <p:spPr>
            <a:xfrm>
              <a:off x="6283125" y="3943625"/>
              <a:ext cx="5370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68" name="Google Shape;568;p49"/>
            <p:cNvSpPr/>
            <p:nvPr/>
          </p:nvSpPr>
          <p:spPr>
            <a:xfrm>
              <a:off x="6022224" y="4037325"/>
              <a:ext cx="768900" cy="267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69" name="Google Shape;569;p49"/>
            <p:cNvSpPr/>
            <p:nvPr/>
          </p:nvSpPr>
          <p:spPr>
            <a:xfrm>
              <a:off x="5797325" y="4079325"/>
              <a:ext cx="957000" cy="225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70" name="Google Shape;570;p49"/>
            <p:cNvSpPr/>
            <p:nvPr/>
          </p:nvSpPr>
          <p:spPr>
            <a:xfrm>
              <a:off x="5668000" y="4135675"/>
              <a:ext cx="10506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71" name="Google Shape;571;p49"/>
            <p:cNvSpPr/>
            <p:nvPr/>
          </p:nvSpPr>
          <p:spPr>
            <a:xfrm>
              <a:off x="5442625" y="4162425"/>
              <a:ext cx="1231500" cy="14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72" name="Google Shape;572;p49"/>
            <p:cNvSpPr/>
            <p:nvPr/>
          </p:nvSpPr>
          <p:spPr>
            <a:xfrm>
              <a:off x="5135626" y="4204425"/>
              <a:ext cx="14772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73" name="Google Shape;573;p49"/>
            <p:cNvSpPr/>
            <p:nvPr/>
          </p:nvSpPr>
          <p:spPr>
            <a:xfrm>
              <a:off x="4709424" y="4252400"/>
              <a:ext cx="18474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74" name="Google Shape;574;p49"/>
            <p:cNvSpPr/>
            <p:nvPr/>
          </p:nvSpPr>
          <p:spPr>
            <a:xfrm>
              <a:off x="1147275" y="4268000"/>
              <a:ext cx="1734000" cy="36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75" name="Google Shape;575;p49"/>
            <p:cNvSpPr/>
            <p:nvPr/>
          </p:nvSpPr>
          <p:spPr>
            <a:xfrm>
              <a:off x="6172925" y="4001125"/>
              <a:ext cx="6036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76" name="Google Shape;576;p49"/>
            <p:cNvSpPr/>
            <p:nvPr/>
          </p:nvSpPr>
          <p:spPr>
            <a:xfrm>
              <a:off x="6791225" y="38447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77" name="Google Shape;577;p49"/>
            <p:cNvSpPr/>
            <p:nvPr/>
          </p:nvSpPr>
          <p:spPr>
            <a:xfrm>
              <a:off x="6445075" y="3885925"/>
              <a:ext cx="357600" cy="74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78" name="Google Shape;578;p49"/>
            <p:cNvSpPr/>
            <p:nvPr/>
          </p:nvSpPr>
          <p:spPr>
            <a:xfrm>
              <a:off x="5748125" y="2139963"/>
              <a:ext cx="1072200" cy="4317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79" name="Google Shape;579;p49"/>
            <p:cNvSpPr/>
            <p:nvPr/>
          </p:nvSpPr>
          <p:spPr>
            <a:xfrm>
              <a:off x="1161850" y="4228275"/>
              <a:ext cx="143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80" name="Google Shape;580;p49"/>
            <p:cNvSpPr/>
            <p:nvPr/>
          </p:nvSpPr>
          <p:spPr>
            <a:xfrm>
              <a:off x="1134450" y="4192175"/>
              <a:ext cx="12114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81" name="Google Shape;581;p49"/>
            <p:cNvSpPr/>
            <p:nvPr/>
          </p:nvSpPr>
          <p:spPr>
            <a:xfrm>
              <a:off x="1117725" y="4144875"/>
              <a:ext cx="9714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82" name="Google Shape;582;p49"/>
            <p:cNvSpPr/>
            <p:nvPr/>
          </p:nvSpPr>
          <p:spPr>
            <a:xfrm>
              <a:off x="1035500" y="4116350"/>
              <a:ext cx="8436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83" name="Google Shape;583;p49"/>
            <p:cNvSpPr/>
            <p:nvPr/>
          </p:nvSpPr>
          <p:spPr>
            <a:xfrm>
              <a:off x="2510100" y="2232975"/>
              <a:ext cx="246300" cy="921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84" name="Google Shape;584;p49"/>
            <p:cNvSpPr/>
            <p:nvPr/>
          </p:nvSpPr>
          <p:spPr>
            <a:xfrm>
              <a:off x="6585625" y="3827425"/>
              <a:ext cx="217200" cy="74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85" name="Google Shape;585;p49"/>
            <p:cNvSpPr/>
            <p:nvPr/>
          </p:nvSpPr>
          <p:spPr>
            <a:xfrm>
              <a:off x="6705600" y="3784225"/>
              <a:ext cx="85500" cy="74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86" name="Google Shape;586;p49"/>
            <p:cNvSpPr/>
            <p:nvPr/>
          </p:nvSpPr>
          <p:spPr>
            <a:xfrm>
              <a:off x="1156400" y="4044000"/>
              <a:ext cx="376800" cy="87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87" name="Google Shape;587;p49"/>
            <p:cNvSpPr/>
            <p:nvPr/>
          </p:nvSpPr>
          <p:spPr>
            <a:xfrm>
              <a:off x="1156400" y="3982225"/>
              <a:ext cx="117300" cy="74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88" name="Google Shape;588;p49"/>
            <p:cNvSpPr/>
            <p:nvPr/>
          </p:nvSpPr>
          <p:spPr>
            <a:xfrm>
              <a:off x="6017525" y="2524947"/>
              <a:ext cx="7737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89" name="Google Shape;589;p49"/>
            <p:cNvSpPr/>
            <p:nvPr/>
          </p:nvSpPr>
          <p:spPr>
            <a:xfrm>
              <a:off x="6177525" y="2589300"/>
              <a:ext cx="6252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90" name="Google Shape;590;p49"/>
            <p:cNvSpPr/>
            <p:nvPr/>
          </p:nvSpPr>
          <p:spPr>
            <a:xfrm>
              <a:off x="6361950" y="2646975"/>
              <a:ext cx="4410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91" name="Google Shape;591;p49"/>
            <p:cNvSpPr/>
            <p:nvPr/>
          </p:nvSpPr>
          <p:spPr>
            <a:xfrm>
              <a:off x="6514350" y="2713350"/>
              <a:ext cx="3060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sp>
          <p:nvSpPr>
            <p:cNvPr id="592" name="Google Shape;592;p49"/>
            <p:cNvSpPr/>
            <p:nvPr/>
          </p:nvSpPr>
          <p:spPr>
            <a:xfrm>
              <a:off x="6674125" y="2769000"/>
              <a:ext cx="1779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t> </a:t>
              </a:r>
            </a:p>
          </p:txBody>
        </p:sp>
      </p:grpSp>
      <p:sp>
        <p:nvSpPr>
          <p:cNvPr id="593" name="Google Shape;593;p49"/>
          <p:cNvSpPr/>
          <p:nvPr/>
        </p:nvSpPr>
        <p:spPr>
          <a:xfrm>
            <a:off x="39275" y="2375625"/>
            <a:ext cx="2293200" cy="861300"/>
          </a:xfrm>
          <a:prstGeom prst="wedgeRectCallout">
            <a:avLst>
              <a:gd name="adj1" fmla="val 7667"/>
              <a:gd name="adj2" fmla="val 123406"/>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800" noProof="1"/>
              <a:t>It plays a role in educating and disseminating licenses</a:t>
            </a:r>
            <a:endParaRPr sz="800"/>
          </a:p>
          <a:p>
            <a:pPr marL="89999" lvl="0" indent="-149225" algn="l" rtl="0">
              <a:spcBef>
                <a:spcPts val="0"/>
              </a:spcBef>
              <a:spcAft>
                <a:spcPts val="0"/>
              </a:spcAft>
              <a:buSzPts val="1000"/>
              <a:buChar char="●"/>
            </a:pPr>
            <a:r>
              <a:rPr lang="ja" sz="800"/>
              <a:t>  </a:t>
            </a:r>
            <a:r>
              <a:rPr lang="ja" sz="800" noProof="1"/>
              <a:t>It is an activity to spread the message that OSS is important and that licenses should be observed</a:t>
            </a:r>
            <a:endParaRPr sz="800"/>
          </a:p>
        </p:txBody>
      </p:sp>
      <p:sp>
        <p:nvSpPr>
          <p:cNvPr id="594" name="Google Shape;594;p49"/>
          <p:cNvSpPr/>
          <p:nvPr/>
        </p:nvSpPr>
        <p:spPr>
          <a:xfrm>
            <a:off x="4274375" y="668225"/>
            <a:ext cx="2476200" cy="1453500"/>
          </a:xfrm>
          <a:prstGeom prst="wedgeRectCallout">
            <a:avLst>
              <a:gd name="adj1" fmla="val -43620"/>
              <a:gd name="adj2" fmla="val 114071"/>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OSPO is a framework to bridge companies to cooperate with different cultures of Open Source and to make smooth use of it</a:t>
            </a:r>
            <a:endParaRPr sz="800"/>
          </a:p>
          <a:p>
            <a:pPr marL="89999" lvl="0" indent="-158750" algn="l" rtl="0">
              <a:spcBef>
                <a:spcPts val="0"/>
              </a:spcBef>
              <a:spcAft>
                <a:spcPts val="0"/>
              </a:spcAft>
              <a:buSzPts val="1000"/>
              <a:buChar char="●"/>
            </a:pPr>
            <a:r>
              <a:rPr lang="ja" sz="800" noProof="1"/>
              <a:t>OSPO is an organization to realize cooperation between the OSS community and organizations with different cultures of Open Source and to make their activities naturally incorporated into the movement of the community</a:t>
            </a:r>
            <a:endParaRPr sz="800"/>
          </a:p>
        </p:txBody>
      </p:sp>
      <p:sp>
        <p:nvSpPr>
          <p:cNvPr id="595" name="Google Shape;595;p49"/>
          <p:cNvSpPr/>
          <p:nvPr/>
        </p:nvSpPr>
        <p:spPr>
          <a:xfrm>
            <a:off x="1283575" y="877325"/>
            <a:ext cx="2798700" cy="1453500"/>
          </a:xfrm>
          <a:prstGeom prst="wedgeRectCallout">
            <a:avLst>
              <a:gd name="adj1" fmla="val 6634"/>
              <a:gd name="adj2" fmla="val 13144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Responsible for promoting compliance with licenses throughout the company</a:t>
            </a:r>
            <a:endParaRPr sz="800"/>
          </a:p>
          <a:p>
            <a:pPr marL="89999" lvl="0" indent="-158750" algn="l" rtl="0">
              <a:spcBef>
                <a:spcPts val="0"/>
              </a:spcBef>
              <a:spcAft>
                <a:spcPts val="0"/>
              </a:spcAft>
              <a:buSzPts val="1000"/>
              <a:buChar char="●"/>
            </a:pPr>
            <a:r>
              <a:rPr lang="ja" sz="800" noProof="1"/>
              <a:t>Preparatory office to understand the OSS culture and act appropriately within the company in order to utilize the OSS community</a:t>
            </a:r>
            <a:endParaRPr sz="800"/>
          </a:p>
          <a:p>
            <a:pPr marL="89999" lvl="0" indent="-158750" algn="l" rtl="0">
              <a:spcBef>
                <a:spcPts val="0"/>
              </a:spcBef>
              <a:spcAft>
                <a:spcPts val="0"/>
              </a:spcAft>
              <a:buSzPts val="1000"/>
              <a:buChar char="●"/>
            </a:pPr>
            <a:r>
              <a:rPr lang="ja" sz="800" noProof="1"/>
              <a:t>In order to contribute to the OSS community outside the company in the future, the first step is to share OSS information within the company, build an OSS community within the company, and activate exchanges.</a:t>
            </a:r>
            <a:endParaRPr sz="800"/>
          </a:p>
        </p:txBody>
      </p:sp>
      <p:sp>
        <p:nvSpPr>
          <p:cNvPr id="596" name="Google Shape;596;p49"/>
          <p:cNvSpPr/>
          <p:nvPr/>
        </p:nvSpPr>
        <p:spPr>
          <a:xfrm>
            <a:off x="6868625" y="2245325"/>
            <a:ext cx="2127600" cy="1217700"/>
          </a:xfrm>
          <a:prstGeom prst="wedgeRectCallout">
            <a:avLst>
              <a:gd name="adj1" fmla="val -56599"/>
              <a:gd name="adj2" fmla="val -18187"/>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One aspect of an OSPO is to realize "community contribution = company success"</a:t>
            </a:r>
            <a:endParaRPr sz="800"/>
          </a:p>
          <a:p>
            <a:pPr marL="89999" lvl="0" indent="-158750" algn="l" rtl="0">
              <a:spcBef>
                <a:spcPts val="0"/>
              </a:spcBef>
              <a:spcAft>
                <a:spcPts val="0"/>
              </a:spcAft>
              <a:buSzPts val="1000"/>
              <a:buChar char="●"/>
            </a:pPr>
            <a:r>
              <a:rPr lang="ja" sz="800" noProof="1"/>
              <a:t>The role of an OSPO is to update the culture within the company by catching changes in the culture and trends of the industry</a:t>
            </a:r>
            <a:endParaRPr sz="800"/>
          </a:p>
        </p:txBody>
      </p:sp>
      <p:sp>
        <p:nvSpPr>
          <p:cNvPr id="597" name="Google Shape;597;p49"/>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r>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50"/>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Qx</a:t>
            </a:r>
            <a:endParaRPr/>
          </a:p>
        </p:txBody>
      </p:sp>
      <p:pic>
        <p:nvPicPr>
          <p:cNvPr id="603" name="Google Shape;603;p50"/>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604" name="Google Shape;604;p50"/>
          <p:cNvSpPr/>
          <p:nvPr/>
        </p:nvSpPr>
        <p:spPr>
          <a:xfrm>
            <a:off x="39275" y="2375625"/>
            <a:ext cx="2293200" cy="861300"/>
          </a:xfrm>
          <a:prstGeom prst="wedgeRectCallout">
            <a:avLst>
              <a:gd name="adj1" fmla="val 7667"/>
              <a:gd name="adj2" fmla="val 123406"/>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800" noProof="1"/>
              <a:t>The role of OSPO is to educate and spread the license</a:t>
            </a:r>
            <a:endParaRPr sz="800"/>
          </a:p>
          <a:p>
            <a:pPr marL="89999" lvl="0" indent="-149225" algn="l" rtl="0">
              <a:spcBef>
                <a:spcPts val="0"/>
              </a:spcBef>
              <a:spcAft>
                <a:spcPts val="0"/>
              </a:spcAft>
              <a:buSzPts val="1000"/>
              <a:buChar char="●"/>
            </a:pPr>
            <a:r>
              <a:rPr lang="ja" sz="800"/>
              <a:t>  </a:t>
            </a:r>
            <a:r>
              <a:rPr lang="ja" sz="800" noProof="1"/>
              <a:t>The activity of evangelizing that OSS is important and that we should protect the license</a:t>
            </a:r>
            <a:endParaRPr sz="800"/>
          </a:p>
        </p:txBody>
      </p:sp>
      <p:sp>
        <p:nvSpPr>
          <p:cNvPr id="605" name="Google Shape;605;p50"/>
          <p:cNvSpPr/>
          <p:nvPr/>
        </p:nvSpPr>
        <p:spPr>
          <a:xfrm>
            <a:off x="4274375" y="668225"/>
            <a:ext cx="2476200" cy="1453500"/>
          </a:xfrm>
          <a:prstGeom prst="wedgeRectCallout">
            <a:avLst>
              <a:gd name="adj1" fmla="val -43620"/>
              <a:gd name="adj2" fmla="val 114071"/>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The framework of OSPO is to bridge the cooperation of the company with the different culture of Open Source and to utilize it smoothly</a:t>
            </a:r>
            <a:endParaRPr sz="800"/>
          </a:p>
          <a:p>
            <a:pPr marL="89999" lvl="0" indent="-158750" algn="l" rtl="0">
              <a:spcBef>
                <a:spcPts val="0"/>
              </a:spcBef>
              <a:spcAft>
                <a:spcPts val="0"/>
              </a:spcAft>
              <a:buSzPts val="1000"/>
              <a:buChar char="●"/>
            </a:pPr>
            <a:r>
              <a:rPr lang="ja" sz="800" noProof="1"/>
              <a:t>The organization of OSPO is to realize the cooperation between the OSS community with the different culture of Open Source and organizations and to incorporate the activity naturally into the movement of the community</a:t>
            </a:r>
            <a:endParaRPr sz="800"/>
          </a:p>
        </p:txBody>
      </p:sp>
      <p:sp>
        <p:nvSpPr>
          <p:cNvPr id="606" name="Google Shape;606;p50"/>
          <p:cNvSpPr/>
          <p:nvPr/>
        </p:nvSpPr>
        <p:spPr>
          <a:xfrm>
            <a:off x="6868625" y="750125"/>
            <a:ext cx="2127600" cy="1074900"/>
          </a:xfrm>
          <a:prstGeom prst="wedgeRectCallout">
            <a:avLst>
              <a:gd name="adj1" fmla="val -55071"/>
              <a:gd name="adj2" fmla="val 81433"/>
            </a:avLst>
          </a:prstGeom>
          <a:solidFill>
            <a:schemeClr val="lt2"/>
          </a:solidFill>
          <a:ln w="9525" cap="flat" cmpd="sng">
            <a:solidFill>
              <a:schemeClr val="dk2"/>
            </a:solidFill>
            <a:prstDash val="solid"/>
            <a:round/>
            <a:headEnd type="none" w="sm" len="sm"/>
            <a:tailEnd type="none" w="sm" len="sm"/>
          </a:ln>
        </p:spPr>
        <p:txBody>
          <a:bodyPr spcFirstLastPara="1" wrap="square" lIns="270000" tIns="91425" rIns="91425" bIns="91425" anchor="ctr" anchorCtr="0">
            <a:noAutofit/>
          </a:bodyPr>
          <a:lstStyle/>
          <a:p>
            <a:pPr marL="89999" lvl="0" indent="-292100" algn="l" rtl="0">
              <a:spcBef>
                <a:spcPts val="0"/>
              </a:spcBef>
              <a:spcAft>
                <a:spcPts val="0"/>
              </a:spcAft>
              <a:buClr>
                <a:schemeClr val="dk1"/>
              </a:buClr>
              <a:buSzPts val="1000"/>
              <a:buChar char="●"/>
            </a:pPr>
            <a:r>
              <a:rPr lang="ja" sz="800" noProof="1"/>
              <a:t>The role of OSPO is to grasp the trend in the community, to lead the community, to create the trend and to utilize it in the business</a:t>
            </a:r>
            <a:endParaRPr sz="800"/>
          </a:p>
          <a:p>
            <a:pPr marL="89999" lvl="0" indent="-292100" algn="l" rtl="0">
              <a:spcBef>
                <a:spcPts val="0"/>
              </a:spcBef>
              <a:spcAft>
                <a:spcPts val="0"/>
              </a:spcAft>
              <a:buSzPts val="1000"/>
              <a:buChar char="●"/>
            </a:pPr>
            <a:r>
              <a:rPr lang="ja" sz="800" noProof="1"/>
              <a:t>The role of OSPO is to work to establish the above as a corporate culture</a:t>
            </a:r>
            <a:endParaRPr sz="800"/>
          </a:p>
        </p:txBody>
      </p:sp>
      <p:sp>
        <p:nvSpPr>
          <p:cNvPr id="607" name="Google Shape;607;p50"/>
          <p:cNvSpPr/>
          <p:nvPr/>
        </p:nvSpPr>
        <p:spPr>
          <a:xfrm>
            <a:off x="1283575" y="877325"/>
            <a:ext cx="2798700" cy="1453500"/>
          </a:xfrm>
          <a:prstGeom prst="wedgeRectCallout">
            <a:avLst>
              <a:gd name="adj1" fmla="val 6634"/>
              <a:gd name="adj2" fmla="val 13144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The role of OSPO is to promote thorough compliance with the license throughout the company</a:t>
            </a:r>
            <a:endParaRPr sz="800"/>
          </a:p>
          <a:p>
            <a:pPr marL="89999" lvl="0" indent="-158750" algn="l" rtl="0">
              <a:spcBef>
                <a:spcPts val="0"/>
              </a:spcBef>
              <a:spcAft>
                <a:spcPts val="0"/>
              </a:spcAft>
              <a:buSzPts val="1000"/>
              <a:buChar char="●"/>
            </a:pPr>
            <a:r>
              <a:rPr lang="ja" sz="800" noProof="1"/>
              <a:t>In order to utilize the OSS community, the preparatory office is to understand the culture and to be able to act appropriately within the company</a:t>
            </a:r>
            <a:endParaRPr sz="800"/>
          </a:p>
          <a:p>
            <a:pPr marL="89999" lvl="0" indent="-158750" algn="l" rtl="0">
              <a:spcBef>
                <a:spcPts val="0"/>
              </a:spcBef>
              <a:spcAft>
                <a:spcPts val="0"/>
              </a:spcAft>
              <a:buSzPts val="1000"/>
              <a:buChar char="●"/>
            </a:pPr>
            <a:r>
              <a:rPr lang="ja" sz="800" noProof="1"/>
              <a:t>In order to contribute to the OSS community outside the company in the future, the first thing to do is to share OSS information within the company, build an OSS community within the company and activate exchanges</a:t>
            </a:r>
            <a:endParaRPr sz="800"/>
          </a:p>
        </p:txBody>
      </p:sp>
      <p:sp>
        <p:nvSpPr>
          <p:cNvPr id="608" name="Google Shape;608;p50"/>
          <p:cNvSpPr/>
          <p:nvPr/>
        </p:nvSpPr>
        <p:spPr>
          <a:xfrm>
            <a:off x="6868625" y="2092925"/>
            <a:ext cx="2127600" cy="1217700"/>
          </a:xfrm>
          <a:prstGeom prst="wedgeRectCallout">
            <a:avLst>
              <a:gd name="adj1" fmla="val -56599"/>
              <a:gd name="adj2" fmla="val -1818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800" noProof="1"/>
              <a:t>Achieving Community Contribution = Company Success is one aspect of an OSPO</a:t>
            </a:r>
            <a:endParaRPr sz="800"/>
          </a:p>
          <a:p>
            <a:pPr marL="89999" lvl="0" indent="-158750" algn="l" rtl="0">
              <a:spcBef>
                <a:spcPts val="0"/>
              </a:spcBef>
              <a:spcAft>
                <a:spcPts val="0"/>
              </a:spcAft>
              <a:buSzPts val="1000"/>
              <a:buChar char="●"/>
            </a:pPr>
            <a:r>
              <a:rPr lang="ja" sz="800" noProof="1"/>
              <a:t>The role of an OSPO is to catch changes in industry culture and trends and update internal culture</a:t>
            </a:r>
            <a:endParaRPr sz="800"/>
          </a:p>
        </p:txBody>
      </p:sp>
      <p:sp>
        <p:nvSpPr>
          <p:cNvPr id="609" name="Google Shape;609;p50"/>
          <p:cNvSpPr txBox="1"/>
          <p:nvPr/>
        </p:nvSpPr>
        <p:spPr>
          <a:xfrm>
            <a:off x="846000" y="34525"/>
            <a:ext cx="6737400" cy="5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ja" noProof="1">
                <a:solidFill>
                  <a:schemeClr val="dk1"/>
                </a:solidFill>
              </a:rPr>
              <a:t>What is an OSPO?</a:t>
            </a:r>
            <a:endParaRPr>
              <a:solidFill>
                <a:schemeClr val="dk1"/>
              </a:solidFill>
            </a:endParaRPr>
          </a:p>
          <a:p>
            <a:pPr marL="0" lvl="0" indent="0" algn="l" rtl="0">
              <a:spcBef>
                <a:spcPts val="0"/>
              </a:spcBef>
              <a:spcAft>
                <a:spcPts val="0"/>
              </a:spcAft>
              <a:buNone/>
            </a:pPr>
            <a:r>
              <a:rPr lang="ja" noProof="1"/>
              <a:t>Here is a summary of what an OSPO does at each stage of a company</a:t>
            </a:r>
            <a:endParaRPr/>
          </a:p>
        </p:txBody>
      </p:sp>
      <p:sp>
        <p:nvSpPr>
          <p:cNvPr id="610" name="Google Shape;610;p50"/>
          <p:cNvSpPr/>
          <p:nvPr/>
        </p:nvSpPr>
        <p:spPr>
          <a:xfrm>
            <a:off x="6971575" y="3575900"/>
            <a:ext cx="2127600" cy="921600"/>
          </a:xfrm>
          <a:prstGeom prst="wedgeRectCallout">
            <a:avLst>
              <a:gd name="adj1" fmla="val -56599"/>
              <a:gd name="adj2" fmla="val -1818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sz="800" b="1" noProof="1"/>
              <a:t>Roles that are independent of stage</a:t>
            </a:r>
            <a:endParaRPr sz="800" b="1"/>
          </a:p>
          <a:p>
            <a:pPr marL="89999" lvl="0" indent="-158750" algn="l" rtl="0">
              <a:spcBef>
                <a:spcPts val="0"/>
              </a:spcBef>
              <a:spcAft>
                <a:spcPts val="0"/>
              </a:spcAft>
              <a:buSzPts val="1000"/>
              <a:buChar char="●"/>
            </a:pPr>
            <a:r>
              <a:rPr lang="ja" sz="800" noProof="1"/>
              <a:t>Has a role of enlightening and penetrating</a:t>
            </a:r>
            <a:endParaRPr sz="800"/>
          </a:p>
          <a:p>
            <a:pPr marL="89999" lvl="0" indent="-158750" algn="l" rtl="0">
              <a:spcBef>
                <a:spcPts val="0"/>
              </a:spcBef>
              <a:spcAft>
                <a:spcPts val="0"/>
              </a:spcAft>
              <a:buSzPts val="1000"/>
              <a:buChar char="●"/>
            </a:pPr>
            <a:r>
              <a:rPr lang="ja" sz="800" noProof="1"/>
              <a:t>Has a life cycle: it grows and then shrinks when it penetrates</a:t>
            </a:r>
            <a:endParaRPr sz="800"/>
          </a:p>
        </p:txBody>
      </p:sp>
      <p:sp>
        <p:nvSpPr>
          <p:cNvPr id="611" name="Google Shape;611;p50"/>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ja" sz="560" u="sng" noProof="1">
                <a:solidFill>
                  <a:schemeClr val="hlink"/>
                </a:solidFill>
                <a:hlinkClick r:id="rId4"/>
              </a:rPr>
              <a:t>https://www.linuxfoundation.jp/wp-content/uploads/2022/11/ja_LFR_LFAID_Deep_Dive_Open_Source_Program_Offices_0830.pdf</a:t>
            </a:r>
            <a:endParaRPr sz="560" u="sng">
              <a:solidFill>
                <a:schemeClr val="hlink"/>
              </a:solidFill>
            </a:endParaRPr>
          </a:p>
          <a:p>
            <a:pPr marL="0" lvl="0" indent="0" algn="l" rtl="0">
              <a:lnSpc>
                <a:spcPct val="115000"/>
              </a:lnSpc>
              <a:spcBef>
                <a:spcPts val="0"/>
              </a:spcBef>
              <a:spcAft>
                <a:spcPts val="0"/>
              </a:spcAft>
              <a:buNone/>
            </a:pPr>
            <a:r>
              <a:rPr lang="ja" sz="560" noProof="1">
                <a:solidFill>
                  <a:schemeClr val="dk1"/>
                </a:solidFill>
              </a:rPr>
              <a:t>Ibrahim Haddad, “</a:t>
            </a:r>
            <a:r>
              <a:rPr lang="ja" sz="560" b="1" noProof="1">
                <a:solidFill>
                  <a:schemeClr val="dk1"/>
                </a:solidFill>
              </a:rPr>
              <a:t>A Deep Dive Into Open Source Program Offices:</a:t>
            </a:r>
            <a:endParaRPr sz="560" b="1">
              <a:solidFill>
                <a:schemeClr val="dk1"/>
              </a:solidFill>
            </a:endParaRPr>
          </a:p>
          <a:p>
            <a:pPr marL="0" lvl="0" indent="0" algn="l" rtl="0">
              <a:lnSpc>
                <a:spcPct val="115000"/>
              </a:lnSpc>
              <a:spcBef>
                <a:spcPts val="0"/>
              </a:spcBef>
              <a:spcAft>
                <a:spcPts val="0"/>
              </a:spcAft>
              <a:buNone/>
            </a:pPr>
            <a:r>
              <a:rPr lang="ja" sz="560" b="1" noProof="1">
                <a:solidFill>
                  <a:schemeClr val="dk1"/>
                </a:solidFill>
              </a:rPr>
              <a:t>Structure, Roles, Responsibilities, and Challenges “ foreword by Chris Aniszczyk, August, 2022</a:t>
            </a:r>
            <a:endParaRPr sz="64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51"/>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2024/6/28 agenda</a:t>
            </a:r>
            <a:endParaRPr/>
          </a:p>
        </p:txBody>
      </p:sp>
      <p:sp>
        <p:nvSpPr>
          <p:cNvPr id="617" name="Google Shape;617;p51"/>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AutoNum type="arabicPeriod"/>
            </a:pPr>
            <a:r>
              <a:rPr lang="ja" noProof="1"/>
              <a:t>Explanation of the code of conduct for the meeting</a:t>
            </a:r>
            <a:endParaRPr/>
          </a:p>
          <a:p>
            <a:pPr marL="457200" lvl="0" indent="-342900" algn="l" rtl="0">
              <a:spcBef>
                <a:spcPts val="0"/>
              </a:spcBef>
              <a:spcAft>
                <a:spcPts val="0"/>
              </a:spcAft>
              <a:buSzPts val="1800"/>
              <a:buAutoNum type="arabicPeriod"/>
            </a:pPr>
            <a:r>
              <a:rPr lang="ja" noProof="1"/>
              <a:t>Purpose of this meeting</a:t>
            </a:r>
            <a:endParaRPr/>
          </a:p>
          <a:p>
            <a:pPr marL="457200" lvl="0" indent="-342900" algn="l" rtl="0">
              <a:spcBef>
                <a:spcPts val="0"/>
              </a:spcBef>
              <a:spcAft>
                <a:spcPts val="0"/>
              </a:spcAft>
              <a:buSzPts val="1800"/>
              <a:buAutoNum type="arabicPeriod"/>
            </a:pPr>
            <a:r>
              <a:rPr lang="ja" noProof="1"/>
              <a:t>Introduction of self &amp; primary concern about OSPO</a:t>
            </a:r>
            <a:endParaRPr/>
          </a:p>
          <a:p>
            <a:pPr marL="457200" lvl="0" indent="-342900" algn="l" rtl="0">
              <a:spcBef>
                <a:spcPts val="0"/>
              </a:spcBef>
              <a:spcAft>
                <a:spcPts val="0"/>
              </a:spcAft>
              <a:buSzPts val="1800"/>
              <a:buAutoNum type="arabicPeriod"/>
            </a:pPr>
            <a:r>
              <a:rPr lang="ja" noProof="1"/>
              <a:t>How to proceed in the future</a:t>
            </a:r>
            <a:endParaRPr/>
          </a:p>
          <a:p>
            <a:pPr marL="914400" lvl="1" indent="-323850" algn="l" rtl="0">
              <a:spcBef>
                <a:spcPts val="0"/>
              </a:spcBef>
              <a:spcAft>
                <a:spcPts val="0"/>
              </a:spcAft>
              <a:buSzPts val="1500"/>
              <a:buAutoNum type="alphaLcPeriod"/>
            </a:pPr>
            <a:r>
              <a:rPr lang="ja" noProof="1"/>
              <a:t>Deliver results with a break?</a:t>
            </a:r>
            <a:endParaRPr/>
          </a:p>
          <a:p>
            <a:pPr marL="914400" lvl="1" indent="-323850" algn="l" rtl="0">
              <a:spcBef>
                <a:spcPts val="0"/>
              </a:spcBef>
              <a:spcAft>
                <a:spcPts val="0"/>
              </a:spcAft>
              <a:buSzPts val="1500"/>
              <a:buAutoNum type="alphaLcPeriod"/>
            </a:pPr>
            <a:r>
              <a:rPr lang="ja" noProof="1"/>
              <a:t>Does it meet the needs of participants?</a:t>
            </a:r>
            <a:endParaRPr/>
          </a:p>
          <a:p>
            <a:pPr marL="457200" lvl="0" indent="-342900" algn="l" rtl="0">
              <a:spcBef>
                <a:spcPts val="0"/>
              </a:spcBef>
              <a:spcAft>
                <a:spcPts val="0"/>
              </a:spcAft>
              <a:buSzPts val="1800"/>
              <a:buAutoNum type="arabicPeriod"/>
            </a:pPr>
            <a:r>
              <a:rPr lang="ja" noProof="1"/>
              <a:t>Discuss FAQ topics selected from topics of interest</a:t>
            </a:r>
            <a:endParaRPr/>
          </a:p>
          <a:p>
            <a:pPr marL="457200" lvl="0" indent="0" algn="l" rtl="0">
              <a:spcBef>
                <a:spcPts val="0"/>
              </a:spcBef>
              <a:spcAft>
                <a:spcPts val="0"/>
              </a:spcAft>
              <a:buNone/>
            </a:pPr>
            <a:r>
              <a:t> </a:t>
            </a:r>
          </a:p>
          <a:p>
            <a:pPr marL="457200" lvl="0" indent="0" algn="l" rtl="0">
              <a:spcBef>
                <a:spcPts val="0"/>
              </a:spcBef>
              <a:spcAft>
                <a:spcPts val="0"/>
              </a:spcAft>
              <a:buNone/>
            </a:pPr>
            <a:r>
              <a:t> </a:t>
            </a:r>
          </a:p>
          <a:p>
            <a:pPr marL="457200" lvl="0" indent="0" algn="l" rtl="0">
              <a:spcBef>
                <a:spcPts val="0"/>
              </a:spcBef>
              <a:spcAft>
                <a:spcPts val="0"/>
              </a:spcAft>
              <a:buNone/>
            </a:pPr>
            <a:r>
              <a:rPr lang="ja" b="1">
                <a:latin typeface="Courier New"/>
                <a:ea typeface="Courier New"/>
                <a:cs typeface="Courier New"/>
                <a:sym typeface="Courier New"/>
              </a:rPr>
              <a:t>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52"/>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Concerns</a:t>
            </a:r>
            <a:endParaRPr/>
          </a:p>
        </p:txBody>
      </p:sp>
      <p:sp>
        <p:nvSpPr>
          <p:cNvPr id="623" name="Google Shape;623;p52"/>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62500" lnSpcReduction="20000"/>
          </a:bodyPr>
          <a:lstStyle/>
          <a:p>
            <a:pPr marL="457200" lvl="0" indent="-300037" algn="l" rtl="0">
              <a:spcBef>
                <a:spcPts val="0"/>
              </a:spcBef>
              <a:spcAft>
                <a:spcPts val="0"/>
              </a:spcAft>
              <a:buSzPct val="100000"/>
              <a:buChar char="•"/>
            </a:pPr>
            <a:r>
              <a:rPr lang="ja" noProof="1"/>
              <a:t>I want to make sure people understand OSS correctly</a:t>
            </a:r>
            <a:endParaRPr/>
          </a:p>
          <a:p>
            <a:pPr marL="914400" lvl="1" indent="-288131" algn="l" rtl="0">
              <a:spcBef>
                <a:spcPts val="0"/>
              </a:spcBef>
              <a:spcAft>
                <a:spcPts val="0"/>
              </a:spcAft>
              <a:buSzPct val="100000"/>
              <a:buChar char="•"/>
            </a:pPr>
            <a:r>
              <a:rPr lang="ja" noProof="1"/>
              <a:t>If internal rules are not established based on correct understanding, development people will be in trouble.</a:t>
            </a:r>
            <a:endParaRPr/>
          </a:p>
          <a:p>
            <a:pPr marL="457200" lvl="0" indent="-300037" algn="l" rtl="0">
              <a:spcBef>
                <a:spcPts val="0"/>
              </a:spcBef>
              <a:spcAft>
                <a:spcPts val="0"/>
              </a:spcAft>
              <a:buSzPct val="100000"/>
              <a:buChar char="•"/>
            </a:pPr>
            <a:r>
              <a:rPr lang="ja" noProof="1"/>
              <a:t>Waving flags within the company</a:t>
            </a:r>
            <a:endParaRPr/>
          </a:p>
          <a:p>
            <a:pPr marL="457200" lvl="0" indent="-300037" algn="l" rtl="0">
              <a:spcBef>
                <a:spcPts val="0"/>
              </a:spcBef>
              <a:spcAft>
                <a:spcPts val="0"/>
              </a:spcAft>
              <a:buSzPct val="100000"/>
              <a:buChar char="•"/>
            </a:pPr>
            <a:r>
              <a:rPr lang="ja" noProof="1"/>
              <a:t>I want people to use OSS to improve work efficiency and focus more on what they should focus on.</a:t>
            </a:r>
            <a:endParaRPr/>
          </a:p>
          <a:p>
            <a:pPr marL="457200" lvl="0" indent="-300037" algn="l" rtl="0">
              <a:spcBef>
                <a:spcPts val="0"/>
              </a:spcBef>
              <a:spcAft>
                <a:spcPts val="0"/>
              </a:spcAft>
              <a:buSzPct val="100000"/>
              <a:buChar char="•"/>
            </a:pPr>
            <a:r>
              <a:rPr lang="ja" noProof="1"/>
              <a:t>Contribution activities are not evaluated correctly.</a:t>
            </a:r>
            <a:endParaRPr/>
          </a:p>
          <a:p>
            <a:pPr marL="914400" lvl="1" indent="-288131" algn="l" rtl="0">
              <a:spcBef>
                <a:spcPts val="0"/>
              </a:spcBef>
              <a:spcAft>
                <a:spcPts val="0"/>
              </a:spcAft>
              <a:buSzPct val="100000"/>
              <a:buChar char="•"/>
            </a:pPr>
            <a:r>
              <a:rPr lang="ja" noProof="1"/>
              <a:t>There is no understanding of what is necessary for the company.</a:t>
            </a:r>
            <a:endParaRPr/>
          </a:p>
          <a:p>
            <a:pPr marL="457200" lvl="0" indent="-300037" algn="l" rtl="0">
              <a:spcBef>
                <a:spcPts val="0"/>
              </a:spcBef>
              <a:spcAft>
                <a:spcPts val="0"/>
              </a:spcAft>
              <a:buSzPct val="100000"/>
              <a:buChar char="•"/>
            </a:pPr>
            <a:r>
              <a:rPr lang="ja" noProof="1"/>
              <a:t>What are the procedures that can be implemented in the field?</a:t>
            </a:r>
            <a:endParaRPr/>
          </a:p>
          <a:p>
            <a:pPr marL="914400" lvl="1" indent="-288131" algn="l" rtl="0">
              <a:spcBef>
                <a:spcPts val="0"/>
              </a:spcBef>
              <a:spcAft>
                <a:spcPts val="0"/>
              </a:spcAft>
              <a:buSzPct val="136363"/>
              <a:buChar char="•"/>
            </a:pPr>
            <a:r>
              <a:rPr lang="ja" sz="880" noProof="1">
                <a:latin typeface="Arial"/>
                <a:ea typeface="Arial"/>
                <a:cs typeface="Arial"/>
                <a:sym typeface="Arial"/>
              </a:rPr>
              <a:t>Listening to the self-introduction, I thought that LF has developed the information to be understood, so I will post the link.</a:t>
            </a:r>
            <a:endParaRPr sz="880">
              <a:latin typeface="Arial"/>
              <a:ea typeface="Arial"/>
              <a:cs typeface="Arial"/>
              <a:sym typeface="Arial"/>
            </a:endParaRPr>
          </a:p>
          <a:p>
            <a:pPr marL="914400" lvl="1" indent="-288131" algn="l" rtl="0">
              <a:spcBef>
                <a:spcPts val="0"/>
              </a:spcBef>
              <a:spcAft>
                <a:spcPts val="0"/>
              </a:spcAft>
              <a:buSzPct val="136363"/>
              <a:buChar char="•"/>
            </a:pPr>
            <a:r>
              <a:rPr lang="ja" sz="880" u="sng" noProof="1">
                <a:solidFill>
                  <a:schemeClr val="hlink"/>
                </a:solidFill>
                <a:latin typeface="Arial"/>
                <a:ea typeface="Arial"/>
                <a:cs typeface="Arial"/>
                <a:sym typeface="Arial"/>
                <a:hlinkClick r:id="rId3"/>
              </a:rPr>
              <a:t>Open Source Guide for Enterprises – The Linux Foundation</a:t>
            </a:r>
            <a:endParaRPr sz="880" u="sng">
              <a:solidFill>
                <a:schemeClr val="hlink"/>
              </a:solidFill>
              <a:latin typeface="Arial"/>
              <a:ea typeface="Arial"/>
              <a:cs typeface="Arial"/>
              <a:sym typeface="Arial"/>
              <a:hlinkClick r:id="rId3"/>
            </a:endParaRPr>
          </a:p>
          <a:p>
            <a:pPr marL="914400" lvl="1" indent="-288131" algn="l" rtl="0">
              <a:spcBef>
                <a:spcPts val="0"/>
              </a:spcBef>
              <a:spcAft>
                <a:spcPts val="0"/>
              </a:spcAft>
              <a:buSzPct val="136363"/>
              <a:buChar char="•"/>
            </a:pPr>
            <a:r>
              <a:rPr lang="ja" sz="880" noProof="1">
                <a:latin typeface="Arial"/>
                <a:ea typeface="Arial"/>
                <a:cs typeface="Arial"/>
                <a:sym typeface="Arial"/>
              </a:rPr>
              <a:t>Also, I'll put up a document when NVIDIA, a semiconductor company, made a presentation including examples of contributions for business.</a:t>
            </a:r>
            <a:endParaRPr sz="880">
              <a:latin typeface="Arial"/>
              <a:ea typeface="Arial"/>
              <a:cs typeface="Arial"/>
              <a:sym typeface="Arial"/>
            </a:endParaRPr>
          </a:p>
          <a:p>
            <a:pPr marL="914400" lvl="1" indent="-288131" algn="l" rtl="0">
              <a:spcBef>
                <a:spcPts val="0"/>
              </a:spcBef>
              <a:spcAft>
                <a:spcPts val="0"/>
              </a:spcAft>
              <a:buSzPct val="136363"/>
              <a:buChar char="•"/>
            </a:pPr>
            <a:r>
              <a:rPr lang="ja" sz="880" u="sng" noProof="1">
                <a:solidFill>
                  <a:schemeClr val="hlink"/>
                </a:solidFill>
                <a:latin typeface="Arial"/>
                <a:ea typeface="Arial"/>
                <a:cs typeface="Arial"/>
                <a:sym typeface="Arial"/>
                <a:hlinkClick r:id="rId4"/>
              </a:rPr>
              <a:t>https://static.sched.com/hosted_files/ossna2024/05/QuantitativeMethodContributionValue-KS_MK_202404.pdf</a:t>
            </a:r>
            <a:endParaRPr/>
          </a:p>
          <a:p>
            <a:pPr marL="914400" lvl="1" indent="-288131" algn="l" rtl="0">
              <a:spcBef>
                <a:spcPts val="0"/>
              </a:spcBef>
              <a:spcAft>
                <a:spcPts val="0"/>
              </a:spcAft>
              <a:buSzPct val="136363"/>
              <a:buChar char="•"/>
            </a:pPr>
            <a:r>
              <a:rPr lang="ja" sz="880" noProof="1">
                <a:latin typeface="Arial"/>
                <a:ea typeface="Arial"/>
                <a:cs typeface="Arial"/>
                <a:sym typeface="Arial"/>
              </a:rPr>
              <a:t>Information that Intel is sending out to the public</a:t>
            </a:r>
            <a:endParaRPr sz="880">
              <a:latin typeface="Arial"/>
              <a:ea typeface="Arial"/>
              <a:cs typeface="Arial"/>
              <a:sym typeface="Arial"/>
            </a:endParaRPr>
          </a:p>
          <a:p>
            <a:pPr marL="914400" lvl="1" indent="-288131" algn="l" rtl="0">
              <a:spcBef>
                <a:spcPts val="0"/>
              </a:spcBef>
              <a:spcAft>
                <a:spcPts val="0"/>
              </a:spcAft>
              <a:buSzPct val="136363"/>
              <a:buChar char="•"/>
            </a:pPr>
            <a:r>
              <a:rPr lang="ja" sz="880" u="sng" noProof="1">
                <a:solidFill>
                  <a:schemeClr val="hlink"/>
                </a:solidFill>
                <a:latin typeface="Arial"/>
                <a:ea typeface="Arial"/>
                <a:cs typeface="Arial"/>
                <a:sym typeface="Arial"/>
                <a:hlinkClick r:id="rId5"/>
              </a:rPr>
              <a:t>How Intel Supports Open Source from the Inside Out</a:t>
            </a:r>
            <a:endParaRPr sz="880" u="sng">
              <a:solidFill>
                <a:schemeClr val="hlink"/>
              </a:solidFill>
              <a:latin typeface="Arial"/>
              <a:ea typeface="Arial"/>
              <a:cs typeface="Arial"/>
              <a:sym typeface="Arial"/>
              <a:hlinkClick r:id="rId5"/>
            </a:endParaRPr>
          </a:p>
          <a:p>
            <a:pPr marL="914400" lvl="1" indent="-288131" algn="l" rtl="0">
              <a:spcBef>
                <a:spcPts val="0"/>
              </a:spcBef>
              <a:spcAft>
                <a:spcPts val="0"/>
              </a:spcAft>
              <a:buSzPct val="100000"/>
              <a:buChar char="•"/>
            </a:pPr>
            <a:r>
              <a:t> </a:t>
            </a:r>
          </a:p>
          <a:p>
            <a:pPr marL="457200" lvl="0" indent="-300037" algn="l" rtl="0">
              <a:spcBef>
                <a:spcPts val="0"/>
              </a:spcBef>
              <a:spcAft>
                <a:spcPts val="0"/>
              </a:spcAft>
              <a:buSzPct val="100000"/>
              <a:buChar char="•"/>
            </a:pPr>
            <a:r>
              <a:rPr lang="ja" noProof="1"/>
              <a:t>Who should be the executive in charge</a:t>
            </a:r>
            <a:endParaRPr/>
          </a:p>
          <a:p>
            <a:pPr marL="457200" lvl="0" indent="-300037" algn="l" rtl="0">
              <a:spcBef>
                <a:spcPts val="0"/>
              </a:spcBef>
              <a:spcAft>
                <a:spcPts val="0"/>
              </a:spcAft>
              <a:buSzPct val="100000"/>
              <a:buChar char="•"/>
            </a:pPr>
            <a:r>
              <a:rPr lang="ja" noProof="1"/>
              <a:t>How can OSS be useful for business</a:t>
            </a:r>
            <a:endParaRPr/>
          </a:p>
          <a:p>
            <a:pPr marL="457200" lvl="0" indent="-300037" algn="l" rtl="0">
              <a:spcBef>
                <a:spcPts val="0"/>
              </a:spcBef>
              <a:spcAft>
                <a:spcPts val="0"/>
              </a:spcAft>
              <a:buSzPct val="100000"/>
              <a:buChar char="•"/>
            </a:pPr>
            <a:r>
              <a:rPr lang="ja" noProof="1"/>
              <a:t>Evaluation indicators of OSS activities</a:t>
            </a:r>
            <a:endParaRPr/>
          </a:p>
          <a:p>
            <a:pPr marL="457200" lvl="0" indent="-300037" algn="l" rtl="0">
              <a:spcBef>
                <a:spcPts val="0"/>
              </a:spcBef>
              <a:spcAft>
                <a:spcPts val="0"/>
              </a:spcAft>
              <a:buSzPct val="100000"/>
              <a:buChar char="•"/>
            </a:pPr>
            <a:r>
              <a:rPr lang="ja" noProof="1"/>
              <a:t>I want business divisions to think of OSS as their own business</a:t>
            </a:r>
            <a:endParaRPr/>
          </a:p>
          <a:p>
            <a:pPr marL="457200" lvl="0" indent="-300037" algn="l" rtl="0">
              <a:spcBef>
                <a:spcPts val="0"/>
              </a:spcBef>
              <a:spcAft>
                <a:spcPts val="0"/>
              </a:spcAft>
              <a:buSzPct val="100000"/>
              <a:buChar char="•"/>
            </a:pPr>
            <a:r>
              <a:rPr lang="ja" noProof="1"/>
              <a:t>The current situation of AI is similar to the initial situation of OSS (Don't use it because it's dangerous.)</a:t>
            </a:r>
            <a:endParaRPr/>
          </a:p>
          <a:p>
            <a:pPr marL="457200" lvl="0" indent="-300037" algn="l" rtl="0">
              <a:spcBef>
                <a:spcPts val="0"/>
              </a:spcBef>
              <a:spcAft>
                <a:spcPts val="0"/>
              </a:spcAft>
              <a:buSzPct val="100000"/>
              <a:buChar char="•"/>
            </a:pPr>
            <a:r>
              <a:rPr lang="ja" noProof="1"/>
              <a:t>Japanese companies tend not to move without external pressure. Can we do something about this?</a:t>
            </a:r>
            <a:endParaRPr/>
          </a:p>
          <a:p>
            <a:pPr marL="457200" lvl="0" indent="-300037" algn="l" rtl="0">
              <a:spcBef>
                <a:spcPts val="0"/>
              </a:spcBef>
              <a:spcAft>
                <a:spcPts val="0"/>
              </a:spcAft>
              <a:buSzPct val="100000"/>
              <a:buChar char="•"/>
            </a:pPr>
            <a:r>
              <a:rPr lang="ja" noProof="1"/>
              <a:t>I want to lead in addition to governance</a:t>
            </a:r>
            <a:endParaRPr/>
          </a:p>
          <a:p>
            <a:pPr marL="457200" lvl="0" indent="-300037" algn="l" rtl="0">
              <a:spcBef>
                <a:spcPts val="0"/>
              </a:spcBef>
              <a:spcAft>
                <a:spcPts val="0"/>
              </a:spcAft>
              <a:buSzPct val="100000"/>
              <a:buChar char="•"/>
            </a:pPr>
            <a:r>
              <a:rPr lang="ja" noProof="1"/>
              <a:t>Cybersecurity is also getting attention</a:t>
            </a:r>
            <a:endParaRPr/>
          </a:p>
          <a:p>
            <a:pPr marL="457200" lvl="0" indent="-300037" algn="l" rtl="0">
              <a:spcBef>
                <a:spcPts val="0"/>
              </a:spcBef>
              <a:spcAft>
                <a:spcPts val="0"/>
              </a:spcAft>
              <a:buSzPct val="100000"/>
              <a:buChar char="•"/>
            </a:pPr>
            <a:r>
              <a:rPr lang="ja" noProof="1"/>
              <a:t>There is a difference in temperature between departments within the company</a:t>
            </a:r>
            <a:endParaRPr/>
          </a:p>
          <a:p>
            <a:pPr marL="457200" lvl="0" indent="-300037" algn="l" rtl="0">
              <a:spcBef>
                <a:spcPts val="0"/>
              </a:spcBef>
              <a:spcAft>
                <a:spcPts val="0"/>
              </a:spcAft>
              <a:buSzPct val="100000"/>
              <a:buChar char="•"/>
            </a:pPr>
            <a:r>
              <a:rPr lang="ja" noProof="1"/>
              <a:t>There is a problem with the process when bringing in OSS (I want people to choose safe OSS)</a:t>
            </a:r>
            <a:endParaRPr/>
          </a:p>
          <a:p>
            <a:pPr marL="457200" lvl="0" indent="-300037" algn="l" rtl="0">
              <a:spcBef>
                <a:spcPts val="0"/>
              </a:spcBef>
              <a:spcAft>
                <a:spcPts val="0"/>
              </a:spcAft>
              <a:buSzPct val="100000"/>
              <a:buChar char="•"/>
            </a:pPr>
            <a:r>
              <a:rPr lang="ja" noProof="1"/>
              <a:t>What kind of people are needed to recruit OSPO members?</a:t>
            </a:r>
            <a:endParaRPr/>
          </a:p>
          <a:p>
            <a:pPr marL="457200" lvl="0" indent="-300037" algn="l" rtl="0">
              <a:spcBef>
                <a:spcPts val="0"/>
              </a:spcBef>
              <a:spcAft>
                <a:spcPts val="0"/>
              </a:spcAft>
              <a:buSzPct val="100000"/>
              <a:buChar char="•"/>
            </a:pPr>
            <a:r>
              <a:rPr lang="ja" noProof="1"/>
              <a:t>Are the issues of OSPO different between Japan and overseas?</a:t>
            </a:r>
            <a:endParaRPr/>
          </a:p>
          <a:p>
            <a:pPr marL="0" lvl="0" indent="0" algn="l" rtl="0">
              <a:spcBef>
                <a:spcPts val="0"/>
              </a:spcBef>
              <a:spcAft>
                <a:spcPts val="0"/>
              </a:spcAft>
              <a:buNone/>
            </a:pPr>
            <a:r>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53"/>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t> </a:t>
            </a:r>
          </a:p>
        </p:txBody>
      </p:sp>
      <p:sp>
        <p:nvSpPr>
          <p:cNvPr id="629" name="Google Shape;629;p53"/>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noProof="1"/>
              <a:t>Has software recently changed from something you develop to something you procure?</a:t>
            </a:r>
            <a:endParaRPr/>
          </a:p>
          <a:p>
            <a:pPr marL="457200" lvl="0" indent="-342900" algn="l" rtl="0">
              <a:spcBef>
                <a:spcPts val="0"/>
              </a:spcBef>
              <a:spcAft>
                <a:spcPts val="0"/>
              </a:spcAft>
              <a:buSzPts val="1800"/>
              <a:buChar char="•"/>
            </a:pPr>
            <a:r>
              <a:rPr lang="ja" noProof="1"/>
              <a:t>Cloud services have become mainstream, and people develop as OSS and make money from the service. Japan has yet to catch up.</a:t>
            </a:r>
            <a:endParaRPr/>
          </a:p>
          <a:p>
            <a:pPr marL="457200" lvl="0" indent="-342900" algn="l" rtl="0">
              <a:spcBef>
                <a:spcPts val="0"/>
              </a:spcBef>
              <a:spcAft>
                <a:spcPts val="0"/>
              </a:spcAft>
              <a:buSzPts val="1800"/>
              <a:buChar char="•"/>
            </a:pPr>
            <a:r>
              <a:rPr lang="ja" noProof="1"/>
              <a:t>Unique to Japan?</a:t>
            </a:r>
            <a:endParaRPr/>
          </a:p>
          <a:p>
            <a:pPr marL="457200" lvl="0" indent="-342900" algn="l" rtl="0">
              <a:spcBef>
                <a:spcPts val="0"/>
              </a:spcBef>
              <a:spcAft>
                <a:spcPts val="0"/>
              </a:spcAft>
              <a:buSzPts val="1800"/>
              <a:buChar char="•"/>
            </a:pPr>
            <a:r>
              <a:rPr lang="ja" noProof="1"/>
              <a:t>FAQ Suggested theme:</a:t>
            </a:r>
            <a:endParaRPr/>
          </a:p>
          <a:p>
            <a:pPr marL="914400" lvl="1" indent="-323850" algn="l" rtl="0">
              <a:spcBef>
                <a:spcPts val="0"/>
              </a:spcBef>
              <a:spcAft>
                <a:spcPts val="0"/>
              </a:spcAft>
              <a:buSzPts val="1500"/>
              <a:buChar char="•"/>
            </a:pPr>
            <a:r>
              <a:rPr lang="ja" noProof="1"/>
              <a:t>What is contribution?</a:t>
            </a:r>
            <a:endParaRPr/>
          </a:p>
          <a:p>
            <a:pPr marL="1371600" lvl="2" indent="-304800" algn="l" rtl="0">
              <a:spcBef>
                <a:spcPts val="0"/>
              </a:spcBef>
              <a:spcAft>
                <a:spcPts val="0"/>
              </a:spcAft>
              <a:buSzPts val="1200"/>
              <a:buChar char="•"/>
            </a:pPr>
            <a:r>
              <a:rPr lang="ja" noProof="1"/>
              <a:t>Deepen understanding</a:t>
            </a:r>
            <a:endParaRPr/>
          </a:p>
          <a:p>
            <a:pPr marL="1371600" lvl="2" indent="-304800" algn="l" rtl="0">
              <a:spcBef>
                <a:spcPts val="0"/>
              </a:spcBef>
              <a:spcAft>
                <a:spcPts val="0"/>
              </a:spcAft>
              <a:buSzPts val="1200"/>
              <a:buChar char="•"/>
            </a:pPr>
            <a:r>
              <a:rPr lang="ja" noProof="1"/>
              <a:t>How to communicate</a:t>
            </a:r>
            <a:endParaRPr/>
          </a:p>
          <a:p>
            <a:pPr marL="1371600" lvl="2" indent="-304800" algn="l" rtl="0">
              <a:spcBef>
                <a:spcPts val="0"/>
              </a:spcBef>
              <a:spcAft>
                <a:spcPts val="0"/>
              </a:spcAft>
              <a:buSzPts val="1200"/>
              <a:buChar char="•"/>
            </a:pPr>
            <a:r>
              <a:rPr lang="ja" noProof="1"/>
              <a:t>How to measure value</a:t>
            </a:r>
            <a:endParaRPr/>
          </a:p>
          <a:p>
            <a:pPr marL="457200" lvl="0" indent="-342900" algn="l" rtl="0">
              <a:spcBef>
                <a:spcPts val="0"/>
              </a:spcBef>
              <a:spcAft>
                <a:spcPts val="0"/>
              </a:spcAft>
              <a:buSzPts val="1800"/>
              <a:buChar char="•"/>
            </a:pPr>
            <a:r>
              <a:rPr lang="ja" noProof="1"/>
              <a:t>It is easier to communicate OSS contributions if they are explained in the activities of the standardization committee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54"/>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Gathering material (2024/7/26)</a:t>
            </a:r>
            <a:endParaRPr/>
          </a:p>
        </p:txBody>
      </p:sp>
      <p:sp>
        <p:nvSpPr>
          <p:cNvPr id="635" name="Google Shape;635;p54"/>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noProof="1"/>
              <a:t>Why make OSS education a company-wide education?</a:t>
            </a:r>
            <a:endParaRPr/>
          </a:p>
          <a:p>
            <a:pPr marL="914400" lvl="1" indent="-323850" algn="l" rtl="0">
              <a:spcBef>
                <a:spcPts val="0"/>
              </a:spcBef>
              <a:spcAft>
                <a:spcPts val="0"/>
              </a:spcAft>
              <a:buSzPts val="1500"/>
              <a:buChar char="•"/>
            </a:pPr>
            <a:r>
              <a:rPr lang="ja" noProof="1"/>
              <a:t>Gather and share examples from other companies</a:t>
            </a:r>
            <a:endParaRPr/>
          </a:p>
          <a:p>
            <a:pPr marL="457200" lvl="0" indent="-342900" algn="l" rtl="0">
              <a:spcBef>
                <a:spcPts val="0"/>
              </a:spcBef>
              <a:spcAft>
                <a:spcPts val="0"/>
              </a:spcAft>
              <a:buSzPts val="1800"/>
              <a:buChar char="•"/>
            </a:pPr>
            <a:r>
              <a:rPr lang="ja" noProof="1"/>
              <a:t>Is there a common model for dividing education content into levels (Foundations, Licensing, Practice, Strategy)?</a:t>
            </a:r>
            <a:endParaRPr/>
          </a:p>
          <a:p>
            <a:pPr marL="914400" lvl="1" indent="-323850" algn="l" rtl="0">
              <a:spcBef>
                <a:spcPts val="0"/>
              </a:spcBef>
              <a:spcAft>
                <a:spcPts val="0"/>
              </a:spcAft>
              <a:buSzPts val="1500"/>
              <a:buChar char="•"/>
            </a:pPr>
            <a:r>
              <a:rPr lang="ja" noProof="1"/>
              <a:t>Management Education: A Good Way for General Managers, Section Chiefs, and Management</a:t>
            </a:r>
            <a:endParaRPr/>
          </a:p>
          <a:p>
            <a:pPr marL="457200" lvl="0" indent="-342900" algn="l" rtl="0">
              <a:spcBef>
                <a:spcPts val="0"/>
              </a:spcBef>
              <a:spcAft>
                <a:spcPts val="0"/>
              </a:spcAft>
              <a:buSzPts val="1800"/>
              <a:buChar char="•"/>
            </a:pPr>
            <a:r>
              <a:rPr lang="ja" noProof="1"/>
              <a:t>How to Start: Where to Start</a:t>
            </a:r>
            <a:endParaRPr/>
          </a:p>
          <a:p>
            <a:pPr marL="914400" lvl="1" indent="-323850" algn="l" rtl="0">
              <a:spcBef>
                <a:spcPts val="0"/>
              </a:spcBef>
              <a:spcAft>
                <a:spcPts val="0"/>
              </a:spcAft>
              <a:buSzPts val="1500"/>
              <a:buChar char="•"/>
            </a:pPr>
            <a:r>
              <a:rPr lang="ja" noProof="1"/>
              <a:t>Collect and share triggers at LT. I feel there are differences in the industry.</a:t>
            </a:r>
            <a:endParaRPr/>
          </a:p>
          <a:p>
            <a:pPr marL="457200" lvl="0" indent="-342900" algn="l" rtl="0">
              <a:spcBef>
                <a:spcPts val="0"/>
              </a:spcBef>
              <a:spcAft>
                <a:spcPts val="0"/>
              </a:spcAft>
              <a:buSzPts val="1800"/>
              <a:buChar char="•"/>
            </a:pPr>
            <a:r>
              <a:rPr lang="ja" noProof="1"/>
              <a:t>Desirable relationship between OSS community and companies and why</a:t>
            </a:r>
            <a:endParaRPr/>
          </a:p>
          <a:p>
            <a:pPr marL="457200" lvl="0" indent="-342900" algn="l" rtl="0">
              <a:spcBef>
                <a:spcPts val="0"/>
              </a:spcBef>
              <a:spcAft>
                <a:spcPts val="0"/>
              </a:spcAft>
              <a:buSzPts val="1800"/>
              <a:buChar char="•"/>
            </a:pPr>
            <a:r>
              <a:rPr lang="ja" noProof="1"/>
              <a:t>EU countries, cities have OSPO</a:t>
            </a:r>
            <a:endParaRPr/>
          </a:p>
          <a:p>
            <a:pPr marL="914400" lvl="1" indent="-323850" algn="l" rtl="0">
              <a:spcBef>
                <a:spcPts val="0"/>
              </a:spcBef>
              <a:spcAft>
                <a:spcPts val="0"/>
              </a:spcAft>
              <a:buSzPts val="1500"/>
              <a:buChar char="•"/>
            </a:pPr>
            <a:r>
              <a:rPr lang="ja" noProof="1"/>
              <a:t>EU Commission Waves Flag: To Combat US Big Tech</a:t>
            </a:r>
            <a:endParaRPr/>
          </a:p>
          <a:p>
            <a:pPr marL="1371600" lvl="2" indent="-304800" algn="l" rtl="0">
              <a:spcBef>
                <a:spcPts val="0"/>
              </a:spcBef>
              <a:spcAft>
                <a:spcPts val="0"/>
              </a:spcAft>
              <a:buSzPts val="1200"/>
              <a:buChar char="•"/>
            </a:pPr>
            <a:r>
              <a:rPr lang="ja" sz="880" u="sng" noProof="1">
                <a:solidFill>
                  <a:schemeClr val="hlink"/>
                </a:solidFill>
                <a:latin typeface="Arial"/>
                <a:ea typeface="Arial"/>
                <a:cs typeface="Arial"/>
                <a:sym typeface="Arial"/>
                <a:hlinkClick r:id="rId3"/>
              </a:rPr>
              <a:t>Creating a System for Each Municipality Is Limited |Hal Seki (note.com)</a:t>
            </a:r>
            <a:endParaRPr/>
          </a:p>
          <a:p>
            <a:pPr marL="914400" lvl="1" indent="-323850" algn="l" rtl="0">
              <a:spcBef>
                <a:spcPts val="0"/>
              </a:spcBef>
              <a:spcAft>
                <a:spcPts val="0"/>
              </a:spcAft>
              <a:buSzPts val="1500"/>
              <a:buChar char="•"/>
            </a:pPr>
            <a:r>
              <a:rPr lang="ja" noProof="1"/>
              <a:t>Why not publicize the need for OSS/OSPO to make money?</a:t>
            </a:r>
            <a:endParaRPr/>
          </a:p>
          <a:p>
            <a:pPr marL="457200" lvl="0" indent="-342900" algn="l" rtl="0">
              <a:spcBef>
                <a:spcPts val="0"/>
              </a:spcBef>
              <a:spcAft>
                <a:spcPts val="0"/>
              </a:spcAft>
              <a:buSzPts val="1800"/>
              <a:buChar char="•"/>
            </a:pPr>
            <a:r>
              <a:rPr lang="ja" noProof="1"/>
              <a:t>I want to communicate the benefits of community activities to the company.</a:t>
            </a:r>
            <a:endParaRPr/>
          </a:p>
          <a:p>
            <a:pPr marL="457200" lvl="0" indent="-342900" algn="l" rtl="0">
              <a:spcBef>
                <a:spcPts val="0"/>
              </a:spcBef>
              <a:spcAft>
                <a:spcPts val="0"/>
              </a:spcAft>
              <a:buSzPts val="1800"/>
              <a:buChar char="•"/>
            </a:pPr>
            <a:r>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55"/>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About 2024/8/23 Contribution</a:t>
            </a:r>
            <a:endParaRPr/>
          </a:p>
        </p:txBody>
      </p:sp>
      <p:sp>
        <p:nvSpPr>
          <p:cNvPr id="641" name="Google Shape;641;p55"/>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70000" lnSpcReduction="20000"/>
          </a:bodyPr>
          <a:lstStyle/>
          <a:p>
            <a:pPr marL="457200" lvl="0" indent="-308610" algn="l" rtl="0">
              <a:spcBef>
                <a:spcPts val="0"/>
              </a:spcBef>
              <a:spcAft>
                <a:spcPts val="0"/>
              </a:spcAft>
              <a:buSzPct val="100000"/>
              <a:buChar char="•"/>
            </a:pPr>
            <a:r>
              <a:rPr lang="ja" noProof="1"/>
              <a:t>Contribution</a:t>
            </a:r>
            <a:endParaRPr/>
          </a:p>
          <a:p>
            <a:pPr marL="914400" lvl="1" indent="-295275" algn="l" rtl="0">
              <a:spcBef>
                <a:spcPts val="0"/>
              </a:spcBef>
              <a:spcAft>
                <a:spcPts val="0"/>
              </a:spcAft>
              <a:buSzPct val="100000"/>
              <a:buChar char="•"/>
            </a:pPr>
            <a:r>
              <a:rPr lang="ja" noProof="1"/>
              <a:t>Example:Issue report, defect report, correction proposal</a:t>
            </a:r>
            <a:endParaRPr/>
          </a:p>
          <a:p>
            <a:pPr marL="914400" lvl="1" indent="-295275" algn="l" rtl="0">
              <a:spcBef>
                <a:spcPts val="0"/>
              </a:spcBef>
              <a:spcAft>
                <a:spcPts val="0"/>
              </a:spcAft>
              <a:buSzPct val="100000"/>
              <a:buChar char="•"/>
            </a:pPr>
            <a:r>
              <a:rPr lang="ja" noProof="1"/>
              <a:t>Document creation, event participation, actively promoting the event</a:t>
            </a:r>
            <a:endParaRPr/>
          </a:p>
          <a:p>
            <a:pPr marL="914400" lvl="1" indent="-295275" algn="l" rtl="0">
              <a:spcBef>
                <a:spcPts val="0"/>
              </a:spcBef>
              <a:spcAft>
                <a:spcPts val="0"/>
              </a:spcAft>
              <a:buSzPct val="100000"/>
              <a:buChar char="•"/>
            </a:pPr>
            <a:r>
              <a:rPr lang="ja" noProof="1"/>
              <a:t>Introducing and promoting the community through blogs, etc.</a:t>
            </a:r>
            <a:endParaRPr/>
          </a:p>
          <a:p>
            <a:pPr marL="914400" lvl="1" indent="-295275" algn="l" rtl="0">
              <a:spcBef>
                <a:spcPts val="0"/>
              </a:spcBef>
              <a:spcAft>
                <a:spcPts val="0"/>
              </a:spcAft>
              <a:buSzPct val="100000"/>
              <a:buChar char="•"/>
            </a:pPr>
            <a:r>
              <a:rPr lang="ja" noProof="1"/>
              <a:t>In general, anything that activates the community is a Contribution.</a:t>
            </a:r>
            <a:endParaRPr/>
          </a:p>
          <a:p>
            <a:pPr marL="914400" lvl="1" indent="-295275" algn="l" rtl="0">
              <a:spcBef>
                <a:spcPts val="0"/>
              </a:spcBef>
              <a:spcAft>
                <a:spcPts val="0"/>
              </a:spcAft>
              <a:buSzPct val="100000"/>
              <a:buChar char="•"/>
            </a:pPr>
            <a:r>
              <a:rPr lang="ja" noProof="1"/>
              <a:t>Donation (sponsorship)</a:t>
            </a:r>
            <a:endParaRPr/>
          </a:p>
          <a:p>
            <a:pPr marL="1371600" lvl="2" indent="-281939" algn="l" rtl="0">
              <a:spcBef>
                <a:spcPts val="0"/>
              </a:spcBef>
              <a:spcAft>
                <a:spcPts val="0"/>
              </a:spcAft>
              <a:buSzPct val="100000"/>
              <a:buChar char="•"/>
            </a:pPr>
            <a:r>
              <a:rPr lang="ja" noProof="1"/>
              <a:t>Fees for projects, events, and membership to the Foundation</a:t>
            </a:r>
            <a:endParaRPr/>
          </a:p>
          <a:p>
            <a:pPr marL="1371600" lvl="2" indent="-281939" algn="l" rtl="0">
              <a:spcBef>
                <a:spcPts val="0"/>
              </a:spcBef>
              <a:spcAft>
                <a:spcPts val="0"/>
              </a:spcAft>
              <a:buSzPct val="100000"/>
              <a:buChar char="•"/>
            </a:pPr>
            <a:r>
              <a:rPr lang="ja" noProof="1"/>
              <a:t>Provision of goods and infrastructure</a:t>
            </a:r>
            <a:endParaRPr/>
          </a:p>
          <a:p>
            <a:pPr marL="457200" lvl="0" indent="-308610" algn="l" rtl="0">
              <a:spcBef>
                <a:spcPts val="0"/>
              </a:spcBef>
              <a:spcAft>
                <a:spcPts val="0"/>
              </a:spcAft>
              <a:buSzPct val="100000"/>
              <a:buChar char="•"/>
            </a:pPr>
            <a:r>
              <a:rPr lang="ja" noProof="1"/>
              <a:t>Why contributions are necessary and important</a:t>
            </a:r>
            <a:endParaRPr/>
          </a:p>
          <a:p>
            <a:pPr marL="914400" lvl="1" indent="-295275" algn="l" rtl="0">
              <a:spcBef>
                <a:spcPts val="0"/>
              </a:spcBef>
              <a:spcAft>
                <a:spcPts val="0"/>
              </a:spcAft>
              <a:buSzPct val="100000"/>
              <a:buChar char="•"/>
            </a:pPr>
            <a:r>
              <a:rPr lang="ja" noProof="1"/>
              <a:t>Don't put your company at a disadvantage: Document, create a common understanding</a:t>
            </a:r>
            <a:endParaRPr/>
          </a:p>
          <a:p>
            <a:pPr marL="914400" lvl="1" indent="-295275" algn="l" rtl="0">
              <a:spcBef>
                <a:spcPts val="0"/>
              </a:spcBef>
              <a:spcAft>
                <a:spcPts val="0"/>
              </a:spcAft>
              <a:buSzPct val="100000"/>
              <a:buChar char="•"/>
            </a:pPr>
            <a:r>
              <a:rPr lang="ja" noProof="1"/>
              <a:t>Broaden the scope of your devices (competitive area) (increase users)</a:t>
            </a:r>
            <a:endParaRPr/>
          </a:p>
          <a:p>
            <a:pPr marL="914400" lvl="1" indent="-295275" algn="l" rtl="0">
              <a:spcBef>
                <a:spcPts val="0"/>
              </a:spcBef>
              <a:spcAft>
                <a:spcPts val="0"/>
              </a:spcAft>
              <a:buSzPct val="100000"/>
              <a:buChar char="•"/>
            </a:pPr>
            <a:r>
              <a:rPr lang="ja" noProof="1"/>
              <a:t>As an SIer, avoid vendor lock-in when making software in-house</a:t>
            </a:r>
            <a:endParaRPr/>
          </a:p>
          <a:p>
            <a:pPr marL="914400" lvl="1" indent="-295275" algn="l" rtl="0">
              <a:spcBef>
                <a:spcPts val="0"/>
              </a:spcBef>
              <a:spcAft>
                <a:spcPts val="0"/>
              </a:spcAft>
              <a:buSzPct val="100000"/>
              <a:buChar char="•"/>
            </a:pPr>
            <a:r>
              <a:rPr lang="ja" noProof="1"/>
              <a:t>Increase your company's presence and win business deals</a:t>
            </a:r>
            <a:endParaRPr/>
          </a:p>
          <a:p>
            <a:pPr marL="914400" lvl="1" indent="-295275" algn="l" rtl="0">
              <a:spcBef>
                <a:spcPts val="0"/>
              </a:spcBef>
              <a:spcAft>
                <a:spcPts val="0"/>
              </a:spcAft>
              <a:buSzPct val="100000"/>
              <a:buChar char="•"/>
            </a:pPr>
            <a:r>
              <a:rPr lang="ja" noProof="1"/>
              <a:t>Improve developer (employee) satisfaction ➡ Increase a sense of belonging and attract developers</a:t>
            </a:r>
            <a:endParaRPr/>
          </a:p>
          <a:p>
            <a:pPr marL="1371600" lvl="2" indent="-281939" algn="l" rtl="0">
              <a:spcBef>
                <a:spcPts val="0"/>
              </a:spcBef>
              <a:spcAft>
                <a:spcPts val="0"/>
              </a:spcAft>
              <a:buSzPct val="100000"/>
              <a:buChar char="•"/>
            </a:pPr>
            <a:r>
              <a:rPr lang="ja" noProof="1"/>
              <a:t>On the hiring side, find and hire people who are active in the community</a:t>
            </a:r>
            <a:endParaRPr/>
          </a:p>
          <a:p>
            <a:pPr marL="914400" lvl="1" indent="-295275" algn="l" rtl="0">
              <a:spcBef>
                <a:spcPts val="0"/>
              </a:spcBef>
              <a:spcAft>
                <a:spcPts val="0"/>
              </a:spcAft>
              <a:buSzPct val="100000"/>
              <a:buChar char="•"/>
            </a:pPr>
            <a:r>
              <a:rPr lang="ja" noProof="1"/>
              <a:t>Development and technical aspects</a:t>
            </a:r>
            <a:endParaRPr/>
          </a:p>
          <a:p>
            <a:pPr marL="1371600" lvl="2" indent="-281939" algn="l" rtl="0">
              <a:spcBef>
                <a:spcPts val="0"/>
              </a:spcBef>
              <a:spcAft>
                <a:spcPts val="0"/>
              </a:spcAft>
              <a:buSzPct val="100000"/>
              <a:buChar char="•"/>
            </a:pPr>
            <a:r>
              <a:rPr lang="ja" noProof="1"/>
              <a:t>Utilize the community as a place to solve technical issues (Improve performance and functions to make our products more competitive)</a:t>
            </a:r>
            <a:endParaRPr/>
          </a:p>
          <a:p>
            <a:pPr marL="1371600" lvl="2" indent="-281939" algn="l" rtl="0">
              <a:spcBef>
                <a:spcPts val="0"/>
              </a:spcBef>
              <a:spcAft>
                <a:spcPts val="0"/>
              </a:spcAft>
              <a:buSzPct val="100000"/>
              <a:buChar char="•"/>
            </a:pPr>
            <a:r>
              <a:rPr lang="ja" noProof="1"/>
              <a:t>Reduce development costs by following security measures (Contributions can reduce costs if the difference between the OSS version is small)</a:t>
            </a:r>
            <a:endParaRPr/>
          </a:p>
          <a:p>
            <a:pPr marL="914400" lvl="1" indent="-295275" algn="l" rtl="0">
              <a:spcBef>
                <a:spcPts val="0"/>
              </a:spcBef>
              <a:spcAft>
                <a:spcPts val="0"/>
              </a:spcAft>
              <a:buSzPct val="100000"/>
              <a:buChar char="•"/>
            </a:pPr>
            <a:r>
              <a:rPr lang="ja" noProof="1"/>
              <a:t>Raise one's own value as an individual engineer: Achievements remain as public information</a:t>
            </a:r>
            <a:endParaRPr/>
          </a:p>
          <a:p>
            <a:pPr marL="457200" lvl="0" indent="-308610" algn="l" rtl="0">
              <a:spcBef>
                <a:spcPts val="0"/>
              </a:spcBef>
              <a:spcAft>
                <a:spcPts val="0"/>
              </a:spcAft>
              <a:buSzPct val="100000"/>
              <a:buChar char="•"/>
            </a:pPr>
            <a:r>
              <a:rPr lang="ja" noProof="1"/>
              <a:t>Even so, it's hard to convince people</a:t>
            </a:r>
            <a:endParaRPr/>
          </a:p>
          <a:p>
            <a:pPr marL="914400" lvl="1" indent="-295275" algn="l" rtl="0">
              <a:spcBef>
                <a:spcPts val="0"/>
              </a:spcBef>
              <a:spcAft>
                <a:spcPts val="0"/>
              </a:spcAft>
              <a:buSzPct val="100000"/>
              <a:buChar char="•"/>
            </a:pPr>
            <a:r>
              <a:rPr lang="ja" noProof="1"/>
              <a:t>OSS forms a de facto standard</a:t>
            </a:r>
            <a:endParaRPr/>
          </a:p>
          <a:p>
            <a:pPr marL="914400" lvl="1" indent="-295275" algn="l" rtl="0">
              <a:spcBef>
                <a:spcPts val="0"/>
              </a:spcBef>
              <a:spcAft>
                <a:spcPts val="0"/>
              </a:spcAft>
              <a:buSzPct val="100000"/>
              <a:buChar char="•"/>
            </a:pPr>
            <a:r>
              <a:rPr lang="ja" noProof="1"/>
              <a:t>It's easier to convince people if they can map the current OSS model to past success models</a:t>
            </a:r>
            <a:endParaRPr/>
          </a:p>
          <a:p>
            <a:pPr marL="914400" lvl="1" indent="-295275" algn="l" rtl="0">
              <a:spcBef>
                <a:spcPts val="0"/>
              </a:spcBef>
              <a:spcAft>
                <a:spcPts val="0"/>
              </a:spcAft>
              <a:buSzPct val="100000"/>
              <a:buChar char="•"/>
            </a:pPr>
            <a:r>
              <a:rPr lang="ja" noProof="1"/>
              <a:t>It's hard to show how the money spent will be returned ➡ it's difficult unless it's top-down</a:t>
            </a:r>
            <a:endParaRPr/>
          </a:p>
          <a:p>
            <a:pPr marL="914400" lvl="1" indent="-295275" algn="l" rtl="0">
              <a:spcBef>
                <a:spcPts val="0"/>
              </a:spcBef>
              <a:spcAft>
                <a:spcPts val="0"/>
              </a:spcAft>
              <a:buSzPct val="100000"/>
              <a:buChar char="•"/>
            </a:pPr>
            <a:r>
              <a:rPr lang="ja" noProof="1"/>
              <a:t>It's hard to break even if you see OSS as just a software development activity</a:t>
            </a:r>
            <a:endParaRPr/>
          </a:p>
          <a:p>
            <a:pPr marL="914400" lvl="1" indent="-295275" algn="l" rtl="0">
              <a:spcBef>
                <a:spcPts val="0"/>
              </a:spcBef>
              <a:spcAft>
                <a:spcPts val="0"/>
              </a:spcAft>
              <a:buSzPct val="100000"/>
              <a:buChar char="•"/>
            </a:pPr>
            <a:r>
              <a:rPr lang="ja" noProof="1"/>
              <a:t>Even if you don't do it, someone will do it How to communicate old things</a:t>
            </a:r>
            <a:endParaRPr/>
          </a:p>
          <a:p>
            <a:pPr marL="914400" lvl="1" indent="-295275" algn="l" rtl="0">
              <a:spcBef>
                <a:spcPts val="0"/>
              </a:spcBef>
              <a:spcAft>
                <a:spcPts val="0"/>
              </a:spcAft>
              <a:buSzPct val="100000"/>
              <a:buChar char="•"/>
            </a:pPr>
            <a:r>
              <a:rPr lang="ja" noProof="1"/>
              <a:t>Communicate well about successful companies</a:t>
            </a:r>
            <a:endParaRPr/>
          </a:p>
          <a:p>
            <a:pPr marL="914400" lvl="1" indent="-295275" algn="l" rtl="0">
              <a:spcBef>
                <a:spcPts val="0"/>
              </a:spcBef>
              <a:spcAft>
                <a:spcPts val="0"/>
              </a:spcAft>
              <a:buSzPct val="100000"/>
              <a:buChar char="•"/>
            </a:pPr>
            <a:r>
              <a:rPr lang="ja" noProof="1"/>
              <a:t>Instead of looking for a way around a problem, you can get a root solution by gathering wisdom</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56"/>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2024/10/18 Local Meetup</a:t>
            </a:r>
            <a:endParaRPr/>
          </a:p>
        </p:txBody>
      </p:sp>
      <p:sp>
        <p:nvSpPr>
          <p:cNvPr id="647" name="Google Shape;647;p56"/>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noProof="1"/>
              <a:t>How to persuade departments unfamiliar with OSS</a:t>
            </a:r>
            <a:endParaRPr/>
          </a:p>
          <a:p>
            <a:pPr marL="914400" lvl="1" indent="-323850" algn="l" rtl="0">
              <a:spcBef>
                <a:spcPts val="0"/>
              </a:spcBef>
              <a:spcAft>
                <a:spcPts val="0"/>
              </a:spcAft>
              <a:buSzPts val="1500"/>
              <a:buChar char="•"/>
            </a:pPr>
            <a:r>
              <a:rPr lang="ja" noProof="1"/>
              <a:t>Explain that it is no longer closed in-house: You do the same thing</a:t>
            </a:r>
            <a:endParaRPr/>
          </a:p>
          <a:p>
            <a:pPr marL="914400" lvl="1" indent="-323850" algn="l" rtl="0">
              <a:spcBef>
                <a:spcPts val="0"/>
              </a:spcBef>
              <a:spcAft>
                <a:spcPts val="0"/>
              </a:spcAft>
              <a:buSzPts val="1500"/>
              <a:buChar char="•"/>
            </a:pPr>
            <a:r>
              <a:rPr lang="ja" noProof="1"/>
              <a:t>The response is, "Even if it is no longer closed in-house, keep it in-house as much as possible."</a:t>
            </a:r>
            <a:endParaRPr/>
          </a:p>
          <a:p>
            <a:pPr marL="1371600" lvl="2" indent="-304800" algn="l" rtl="0">
              <a:spcBef>
                <a:spcPts val="0"/>
              </a:spcBef>
              <a:spcAft>
                <a:spcPts val="0"/>
              </a:spcAft>
              <a:buSzPts val="1200"/>
              <a:buChar char="•"/>
            </a:pPr>
            <a:r>
              <a:rPr lang="ja" noProof="1"/>
              <a:t>I want to convey that this is useless resistance, but how can I convey it?</a:t>
            </a:r>
            <a:endParaRPr/>
          </a:p>
          <a:p>
            <a:pPr marL="914400" lvl="1" indent="-323850" algn="l" rtl="0">
              <a:spcBef>
                <a:spcPts val="0"/>
              </a:spcBef>
              <a:spcAft>
                <a:spcPts val="0"/>
              </a:spcAft>
              <a:buSzPts val="1500"/>
              <a:buChar char="•"/>
            </a:pPr>
            <a:r>
              <a:rPr lang="ja" noProof="1"/>
              <a:t>The idea of giving back</a:t>
            </a:r>
            <a:endParaRPr/>
          </a:p>
          <a:p>
            <a:pPr marL="914400" lvl="1" indent="-323850" algn="l" rtl="0">
              <a:spcBef>
                <a:spcPts val="0"/>
              </a:spcBef>
              <a:spcAft>
                <a:spcPts val="0"/>
              </a:spcAft>
              <a:buSzPts val="1500"/>
              <a:buChar char="•"/>
            </a:pPr>
            <a:r>
              <a:rPr lang="ja" noProof="1"/>
              <a:t>OSS is not a competitive area, there is nothing to lose. In fact, there is more to gain.</a:t>
            </a:r>
            <a:endParaRPr/>
          </a:p>
          <a:p>
            <a:pPr marL="914400" lvl="1" indent="-323850" algn="l" rtl="0">
              <a:spcBef>
                <a:spcPts val="0"/>
              </a:spcBef>
              <a:spcAft>
                <a:spcPts val="0"/>
              </a:spcAft>
              <a:buSzPts val="1500"/>
              <a:buChar char="•"/>
            </a:pPr>
            <a:r>
              <a:rPr lang="ja" noProof="1"/>
              <a:t>Passing older versions of OSS across the supply chain creates fragmentation.</a:t>
            </a:r>
            <a:endParaRPr/>
          </a:p>
          <a:p>
            <a:pPr marL="457200" lvl="0" indent="-342900" algn="l" rtl="0">
              <a:spcBef>
                <a:spcPts val="0"/>
              </a:spcBef>
              <a:spcAft>
                <a:spcPts val="0"/>
              </a:spcAft>
              <a:buSzPts val="1800"/>
              <a:buChar char="•"/>
            </a:pPr>
            <a:r>
              <a:rPr lang="ja" noProof="1"/>
              <a:t>How to convince companies that are unfamiliar with OSS?</a:t>
            </a:r>
            <a:endParaRPr/>
          </a:p>
          <a:p>
            <a:pPr marL="914400" lvl="1" indent="-323850" algn="l" rtl="0">
              <a:spcBef>
                <a:spcPts val="0"/>
              </a:spcBef>
              <a:spcAft>
                <a:spcPts val="0"/>
              </a:spcAft>
              <a:buSzPts val="1500"/>
              <a:buChar char="•"/>
            </a:pPr>
            <a:r>
              <a:rPr lang="ja" noProof="1"/>
              <a:t>Lack of Open in the first place is a challenge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57"/>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2024/11/22</a:t>
            </a:r>
            <a:endParaRPr/>
          </a:p>
        </p:txBody>
      </p:sp>
      <p:sp>
        <p:nvSpPr>
          <p:cNvPr id="653" name="Google Shape;653;p57"/>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lnSpcReduction="20000"/>
          </a:bodyPr>
          <a:lstStyle/>
          <a:p>
            <a:pPr marL="457200" lvl="0" indent="-342900" algn="l" rtl="0">
              <a:spcBef>
                <a:spcPts val="0"/>
              </a:spcBef>
              <a:spcAft>
                <a:spcPts val="0"/>
              </a:spcAft>
              <a:buSzPts val="1800"/>
              <a:buChar char="•"/>
            </a:pPr>
            <a:r>
              <a:rPr lang="ja" noProof="1"/>
              <a:t>What is the final form of OSPO?</a:t>
            </a:r>
            <a:endParaRPr/>
          </a:p>
          <a:p>
            <a:pPr marL="914400" lvl="1" indent="-323850" algn="l" rtl="0">
              <a:spcBef>
                <a:spcPts val="0"/>
              </a:spcBef>
              <a:spcAft>
                <a:spcPts val="0"/>
              </a:spcAft>
              <a:buSzPts val="1500"/>
              <a:buChar char="•"/>
            </a:pPr>
            <a:r>
              <a:rPr lang="ja" noProof="1"/>
              <a:t>Maintain Maintain</a:t>
            </a:r>
            <a:endParaRPr/>
          </a:p>
          <a:p>
            <a:pPr marL="914400" lvl="1" indent="-323850" algn="l" rtl="0">
              <a:spcBef>
                <a:spcPts val="0"/>
              </a:spcBef>
              <a:spcAft>
                <a:spcPts val="0"/>
              </a:spcAft>
              <a:buSzPts val="1500"/>
              <a:buChar char="•"/>
            </a:pPr>
            <a:r>
              <a:rPr lang="ja" noProof="1"/>
              <a:t>It is better to have OSPO when starting a new initiative</a:t>
            </a:r>
            <a:endParaRPr/>
          </a:p>
          <a:p>
            <a:pPr marL="914400" lvl="1" indent="-323850" algn="l" rtl="0">
              <a:spcBef>
                <a:spcPts val="0"/>
              </a:spcBef>
              <a:spcAft>
                <a:spcPts val="0"/>
              </a:spcAft>
              <a:buSzPts val="1500"/>
              <a:buChar char="•"/>
            </a:pPr>
            <a:r>
              <a:rPr lang="ja" noProof="1"/>
              <a:t>If each department can properly utilize OSS and engage in community activities, many roles will not be needed</a:t>
            </a:r>
            <a:endParaRPr/>
          </a:p>
          <a:p>
            <a:pPr marL="914400" lvl="1" indent="-323850" algn="l" rtl="0">
              <a:spcBef>
                <a:spcPts val="0"/>
              </a:spcBef>
              <a:spcAft>
                <a:spcPts val="0"/>
              </a:spcAft>
              <a:buSzPts val="1500"/>
              <a:buChar char="•"/>
            </a:pPr>
            <a:r>
              <a:rPr lang="ja" u="sng" noProof="1">
                <a:solidFill>
                  <a:schemeClr val="hlink"/>
                </a:solidFill>
                <a:hlinkClick r:id="rId3"/>
              </a:rPr>
              <a:t>Open Source Summit Europe 2023: Workshop: Building and Managing an Open...</a:t>
            </a:r>
            <a:endParaRPr/>
          </a:p>
          <a:p>
            <a:pPr marL="1371600" lvl="2" indent="-304800" algn="l" rtl="0">
              <a:spcBef>
                <a:spcPts val="0"/>
              </a:spcBef>
              <a:spcAft>
                <a:spcPts val="0"/>
              </a:spcAft>
              <a:buSzPts val="1200"/>
              <a:buChar char="•"/>
            </a:pPr>
            <a:r>
              <a:rPr lang="ja" noProof="1"/>
              <a:t>About 53 minutes into the video, there is a talk about OSPO Lifecycle.</a:t>
            </a:r>
            <a:endParaRPr/>
          </a:p>
          <a:p>
            <a:pPr marL="914400" lvl="1" indent="-323850" algn="l" rtl="0">
              <a:spcBef>
                <a:spcPts val="0"/>
              </a:spcBef>
              <a:spcAft>
                <a:spcPts val="0"/>
              </a:spcAft>
              <a:buSzPts val="1500"/>
              <a:buChar char="•"/>
            </a:pPr>
            <a:r>
              <a:rPr lang="ja" noProof="1"/>
              <a:t>Will OSPO remain as a mechanism to monitor whether OSS contributions are being made appropriately?</a:t>
            </a:r>
            <a:endParaRPr/>
          </a:p>
          <a:p>
            <a:pPr marL="1371600" lvl="2" indent="-304800" algn="l" rtl="0">
              <a:spcBef>
                <a:spcPts val="0"/>
              </a:spcBef>
              <a:spcAft>
                <a:spcPts val="0"/>
              </a:spcAft>
              <a:buSzPts val="1200"/>
              <a:buChar char="•"/>
            </a:pPr>
            <a:r>
              <a:rPr lang="ja" noProof="1"/>
              <a:t>Is it impossible to judge whether it is appropriate or not without comprehensively looking at various evaluation indicators within the company?</a:t>
            </a:r>
            <a:endParaRPr/>
          </a:p>
          <a:p>
            <a:pPr marL="1371600" lvl="2" indent="-304800" algn="l" rtl="0">
              <a:spcBef>
                <a:spcPts val="0"/>
              </a:spcBef>
              <a:spcAft>
                <a:spcPts val="0"/>
              </a:spcAft>
              <a:buSzPts val="1200"/>
              <a:buChar char="•"/>
            </a:pPr>
            <a:r>
              <a:rPr lang="ja" noProof="1"/>
              <a:t>It is difficult to grasp the value of OSS activities (including contributions) for the company (CHAOSS activities)</a:t>
            </a:r>
            <a:endParaRPr/>
          </a:p>
          <a:p>
            <a:pPr marL="914400" lvl="1" indent="-323850" algn="l" rtl="0">
              <a:spcBef>
                <a:spcPts val="0"/>
              </a:spcBef>
              <a:spcAft>
                <a:spcPts val="0"/>
              </a:spcAft>
              <a:buSzPts val="1500"/>
              <a:buChar char="•"/>
            </a:pPr>
            <a:r>
              <a:rPr lang="ja" noProof="1"/>
              <a:t>PMO also continues to exist. Isn't OSPO the same?</a:t>
            </a:r>
            <a:endParaRPr/>
          </a:p>
          <a:p>
            <a:pPr marL="914400" lvl="1" indent="-323850" algn="l" rtl="0">
              <a:spcBef>
                <a:spcPts val="0"/>
              </a:spcBef>
              <a:spcAft>
                <a:spcPts val="0"/>
              </a:spcAft>
              <a:buSzPts val="1500"/>
              <a:buChar char="•"/>
            </a:pPr>
            <a:r>
              <a:rPr lang="ja" noProof="1"/>
              <a:t>Isn't the function of education going to remain?</a:t>
            </a:r>
            <a:endParaRPr/>
          </a:p>
          <a:p>
            <a:pPr marL="914400" lvl="1" indent="-323850" algn="l" rtl="0">
              <a:spcBef>
                <a:spcPts val="0"/>
              </a:spcBef>
              <a:spcAft>
                <a:spcPts val="0"/>
              </a:spcAft>
              <a:buSzPts val="1500"/>
              <a:buChar char="•"/>
            </a:pPr>
            <a:r>
              <a:rPr lang="ja" noProof="1"/>
              <a:t>Isn't there a difference depending on the type and business targeted?</a:t>
            </a:r>
            <a:endParaRPr/>
          </a:p>
          <a:p>
            <a:pPr marL="1371600" lvl="2" indent="-304800" algn="l" rtl="0">
              <a:spcBef>
                <a:spcPts val="0"/>
              </a:spcBef>
              <a:spcAft>
                <a:spcPts val="0"/>
              </a:spcAft>
              <a:buSzPts val="1200"/>
              <a:buChar char="•"/>
            </a:pPr>
            <a:r>
              <a:rPr lang="ja" noProof="1"/>
              <a:t>If the company needs OSS in every part of the company, then OSPO will disappear = it will be dispersed in the existing organization.</a:t>
            </a:r>
            <a:endParaRPr/>
          </a:p>
          <a:p>
            <a:pPr marL="914400" lvl="1" indent="-323850" algn="l" rtl="0">
              <a:spcBef>
                <a:spcPts val="0"/>
              </a:spcBef>
              <a:spcAft>
                <a:spcPts val="0"/>
              </a:spcAft>
              <a:buSzPts val="1500"/>
              <a:buChar char="•"/>
            </a:pPr>
            <a:r>
              <a:rPr lang="ja" noProof="1"/>
              <a:t>Doesn't OSPO have to disappear?</a:t>
            </a:r>
            <a:endParaRPr/>
          </a:p>
          <a:p>
            <a:pPr marL="1371600" lvl="2" indent="-304800" algn="l" rtl="0">
              <a:spcBef>
                <a:spcPts val="0"/>
              </a:spcBef>
              <a:spcAft>
                <a:spcPts val="0"/>
              </a:spcAft>
              <a:buSzPts val="1200"/>
              <a:buChar char="•"/>
            </a:pPr>
            <a:r>
              <a:rPr lang="ja" noProof="1"/>
              <a:t>Will OSS become commonplace (packaged) and everyone will have to be able to use it?</a:t>
            </a:r>
            <a:endParaRPr/>
          </a:p>
          <a:p>
            <a:pPr marL="1371600" lvl="2" indent="-304800" algn="l" rtl="0">
              <a:spcBef>
                <a:spcPts val="0"/>
              </a:spcBef>
              <a:spcAft>
                <a:spcPts val="0"/>
              </a:spcAft>
              <a:buSzPts val="1200"/>
              <a:buChar char="•"/>
            </a:pPr>
            <a:r>
              <a:rPr lang="ja" noProof="1"/>
              <a:t>Should OSPO be part of PMO?</a:t>
            </a:r>
            <a:endParaRPr/>
          </a:p>
          <a:p>
            <a:pPr marL="914400" lvl="1" indent="-349250" algn="l" rtl="0">
              <a:spcBef>
                <a:spcPts val="0"/>
              </a:spcBef>
              <a:spcAft>
                <a:spcPts val="0"/>
              </a:spcAft>
              <a:buSzPts val="1900"/>
              <a:buChar char="•"/>
            </a:pPr>
            <a:r>
              <a:rPr lang="ja" u="sng" noProof="1">
                <a:solidFill>
                  <a:schemeClr val="hlink"/>
                </a:solidFill>
                <a:latin typeface="Arial"/>
                <a:ea typeface="Arial"/>
                <a:cs typeface="Arial"/>
                <a:sym typeface="Arial"/>
                <a:hlinkClick r:id="rId4"/>
              </a:rPr>
              <a:t>Open Source CEO: Red Hat's Jim Whitehurst | TechCrunch Japan Archive</a:t>
            </a:r>
            <a:endParaRPr u="sng">
              <a:solidFill>
                <a:schemeClr val="hlink"/>
              </a:solidFill>
              <a:latin typeface="Arial"/>
              <a:ea typeface="Arial"/>
              <a:cs typeface="Arial"/>
              <a:sym typeface="Arial"/>
              <a:hlinkClick r:id="rId4"/>
            </a:endParaRPr>
          </a:p>
          <a:p>
            <a:pPr marL="1371600" lvl="2" indent="-304800" algn="l" rtl="0">
              <a:spcBef>
                <a:spcPts val="0"/>
              </a:spcBef>
              <a:spcAft>
                <a:spcPts val="0"/>
              </a:spcAft>
              <a:buSzPts val="1200"/>
              <a:buChar char="•"/>
            </a:pPr>
            <a:r>
              <a:rPr lang="ja" sz="880" noProof="1">
                <a:latin typeface="Arial"/>
                <a:ea typeface="Arial"/>
                <a:cs typeface="Arial"/>
                <a:sym typeface="Arial"/>
              </a:rPr>
              <a:t>“At the end of the day, all companies are going to open source” Whitehurst asserted.</a:t>
            </a:r>
            <a:endParaRPr sz="880">
              <a:latin typeface="Arial"/>
              <a:ea typeface="Arial"/>
              <a:cs typeface="Arial"/>
              <a:sym typeface="Arial"/>
            </a:endParaRPr>
          </a:p>
          <a:p>
            <a:pPr marL="914400" lvl="1" indent="-323850" algn="l" rtl="0">
              <a:spcBef>
                <a:spcPts val="0"/>
              </a:spcBef>
              <a:spcAft>
                <a:spcPts val="0"/>
              </a:spcAft>
              <a:buSzPts val="1500"/>
              <a:buFont typeface="Arial"/>
              <a:buChar char="•"/>
            </a:pPr>
            <a:r>
              <a:rPr lang="ja" noProof="1">
                <a:latin typeface="Arial"/>
                <a:ea typeface="Arial"/>
                <a:cs typeface="Arial"/>
                <a:sym typeface="Arial"/>
              </a:rPr>
              <a:t>OSS culture and form are changing: we need a professional organization to keep up</a:t>
            </a:r>
            <a:endParaRPr>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58"/>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t> </a:t>
            </a:r>
          </a:p>
        </p:txBody>
      </p:sp>
      <p:sp>
        <p:nvSpPr>
          <p:cNvPr id="659" name="Google Shape;659;p58"/>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noProof="1"/>
              <a:t>OSS contributions must be monitored as an obligation</a:t>
            </a:r>
            <a:endParaRPr/>
          </a:p>
          <a:p>
            <a:pPr marL="914400" lvl="1" indent="-323850" algn="l" rtl="0">
              <a:spcBef>
                <a:spcPts val="0"/>
              </a:spcBef>
              <a:spcAft>
                <a:spcPts val="0"/>
              </a:spcAft>
              <a:buSzPts val="1500"/>
              <a:buChar char="•"/>
            </a:pPr>
            <a:r>
              <a:rPr lang="ja" noProof="1"/>
              <a:t>because we're so dependent on OSS</a:t>
            </a:r>
            <a:endParaRPr/>
          </a:p>
          <a:p>
            <a:pPr marL="914400" lvl="1" indent="-323850" algn="l" rtl="0">
              <a:spcBef>
                <a:spcPts val="0"/>
              </a:spcBef>
              <a:spcAft>
                <a:spcPts val="0"/>
              </a:spcAft>
              <a:buSzPts val="1500"/>
              <a:buChar char="•"/>
            </a:pPr>
            <a:r>
              <a:rPr lang="ja" noProof="1"/>
              <a:t>Too much emphasis on Free Rider is bad</a:t>
            </a:r>
            <a:endParaRPr/>
          </a:p>
          <a:p>
            <a:pPr marL="1371600" lvl="2" indent="-304800" algn="l" rtl="0">
              <a:spcBef>
                <a:spcPts val="0"/>
              </a:spcBef>
              <a:spcAft>
                <a:spcPts val="0"/>
              </a:spcAft>
              <a:buSzPts val="1200"/>
              <a:buChar char="•"/>
            </a:pPr>
            <a:r>
              <a:rPr lang="ja" noProof="1"/>
              <a:t>Free Rider will get you back on your face is more acceptable</a:t>
            </a:r>
            <a:endParaRPr/>
          </a:p>
          <a:p>
            <a:pPr marL="914400" lvl="1" indent="-323850" algn="l" rtl="0">
              <a:spcBef>
                <a:spcPts val="0"/>
              </a:spcBef>
              <a:spcAft>
                <a:spcPts val="0"/>
              </a:spcAft>
              <a:buSzPts val="1500"/>
              <a:buChar char="•"/>
            </a:pPr>
            <a:r>
              <a:rPr lang="ja" noProof="1"/>
              <a:t>There's also the problem of engineering development</a:t>
            </a:r>
            <a:endParaRPr/>
          </a:p>
          <a:p>
            <a:pPr marL="914400" lvl="1" indent="-323850" algn="l" rtl="0">
              <a:spcBef>
                <a:spcPts val="0"/>
              </a:spcBef>
              <a:spcAft>
                <a:spcPts val="0"/>
              </a:spcAft>
              <a:buSzPts val="1500"/>
              <a:buChar char="•"/>
            </a:pPr>
            <a:r>
              <a:rPr lang="ja" u="sng" noProof="1">
                <a:solidFill>
                  <a:schemeClr val="hlink"/>
                </a:solidFill>
                <a:hlinkClick r:id="rId3"/>
              </a:rPr>
              <a:t>https://gigazine.net/news/20241110-open-source-maker-taker-problem/</a:t>
            </a:r>
            <a:endParaRPr/>
          </a:p>
          <a:p>
            <a:pPr marL="914400" lvl="1" indent="-323850" algn="l" rtl="0">
              <a:spcBef>
                <a:spcPts val="0"/>
              </a:spcBef>
              <a:spcAft>
                <a:spcPts val="0"/>
              </a:spcAft>
              <a:buSzPts val="1500"/>
              <a:buChar char="•"/>
            </a:pPr>
            <a:r>
              <a:rPr lang="ja" sz="880" noProof="1">
                <a:latin typeface="Arial"/>
                <a:ea typeface="Arial"/>
                <a:cs typeface="Arial"/>
                <a:sym typeface="Arial"/>
              </a:rPr>
              <a:t>Post Open provides a way to pay for their work.</a:t>
            </a:r>
            <a:r>
              <a:rPr lang="ja" sz="880">
                <a:latin typeface="Arial"/>
                <a:ea typeface="Arial"/>
                <a:cs typeface="Arial"/>
                <a:sym typeface="Arial"/>
              </a:rPr>
              <a:t> </a:t>
            </a:r>
            <a:r>
              <a:rPr lang="ja" sz="880" noProof="1">
                <a:latin typeface="Arial"/>
                <a:ea typeface="Arial"/>
                <a:cs typeface="Arial"/>
                <a:sym typeface="Arial"/>
              </a:rPr>
              <a:t>We believe Post Open can address the problems of open source and build a healthier community that addresses these problems and achieves the goals that open source is failing to achieve today. "</a:t>
            </a:r>
            <a:endParaRPr sz="880">
              <a:latin typeface="Arial"/>
              <a:ea typeface="Arial"/>
              <a:cs typeface="Arial"/>
              <a:sym typeface="Arial"/>
            </a:endParaRPr>
          </a:p>
          <a:p>
            <a:pPr marL="1371600" lvl="2" indent="-304800" algn="l" rtl="0">
              <a:spcBef>
                <a:spcPts val="0"/>
              </a:spcBef>
              <a:spcAft>
                <a:spcPts val="0"/>
              </a:spcAft>
              <a:buSzPts val="1200"/>
              <a:buChar char="•"/>
            </a:pPr>
            <a:r>
              <a:rPr lang="ja" sz="880" u="sng" noProof="1">
                <a:solidFill>
                  <a:schemeClr val="hlink"/>
                </a:solidFill>
                <a:latin typeface="Arial"/>
                <a:ea typeface="Arial"/>
                <a:cs typeface="Arial"/>
                <a:sym typeface="Arial"/>
                <a:hlinkClick r:id="rId4"/>
              </a:rPr>
              <a:t>What Comes After Open Source?</a:t>
            </a:r>
            <a:r>
              <a:rPr lang="ja" sz="880" u="sng">
                <a:solidFill>
                  <a:schemeClr val="hlink"/>
                </a:solidFill>
                <a:latin typeface="Arial"/>
                <a:ea typeface="Arial"/>
                <a:cs typeface="Arial"/>
                <a:sym typeface="Arial"/>
                <a:hlinkClick r:id="rId4"/>
              </a:rPr>
              <a:t> </a:t>
            </a:r>
            <a:r>
              <a:rPr lang="ja" sz="880" u="sng" noProof="1">
                <a:solidFill>
                  <a:schemeClr val="hlink"/>
                </a:solidFill>
                <a:latin typeface="Arial"/>
                <a:ea typeface="Arial"/>
                <a:cs typeface="Arial"/>
                <a:sym typeface="Arial"/>
                <a:hlinkClick r:id="rId4"/>
              </a:rPr>
              <a:t>Bruce Perens Has Some Ideas - The New Stack</a:t>
            </a:r>
            <a:endParaRPr/>
          </a:p>
          <a:p>
            <a:pPr marL="914400" lvl="1" indent="-323850" algn="l" rtl="0">
              <a:spcBef>
                <a:spcPts val="0"/>
              </a:spcBef>
              <a:spcAft>
                <a:spcPts val="0"/>
              </a:spcAft>
              <a:buSzPts val="1500"/>
              <a:buChar char="•"/>
            </a:pPr>
            <a:r>
              <a:rPr lang="ja" noProof="1"/>
              <a:t>In the same way as ESG, the degree of OSS contribution should be made visible to the world and become a measure of the company.</a:t>
            </a:r>
            <a:endParaRPr/>
          </a:p>
          <a:p>
            <a:pPr marL="1371600" lvl="2" indent="-304800" algn="l" rtl="0">
              <a:spcBef>
                <a:spcPts val="0"/>
              </a:spcBef>
              <a:spcAft>
                <a:spcPts val="0"/>
              </a:spcAft>
              <a:buSzPts val="1200"/>
              <a:buChar char="•"/>
            </a:pPr>
            <a:r>
              <a:rPr lang="ja" noProof="1"/>
              <a:t>How about the idea of companies getting together and deciding how to contribute, as in the case of CO2 reduction?</a:t>
            </a:r>
            <a:endParaRPr/>
          </a:p>
          <a:p>
            <a:pPr marL="1828800" lvl="3" indent="-298450" algn="l" rtl="0">
              <a:spcBef>
                <a:spcPts val="0"/>
              </a:spcBef>
              <a:spcAft>
                <a:spcPts val="0"/>
              </a:spcAft>
              <a:buSzPts val="1100"/>
              <a:buChar char="•"/>
            </a:pPr>
            <a:r>
              <a:rPr lang="ja" noProof="1"/>
              <a:t>For example, the amount of contribution could be bought and sold between companies.</a:t>
            </a:r>
            <a:endParaRPr/>
          </a:p>
          <a:p>
            <a:pPr marL="914400" lvl="1" indent="-323850" algn="l" rtl="0">
              <a:spcBef>
                <a:spcPts val="0"/>
              </a:spcBef>
              <a:spcAft>
                <a:spcPts val="0"/>
              </a:spcAft>
              <a:buSzPts val="1500"/>
              <a:buChar char="•"/>
            </a:pPr>
            <a:r>
              <a:rPr lang="ja" noProof="1"/>
              <a:t>Within the company, the degree of contribution should be graded and the company chosen.</a:t>
            </a:r>
            <a:endParaRPr/>
          </a:p>
          <a:p>
            <a:pPr marL="914400" lvl="1" indent="-323850" algn="l" rtl="0">
              <a:spcBef>
                <a:spcPts val="0"/>
              </a:spcBef>
              <a:spcAft>
                <a:spcPts val="0"/>
              </a:spcAft>
              <a:buSzPts val="1500"/>
              <a:buChar char="•"/>
            </a:pPr>
            <a:r>
              <a:rPr lang="ja" sz="880" noProof="1">
                <a:latin typeface="Arial"/>
                <a:ea typeface="Arial"/>
                <a:cs typeface="Arial"/>
                <a:sym typeface="Arial"/>
              </a:rPr>
              <a:t>OSCI</a:t>
            </a:r>
            <a:endParaRPr sz="880">
              <a:latin typeface="Arial"/>
              <a:ea typeface="Arial"/>
              <a:cs typeface="Arial"/>
              <a:sym typeface="Arial"/>
            </a:endParaRPr>
          </a:p>
          <a:p>
            <a:pPr marL="1371600" lvl="2" indent="-304800" algn="l" rtl="0">
              <a:spcBef>
                <a:spcPts val="0"/>
              </a:spcBef>
              <a:spcAft>
                <a:spcPts val="0"/>
              </a:spcAft>
              <a:buSzPts val="1200"/>
              <a:buChar char="•"/>
            </a:pPr>
            <a:r>
              <a:rPr lang="ja" sz="880" u="sng" noProof="1">
                <a:solidFill>
                  <a:schemeClr val="hlink"/>
                </a:solidFill>
                <a:latin typeface="Arial"/>
                <a:ea typeface="Arial"/>
                <a:cs typeface="Arial"/>
                <a:sym typeface="Arial"/>
                <a:hlinkClick r:id="rId5"/>
              </a:rPr>
              <a:t>https://static.sched.com/hosted_files/osseu2024/bf/GroupWideActivitiesAcrossDiverseEntities-KS_MK_202409.pdf</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59"/>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2025/1/24</a:t>
            </a:r>
            <a:endParaRPr/>
          </a:p>
        </p:txBody>
      </p:sp>
      <p:sp>
        <p:nvSpPr>
          <p:cNvPr id="665" name="Google Shape;665;p59"/>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noProof="1"/>
              <a:t>Get back to basics, collect the most frequently asked questions, and compile the answers.</a:t>
            </a:r>
            <a:endParaRPr/>
          </a:p>
          <a:p>
            <a:pPr marL="457200" lvl="0" indent="-342900" algn="l" rtl="0">
              <a:spcBef>
                <a:spcPts val="0"/>
              </a:spcBef>
              <a:spcAft>
                <a:spcPts val="0"/>
              </a:spcAft>
              <a:buSzPts val="1800"/>
              <a:buChar char="•"/>
            </a:pPr>
            <a:r>
              <a:t> </a:t>
            </a:r>
          </a:p>
          <a:p>
            <a:pPr marL="457200" lvl="0" indent="-342900" algn="l" rtl="0">
              <a:spcBef>
                <a:spcPts val="0"/>
              </a:spcBef>
              <a:spcAft>
                <a:spcPts val="0"/>
              </a:spcAft>
              <a:buSzPts val="1800"/>
              <a:buChar char="•"/>
            </a:pPr>
            <a:r>
              <a:rPr lang="ja" noProof="1"/>
              <a:t>Who (within the company) should be in charge of OSPO?</a:t>
            </a:r>
            <a:endParaRPr/>
          </a:p>
          <a:p>
            <a:pPr marL="457200" lvl="0" indent="-342900" algn="l" rtl="0">
              <a:spcBef>
                <a:spcPts val="0"/>
              </a:spcBef>
              <a:spcAft>
                <a:spcPts val="0"/>
              </a:spcAft>
              <a:buSzPts val="1800"/>
              <a:buChar char="•"/>
            </a:pPr>
            <a:r>
              <a:rPr lang="ja" noProof="1"/>
              <a:t>Up to which department (function) within the company should OSPO be?</a:t>
            </a:r>
            <a:endParaRPr/>
          </a:p>
          <a:p>
            <a:pPr marL="457200" lvl="0" indent="-342900" algn="l" rtl="0">
              <a:spcBef>
                <a:spcPts val="0"/>
              </a:spcBef>
              <a:spcAft>
                <a:spcPts val="0"/>
              </a:spcAft>
              <a:buSzPts val="1800"/>
              <a:buChar char="•"/>
            </a:pPr>
            <a:r>
              <a:rPr lang="ja" noProof="1"/>
              <a:t>Is OSPO in charge of security?</a:t>
            </a:r>
            <a:endParaRPr/>
          </a:p>
          <a:p>
            <a:pPr marL="457200" lvl="0" indent="-342900" algn="l" rtl="0">
              <a:spcBef>
                <a:spcPts val="0"/>
              </a:spcBef>
              <a:spcAft>
                <a:spcPts val="0"/>
              </a:spcAft>
              <a:buSzPts val="1800"/>
              <a:buChar char="•"/>
            </a:pPr>
            <a:r>
              <a:rPr lang="ja" noProof="1"/>
              <a:t>Is OSPO in charge of SBOM management?</a:t>
            </a:r>
            <a:endParaRPr/>
          </a:p>
          <a:p>
            <a:pPr marL="457200" lvl="0" indent="-342900" algn="l" rtl="0">
              <a:spcBef>
                <a:spcPts val="0"/>
              </a:spcBef>
              <a:spcAft>
                <a:spcPts val="0"/>
              </a:spcAft>
              <a:buSzPts val="1800"/>
              <a:buChar char="•"/>
            </a:pPr>
            <a:r>
              <a:rPr lang="ja" noProof="1"/>
              <a:t>Is OSPO an activity for the company?</a:t>
            </a:r>
            <a:endParaRPr/>
          </a:p>
          <a:p>
            <a:pPr marL="457200" lvl="0" indent="-342900" algn="l" rtl="0">
              <a:spcBef>
                <a:spcPts val="0"/>
              </a:spcBef>
              <a:spcAft>
                <a:spcPts val="0"/>
              </a:spcAft>
              <a:buSzPts val="1800"/>
              <a:buChar char="•"/>
            </a:pPr>
            <a:r>
              <a:rPr lang="ja" noProof="1"/>
              <a:t>Should I leave OSS-related matters to OSPO?</a:t>
            </a:r>
            <a:endParaRPr/>
          </a:p>
          <a:p>
            <a:pPr marL="457200" lvl="0" indent="-342900" algn="l" rtl="0">
              <a:spcBef>
                <a:spcPts val="0"/>
              </a:spcBef>
              <a:spcAft>
                <a:spcPts val="0"/>
              </a:spcAft>
              <a:buSzPts val="1800"/>
              <a:buChar char="•"/>
            </a:pPr>
            <a:r>
              <a:rPr lang="ja" noProof="1"/>
              <a:t>Is OSPO responsible for OSS licensing decisions?</a:t>
            </a:r>
            <a:endParaRPr/>
          </a:p>
          <a:p>
            <a:pPr marL="457200" lvl="0" indent="-342900" algn="l" rtl="0">
              <a:spcBef>
                <a:spcPts val="0"/>
              </a:spcBef>
              <a:spcAft>
                <a:spcPts val="0"/>
              </a:spcAft>
              <a:buSzPts val="1800"/>
              <a:buChar char="•"/>
            </a:pPr>
            <a:r>
              <a:rPr lang="ja" noProof="1"/>
              <a:t>Does OSPO need to know how OSS is handled in the company?</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60"/>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ja" noProof="1"/>
              <a:t>2025/1/24, 2/28 - 3/28 Preliminary Fix - 4/25 Fix</a:t>
            </a:r>
            <a:endParaRPr/>
          </a:p>
        </p:txBody>
      </p:sp>
      <p:sp>
        <p:nvSpPr>
          <p:cNvPr id="671" name="Google Shape;671;p60"/>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noProof="1"/>
              <a:t>Should OSPO be in charge of security?</a:t>
            </a:r>
            <a:endParaRPr/>
          </a:p>
          <a:p>
            <a:pPr marL="914400" lvl="1" indent="-323850" algn="l" rtl="0">
              <a:spcBef>
                <a:spcPts val="0"/>
              </a:spcBef>
              <a:spcAft>
                <a:spcPts val="0"/>
              </a:spcAft>
              <a:buSzPts val="1500"/>
              <a:buChar char="•"/>
            </a:pPr>
            <a:r>
              <a:rPr lang="ja" noProof="1"/>
              <a:t>Reference: </a:t>
            </a:r>
            <a:r>
              <a:rPr lang="ja" u="sng" noProof="1">
                <a:solidFill>
                  <a:schemeClr val="hlink"/>
                </a:solidFill>
                <a:hlinkClick r:id="rId3"/>
              </a:rPr>
              <a:t>2024 Current Status of OSPO and Open Source Management - The Linux Foundation</a:t>
            </a:r>
            <a:r>
              <a:rPr lang="ja" noProof="1"/>
              <a:t> (page 24)</a:t>
            </a:r>
            <a:endParaRPr/>
          </a:p>
          <a:p>
            <a:pPr marL="457200" lvl="0" indent="-342900" algn="l" rtl="0">
              <a:spcBef>
                <a:spcPts val="0"/>
              </a:spcBef>
              <a:spcAft>
                <a:spcPts val="0"/>
              </a:spcAft>
              <a:buSzPts val="1800"/>
              <a:buChar char="•"/>
            </a:pPr>
            <a:r>
              <a:rPr lang="ja" noProof="1"/>
              <a:t>Answer:</a:t>
            </a:r>
            <a:endParaRPr/>
          </a:p>
          <a:p>
            <a:pPr marL="914400" lvl="1" indent="-323850" algn="l" rtl="0">
              <a:spcBef>
                <a:spcPts val="0"/>
              </a:spcBef>
              <a:spcAft>
                <a:spcPts val="0"/>
              </a:spcAft>
              <a:buSzPts val="1500"/>
              <a:buChar char="•"/>
            </a:pPr>
            <a:r>
              <a:rPr lang="ja" noProof="1"/>
              <a:t>Because the main scope of OSPO is open source, while security includes non-open source, it is difficult for OSPO to be in charge of security. In general, OSPO is in charge of security.</a:t>
            </a:r>
            <a:endParaRPr/>
          </a:p>
          <a:p>
            <a:pPr marL="914400" lvl="1" indent="-323850" algn="l" rtl="0">
              <a:spcBef>
                <a:spcPts val="0"/>
              </a:spcBef>
              <a:spcAft>
                <a:spcPts val="0"/>
              </a:spcAft>
              <a:buSzPts val="1500"/>
              <a:buChar char="•"/>
            </a:pPr>
            <a:r>
              <a:rPr lang="ja" noProof="1"/>
              <a:t>However, when it comes to OSS security issues, it is best practice for OSPO to cooperate by providing information to security staff.</a:t>
            </a:r>
            <a:endParaRPr/>
          </a:p>
          <a:p>
            <a:pPr marL="1371600" lvl="2" indent="-304800" algn="l" rtl="0">
              <a:spcBef>
                <a:spcPts val="0"/>
              </a:spcBef>
              <a:spcAft>
                <a:spcPts val="0"/>
              </a:spcAft>
              <a:buSzPts val="1200"/>
              <a:buChar char="•"/>
            </a:pPr>
            <a:r>
              <a:rPr lang="ja" noProof="1"/>
              <a:t>More than 98% of all products and systems in the world use OSS (</a:t>
            </a:r>
            <a:r>
              <a:rPr lang="ja" sz="880" u="sng" noProof="1">
                <a:solidFill>
                  <a:schemeClr val="hlink"/>
                </a:solidFill>
                <a:latin typeface="Arial"/>
                <a:ea typeface="Arial"/>
                <a:cs typeface="Arial"/>
                <a:sym typeface="Arial"/>
                <a:hlinkClick r:id="rId4"/>
              </a:rPr>
              <a:t>Open Source Security &amp; Risk Analysis Report (OSSRA) | Black Duck</a:t>
            </a:r>
            <a:r>
              <a:rPr lang="ja" noProof="1"/>
              <a:t>), and OSS is essential when considering security, so cases in which OSPO is involved or takes the lead are increasing.</a:t>
            </a:r>
            <a:endParaRPr/>
          </a:p>
          <a:p>
            <a:pPr marL="1828800" lvl="3" indent="-298450" algn="l" rtl="0">
              <a:spcBef>
                <a:spcPts val="0"/>
              </a:spcBef>
              <a:spcAft>
                <a:spcPts val="0"/>
              </a:spcAft>
              <a:buSzPts val="1100"/>
              <a:buChar char="•"/>
            </a:pPr>
            <a:r>
              <a:rPr lang="ja" noProof="1"/>
              <a:t>There are many areas in which OSPO is involved, such as discussions in some OSS communities about OSS vulnerabilities, SBOMs, international standards, and regulations.</a:t>
            </a:r>
            <a:endParaRPr/>
          </a:p>
          <a:p>
            <a:pPr marL="0" lvl="0" indent="0" algn="l" rtl="0">
              <a:spcBef>
                <a:spcPts val="0"/>
              </a:spcBef>
              <a:spcAft>
                <a:spcPts val="0"/>
              </a:spcAft>
              <a:buNone/>
            </a:pPr>
            <a:r>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61"/>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ja" noProof="1"/>
              <a:t>2025/1/24, 2/28</a:t>
            </a:r>
            <a:endParaRPr/>
          </a:p>
        </p:txBody>
      </p:sp>
      <p:sp>
        <p:nvSpPr>
          <p:cNvPr id="677" name="Google Shape;677;p61"/>
          <p:cNvSpPr txBox="1">
            <a:spLocks noGrp="1"/>
          </p:cNvSpPr>
          <p:nvPr>
            <p:ph type="body" idx="1"/>
          </p:nvPr>
        </p:nvSpPr>
        <p:spPr>
          <a:xfrm>
            <a:off x="545625" y="183750"/>
            <a:ext cx="8280000" cy="5201100"/>
          </a:xfrm>
          <a:prstGeom prst="rect">
            <a:avLst/>
          </a:prstGeom>
          <a:solidFill>
            <a:schemeClr val="lt1"/>
          </a:solidFill>
        </p:spPr>
        <p:txBody>
          <a:bodyPr spcFirstLastPara="1" wrap="square" lIns="49625" tIns="24875" rIns="49625" bIns="24875" anchor="t" anchorCtr="0">
            <a:noAutofit/>
          </a:bodyPr>
          <a:lstStyle/>
          <a:p>
            <a:pPr marL="457200" lvl="0" indent="-323850" algn="l" rtl="0">
              <a:spcBef>
                <a:spcPts val="0"/>
              </a:spcBef>
              <a:spcAft>
                <a:spcPts val="0"/>
              </a:spcAft>
              <a:buSzPts val="1500"/>
              <a:buChar char="•"/>
            </a:pPr>
            <a:r>
              <a:rPr lang="ja" sz="1200" noProof="1"/>
              <a:t>Is the SBOM managed by an OSPO?</a:t>
            </a:r>
            <a:endParaRPr sz="1200"/>
          </a:p>
          <a:p>
            <a:pPr marL="457200" lvl="0" indent="-323850" algn="l" rtl="0">
              <a:spcBef>
                <a:spcPts val="0"/>
              </a:spcBef>
              <a:spcAft>
                <a:spcPts val="0"/>
              </a:spcAft>
              <a:buSzPts val="1500"/>
              <a:buChar char="•"/>
            </a:pPr>
            <a:r>
              <a:rPr lang="ja" sz="1200" noProof="1"/>
              <a:t>Answer</a:t>
            </a:r>
            <a:endParaRPr sz="1200"/>
          </a:p>
          <a:p>
            <a:pPr marL="914400" lvl="1" indent="-304800" algn="l" rtl="0">
              <a:spcBef>
                <a:spcPts val="0"/>
              </a:spcBef>
              <a:spcAft>
                <a:spcPts val="0"/>
              </a:spcAft>
              <a:buSzPts val="1200"/>
              <a:buChar char="•"/>
            </a:pPr>
            <a:r>
              <a:rPr lang="ja" sz="960" noProof="1"/>
              <a:t>Since the SBOM manages the components of the software as a whole, it is managed by the software development department, not by the OSPO.</a:t>
            </a:r>
            <a:endParaRPr sz="960"/>
          </a:p>
          <a:p>
            <a:pPr marL="914400" lvl="1" indent="-304800" algn="l" rtl="0">
              <a:spcBef>
                <a:spcPts val="0"/>
              </a:spcBef>
              <a:spcAft>
                <a:spcPts val="0"/>
              </a:spcAft>
              <a:buSzPts val="1200"/>
              <a:buChar char="•"/>
            </a:pPr>
            <a:r>
              <a:rPr lang="ja" sz="960" noProof="1"/>
              <a:t>Since the SBOM is exchanged between supply chain organizations and departments within the company, it needs to be a coordinated effort, not by individual development departments.</a:t>
            </a:r>
            <a:endParaRPr sz="960"/>
          </a:p>
          <a:p>
            <a:pPr marL="914400" lvl="1" indent="-304800" algn="l" rtl="0">
              <a:spcBef>
                <a:spcPts val="0"/>
              </a:spcBef>
              <a:spcAft>
                <a:spcPts val="0"/>
              </a:spcAft>
              <a:buSzPts val="1200"/>
              <a:buChar char="•"/>
            </a:pPr>
            <a:r>
              <a:rPr lang="ja" sz="960" noProof="1"/>
              <a:t>This is where the OSPO sometimes acts as a controller.</a:t>
            </a:r>
            <a:endParaRPr sz="960"/>
          </a:p>
          <a:p>
            <a:pPr marL="1371600" lvl="2" indent="-304800" algn="l" rtl="0">
              <a:spcBef>
                <a:spcPts val="0"/>
              </a:spcBef>
              <a:spcAft>
                <a:spcPts val="0"/>
              </a:spcAft>
              <a:buSzPts val="1200"/>
              <a:buChar char="•"/>
            </a:pPr>
            <a:r>
              <a:rPr lang="ja" noProof="1"/>
              <a:t>There will be companies (people) who will be annoyed if this word creates arbitrary interpretations: Be careful with the final wording.</a:t>
            </a:r>
            <a:endParaRPr sz="960"/>
          </a:p>
          <a:p>
            <a:pPr marL="914400" lvl="1" indent="-304800" algn="l" rtl="0">
              <a:spcBef>
                <a:spcPts val="0"/>
              </a:spcBef>
              <a:spcAft>
                <a:spcPts val="0"/>
              </a:spcAft>
              <a:buSzPts val="1200"/>
              <a:buChar char="•"/>
            </a:pPr>
            <a:r>
              <a:rPr lang="ja" sz="960" noProof="1"/>
              <a:t>One way to act as a controller is to act as a contact point for all internal discussions.</a:t>
            </a:r>
            <a:endParaRPr sz="960"/>
          </a:p>
          <a:p>
            <a:pPr marL="914400" lvl="1" indent="-304800" algn="l" rtl="0">
              <a:spcBef>
                <a:spcPts val="0"/>
              </a:spcBef>
              <a:spcAft>
                <a:spcPts val="0"/>
              </a:spcAft>
              <a:buSzPts val="1200"/>
              <a:buChar char="•"/>
            </a:pPr>
            <a:r>
              <a:rPr lang="ja" sz="960" noProof="1"/>
              <a:t>There are times when the OSPO's insight is required to create and disseminate rules.</a:t>
            </a:r>
            <a:endParaRPr sz="960"/>
          </a:p>
          <a:p>
            <a:pPr marL="1371600" lvl="2" indent="-285750" algn="l" rtl="0">
              <a:spcBef>
                <a:spcPts val="0"/>
              </a:spcBef>
              <a:spcAft>
                <a:spcPts val="0"/>
              </a:spcAft>
              <a:buSzPts val="900"/>
              <a:buChar char="•"/>
            </a:pPr>
            <a:r>
              <a:rPr lang="ja" sz="720" noProof="1"/>
              <a:t>Discussions on SBOM are still ongoing in the open source community, and the OSPO's role as a bridge between the community and the organization is necessary.</a:t>
            </a:r>
            <a:endParaRPr sz="720"/>
          </a:p>
          <a:p>
            <a:pPr marL="1371600" lvl="2" indent="-285750" algn="l" rtl="0">
              <a:spcBef>
                <a:spcPts val="0"/>
              </a:spcBef>
              <a:spcAft>
                <a:spcPts val="0"/>
              </a:spcAft>
              <a:buSzPts val="900"/>
              <a:buChar char="•"/>
            </a:pPr>
            <a:r>
              <a:rPr lang="ja" sz="720" noProof="1"/>
              <a:t>The importance of ~ is increasing</a:t>
            </a:r>
            <a:endParaRPr sz="720"/>
          </a:p>
          <a:p>
            <a:pPr marL="1371600" lvl="2" indent="-285750" algn="l" rtl="0">
              <a:spcBef>
                <a:spcPts val="0"/>
              </a:spcBef>
              <a:spcAft>
                <a:spcPts val="0"/>
              </a:spcAft>
              <a:buSzPts val="900"/>
              <a:buChar char="•"/>
            </a:pPr>
            <a:r>
              <a:t> </a:t>
            </a:r>
            <a:endParaRPr sz="720"/>
          </a:p>
          <a:p>
            <a:pPr marL="1371600" lvl="2" indent="-285750" algn="l" rtl="0">
              <a:spcBef>
                <a:spcPts val="0"/>
              </a:spcBef>
              <a:spcAft>
                <a:spcPts val="0"/>
              </a:spcAft>
              <a:buSzPts val="900"/>
              <a:buChar char="•"/>
            </a:pPr>
            <a:r>
              <a:rPr lang="ja" sz="720" noProof="1"/>
              <a:t>Thoughts: I thought it would be useful to explain the current SBOM by writing something like "What are the best practices and typical cases for OSPO involvement with SBOMs?."</a:t>
            </a:r>
            <a:endParaRPr sz="720"/>
          </a:p>
          <a:p>
            <a:pPr marL="0" lvl="0" indent="0" algn="l" rtl="0">
              <a:spcBef>
                <a:spcPts val="0"/>
              </a:spcBef>
              <a:spcAft>
                <a:spcPts val="0"/>
              </a:spcAft>
              <a:buNone/>
            </a:pPr>
            <a:r>
              <a:t> </a:t>
            </a:r>
            <a:endParaRPr sz="1200"/>
          </a:p>
          <a:p>
            <a:pPr marL="914400" lvl="1" indent="-304800" algn="l" rtl="0">
              <a:spcBef>
                <a:spcPts val="0"/>
              </a:spcBef>
              <a:spcAft>
                <a:spcPts val="0"/>
              </a:spcAft>
              <a:buSzPts val="1200"/>
              <a:buChar char="•"/>
            </a:pPr>
            <a:r>
              <a:rPr lang="ja" sz="960" noProof="1"/>
              <a:t>By the time SBOM management is established in the company, the OSPO will promote it</a:t>
            </a:r>
            <a:endParaRPr sz="960"/>
          </a:p>
          <a:p>
            <a:pPr marL="914400" lvl="1" indent="-304800" algn="l" rtl="0">
              <a:spcBef>
                <a:spcPts val="0"/>
              </a:spcBef>
              <a:spcAft>
                <a:spcPts val="0"/>
              </a:spcAft>
              <a:buSzPts val="1200"/>
              <a:buChar char="•"/>
            </a:pPr>
            <a:r>
              <a:rPr lang="ja" sz="960" noProof="1"/>
              <a:t>The SBOM of proprietary software is also handled by the OSPO in many cases</a:t>
            </a:r>
            <a:endParaRPr sz="960"/>
          </a:p>
          <a:p>
            <a:pPr marL="914400" lvl="1" indent="-304800" algn="l" rtl="0">
              <a:spcBef>
                <a:spcPts val="0"/>
              </a:spcBef>
              <a:spcAft>
                <a:spcPts val="0"/>
              </a:spcAft>
              <a:buSzPts val="1200"/>
              <a:buChar char="•"/>
            </a:pPr>
            <a:r>
              <a:rPr lang="ja" sz="960" noProof="1"/>
              <a:t>I don't think the SBOM can be prepared without the OSPO being involved</a:t>
            </a:r>
            <a:endParaRPr sz="960"/>
          </a:p>
          <a:p>
            <a:pPr marL="914400" lvl="1" indent="-304800" algn="l" rtl="0">
              <a:spcBef>
                <a:spcPts val="0"/>
              </a:spcBef>
              <a:spcAft>
                <a:spcPts val="0"/>
              </a:spcAft>
              <a:buSzPts val="1200"/>
              <a:buChar char="•"/>
            </a:pPr>
            <a:r>
              <a:rPr lang="ja" sz="960" noProof="1"/>
              <a:t>The information obtained from the SBOM can be used as a material for considering the OSS strategy, so wouldn't it be good for the OSPO to be actively involved in the SBOM?</a:t>
            </a:r>
            <a:endParaRPr sz="960"/>
          </a:p>
          <a:p>
            <a:pPr marL="1371600" lvl="2" indent="-285750" algn="l" rtl="0">
              <a:spcBef>
                <a:spcPts val="0"/>
              </a:spcBef>
              <a:spcAft>
                <a:spcPts val="0"/>
              </a:spcAft>
              <a:buSzPts val="900"/>
              <a:buChar char="•"/>
            </a:pPr>
            <a:r>
              <a:rPr lang="ja" sz="720" noProof="1"/>
              <a:t>The view of the value and use of the SBOM differs depending on the stage of maturity of the OSS</a:t>
            </a:r>
            <a:endParaRPr sz="720"/>
          </a:p>
          <a:p>
            <a:pPr marL="914400" lvl="1" indent="-304800" algn="l" rtl="0">
              <a:spcBef>
                <a:spcPts val="0"/>
              </a:spcBef>
              <a:spcAft>
                <a:spcPts val="0"/>
              </a:spcAft>
              <a:buSzPts val="1200"/>
              <a:buChar char="•"/>
            </a:pPr>
            <a:r>
              <a:rPr lang="ja" sz="960" noProof="1"/>
              <a:t>The OSPO (its predecessor group) was handling the SBOM for OSS compliance.</a:t>
            </a:r>
            <a:endParaRPr sz="960"/>
          </a:p>
          <a:p>
            <a:pPr marL="914400" lvl="1" indent="-304800" algn="l" rtl="0">
              <a:spcBef>
                <a:spcPts val="0"/>
              </a:spcBef>
              <a:spcAft>
                <a:spcPts val="0"/>
              </a:spcAft>
              <a:buSzPts val="1200"/>
              <a:buChar char="•"/>
            </a:pPr>
            <a:r>
              <a:rPr lang="ja" sz="960" noProof="1"/>
              <a:t>There are levels and stages of the SBOM, so wouldn't the answers differ depending on the level?</a:t>
            </a:r>
            <a:endParaRPr sz="96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62"/>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3/28</a:t>
            </a:r>
            <a:endParaRPr/>
          </a:p>
        </p:txBody>
      </p:sp>
      <p:sp>
        <p:nvSpPr>
          <p:cNvPr id="683" name="Google Shape;683;p62"/>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noProof="1"/>
              <a:t>SBOM image matching</a:t>
            </a:r>
            <a:endParaRPr/>
          </a:p>
          <a:p>
            <a:pPr marL="914400" lvl="1" indent="-323850" algn="l" rtl="0">
              <a:spcBef>
                <a:spcPts val="0"/>
              </a:spcBef>
              <a:spcAft>
                <a:spcPts val="0"/>
              </a:spcAft>
              <a:buSzPts val="1500"/>
              <a:buChar char="•"/>
            </a:pPr>
            <a:r>
              <a:rPr lang="ja" noProof="1"/>
              <a:t>Software parts list</a:t>
            </a:r>
            <a:endParaRPr/>
          </a:p>
          <a:p>
            <a:pPr marL="1371600" lvl="2" indent="-304800" algn="l" rtl="0">
              <a:spcBef>
                <a:spcPts val="0"/>
              </a:spcBef>
              <a:spcAft>
                <a:spcPts val="0"/>
              </a:spcAft>
              <a:buSzPts val="1200"/>
              <a:buChar char="•"/>
            </a:pPr>
            <a:r>
              <a:rPr lang="ja" noProof="1"/>
              <a:t>There are variations in the granularity of parts, the distinction between what to put and what not to put (OSS or not), format, etc.</a:t>
            </a:r>
            <a:endParaRPr/>
          </a:p>
          <a:p>
            <a:pPr marL="914400" lvl="1" indent="-323850" algn="l" rtl="0">
              <a:spcBef>
                <a:spcPts val="0"/>
              </a:spcBef>
              <a:spcAft>
                <a:spcPts val="0"/>
              </a:spcAft>
              <a:buSzPts val="1500"/>
              <a:buChar char="•"/>
            </a:pPr>
            <a:r>
              <a:rPr lang="ja" noProof="1"/>
              <a:t>Things that can be read by machine</a:t>
            </a:r>
            <a:endParaRPr/>
          </a:p>
          <a:p>
            <a:pPr marL="1371600" lvl="2" indent="-304800" algn="l" rtl="0">
              <a:spcBef>
                <a:spcPts val="0"/>
              </a:spcBef>
              <a:spcAft>
                <a:spcPts val="0"/>
              </a:spcAft>
              <a:buSzPts val="1200"/>
              <a:buChar char="•"/>
            </a:pPr>
            <a:r>
              <a:rPr lang="ja" noProof="1"/>
              <a:t>There are variations in format, ID rules, etc.</a:t>
            </a:r>
            <a:endParaRPr/>
          </a:p>
          <a:p>
            <a:pPr marL="1371600" lvl="2" indent="-304800" algn="l" rtl="0">
              <a:spcBef>
                <a:spcPts val="0"/>
              </a:spcBef>
              <a:spcAft>
                <a:spcPts val="0"/>
              </a:spcAft>
              <a:buSzPts val="1200"/>
              <a:buChar char="•"/>
            </a:pPr>
            <a:r>
              <a:rPr lang="ja" noProof="1"/>
              <a:t>There may be people who think of it as an SBOM that does not stick to machine reading.</a:t>
            </a:r>
            <a:endParaRPr/>
          </a:p>
          <a:p>
            <a:pPr marL="1828800" lvl="3" indent="-298450" algn="l" rtl="0">
              <a:spcBef>
                <a:spcPts val="0"/>
              </a:spcBef>
              <a:spcAft>
                <a:spcPts val="0"/>
              </a:spcAft>
              <a:buSzPts val="1100"/>
              <a:buChar char="•"/>
            </a:pPr>
            <a:r>
              <a:rPr lang="ja" noProof="1"/>
              <a:t>For example,</a:t>
            </a:r>
            <a:endParaRPr/>
          </a:p>
          <a:p>
            <a:pPr marL="1371600" lvl="2" indent="-304800" algn="l" rtl="0">
              <a:spcBef>
                <a:spcPts val="0"/>
              </a:spcBef>
              <a:spcAft>
                <a:spcPts val="0"/>
              </a:spcAft>
              <a:buSzPts val="1200"/>
              <a:buChar char="•"/>
            </a:pPr>
            <a:r>
              <a:rPr lang="ja" noProof="1"/>
              <a:t>It would be interesting to discuss it from both sides</a:t>
            </a:r>
            <a:endParaRPr/>
          </a:p>
          <a:p>
            <a:pPr marL="1371600" lvl="2" indent="-304800" algn="l" rtl="0">
              <a:spcBef>
                <a:spcPts val="0"/>
              </a:spcBef>
              <a:spcAft>
                <a:spcPts val="0"/>
              </a:spcAft>
              <a:buSzPts val="1200"/>
              <a:buChar char="•"/>
            </a:pPr>
            <a:r>
              <a:t> </a:t>
            </a:r>
          </a:p>
          <a:p>
            <a:pPr marL="914400" lvl="1" indent="-323850" algn="l" rtl="0">
              <a:spcBef>
                <a:spcPts val="0"/>
              </a:spcBef>
              <a:spcAft>
                <a:spcPts val="0"/>
              </a:spcAft>
              <a:buSzPts val="1500"/>
              <a:buChar char="•"/>
            </a:pPr>
            <a:r>
              <a:rPr lang="ja" noProof="1"/>
              <a:t>Purpose of use, use case</a:t>
            </a:r>
            <a:endParaRPr/>
          </a:p>
          <a:p>
            <a:pPr marL="1371600" lvl="2" indent="-304800" algn="l" rtl="0">
              <a:spcBef>
                <a:spcPts val="0"/>
              </a:spcBef>
              <a:spcAft>
                <a:spcPts val="0"/>
              </a:spcAft>
              <a:buSzPts val="1200"/>
              <a:buChar char="•"/>
            </a:pPr>
            <a:r>
              <a:rPr lang="ja" noProof="1"/>
              <a:t>Isn't the emphasis different depending on the company and position?</a:t>
            </a:r>
            <a:endParaRPr/>
          </a:p>
          <a:p>
            <a:pPr marL="457200" lvl="0" indent="-342900" algn="l" rtl="0">
              <a:spcBef>
                <a:spcPts val="0"/>
              </a:spcBef>
              <a:spcAft>
                <a:spcPts val="0"/>
              </a:spcAft>
              <a:buSzPts val="1800"/>
              <a:buChar char="•"/>
            </a:pPr>
            <a:r>
              <a:rPr lang="ja" noProof="1"/>
              <a:t>I think SBOMs are necessary to be responsible for products.</a:t>
            </a:r>
            <a:endParaRPr/>
          </a:p>
          <a:p>
            <a:pPr marL="914400" lvl="1" indent="-323850" algn="l" rtl="0">
              <a:spcBef>
                <a:spcPts val="0"/>
              </a:spcBef>
              <a:spcAft>
                <a:spcPts val="0"/>
              </a:spcAft>
              <a:buSzPts val="1500"/>
              <a:buChar char="•"/>
            </a:pPr>
            <a:r>
              <a:rPr lang="ja" noProof="1"/>
              <a:t>OSPO is responsible for defining, communicating and disseminating the de facto SBOMs (Purpose, tool, format, process, etc.) formed by the community within the company.</a:t>
            </a:r>
            <a:endParaRPr/>
          </a:p>
          <a:p>
            <a:pPr marL="914400" lvl="1" indent="-323850" algn="l" rtl="0">
              <a:spcBef>
                <a:spcPts val="0"/>
              </a:spcBef>
              <a:spcAft>
                <a:spcPts val="0"/>
              </a:spcAft>
              <a:buSzPts val="1500"/>
              <a:buChar char="•"/>
            </a:pPr>
            <a:r>
              <a:rPr lang="ja" noProof="1"/>
              <a:t>As a bridge between the community and the company, OSPO is also responsible for promoting the communication of opinions from the company side to the community and promoting a better SBOMs for both the community and the company.</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63"/>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sz="1120" noProof="1"/>
              <a:t>Here is a pictorial representation of the SBOM management process that was described and commented on 5/23.</a:t>
            </a:r>
            <a:endParaRPr sz="1120"/>
          </a:p>
          <a:p>
            <a:pPr marL="0" lvl="0" indent="0" algn="l" rtl="0">
              <a:spcBef>
                <a:spcPts val="0"/>
              </a:spcBef>
              <a:spcAft>
                <a:spcPts val="0"/>
              </a:spcAft>
              <a:buNone/>
            </a:pPr>
            <a:r>
              <a:rPr lang="ja" sz="1120" noProof="1"/>
              <a:t>I would appreciate your advice and comments.</a:t>
            </a:r>
            <a:endParaRPr sz="1120"/>
          </a:p>
        </p:txBody>
      </p:sp>
      <p:sp>
        <p:nvSpPr>
          <p:cNvPr id="689" name="Google Shape;689;p63"/>
          <p:cNvSpPr/>
          <p:nvPr/>
        </p:nvSpPr>
        <p:spPr>
          <a:xfrm>
            <a:off x="1132238" y="2468650"/>
            <a:ext cx="1343700" cy="5943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noProof="1"/>
              <a:t>Procurement Department</a:t>
            </a:r>
            <a:endParaRPr/>
          </a:p>
        </p:txBody>
      </p:sp>
      <p:sp>
        <p:nvSpPr>
          <p:cNvPr id="690" name="Google Shape;690;p63"/>
          <p:cNvSpPr/>
          <p:nvPr/>
        </p:nvSpPr>
        <p:spPr>
          <a:xfrm>
            <a:off x="203400" y="1722425"/>
            <a:ext cx="712500" cy="594300"/>
          </a:xfrm>
          <a:prstGeom prst="foldedCorner">
            <a:avLst>
              <a:gd name="adj" fmla="val 3019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sz="800" noProof="1"/>
              <a:t>Ordered parts</a:t>
            </a:r>
            <a:endParaRPr sz="800"/>
          </a:p>
          <a:p>
            <a:pPr marL="0" lvl="0" indent="0" algn="ctr" rtl="0">
              <a:spcBef>
                <a:spcPts val="0"/>
              </a:spcBef>
              <a:spcAft>
                <a:spcPts val="0"/>
              </a:spcAft>
              <a:buNone/>
            </a:pPr>
            <a:r>
              <a:rPr lang="ja" sz="800" noProof="1"/>
              <a:t>SBOM</a:t>
            </a:r>
            <a:endParaRPr sz="800"/>
          </a:p>
        </p:txBody>
      </p:sp>
      <p:sp>
        <p:nvSpPr>
          <p:cNvPr id="691" name="Google Shape;691;p63"/>
          <p:cNvSpPr/>
          <p:nvPr/>
        </p:nvSpPr>
        <p:spPr>
          <a:xfrm>
            <a:off x="203400" y="2468650"/>
            <a:ext cx="712500" cy="594300"/>
          </a:xfrm>
          <a:prstGeom prst="foldedCorner">
            <a:avLst>
              <a:gd name="adj" fmla="val 3019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ja" sz="800" noProof="1">
                <a:solidFill>
                  <a:schemeClr val="dk1"/>
                </a:solidFill>
              </a:rPr>
              <a:t>Ordered parts</a:t>
            </a:r>
            <a:endParaRPr sz="800">
              <a:solidFill>
                <a:schemeClr val="dk1"/>
              </a:solidFill>
            </a:endParaRPr>
          </a:p>
          <a:p>
            <a:pPr marL="0" lvl="0" indent="0" algn="ctr" rtl="0">
              <a:spcBef>
                <a:spcPts val="0"/>
              </a:spcBef>
              <a:spcAft>
                <a:spcPts val="0"/>
              </a:spcAft>
              <a:buClr>
                <a:schemeClr val="dk1"/>
              </a:buClr>
              <a:buSzPts val="1100"/>
              <a:buFont typeface="Arial"/>
              <a:buNone/>
            </a:pPr>
            <a:r>
              <a:rPr lang="ja" sz="800" noProof="1">
                <a:solidFill>
                  <a:schemeClr val="dk1"/>
                </a:solidFill>
              </a:rPr>
              <a:t>SBOM</a:t>
            </a:r>
            <a:endParaRPr/>
          </a:p>
        </p:txBody>
      </p:sp>
      <p:sp>
        <p:nvSpPr>
          <p:cNvPr id="692" name="Google Shape;692;p63"/>
          <p:cNvSpPr/>
          <p:nvPr/>
        </p:nvSpPr>
        <p:spPr>
          <a:xfrm>
            <a:off x="203400" y="3214875"/>
            <a:ext cx="712500" cy="594300"/>
          </a:xfrm>
          <a:prstGeom prst="foldedCorner">
            <a:avLst>
              <a:gd name="adj" fmla="val 3019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noProof="1"/>
              <a:t>OSS</a:t>
            </a:r>
            <a:endParaRPr/>
          </a:p>
          <a:p>
            <a:pPr marL="0" lvl="0" indent="0" algn="ctr" rtl="0">
              <a:spcBef>
                <a:spcPts val="0"/>
              </a:spcBef>
              <a:spcAft>
                <a:spcPts val="0"/>
              </a:spcAft>
              <a:buNone/>
            </a:pPr>
            <a:r>
              <a:rPr lang="ja" noProof="1"/>
              <a:t>SBOM</a:t>
            </a:r>
            <a:endParaRPr/>
          </a:p>
        </p:txBody>
      </p:sp>
      <p:sp>
        <p:nvSpPr>
          <p:cNvPr id="693" name="Google Shape;693;p63"/>
          <p:cNvSpPr/>
          <p:nvPr/>
        </p:nvSpPr>
        <p:spPr>
          <a:xfrm>
            <a:off x="2525224" y="2468650"/>
            <a:ext cx="1343700" cy="5943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noProof="1"/>
              <a:t>Design Department</a:t>
            </a:r>
            <a:endParaRPr/>
          </a:p>
        </p:txBody>
      </p:sp>
      <p:sp>
        <p:nvSpPr>
          <p:cNvPr id="694" name="Google Shape;694;p63"/>
          <p:cNvSpPr/>
          <p:nvPr/>
        </p:nvSpPr>
        <p:spPr>
          <a:xfrm>
            <a:off x="3918210" y="2468650"/>
            <a:ext cx="1343700" cy="5943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noProof="1"/>
              <a:t>Development Department</a:t>
            </a:r>
            <a:endParaRPr/>
          </a:p>
        </p:txBody>
      </p:sp>
      <p:sp>
        <p:nvSpPr>
          <p:cNvPr id="695" name="Google Shape;695;p63"/>
          <p:cNvSpPr/>
          <p:nvPr/>
        </p:nvSpPr>
        <p:spPr>
          <a:xfrm>
            <a:off x="6664326" y="2468650"/>
            <a:ext cx="1343700" cy="5943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noProof="1"/>
              <a:t>Shipping Department</a:t>
            </a:r>
            <a:endParaRPr/>
          </a:p>
        </p:txBody>
      </p:sp>
      <p:sp>
        <p:nvSpPr>
          <p:cNvPr id="696" name="Google Shape;696;p63"/>
          <p:cNvSpPr txBox="1"/>
          <p:nvPr/>
        </p:nvSpPr>
        <p:spPr>
          <a:xfrm>
            <a:off x="-66162" y="4039850"/>
            <a:ext cx="12516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noProof="1"/>
              <a:t>(upstream)</a:t>
            </a:r>
            <a:endParaRPr/>
          </a:p>
          <a:p>
            <a:pPr marL="0" lvl="0" indent="0" algn="ctr" rtl="0">
              <a:spcBef>
                <a:spcPts val="0"/>
              </a:spcBef>
              <a:spcAft>
                <a:spcPts val="0"/>
              </a:spcAft>
              <a:buNone/>
            </a:pPr>
            <a:r>
              <a:rPr lang="ja" noProof="1"/>
              <a:t>Parts Manufacturer</a:t>
            </a:r>
            <a:endParaRPr/>
          </a:p>
          <a:p>
            <a:pPr marL="0" lvl="0" indent="0" algn="ctr" rtl="0">
              <a:spcBef>
                <a:spcPts val="0"/>
              </a:spcBef>
              <a:spcAft>
                <a:spcPts val="0"/>
              </a:spcAft>
              <a:buNone/>
            </a:pPr>
            <a:r>
              <a:rPr lang="ja" noProof="1"/>
              <a:t>Repository</a:t>
            </a:r>
            <a:endParaRPr/>
          </a:p>
        </p:txBody>
      </p:sp>
      <p:sp>
        <p:nvSpPr>
          <p:cNvPr id="697" name="Google Shape;697;p63"/>
          <p:cNvSpPr/>
          <p:nvPr/>
        </p:nvSpPr>
        <p:spPr>
          <a:xfrm>
            <a:off x="8173367" y="2468650"/>
            <a:ext cx="712500" cy="594300"/>
          </a:xfrm>
          <a:prstGeom prst="foldedCorner">
            <a:avLst>
              <a:gd name="adj" fmla="val 3019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noProof="1"/>
              <a:t>Product</a:t>
            </a:r>
            <a:endParaRPr/>
          </a:p>
          <a:p>
            <a:pPr marL="0" lvl="0" indent="0" algn="ctr" rtl="0">
              <a:spcBef>
                <a:spcPts val="0"/>
              </a:spcBef>
              <a:spcAft>
                <a:spcPts val="0"/>
              </a:spcAft>
              <a:buNone/>
            </a:pPr>
            <a:r>
              <a:rPr lang="ja" noProof="1"/>
              <a:t>SBOM</a:t>
            </a:r>
            <a:endParaRPr/>
          </a:p>
        </p:txBody>
      </p:sp>
      <p:sp>
        <p:nvSpPr>
          <p:cNvPr id="698" name="Google Shape;698;p63"/>
          <p:cNvSpPr txBox="1"/>
          <p:nvPr/>
        </p:nvSpPr>
        <p:spPr>
          <a:xfrm>
            <a:off x="7602163" y="4162675"/>
            <a:ext cx="14289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noProof="1"/>
              <a:t>(Downstream)</a:t>
            </a:r>
            <a:endParaRPr/>
          </a:p>
          <a:p>
            <a:pPr marL="0" lvl="0" indent="0" algn="l" rtl="0">
              <a:spcBef>
                <a:spcPts val="0"/>
              </a:spcBef>
              <a:spcAft>
                <a:spcPts val="0"/>
              </a:spcAft>
              <a:buNone/>
            </a:pPr>
            <a:r>
              <a:rPr lang="ja" noProof="1"/>
              <a:t>Destination/Customer</a:t>
            </a:r>
            <a:endParaRPr/>
          </a:p>
        </p:txBody>
      </p:sp>
      <p:sp>
        <p:nvSpPr>
          <p:cNvPr id="699" name="Google Shape;699;p63"/>
          <p:cNvSpPr txBox="1"/>
          <p:nvPr/>
        </p:nvSpPr>
        <p:spPr>
          <a:xfrm>
            <a:off x="1073282" y="3151200"/>
            <a:ext cx="1235400" cy="1416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u="sng" noProof="1"/>
              <a:t>SBOM Ordering/Receiving Management of Ordered Parts</a:t>
            </a:r>
            <a:endParaRPr sz="800" b="1" u="sng"/>
          </a:p>
          <a:p>
            <a:pPr marL="0" lvl="0" indent="0" algn="ctr" rtl="0">
              <a:spcBef>
                <a:spcPts val="0"/>
              </a:spcBef>
              <a:spcAft>
                <a:spcPts val="0"/>
              </a:spcAft>
              <a:buNone/>
            </a:pPr>
            <a:r>
              <a:rPr lang="ja" sz="800" noProof="1"/>
              <a:t>(Ensure that SBOMs are requested and received at the time of ordering; ensure that SBOMs are received at VUP, etc.)</a:t>
            </a:r>
            <a:endParaRPr sz="800"/>
          </a:p>
        </p:txBody>
      </p:sp>
      <p:sp>
        <p:nvSpPr>
          <p:cNvPr id="700" name="Google Shape;700;p63"/>
          <p:cNvSpPr txBox="1"/>
          <p:nvPr/>
        </p:nvSpPr>
        <p:spPr>
          <a:xfrm>
            <a:off x="2525224" y="3151200"/>
            <a:ext cx="12354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u="sng" noProof="1"/>
              <a:t>SBOM content management for ordered parts</a:t>
            </a:r>
            <a:endParaRPr sz="800" b="1" u="sng"/>
          </a:p>
          <a:p>
            <a:pPr marL="0" lvl="0" indent="0" algn="ctr" rtl="0">
              <a:spcBef>
                <a:spcPts val="0"/>
              </a:spcBef>
              <a:spcAft>
                <a:spcPts val="0"/>
              </a:spcAft>
              <a:buNone/>
            </a:pPr>
            <a:r>
              <a:rPr lang="ja" sz="800" noProof="1"/>
              <a:t>(Component vulnerability management/handling/reporting to component manufacturer when it becomes apparent, etc.)</a:t>
            </a:r>
            <a:endParaRPr sz="800"/>
          </a:p>
        </p:txBody>
      </p:sp>
      <p:sp>
        <p:nvSpPr>
          <p:cNvPr id="701" name="Google Shape;701;p63"/>
          <p:cNvSpPr txBox="1"/>
          <p:nvPr/>
        </p:nvSpPr>
        <p:spPr>
          <a:xfrm>
            <a:off x="3868804" y="3151200"/>
            <a:ext cx="1235400" cy="1416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u="sng" noProof="1"/>
              <a:t>Product SBOM creation management</a:t>
            </a:r>
            <a:endParaRPr sz="800" b="1" u="sng"/>
          </a:p>
          <a:p>
            <a:pPr marL="0" lvl="0" indent="0" algn="l" rtl="0">
              <a:spcBef>
                <a:spcPts val="0"/>
              </a:spcBef>
              <a:spcAft>
                <a:spcPts val="0"/>
              </a:spcAft>
              <a:buNone/>
            </a:pPr>
            <a:r>
              <a:rPr lang="ja" sz="800" noProof="1"/>
              <a:t>(Responsible for SBOM creation, FIX the OSS version at the time of development and create the SBOM for the product to be delivered, etc.)</a:t>
            </a:r>
            <a:endParaRPr sz="800"/>
          </a:p>
        </p:txBody>
      </p:sp>
      <p:sp>
        <p:nvSpPr>
          <p:cNvPr id="702" name="Google Shape;702;p63"/>
          <p:cNvSpPr txBox="1"/>
          <p:nvPr/>
        </p:nvSpPr>
        <p:spPr>
          <a:xfrm>
            <a:off x="6664326" y="3151200"/>
            <a:ext cx="1235400" cy="1416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u="sng" noProof="1"/>
              <a:t>Product SBOM management</a:t>
            </a:r>
            <a:endParaRPr sz="800" b="1" u="sng"/>
          </a:p>
          <a:p>
            <a:pPr marL="0" lvl="0" indent="0" algn="l" rtl="0">
              <a:spcBef>
                <a:spcPts val="0"/>
              </a:spcBef>
              <a:spcAft>
                <a:spcPts val="0"/>
              </a:spcAft>
              <a:buNone/>
            </a:pPr>
            <a:r>
              <a:rPr lang="ja" sz="800" noProof="1"/>
              <a:t>(Product SBM delivery management, version management of delivered product SBOMs, ensuring delivery of SBOMs during product VUP, etc.)</a:t>
            </a:r>
            <a:endParaRPr sz="800"/>
          </a:p>
        </p:txBody>
      </p:sp>
      <p:sp>
        <p:nvSpPr>
          <p:cNvPr id="703" name="Google Shape;703;p63"/>
          <p:cNvSpPr/>
          <p:nvPr/>
        </p:nvSpPr>
        <p:spPr>
          <a:xfrm>
            <a:off x="5311195" y="2468650"/>
            <a:ext cx="1343700" cy="5943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noProof="1"/>
              <a:t>Quality management</a:t>
            </a:r>
            <a:endParaRPr/>
          </a:p>
          <a:p>
            <a:pPr marL="0" lvl="0" indent="0" algn="ctr" rtl="0">
              <a:spcBef>
                <a:spcPts val="0"/>
              </a:spcBef>
              <a:spcAft>
                <a:spcPts val="0"/>
              </a:spcAft>
              <a:buNone/>
            </a:pPr>
            <a:r>
              <a:rPr lang="ja" noProof="1"/>
              <a:t>Departments</a:t>
            </a:r>
            <a:endParaRPr/>
          </a:p>
        </p:txBody>
      </p:sp>
      <p:sp>
        <p:nvSpPr>
          <p:cNvPr id="704" name="Google Shape;704;p63"/>
          <p:cNvSpPr/>
          <p:nvPr/>
        </p:nvSpPr>
        <p:spPr>
          <a:xfrm>
            <a:off x="1215125" y="1025050"/>
            <a:ext cx="6792900" cy="331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noProof="1"/>
              <a:t>OSPO</a:t>
            </a:r>
            <a:endParaRPr/>
          </a:p>
        </p:txBody>
      </p:sp>
      <p:sp>
        <p:nvSpPr>
          <p:cNvPr id="705" name="Google Shape;705;p63"/>
          <p:cNvSpPr txBox="1"/>
          <p:nvPr/>
        </p:nvSpPr>
        <p:spPr>
          <a:xfrm>
            <a:off x="1867450" y="1280625"/>
            <a:ext cx="5734800" cy="800400"/>
          </a:xfrm>
          <a:prstGeom prst="rect">
            <a:avLst/>
          </a:prstGeom>
          <a:noFill/>
          <a:ln>
            <a:noFill/>
          </a:ln>
        </p:spPr>
        <p:txBody>
          <a:bodyPr spcFirstLastPara="1" wrap="square" lIns="91425" tIns="91425" rIns="91425" bIns="91425" anchor="t" anchorCtr="0">
            <a:spAutoFit/>
          </a:bodyPr>
          <a:lstStyle/>
          <a:p>
            <a:pPr marL="457200" lvl="0" indent="-292100" algn="l" rtl="0">
              <a:spcBef>
                <a:spcPts val="0"/>
              </a:spcBef>
              <a:spcAft>
                <a:spcPts val="0"/>
              </a:spcAft>
              <a:buSzPts val="1000"/>
              <a:buChar char="●"/>
            </a:pPr>
            <a:r>
              <a:rPr lang="ja" sz="800" b="1" noProof="1"/>
              <a:t>Establishment of rules and guidelines for the SBOM management process from parts procurement to product shipment</a:t>
            </a:r>
            <a:endParaRPr sz="800" b="1"/>
          </a:p>
          <a:p>
            <a:pPr marL="457200" lvl="0" indent="-292100" algn="l" rtl="0">
              <a:spcBef>
                <a:spcPts val="0"/>
              </a:spcBef>
              <a:spcAft>
                <a:spcPts val="0"/>
              </a:spcAft>
              <a:buSzPts val="1000"/>
              <a:buChar char="●"/>
            </a:pPr>
            <a:r>
              <a:rPr lang="ja" sz="800" b="1" noProof="1"/>
              <a:t>Control of the SBOM management process, handling and improvement of abnormalities</a:t>
            </a:r>
            <a:endParaRPr sz="800" b="1"/>
          </a:p>
          <a:p>
            <a:pPr marL="457200" lvl="0" indent="-292100" algn="l" rtl="0">
              <a:spcBef>
                <a:spcPts val="0"/>
              </a:spcBef>
              <a:spcAft>
                <a:spcPts val="0"/>
              </a:spcAft>
              <a:buSzPts val="1000"/>
              <a:buChar char="●"/>
            </a:pPr>
            <a:r>
              <a:rPr lang="ja" sz="800" b="1" noProof="1"/>
              <a:t>Consideration of improvement and efficiency of the SBOM management process</a:t>
            </a:r>
            <a:endParaRPr sz="800" b="1"/>
          </a:p>
          <a:p>
            <a:pPr marL="457200" lvl="0" indent="-292100" algn="l" rtl="0">
              <a:spcBef>
                <a:spcPts val="0"/>
              </a:spcBef>
              <a:spcAft>
                <a:spcPts val="0"/>
              </a:spcAft>
              <a:buSzPts val="1000"/>
              <a:buChar char="●"/>
            </a:pPr>
            <a:r>
              <a:rPr lang="ja" sz="800" b="1" noProof="1">
                <a:solidFill>
                  <a:schemeClr val="dk1"/>
                </a:solidFill>
              </a:rPr>
              <a:t>Consideration, evaluation, procurement, and introduction of tools necessary for the SBOM management process</a:t>
            </a:r>
            <a:endParaRPr sz="800" b="1"/>
          </a:p>
        </p:txBody>
      </p:sp>
      <p:sp>
        <p:nvSpPr>
          <p:cNvPr id="706" name="Google Shape;706;p63"/>
          <p:cNvSpPr txBox="1"/>
          <p:nvPr/>
        </p:nvSpPr>
        <p:spPr>
          <a:xfrm>
            <a:off x="5266565" y="3151200"/>
            <a:ext cx="12354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800" b="1" u="sng" noProof="1"/>
              <a:t>SBOM quality control of products</a:t>
            </a:r>
            <a:endParaRPr sz="800" b="1" u="sng"/>
          </a:p>
          <a:p>
            <a:pPr marL="0" lvl="0" indent="0" algn="ctr" rtl="0">
              <a:spcBef>
                <a:spcPts val="0"/>
              </a:spcBef>
              <a:spcAft>
                <a:spcPts val="0"/>
              </a:spcAft>
              <a:buNone/>
            </a:pPr>
            <a:r>
              <a:rPr lang="ja" sz="800" u="sng" noProof="1"/>
              <a:t>(Check for defects in attachments and violations of company guidelines)</a:t>
            </a:r>
            <a:endParaRPr sz="800" u="sng"/>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p64"/>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5/23 of chat memos (excluding speaker information)</a:t>
            </a:r>
            <a:endParaRPr/>
          </a:p>
        </p:txBody>
      </p:sp>
      <p:sp>
        <p:nvSpPr>
          <p:cNvPr id="712" name="Google Shape;712;p64"/>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55000" lnSpcReduction="10000"/>
          </a:bodyPr>
          <a:lstStyle/>
          <a:p>
            <a:pPr marL="457200" lvl="0" indent="-291465" algn="l" rtl="0">
              <a:lnSpc>
                <a:spcPct val="115000"/>
              </a:lnSpc>
              <a:spcBef>
                <a:spcPts val="0"/>
              </a:spcBef>
              <a:spcAft>
                <a:spcPts val="0"/>
              </a:spcAft>
              <a:buSzPct val="100000"/>
              <a:buChar char="●"/>
            </a:pPr>
            <a:r>
              <a:rPr lang="ja" noProof="1"/>
              <a:t>You mentioned that it doesn't make money, but based on the information you shared on Slack, I think Japan needs to do OSS activities to the extent that they make money.</a:t>
            </a:r>
            <a:endParaRPr/>
          </a:p>
          <a:p>
            <a:pPr marL="457200" lvl="0" indent="-291465" algn="l" rtl="0">
              <a:lnSpc>
                <a:spcPct val="115000"/>
              </a:lnSpc>
              <a:spcBef>
                <a:spcPts val="0"/>
              </a:spcBef>
              <a:spcAft>
                <a:spcPts val="0"/>
              </a:spcAft>
              <a:buSzPct val="100000"/>
              <a:buChar char="●"/>
            </a:pPr>
            <a:r>
              <a:rPr lang="ja" noProof="1"/>
              <a:t>I have the impression that community activities tend to be more difficult to explain when the main body of OSPO-like activities is the profit center.</a:t>
            </a:r>
            <a:endParaRPr/>
          </a:p>
          <a:p>
            <a:pPr marL="914400" lvl="1" indent="-280987" algn="l" rtl="0">
              <a:lnSpc>
                <a:spcPct val="115000"/>
              </a:lnSpc>
              <a:spcBef>
                <a:spcPts val="0"/>
              </a:spcBef>
              <a:spcAft>
                <a:spcPts val="0"/>
              </a:spcAft>
              <a:buSzPct val="100000"/>
              <a:buChar char="○"/>
            </a:pPr>
            <a:r>
              <a:rPr lang="ja" noProof="1"/>
              <a:t>I think there are various factors.</a:t>
            </a:r>
            <a:endParaRPr/>
          </a:p>
          <a:p>
            <a:pPr marL="457200" lvl="0" indent="-291465" algn="l" rtl="0">
              <a:lnSpc>
                <a:spcPct val="115000"/>
              </a:lnSpc>
              <a:spcBef>
                <a:spcPts val="0"/>
              </a:spcBef>
              <a:spcAft>
                <a:spcPts val="0"/>
              </a:spcAft>
              <a:buSzPct val="100000"/>
              <a:buChar char="●"/>
            </a:pPr>
            <a:r>
              <a:rPr lang="ja" noProof="1"/>
              <a:t>Since the stage of a company (including group companies) varies depending on the business, it is difficult to put it down to "cross-group activities."</a:t>
            </a:r>
            <a:endParaRPr/>
          </a:p>
          <a:p>
            <a:pPr marL="457200" lvl="0" indent="-291465" algn="l" rtl="0">
              <a:lnSpc>
                <a:spcPct val="115000"/>
              </a:lnSpc>
              <a:spcBef>
                <a:spcPts val="0"/>
              </a:spcBef>
              <a:spcAft>
                <a:spcPts val="0"/>
              </a:spcAft>
              <a:buSzPct val="100000"/>
              <a:buChar char="●"/>
            </a:pPr>
            <a:r>
              <a:rPr lang="ja" noProof="1"/>
              <a:t>It happens very rarely. &gt;"Think about it in OSPO."</a:t>
            </a:r>
            <a:endParaRPr/>
          </a:p>
          <a:p>
            <a:pPr marL="457200" lvl="0" indent="-291465" algn="l" rtl="0">
              <a:lnSpc>
                <a:spcPct val="115000"/>
              </a:lnSpc>
              <a:spcBef>
                <a:spcPts val="0"/>
              </a:spcBef>
              <a:spcAft>
                <a:spcPts val="0"/>
              </a:spcAft>
              <a:buSzPct val="100000"/>
              <a:buChar char="●"/>
            </a:pPr>
            <a:r>
              <a:rPr lang="ja" noProof="1"/>
              <a:t>Is OSPO in charge of SBOM management? I thought the answer might be confusing because the question could imply "Is OSPO responsible for the SBOM?" ...</a:t>
            </a:r>
            <a:endParaRPr/>
          </a:p>
          <a:p>
            <a:pPr marL="457200" lvl="0" indent="-291465" algn="l" rtl="0">
              <a:lnSpc>
                <a:spcPct val="115000"/>
              </a:lnSpc>
              <a:spcBef>
                <a:spcPts val="0"/>
              </a:spcBef>
              <a:spcAft>
                <a:spcPts val="0"/>
              </a:spcAft>
              <a:buSzPct val="100000"/>
              <a:buChar char="●"/>
            </a:pPr>
            <a:r>
              <a:rPr lang="ja" noProof="1"/>
              <a:t>This is exactly the situation that is being discussed in our company, and we don't have the resources to deal with it individually, so we would like to have OSPO as a contact point for SBOM for the whole company.</a:t>
            </a:r>
            <a:endParaRPr/>
          </a:p>
          <a:p>
            <a:pPr marL="914400" lvl="1" indent="-280987" algn="l" rtl="0">
              <a:lnSpc>
                <a:spcPct val="115000"/>
              </a:lnSpc>
              <a:spcBef>
                <a:spcPts val="0"/>
              </a:spcBef>
              <a:spcAft>
                <a:spcPts val="0"/>
              </a:spcAft>
              <a:buSzPct val="100000"/>
              <a:buChar char="○"/>
            </a:pPr>
            <a:r>
              <a:rPr lang="ja" noProof="1"/>
              <a:t>We are considering how to handle the inquiries we receive.</a:t>
            </a:r>
            <a:endParaRPr/>
          </a:p>
          <a:p>
            <a:pPr marL="457200" lvl="0" indent="-291465" algn="l" rtl="0">
              <a:lnSpc>
                <a:spcPct val="115000"/>
              </a:lnSpc>
              <a:spcBef>
                <a:spcPts val="0"/>
              </a:spcBef>
              <a:spcAft>
                <a:spcPts val="0"/>
              </a:spcAft>
              <a:buSzPct val="100000"/>
              <a:buChar char="●"/>
            </a:pPr>
            <a:r>
              <a:rPr lang="ja" noProof="1"/>
              <a:t>I think (development) people expect someone else to do it. We need to sort out roles and responsibilities.</a:t>
            </a:r>
            <a:endParaRPr/>
          </a:p>
          <a:p>
            <a:pPr marL="457200" lvl="0" indent="-291465" algn="l" rtl="0">
              <a:lnSpc>
                <a:spcPct val="115000"/>
              </a:lnSpc>
              <a:spcBef>
                <a:spcPts val="0"/>
              </a:spcBef>
              <a:spcAft>
                <a:spcPts val="0"/>
              </a:spcAft>
              <a:buSzPct val="100000"/>
              <a:buChar char="●"/>
            </a:pPr>
            <a:r>
              <a:rPr lang="ja" noProof="1"/>
              <a:t>"Creating" and "submitting" SBOMs is a developer's responsibility, and I agree with the developer side, but if there is a guide for automating it in CI/CD, I would be happy if it is implemented. (Like GitHub)</a:t>
            </a:r>
            <a:endParaRPr/>
          </a:p>
          <a:p>
            <a:pPr marL="457200" lvl="0" indent="-291465" algn="l" rtl="0">
              <a:lnSpc>
                <a:spcPct val="115000"/>
              </a:lnSpc>
              <a:spcBef>
                <a:spcPts val="0"/>
              </a:spcBef>
              <a:spcAft>
                <a:spcPts val="0"/>
              </a:spcAft>
              <a:buSzPct val="100000"/>
              <a:buChar char="●"/>
            </a:pPr>
            <a:r>
              <a:rPr lang="ja" noProof="1"/>
              <a:t>I think the OSPO in my previous job was not responsible for managing SBOMs.</a:t>
            </a:r>
            <a:br>
              <a:rPr lang="ja"/>
            </a:br>
            <a:r>
              <a:rPr lang="ja" noProof="1"/>
              <a:t>However, their role was to manage "best practices" and "platforms" related to OSPO and including SBOMs.</a:t>
            </a:r>
            <a:endParaRPr/>
          </a:p>
          <a:p>
            <a:pPr marL="914400" lvl="1" indent="-280987" algn="l" rtl="0">
              <a:lnSpc>
                <a:spcPct val="115000"/>
              </a:lnSpc>
              <a:spcBef>
                <a:spcPts val="0"/>
              </a:spcBef>
              <a:spcAft>
                <a:spcPts val="0"/>
              </a:spcAft>
              <a:buSzPct val="100000"/>
              <a:buChar char="○"/>
            </a:pPr>
            <a:r>
              <a:rPr lang="ja" noProof="1"/>
              <a:t>(Not managing SBOMs themselves)</a:t>
            </a:r>
            <a:endParaRPr/>
          </a:p>
          <a:p>
            <a:pPr marL="457200" lvl="0" indent="-291465" algn="l" rtl="0">
              <a:lnSpc>
                <a:spcPct val="115000"/>
              </a:lnSpc>
              <a:spcBef>
                <a:spcPts val="0"/>
              </a:spcBef>
              <a:spcAft>
                <a:spcPts val="0"/>
              </a:spcAft>
              <a:buSzPct val="100000"/>
              <a:buChar char="●"/>
            </a:pPr>
            <a:r>
              <a:rPr lang="ja" noProof="1"/>
              <a:t>If there is a department like PSIRT (Security department? or Procurement?), I think that department should be in charge of SBOMs rather than OSPO.</a:t>
            </a:r>
            <a:endParaRPr/>
          </a:p>
          <a:p>
            <a:pPr marL="457200" lvl="0" indent="-291465" algn="l" rtl="0">
              <a:lnSpc>
                <a:spcPct val="115000"/>
              </a:lnSpc>
              <a:spcBef>
                <a:spcPts val="0"/>
              </a:spcBef>
              <a:spcAft>
                <a:spcPts val="0"/>
              </a:spcAft>
              <a:buSzPct val="100000"/>
              <a:buChar char="●"/>
            </a:pPr>
            <a:r>
              <a:rPr lang="ja" noProof="1"/>
              <a:t>When automating, the requirements for SBOMs used in an organization should be normalized. In this sense, I think that the SBOM guide of TelcoWG is useful for my industry. I think OSPO should take the lead (but there is no consensus within our company OSPO team).</a:t>
            </a:r>
            <a:endParaRPr/>
          </a:p>
          <a:p>
            <a:pPr marL="457200" lvl="0" indent="-291465" algn="l" rtl="0">
              <a:lnSpc>
                <a:spcPct val="115000"/>
              </a:lnSpc>
              <a:spcBef>
                <a:spcPts val="0"/>
              </a:spcBef>
              <a:spcAft>
                <a:spcPts val="0"/>
              </a:spcAft>
              <a:buSzPct val="100000"/>
              <a:buChar char="●"/>
            </a:pPr>
            <a:r>
              <a:rPr lang="ja" noProof="1"/>
              <a:t>Replying to "If there is a division like PSIRT (Security department? or Procurement?), it would be better for SBO than OSPO ...":</a:t>
            </a:r>
            <a:br>
              <a:rPr lang="ja"/>
            </a:br>
            <a:r>
              <a:rPr lang="ja"/>
              <a:t>	</a:t>
            </a:r>
            <a:r>
              <a:rPr lang="ja" noProof="1"/>
              <a:t>Why? Can you elaborate on that?</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65"/>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7/11</a:t>
            </a:r>
            <a:endParaRPr/>
          </a:p>
        </p:txBody>
      </p:sp>
      <p:sp>
        <p:nvSpPr>
          <p:cNvPr id="718" name="Google Shape;718;p65"/>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70000" lnSpcReduction="20000"/>
          </a:bodyPr>
          <a:lstStyle/>
          <a:p>
            <a:pPr marL="457200" lvl="0" indent="-308610" algn="l" rtl="0">
              <a:lnSpc>
                <a:spcPct val="115000"/>
              </a:lnSpc>
              <a:spcBef>
                <a:spcPts val="0"/>
              </a:spcBef>
              <a:spcAft>
                <a:spcPts val="0"/>
              </a:spcAft>
              <a:buSzPct val="100000"/>
              <a:buChar char="•"/>
            </a:pPr>
            <a:r>
              <a:rPr lang="ja" noProof="1"/>
              <a:t>As OSPO matures, it will become an organization that leads the discussion by demonstrating its insight on OSS-related responses.</a:t>
            </a:r>
            <a:endParaRPr/>
          </a:p>
          <a:p>
            <a:pPr marL="0" lvl="0" indent="0" algn="l" rtl="0">
              <a:lnSpc>
                <a:spcPct val="115000"/>
              </a:lnSpc>
              <a:spcBef>
                <a:spcPts val="0"/>
              </a:spcBef>
              <a:spcAft>
                <a:spcPts val="0"/>
              </a:spcAft>
              <a:buNone/>
            </a:pPr>
            <a:r>
              <a:t> </a:t>
            </a:r>
          </a:p>
          <a:p>
            <a:pPr marL="0" lvl="0" indent="0" algn="l" rtl="0">
              <a:lnSpc>
                <a:spcPct val="115000"/>
              </a:lnSpc>
              <a:spcBef>
                <a:spcPts val="0"/>
              </a:spcBef>
              <a:spcAft>
                <a:spcPts val="0"/>
              </a:spcAft>
              <a:buNone/>
            </a:pPr>
            <a:r>
              <a:rPr lang="ja" noProof="1"/>
              <a:t>Chat notes:</a:t>
            </a:r>
            <a:endParaRPr/>
          </a:p>
          <a:p>
            <a:pPr marL="457200" lvl="0" indent="-308610" algn="l" rtl="0">
              <a:lnSpc>
                <a:spcPct val="115000"/>
              </a:lnSpc>
              <a:spcBef>
                <a:spcPts val="0"/>
              </a:spcBef>
              <a:spcAft>
                <a:spcPts val="0"/>
              </a:spcAft>
              <a:buSzPct val="100000"/>
              <a:buChar char="•"/>
            </a:pPr>
            <a:r>
              <a:rPr lang="ja" noProof="1"/>
              <a:t>The procurement department only checks the formal appearance, but if another department (such as the security department) uses it to manage vulnerabilities, it should be included in this flow.</a:t>
            </a:r>
            <a:endParaRPr/>
          </a:p>
          <a:p>
            <a:pPr marL="457200" lvl="0" indent="-308610" algn="l" rtl="0">
              <a:lnSpc>
                <a:spcPct val="115000"/>
              </a:lnSpc>
              <a:spcBef>
                <a:spcPts val="0"/>
              </a:spcBef>
              <a:spcAft>
                <a:spcPts val="0"/>
              </a:spcAft>
              <a:buSzPct val="100000"/>
              <a:buChar char="•"/>
            </a:pPr>
            <a:r>
              <a:rPr lang="ja" noProof="1"/>
              <a:t>Check to see if there are any blanks.</a:t>
            </a:r>
            <a:endParaRPr/>
          </a:p>
          <a:p>
            <a:pPr marL="457200" lvl="0" indent="-308610" algn="l" rtl="0">
              <a:lnSpc>
                <a:spcPct val="115000"/>
              </a:lnSpc>
              <a:spcBef>
                <a:spcPts val="0"/>
              </a:spcBef>
              <a:spcAft>
                <a:spcPts val="0"/>
              </a:spcAft>
              <a:buSzPct val="100000"/>
              <a:buChar char="•"/>
            </a:pPr>
            <a:r>
              <a:rPr lang="ja" noProof="1"/>
              <a:t>The function of OSPO varies a lot even in the same industry. Examples of four companies in the automotive industry can be found in AGL Publications here.</a:t>
            </a:r>
            <a:endParaRPr/>
          </a:p>
          <a:p>
            <a:pPr marL="914400" lvl="1" indent="-295275" algn="l" rtl="0">
              <a:lnSpc>
                <a:spcPct val="115000"/>
              </a:lnSpc>
              <a:spcBef>
                <a:spcPts val="0"/>
              </a:spcBef>
              <a:spcAft>
                <a:spcPts val="0"/>
              </a:spcAft>
              <a:buSzPct val="100000"/>
              <a:buChar char="•"/>
            </a:pPr>
            <a:r>
              <a:rPr lang="ja" u="sng" noProof="1">
                <a:solidFill>
                  <a:schemeClr val="hlink"/>
                </a:solidFill>
                <a:hlinkClick r:id="rId3"/>
              </a:rPr>
              <a:t>https://lf-automotivelinux.atlassian.net/wiki/spaces/OSPO/pages/397082627/Publications#OSS-%26-OSPO-Promotion-Slides-for-Automotive-Companies</a:t>
            </a:r>
            <a:endParaRPr/>
          </a:p>
          <a:p>
            <a:pPr marL="914400" lvl="1" indent="-295275" algn="l" rtl="0">
              <a:lnSpc>
                <a:spcPct val="115000"/>
              </a:lnSpc>
              <a:spcBef>
                <a:spcPts val="0"/>
              </a:spcBef>
              <a:spcAft>
                <a:spcPts val="0"/>
              </a:spcAft>
              <a:buSzPct val="100000"/>
              <a:buChar char="•"/>
            </a:pPr>
            <a:r>
              <a:rPr lang="ja" noProof="1"/>
              <a:t>It's called "Showcase."</a:t>
            </a:r>
            <a:endParaRPr/>
          </a:p>
          <a:p>
            <a:pPr marL="457200" lvl="0" indent="-308610" algn="l" rtl="0">
              <a:lnSpc>
                <a:spcPct val="115000"/>
              </a:lnSpc>
              <a:spcBef>
                <a:spcPts val="0"/>
              </a:spcBef>
              <a:spcAft>
                <a:spcPts val="0"/>
              </a:spcAft>
              <a:buSzPct val="100000"/>
              <a:buChar char="•"/>
            </a:pPr>
            <a:r>
              <a:rPr lang="ja" noProof="1"/>
              <a:t>In the table above, you can see that SBOM management corresponds to Compliance, but it varies between "Leading" and "Support."</a:t>
            </a:r>
            <a:endParaRPr/>
          </a:p>
          <a:p>
            <a:pPr marL="457200" lvl="0" indent="-308610" algn="l" rtl="0">
              <a:lnSpc>
                <a:spcPct val="115000"/>
              </a:lnSpc>
              <a:spcBef>
                <a:spcPts val="0"/>
              </a:spcBef>
              <a:spcAft>
                <a:spcPts val="0"/>
              </a:spcAft>
              <a:buSzPct val="100000"/>
              <a:buChar char="•"/>
            </a:pPr>
            <a:r>
              <a:rPr lang="ja" noProof="1"/>
              <a:t>Procurement, ordering and development are actually the same person...</a:t>
            </a:r>
            <a:endParaRPr/>
          </a:p>
          <a:p>
            <a:pPr marL="457200" lvl="0" indent="-308610" algn="l" rtl="0">
              <a:lnSpc>
                <a:spcPct val="115000"/>
              </a:lnSpc>
              <a:spcBef>
                <a:spcPts val="0"/>
              </a:spcBef>
              <a:spcAft>
                <a:spcPts val="0"/>
              </a:spcAft>
              <a:buSzPct val="100000"/>
              <a:buChar char="•"/>
            </a:pPr>
            <a:r>
              <a:rPr lang="ja" noProof="1"/>
              <a:t>"The SBOM is different from the BOM we know." Problem?</a:t>
            </a:r>
            <a:endParaRPr/>
          </a:p>
          <a:p>
            <a:pPr marL="457200" lvl="0" indent="-308610" algn="l" rtl="0">
              <a:lnSpc>
                <a:spcPct val="115000"/>
              </a:lnSpc>
              <a:spcBef>
                <a:spcPts val="0"/>
              </a:spcBef>
              <a:spcAft>
                <a:spcPts val="0"/>
              </a:spcAft>
              <a:buSzPct val="100000"/>
              <a:buChar char="•"/>
            </a:pPr>
            <a:r>
              <a:rPr lang="ja" noProof="1"/>
              <a:t>Isn't there a nuance that OSPO is involved because they know from experience that "If you don't get involved early and control it to some extent, it will go in a weird direction and you'll have a hard time later." ...?</a:t>
            </a:r>
            <a:endParaRPr/>
          </a:p>
          <a:p>
            <a:pPr marL="457200" lvl="0" indent="-308610" algn="l" rtl="0">
              <a:lnSpc>
                <a:spcPct val="115000"/>
              </a:lnSpc>
              <a:spcBef>
                <a:spcPts val="0"/>
              </a:spcBef>
              <a:spcAft>
                <a:spcPts val="0"/>
              </a:spcAft>
              <a:buSzPct val="100000"/>
              <a:buChar char="•"/>
            </a:pPr>
            <a:r>
              <a:rPr lang="ja" noProof="1"/>
              <a:t>Isn't it correct to say that it is not important to reach out to other departments, but if it is necessary for the items (SBOM) that increase the value of OSS to be operated correctly, they are leading?</a:t>
            </a:r>
            <a:endParaRPr/>
          </a:p>
          <a:p>
            <a:pPr marL="457200" lvl="0" indent="-308610" algn="l" rtl="0">
              <a:lnSpc>
                <a:spcPct val="115000"/>
              </a:lnSpc>
              <a:spcBef>
                <a:spcPts val="0"/>
              </a:spcBef>
              <a:spcAft>
                <a:spcPts val="0"/>
              </a:spcAft>
              <a:buSzPct val="100000"/>
              <a:buChar char="•"/>
            </a:pPr>
            <a:r>
              <a:rPr lang="ja" noProof="1"/>
              <a:t>Sorry, I am not participating in the current discussion. From my point of view, I think there is such an ideal different world.</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66"/>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8/22</a:t>
            </a:r>
            <a:endParaRPr/>
          </a:p>
        </p:txBody>
      </p:sp>
      <p:sp>
        <p:nvSpPr>
          <p:cNvPr id="724" name="Google Shape;724;p66"/>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lnSpcReduction="10000"/>
          </a:bodyPr>
          <a:lstStyle/>
          <a:p>
            <a:pPr marL="457200" lvl="0" indent="-342900" algn="l" rtl="0">
              <a:spcBef>
                <a:spcPts val="0"/>
              </a:spcBef>
              <a:spcAft>
                <a:spcPts val="0"/>
              </a:spcAft>
              <a:buSzPts val="1800"/>
              <a:buChar char="•"/>
            </a:pPr>
            <a:r>
              <a:rPr lang="ja" noProof="1"/>
              <a:t>The role of OSPO is to ensure that the organization adapts and adapts to changes caused by OSS. Therefore, there is also a view that the need for OSPO to be involved in security will disappear once the corresponding departments are formed and functioning.</a:t>
            </a:r>
            <a:endParaRPr/>
          </a:p>
          <a:p>
            <a:pPr marL="457200" lvl="0" indent="-342900" algn="l" rtl="0">
              <a:spcBef>
                <a:spcPts val="0"/>
              </a:spcBef>
              <a:spcAft>
                <a:spcPts val="0"/>
              </a:spcAft>
              <a:buSzPts val="1800"/>
              <a:buChar char="•"/>
            </a:pPr>
            <a:r>
              <a:rPr lang="ja" noProof="1"/>
              <a:t>Will OSPO expand its activities beyond OSS?</a:t>
            </a:r>
            <a:r>
              <a:rPr lang="ja"/>
              <a:t>　</a:t>
            </a:r>
            <a:r>
              <a:rPr lang="ja" noProof="1"/>
              <a:t>➡ YES</a:t>
            </a:r>
            <a:endParaRPr/>
          </a:p>
          <a:p>
            <a:pPr marL="914400" lvl="1" indent="-323850" algn="l" rtl="0">
              <a:spcBef>
                <a:spcPts val="0"/>
              </a:spcBef>
              <a:spcAft>
                <a:spcPts val="0"/>
              </a:spcAft>
              <a:buSzPts val="1500"/>
              <a:buChar char="•"/>
            </a:pPr>
            <a:r>
              <a:rPr lang="ja" noProof="1"/>
              <a:t>Program Office = Open Collaboration Program Office for open activities in the sense that changes from the outside and activities from the outside are well related</a:t>
            </a:r>
            <a:endParaRPr/>
          </a:p>
          <a:p>
            <a:pPr marL="457200" lvl="0" indent="-342900" algn="l" rtl="0">
              <a:spcBef>
                <a:spcPts val="0"/>
              </a:spcBef>
              <a:spcAft>
                <a:spcPts val="0"/>
              </a:spcAft>
              <a:buSzPts val="1800"/>
              <a:buChar char="•"/>
            </a:pPr>
            <a:r>
              <a:rPr lang="ja" noProof="1"/>
              <a:t>It is each division (each department) that acts proactively, and OSPO supports them.</a:t>
            </a:r>
            <a:endParaRPr/>
          </a:p>
          <a:p>
            <a:pPr marL="914400" lvl="1" indent="-323850" algn="l" rtl="0">
              <a:spcBef>
                <a:spcPts val="0"/>
              </a:spcBef>
              <a:spcAft>
                <a:spcPts val="0"/>
              </a:spcAft>
              <a:buSzPts val="1500"/>
              <a:buChar char="•"/>
            </a:pPr>
            <a:r>
              <a:rPr lang="ja" noProof="1"/>
              <a:t>OSPO is responsible for company-wide collaboration and proactive initiatives.</a:t>
            </a:r>
            <a:endParaRPr/>
          </a:p>
          <a:p>
            <a:pPr marL="914400" lvl="1" indent="-323850" algn="l" rtl="0">
              <a:spcBef>
                <a:spcPts val="0"/>
              </a:spcBef>
              <a:spcAft>
                <a:spcPts val="0"/>
              </a:spcAft>
              <a:buSzPts val="1500"/>
              <a:buChar char="•"/>
            </a:pPr>
            <a:r>
              <a:rPr lang="ja" noProof="1"/>
              <a:t>Developing and defending core engineers? That is the role of OSPO.</a:t>
            </a:r>
            <a:endParaRPr/>
          </a:p>
          <a:p>
            <a:pPr marL="457200" lvl="0" indent="-342900" algn="l" rtl="0">
              <a:spcBef>
                <a:spcPts val="0"/>
              </a:spcBef>
              <a:spcAft>
                <a:spcPts val="0"/>
              </a:spcAft>
              <a:buSzPts val="1800"/>
              <a:buChar char="•"/>
            </a:pPr>
            <a:r>
              <a:rPr lang="ja" noProof="1"/>
              <a:t>OSPO's activity costs are linked to its performance.</a:t>
            </a:r>
            <a:endParaRPr/>
          </a:p>
          <a:p>
            <a:pPr marL="914400" lvl="1" indent="-323850" algn="l" rtl="0">
              <a:spcBef>
                <a:spcPts val="0"/>
              </a:spcBef>
              <a:spcAft>
                <a:spcPts val="0"/>
              </a:spcAft>
              <a:buSzPts val="1500"/>
              <a:buChar char="•"/>
            </a:pPr>
            <a:r>
              <a:rPr lang="ja" noProof="1"/>
              <a:t>Being connected to the open world is the foundation of OSPO activities, so we need to maintain certain activities.</a:t>
            </a:r>
            <a:endParaRPr/>
          </a:p>
          <a:p>
            <a:pPr marL="914400" lvl="1" indent="-323850" algn="l" rtl="0">
              <a:spcBef>
                <a:spcPts val="0"/>
              </a:spcBef>
              <a:spcAft>
                <a:spcPts val="0"/>
              </a:spcAft>
              <a:buSzPts val="1500"/>
              <a:buChar char="•"/>
            </a:pPr>
            <a:r>
              <a:rPr lang="ja" noProof="1"/>
              <a:t>We should think of it as an investment, and it is not good to limit it according to performance. If we do not continue, there will be no growth.</a:t>
            </a:r>
            <a:endParaRPr/>
          </a:p>
          <a:p>
            <a:pPr marL="914400" lvl="1" indent="-323850" algn="l" rtl="0">
              <a:spcBef>
                <a:spcPts val="0"/>
              </a:spcBef>
              <a:spcAft>
                <a:spcPts val="0"/>
              </a:spcAft>
              <a:buSzPts val="1500"/>
              <a:buChar char="•"/>
            </a:pPr>
            <a:r>
              <a:rPr lang="ja" noProof="1"/>
              <a:t>If we can gain understanding that OSS activities are closely related to our business and show results, we will be stable.</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67"/>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8/22</a:t>
            </a:r>
            <a:endParaRPr/>
          </a:p>
        </p:txBody>
      </p:sp>
      <p:sp>
        <p:nvSpPr>
          <p:cNvPr id="730" name="Google Shape;730;p67"/>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noProof="1"/>
              <a:t>Among the various items handled by OSPO, are there any items that are important to the business or the company itself in terms of business or governance that should be transferred to a separate organization? If so, it might be a good idea to consider what items could be transferred.</a:t>
            </a:r>
            <a:endParaRPr/>
          </a:p>
          <a:p>
            <a:pPr marL="914400" lvl="1" indent="-323850" algn="l" rtl="0">
              <a:spcBef>
                <a:spcPts val="0"/>
              </a:spcBef>
              <a:spcAft>
                <a:spcPts val="0"/>
              </a:spcAft>
              <a:buSzPts val="1500"/>
              <a:buChar char="•"/>
            </a:pPr>
            <a:r>
              <a:rPr lang="ja" noProof="1"/>
              <a:t>I think it would be good to transfer items that are directly useful to the business to that division.</a:t>
            </a:r>
            <a:endParaRPr/>
          </a:p>
          <a:p>
            <a:pPr marL="914400" lvl="1" indent="-323850" algn="l" rtl="0">
              <a:spcBef>
                <a:spcPts val="0"/>
              </a:spcBef>
              <a:spcAft>
                <a:spcPts val="0"/>
              </a:spcAft>
              <a:buSzPts val="1500"/>
              <a:buChar char="•"/>
            </a:pPr>
            <a:r>
              <a:rPr lang="ja" noProof="1"/>
              <a:t>The things that can only be done by OSPO are things that the division has not yet considered and that are necessary in the future.</a:t>
            </a:r>
            <a:endParaRPr/>
          </a:p>
          <a:p>
            <a:pPr marL="1371600" lvl="2" indent="-304800" algn="l" rtl="0">
              <a:spcBef>
                <a:spcPts val="0"/>
              </a:spcBef>
              <a:spcAft>
                <a:spcPts val="0"/>
              </a:spcAft>
              <a:buSzPts val="1200"/>
              <a:buChar char="•"/>
            </a:pPr>
            <a:r>
              <a:rPr lang="ja" noProof="1"/>
              <a:t>Securing a certain number of engineers and human resources who can handle OSS and maintaining that culture.</a:t>
            </a:r>
            <a:endParaRPr/>
          </a:p>
          <a:p>
            <a:pPr marL="914400" lvl="1" indent="-323850" algn="l" rtl="0">
              <a:spcBef>
                <a:spcPts val="0"/>
              </a:spcBef>
              <a:spcAft>
                <a:spcPts val="0"/>
              </a:spcAft>
              <a:buSzPts val="1500"/>
              <a:buChar char="•"/>
            </a:pPr>
            <a:r>
              <a:rPr lang="ja" noProof="1"/>
              <a:t>I think it would be good if OSPO's OSS strategy consideration and promotion function is integrated into the company-wide management strategy.</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p68"/>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9/19</a:t>
            </a:r>
            <a:endParaRPr/>
          </a:p>
        </p:txBody>
      </p:sp>
      <p:sp>
        <p:nvSpPr>
          <p:cNvPr id="736" name="Google Shape;736;p68"/>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a:bodyPr>
          <a:lstStyle/>
          <a:p>
            <a:pPr marL="457200" lvl="0" indent="-342900" algn="l" rtl="0">
              <a:spcBef>
                <a:spcPts val="0"/>
              </a:spcBef>
              <a:spcAft>
                <a:spcPts val="0"/>
              </a:spcAft>
              <a:buSzPts val="1800"/>
              <a:buChar char="•"/>
            </a:pPr>
            <a:r>
              <a:rPr lang="ja" noProof="1"/>
              <a:t>The understanding of OSS is often "</a:t>
            </a:r>
            <a:r>
              <a:rPr lang="ja" u="sng" noProof="1">
                <a:solidFill>
                  <a:schemeClr val="hlink"/>
                </a:solidFill>
                <a:hlinkClick r:id="rId3"/>
              </a:rPr>
              <a:t>blind men and an elephant</a:t>
            </a:r>
            <a:r>
              <a:rPr lang="ja" noProof="1"/>
              <a:t>."</a:t>
            </a:r>
            <a:r>
              <a:rPr lang="ja" u="sng" baseline="30000" noProof="1">
                <a:solidFill>
                  <a:schemeClr val="hlink"/>
                </a:solidFill>
                <a:hlinkClick r:id="rId4"/>
              </a:rPr>
              <a:t>[LINK1]</a:t>
            </a:r>
            <a:endParaRPr/>
          </a:p>
          <a:p>
            <a:pPr marL="914400" lvl="1" indent="-323850" algn="l" rtl="0">
              <a:spcBef>
                <a:spcPts val="0"/>
              </a:spcBef>
              <a:spcAft>
                <a:spcPts val="0"/>
              </a:spcAft>
              <a:buSzPts val="1500"/>
              <a:buChar char="•"/>
            </a:pPr>
            <a:r>
              <a:rPr lang="ja" noProof="1"/>
              <a:t>(Comment) "Blind men and an elephant" has different lessons from country to country, so we need to be careful when using it in global explanations.</a:t>
            </a:r>
            <a:endParaRPr/>
          </a:p>
          <a:p>
            <a:pPr marL="0" lvl="0" indent="0" algn="l" rtl="0">
              <a:spcBef>
                <a:spcPts val="0"/>
              </a:spcBef>
              <a:spcAft>
                <a:spcPts val="0"/>
              </a:spcAft>
              <a:buNone/>
            </a:pPr>
            <a:r>
              <a:t>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69"/>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9/19</a:t>
            </a:r>
            <a:endParaRPr/>
          </a:p>
        </p:txBody>
      </p:sp>
      <p:sp>
        <p:nvSpPr>
          <p:cNvPr id="742" name="Google Shape;742;p69"/>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a:bodyPr>
          <a:lstStyle/>
          <a:p>
            <a:pPr marL="457200" lvl="0" indent="-342900" algn="l" rtl="0">
              <a:spcBef>
                <a:spcPts val="0"/>
              </a:spcBef>
              <a:spcAft>
                <a:spcPts val="0"/>
              </a:spcAft>
              <a:buSzPts val="1800"/>
              <a:buChar char="•"/>
            </a:pPr>
            <a:r>
              <a:rPr lang="ja" noProof="1"/>
              <a:t>What is an OSPO?</a:t>
            </a:r>
            <a:br>
              <a:rPr lang="ja"/>
            </a:br>
            <a:r>
              <a:rPr lang="ja" noProof="1"/>
              <a:t>A group that works to ensure that corporate activities adapt and adapt to changes caused by OSS</a:t>
            </a:r>
            <a:endParaRPr/>
          </a:p>
          <a:p>
            <a:pPr marL="457200" lvl="0" indent="-342900" algn="l" rtl="0">
              <a:spcBef>
                <a:spcPts val="0"/>
              </a:spcBef>
              <a:spcAft>
                <a:spcPts val="0"/>
              </a:spcAft>
              <a:buSzPts val="1800"/>
              <a:buChar char="•"/>
            </a:pPr>
            <a:r>
              <a:rPr lang="ja" noProof="1"/>
              <a:t>The state of adaptation and adaptation varies from company to company, resulting in different OSPO activities (Your OSPO is not My OSPO)</a:t>
            </a:r>
            <a:endParaRPr/>
          </a:p>
          <a:p>
            <a:pPr marL="0" lvl="0" indent="0" algn="l" rtl="0">
              <a:spcBef>
                <a:spcPts val="0"/>
              </a:spcBef>
              <a:spcAft>
                <a:spcPts val="0"/>
              </a:spcAft>
              <a:buNone/>
            </a:pPr>
            <a:r>
              <a:t>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70"/>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9/19</a:t>
            </a:r>
            <a:endParaRPr/>
          </a:p>
        </p:txBody>
      </p:sp>
      <p:sp>
        <p:nvSpPr>
          <p:cNvPr id="748" name="Google Shape;748;p70"/>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a:bodyPr>
          <a:lstStyle/>
          <a:p>
            <a:pPr marL="457200" lvl="0" indent="-342900" algn="l" rtl="0">
              <a:spcBef>
                <a:spcPts val="0"/>
              </a:spcBef>
              <a:spcAft>
                <a:spcPts val="0"/>
              </a:spcAft>
              <a:buSzPts val="1800"/>
              <a:buChar char="•"/>
            </a:pPr>
            <a:r>
              <a:rPr lang="ja" noProof="1"/>
              <a:t>The "desired state" may differ depending on the position within the company.</a:t>
            </a:r>
            <a:endParaRPr/>
          </a:p>
          <a:p>
            <a:pPr marL="914400" lvl="1" indent="-323850" algn="l" rtl="0">
              <a:spcBef>
                <a:spcPts val="0"/>
              </a:spcBef>
              <a:spcAft>
                <a:spcPts val="0"/>
              </a:spcAft>
              <a:buSzPts val="1500"/>
              <a:buChar char="•"/>
            </a:pPr>
            <a:r>
              <a:rPr lang="ja" noProof="1"/>
              <a:t>Management is concerned with risk measures, R &amp; D is concerned with innovation acceleration, product development is concerned with efficient compliance, and OSPO is concerned with management strategies including OSS and community action collaboration strategies.</a:t>
            </a:r>
            <a:endParaRPr/>
          </a:p>
          <a:p>
            <a:pPr marL="914400" lvl="1" indent="-323850" algn="l" rtl="0">
              <a:spcBef>
                <a:spcPts val="0"/>
              </a:spcBef>
              <a:spcAft>
                <a:spcPts val="0"/>
              </a:spcAft>
              <a:buSzPts val="1500"/>
              <a:buChar char="•"/>
            </a:pPr>
            <a:r>
              <a:rPr lang="ja" noProof="1"/>
              <a:t>This may be due to a lack of consensus on OSS.</a:t>
            </a:r>
            <a:endParaRPr/>
          </a:p>
          <a:p>
            <a:pPr marL="914400" lvl="1" indent="-323850" algn="l" rtl="0">
              <a:spcBef>
                <a:spcPts val="0"/>
              </a:spcBef>
              <a:spcAft>
                <a:spcPts val="0"/>
              </a:spcAft>
              <a:buSzPts val="1500"/>
              <a:buChar char="•"/>
            </a:pPr>
            <a:r>
              <a:rPr lang="ja" noProof="1"/>
              <a:t>(Comment) Bridging these differences may be the role (definition) of OSPO.</a:t>
            </a:r>
            <a:endParaRPr/>
          </a:p>
          <a:p>
            <a:pPr marL="0" lvl="0" indent="0" algn="l" rtl="0">
              <a:spcBef>
                <a:spcPts val="0"/>
              </a:spcBef>
              <a:spcAft>
                <a:spcPts val="0"/>
              </a:spcAft>
              <a:buNone/>
            </a:pPr>
            <a:r>
              <a:t> </a:t>
            </a:r>
          </a:p>
          <a:p>
            <a:pPr marL="0" lvl="0" indent="0" algn="l" rtl="0">
              <a:spcBef>
                <a:spcPts val="0"/>
              </a:spcBef>
              <a:spcAft>
                <a:spcPts val="0"/>
              </a:spcAft>
              <a:buNone/>
            </a:pPr>
            <a:r>
              <a:t>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71"/>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9/19</a:t>
            </a:r>
            <a:endParaRPr/>
          </a:p>
        </p:txBody>
      </p:sp>
      <p:sp>
        <p:nvSpPr>
          <p:cNvPr id="754" name="Google Shape;754;p71"/>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a:bodyPr>
          <a:lstStyle/>
          <a:p>
            <a:pPr marL="457200" lvl="0" indent="-342900" algn="l" rtl="0">
              <a:spcBef>
                <a:spcPts val="0"/>
              </a:spcBef>
              <a:spcAft>
                <a:spcPts val="0"/>
              </a:spcAft>
              <a:buSzPts val="1800"/>
              <a:buChar char="•"/>
            </a:pPr>
            <a:r>
              <a:rPr lang="ja" noProof="1"/>
              <a:t>OSPO activities differ depending on how OSPO is started.</a:t>
            </a:r>
            <a:endParaRPr/>
          </a:p>
          <a:p>
            <a:pPr marL="914400" lvl="1" indent="-323850" algn="l" rtl="0">
              <a:spcBef>
                <a:spcPts val="0"/>
              </a:spcBef>
              <a:spcAft>
                <a:spcPts val="0"/>
              </a:spcAft>
              <a:buSzPts val="1500"/>
              <a:buChar char="•"/>
            </a:pPr>
            <a:r>
              <a:rPr lang="ja" noProof="1"/>
              <a:t>Until around 2020, volunteers who felt that OSPO was essential to the development and survival of a company started OSPO as a grassroots activity and gradually gained recognition as an official activity. (Bottom Up OSPO)</a:t>
            </a:r>
            <a:endParaRPr/>
          </a:p>
          <a:p>
            <a:pPr marL="914400" lvl="1" indent="-323850" algn="l" rtl="0">
              <a:spcBef>
                <a:spcPts val="0"/>
              </a:spcBef>
              <a:spcAft>
                <a:spcPts val="0"/>
              </a:spcAft>
              <a:buSzPts val="1500"/>
              <a:buChar char="•"/>
            </a:pPr>
            <a:r>
              <a:rPr lang="ja" noProof="1"/>
              <a:t>In recent years, the recognition that OSPO is necessary has spread to the industry, and there are cases where OSPO is started as a management decision. (Top Down OSPO)</a:t>
            </a:r>
            <a:endParaRPr/>
          </a:p>
          <a:p>
            <a:pPr marL="1371600" lvl="2" indent="-304800" algn="l" rtl="0">
              <a:spcBef>
                <a:spcPts val="0"/>
              </a:spcBef>
              <a:spcAft>
                <a:spcPts val="0"/>
              </a:spcAft>
              <a:buSzPts val="1200"/>
              <a:buChar char="•"/>
            </a:pPr>
            <a:r>
              <a:rPr lang="ja" noProof="1"/>
              <a:t>(Comment) Does this actually happen? I'd like to know some examples.</a:t>
            </a:r>
            <a:endParaRPr/>
          </a:p>
          <a:p>
            <a:pPr marL="914400" lvl="1" indent="-323850" algn="l" rtl="0">
              <a:spcBef>
                <a:spcPts val="0"/>
              </a:spcBef>
              <a:spcAft>
                <a:spcPts val="0"/>
              </a:spcAft>
              <a:buSzPts val="1500"/>
              <a:buChar char="•"/>
            </a:pPr>
            <a:r>
              <a:rPr lang="ja" noProof="1"/>
              <a:t>Bottom Up OSPO tends to aim for OSS strategy, while Top Down OSPO tends to aim for what management aims for.</a:t>
            </a:r>
            <a:endParaRPr/>
          </a:p>
          <a:p>
            <a:pPr marL="1371600" lvl="2" indent="-304800" algn="l" rtl="0">
              <a:spcBef>
                <a:spcPts val="0"/>
              </a:spcBef>
              <a:spcAft>
                <a:spcPts val="0"/>
              </a:spcAft>
              <a:buSzPts val="1200"/>
              <a:buChar char="•"/>
            </a:pPr>
            <a:r>
              <a:rPr lang="ja" noProof="1"/>
              <a:t>If management sees OSS as a risk, governance will come first and OSS contributions will come second.</a:t>
            </a:r>
            <a:endParaRPr/>
          </a:p>
          <a:p>
            <a:pPr marL="1371600" lvl="2" indent="-304800" algn="l" rtl="0">
              <a:spcBef>
                <a:spcPts val="0"/>
              </a:spcBef>
              <a:spcAft>
                <a:spcPts val="0"/>
              </a:spcAft>
              <a:buSzPts val="1200"/>
              <a:buChar char="•"/>
            </a:pPr>
            <a:r>
              <a:rPr lang="ja" noProof="1"/>
              <a:t>In the end, does it depend on whether management understands how the OSS community works and how the company should work within it?</a:t>
            </a:r>
            <a:endParaRPr/>
          </a:p>
          <a:p>
            <a:pPr marL="1371600" lvl="2" indent="-304800" algn="l" rtl="0">
              <a:spcBef>
                <a:spcPts val="0"/>
              </a:spcBef>
              <a:spcAft>
                <a:spcPts val="0"/>
              </a:spcAft>
              <a:buSzPts val="1200"/>
              <a:buChar char="•"/>
            </a:pPr>
            <a:r>
              <a:rPr lang="ja" noProof="1"/>
              <a:t>I think it makes a big difference whether the software side is creating a big technology stream or just dealing with specific customers.</a:t>
            </a:r>
            <a:endParaRPr/>
          </a:p>
          <a:p>
            <a:pPr marL="0" lvl="0" indent="0" algn="l" rtl="0">
              <a:spcBef>
                <a:spcPts val="0"/>
              </a:spcBef>
              <a:spcAft>
                <a:spcPts val="0"/>
              </a:spcAft>
              <a:buNone/>
            </a:pPr>
            <a:r>
              <a:t>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72"/>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9/19</a:t>
            </a:r>
            <a:endParaRPr/>
          </a:p>
        </p:txBody>
      </p:sp>
      <p:sp>
        <p:nvSpPr>
          <p:cNvPr id="760" name="Google Shape;760;p72"/>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a:bodyPr>
          <a:lstStyle/>
          <a:p>
            <a:pPr marL="457200" lvl="0" indent="-342900" algn="l" rtl="0">
              <a:spcBef>
                <a:spcPts val="0"/>
              </a:spcBef>
              <a:spcAft>
                <a:spcPts val="0"/>
              </a:spcAft>
              <a:buSzPts val="1800"/>
              <a:buChar char="•"/>
            </a:pPr>
            <a:r>
              <a:rPr lang="ja" noProof="1"/>
              <a:t>The situation described above is one of the reasons why OSPO activities do not proceed easily.</a:t>
            </a:r>
            <a:endParaRPr/>
          </a:p>
          <a:p>
            <a:pPr marL="457200" lvl="0" indent="-342900" algn="l" rtl="0">
              <a:spcBef>
                <a:spcPts val="0"/>
              </a:spcBef>
              <a:spcAft>
                <a:spcPts val="0"/>
              </a:spcAft>
              <a:buSzPts val="1800"/>
              <a:buChar char="•"/>
            </a:pPr>
            <a:r>
              <a:rPr lang="ja" noProof="1"/>
              <a:t>Wouldn't it be good to have guidelines (?) for each industry? Wouldn't it be nice to have)?</a:t>
            </a:r>
            <a:endParaRPr/>
          </a:p>
          <a:p>
            <a:pPr marL="914400" lvl="1" indent="-323850" algn="l" rtl="0">
              <a:spcBef>
                <a:spcPts val="0"/>
              </a:spcBef>
              <a:spcAft>
                <a:spcPts val="0"/>
              </a:spcAft>
              <a:buSzPts val="1500"/>
              <a:buChar char="•"/>
            </a:pPr>
            <a:r>
              <a:rPr lang="ja" noProof="1"/>
              <a:t>A collection of practices (?)? )</a:t>
            </a:r>
            <a:endParaRPr/>
          </a:p>
          <a:p>
            <a:pPr marL="457200" lvl="0" indent="-342900" algn="l" rtl="0">
              <a:spcBef>
                <a:spcPts val="0"/>
              </a:spcBef>
              <a:spcAft>
                <a:spcPts val="0"/>
              </a:spcAft>
              <a:buSzPts val="1800"/>
              <a:buChar char="•"/>
            </a:pPr>
            <a:r>
              <a:rPr lang="ja" noProof="1"/>
              <a:t>Are OSPOs somewhat similar for each type of business activity?</a:t>
            </a:r>
            <a:endParaRPr/>
          </a:p>
          <a:p>
            <a:pPr marL="457200" lvl="0" indent="-342900" algn="l" rtl="0">
              <a:spcBef>
                <a:spcPts val="0"/>
              </a:spcBef>
              <a:spcAft>
                <a:spcPts val="0"/>
              </a:spcAft>
              <a:buSzPts val="1800"/>
              <a:buChar char="•"/>
            </a:pPr>
            <a:r>
              <a:rPr lang="ja" noProof="1"/>
              <a:t>When setting up an OSPO, information that other companies in the same industry have OSPOs would be useful for internal persuasion ➡ Can we gather information?</a:t>
            </a:r>
            <a:endParaRPr/>
          </a:p>
          <a:p>
            <a:pPr marL="914400" lvl="1" indent="-323850" algn="l" rtl="0">
              <a:spcBef>
                <a:spcPts val="0"/>
              </a:spcBef>
              <a:spcAft>
                <a:spcPts val="0"/>
              </a:spcAft>
              <a:buSzPts val="1500"/>
              <a:buChar char="•"/>
            </a:pPr>
            <a:r>
              <a:rPr lang="ja" noProof="1"/>
              <a:t>This was the beginning of the Lightning Talk at the OpenChain meeting</a:t>
            </a:r>
            <a:endParaRPr/>
          </a:p>
        </p:txBody>
      </p:sp>
      <p:pic>
        <p:nvPicPr>
          <p:cNvPr id="761" name="Google Shape;761;p72"/>
          <p:cNvPicPr preferRelativeResize="0"/>
          <p:nvPr/>
        </p:nvPicPr>
        <p:blipFill>
          <a:blip r:embed="rId3">
            <a:alphaModFix/>
          </a:blip>
          <a:stretch>
            <a:fillRect/>
          </a:stretch>
        </p:blipFill>
        <p:spPr>
          <a:xfrm>
            <a:off x="5674825" y="3129000"/>
            <a:ext cx="3734849" cy="2091049"/>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73"/>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10/24</a:t>
            </a:r>
            <a:endParaRPr/>
          </a:p>
        </p:txBody>
      </p:sp>
      <p:sp>
        <p:nvSpPr>
          <p:cNvPr id="767" name="Google Shape;767;p73"/>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noProof="1"/>
              <a:t>Review of LF Japan Community Days</a:t>
            </a:r>
            <a:endParaRPr/>
          </a:p>
          <a:p>
            <a:pPr marL="457200" lvl="0" indent="-342900" algn="l" rtl="0">
              <a:spcBef>
                <a:spcPts val="0"/>
              </a:spcBef>
              <a:spcAft>
                <a:spcPts val="0"/>
              </a:spcAft>
              <a:buSzPts val="1800"/>
              <a:buChar char="●"/>
            </a:pPr>
            <a:r>
              <a:rPr lang="ja" noProof="1"/>
              <a:t>Discussion on questions</a:t>
            </a:r>
            <a:endParaRPr/>
          </a:p>
          <a:p>
            <a:pPr marL="914400" lvl="1" indent="-323850" algn="l" rtl="0">
              <a:spcBef>
                <a:spcPts val="0"/>
              </a:spcBef>
              <a:spcAft>
                <a:spcPts val="0"/>
              </a:spcAft>
              <a:buSzPts val="1500"/>
              <a:buChar char="○"/>
            </a:pPr>
            <a:r>
              <a:rPr lang="ja" noProof="1"/>
              <a:t>Perception of issues in activities aiming at Level 1 (what kind of structure should be built)</a:t>
            </a:r>
            <a:endParaRPr/>
          </a:p>
          <a:p>
            <a:pPr marL="914400" lvl="1" indent="-323850" algn="l" rtl="0">
              <a:spcBef>
                <a:spcPts val="0"/>
              </a:spcBef>
              <a:spcAft>
                <a:spcPts val="0"/>
              </a:spcAft>
              <a:buSzPts val="1500"/>
              <a:buChar char="○"/>
            </a:pPr>
            <a:r>
              <a:rPr lang="ja" noProof="1"/>
              <a:t>How much basic strength is required to work on Level 3 and 4?</a:t>
            </a:r>
            <a:endParaRPr/>
          </a:p>
          <a:p>
            <a:pPr marL="457200" lvl="0" indent="0" algn="l" rtl="0">
              <a:spcBef>
                <a:spcPts val="0"/>
              </a:spcBef>
              <a:spcAft>
                <a:spcPts val="0"/>
              </a:spcAft>
              <a:buNone/>
            </a:pPr>
            <a:r>
              <a:t> </a:t>
            </a:r>
          </a:p>
          <a:p>
            <a:pPr marL="457200" lvl="0" indent="-342900" algn="l" rtl="0">
              <a:spcBef>
                <a:spcPts val="0"/>
              </a:spcBef>
              <a:spcAft>
                <a:spcPts val="0"/>
              </a:spcAft>
              <a:buSzPts val="1800"/>
              <a:buChar char="●"/>
            </a:pPr>
            <a:r>
              <a:rPr lang="ja" noProof="1"/>
              <a:t>How can the company make decisions regarding licensing at Level 1?</a:t>
            </a:r>
            <a:endParaRPr/>
          </a:p>
          <a:p>
            <a:pPr marL="914400" lvl="1" indent="-323850" algn="l" rtl="0">
              <a:spcBef>
                <a:spcPts val="0"/>
              </a:spcBef>
              <a:spcAft>
                <a:spcPts val="0"/>
              </a:spcAft>
              <a:buSzPts val="1500"/>
              <a:buChar char="○"/>
            </a:pPr>
            <a:r>
              <a:rPr lang="ja" noProof="1"/>
              <a:t>Deepen cooperation and exchange among legal affairs, intellectual property, and engineers to mutually deepen understanding of text interpretation, software structure, and practices, and draw conclusions</a:t>
            </a:r>
            <a:endParaRPr/>
          </a:p>
          <a:p>
            <a:pPr marL="914400" lvl="1" indent="-323850" algn="l" rtl="0">
              <a:spcBef>
                <a:spcPts val="0"/>
              </a:spcBef>
              <a:spcAft>
                <a:spcPts val="0"/>
              </a:spcAft>
              <a:buSzPts val="1500"/>
              <a:buChar char="○"/>
            </a:pPr>
            <a:r>
              <a:rPr lang="ja" noProof="1"/>
              <a:t>Utilize the results and discussions of OpenChain FAQ</a:t>
            </a:r>
            <a:endParaRPr/>
          </a:p>
          <a:p>
            <a:pPr marL="457200" lvl="0" indent="-342900" algn="l" rtl="0">
              <a:spcBef>
                <a:spcPts val="0"/>
              </a:spcBef>
              <a:spcAft>
                <a:spcPts val="0"/>
              </a:spcAft>
              <a:buSzPts val="1800"/>
              <a:buChar char="●"/>
            </a:pPr>
            <a:r>
              <a:rPr lang="ja" noProof="1"/>
              <a:t>Basic strength for Level 3 and 4 activities</a:t>
            </a:r>
            <a:endParaRPr/>
          </a:p>
          <a:p>
            <a:pPr marL="914400" lvl="1" indent="-323850" algn="l" rtl="0">
              <a:spcBef>
                <a:spcPts val="0"/>
              </a:spcBef>
              <a:spcAft>
                <a:spcPts val="0"/>
              </a:spcAft>
              <a:buSzPts val="1500"/>
              <a:buChar char="○"/>
            </a:pPr>
            <a:r>
              <a:rPr lang="ja" noProof="1"/>
              <a:t>It cannot continue without motivation of individual engineers. We need to create an environment where motivated people can move easily.</a:t>
            </a:r>
            <a:endParaRPr/>
          </a:p>
          <a:p>
            <a:pPr marL="914400" lvl="1" indent="-323850" algn="l" rtl="0">
              <a:spcBef>
                <a:spcPts val="0"/>
              </a:spcBef>
              <a:spcAft>
                <a:spcPts val="0"/>
              </a:spcAft>
              <a:buSzPts val="1500"/>
              <a:buChar char="○"/>
            </a:pPr>
            <a:r>
              <a:rPr lang="ja" noProof="1"/>
              <a:t>It's impossible without company endorsement. The company's policy of OSS contribution is important.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74"/>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noProof="1"/>
              <a:t>2025/11/28</a:t>
            </a:r>
            <a:endParaRPr/>
          </a:p>
        </p:txBody>
      </p:sp>
      <p:sp>
        <p:nvSpPr>
          <p:cNvPr id="773" name="Google Shape;773;p74"/>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92500" lnSpcReduction="20000"/>
          </a:bodyPr>
          <a:lstStyle/>
          <a:p>
            <a:pPr marL="457200" lvl="0" indent="-334327" algn="l" rtl="0">
              <a:spcBef>
                <a:spcPts val="0"/>
              </a:spcBef>
              <a:spcAft>
                <a:spcPts val="0"/>
              </a:spcAft>
              <a:buSzPct val="100000"/>
              <a:buChar char="●"/>
            </a:pPr>
            <a:r>
              <a:rPr lang="ja" noProof="1"/>
              <a:t>What internal rules do each company follow when using OSS?</a:t>
            </a:r>
            <a:endParaRPr/>
          </a:p>
          <a:p>
            <a:pPr marL="914400" lvl="1" indent="-316706" algn="l" rtl="0">
              <a:spcBef>
                <a:spcPts val="0"/>
              </a:spcBef>
              <a:spcAft>
                <a:spcPts val="0"/>
              </a:spcAft>
              <a:buSzPct val="100000"/>
              <a:buChar char="○"/>
            </a:pPr>
            <a:r>
              <a:rPr lang="ja" noProof="1"/>
              <a:t>Sales of products incorporating OSS</a:t>
            </a:r>
            <a:endParaRPr/>
          </a:p>
          <a:p>
            <a:pPr marL="914400" lvl="1" indent="-316706" algn="l" rtl="0">
              <a:spcBef>
                <a:spcPts val="0"/>
              </a:spcBef>
              <a:spcAft>
                <a:spcPts val="0"/>
              </a:spcAft>
              <a:buSzPct val="100000"/>
              <a:buChar char="○"/>
            </a:pPr>
            <a:r>
              <a:rPr lang="ja" noProof="1"/>
              <a:t>Distribution of applications incorporating OSS</a:t>
            </a:r>
            <a:endParaRPr/>
          </a:p>
          <a:p>
            <a:pPr marL="914400" lvl="1" indent="-316706" algn="l" rtl="0">
              <a:spcBef>
                <a:spcPts val="0"/>
              </a:spcBef>
              <a:spcAft>
                <a:spcPts val="0"/>
              </a:spcAft>
              <a:buSzPct val="100000"/>
              <a:buChar char="○"/>
            </a:pPr>
            <a:r>
              <a:rPr lang="ja" noProof="1"/>
              <a:t>Use OSS for software and provide services on the cloud (not the software itself)</a:t>
            </a:r>
            <a:endParaRPr/>
          </a:p>
          <a:p>
            <a:pPr marL="457200" lvl="0" indent="-334327" algn="l" rtl="0">
              <a:spcBef>
                <a:spcPts val="0"/>
              </a:spcBef>
              <a:spcAft>
                <a:spcPts val="0"/>
              </a:spcAft>
              <a:buSzPct val="100000"/>
              <a:buChar char="●"/>
            </a:pPr>
            <a:r>
              <a:rPr lang="ja" noProof="1"/>
              <a:t>Information sharing</a:t>
            </a:r>
            <a:endParaRPr/>
          </a:p>
          <a:p>
            <a:pPr marL="914400" lvl="1" indent="-316706" algn="l" rtl="0">
              <a:spcBef>
                <a:spcPts val="0"/>
              </a:spcBef>
              <a:spcAft>
                <a:spcPts val="0"/>
              </a:spcAft>
              <a:buSzPct val="100000"/>
              <a:buChar char="○"/>
            </a:pPr>
            <a:r>
              <a:rPr lang="ja" noProof="1"/>
              <a:t>Confirm what kind of OSS will be used before development</a:t>
            </a:r>
            <a:endParaRPr/>
          </a:p>
          <a:p>
            <a:pPr marL="1371600" lvl="2" indent="-299085" algn="l" rtl="0">
              <a:spcBef>
                <a:spcPts val="0"/>
              </a:spcBef>
              <a:spcAft>
                <a:spcPts val="0"/>
              </a:spcAft>
              <a:buSzPct val="100000"/>
              <a:buChar char="■"/>
            </a:pPr>
            <a:r>
              <a:rPr lang="ja" noProof="1"/>
              <a:t>This is not an internal rule, but rather a best practice literacy because it is difficult to deal with it later (it could be a license violation)</a:t>
            </a:r>
            <a:endParaRPr/>
          </a:p>
          <a:p>
            <a:pPr marL="1371600" lvl="2" indent="-299085" algn="l" rtl="0">
              <a:spcBef>
                <a:spcPts val="0"/>
              </a:spcBef>
              <a:spcAft>
                <a:spcPts val="0"/>
              </a:spcAft>
              <a:buSzPct val="100000"/>
              <a:buChar char="■"/>
            </a:pPr>
            <a:r>
              <a:rPr lang="ja" noProof="1"/>
              <a:t>Depending on the literacy level of each company, I think it can be operated either by a strict rule or by individual members</a:t>
            </a:r>
            <a:endParaRPr/>
          </a:p>
          <a:p>
            <a:pPr marL="914400" lvl="1" indent="-316706" algn="l" rtl="0">
              <a:spcBef>
                <a:spcPts val="0"/>
              </a:spcBef>
              <a:spcAft>
                <a:spcPts val="0"/>
              </a:spcAft>
              <a:buSzPct val="100000"/>
              <a:buChar char="○"/>
            </a:pPr>
            <a:r>
              <a:rPr lang="ja" noProof="1"/>
              <a:t>How to prevent OSS sniping (snippets)</a:t>
            </a:r>
            <a:endParaRPr/>
          </a:p>
          <a:p>
            <a:pPr marL="1371600" lvl="2" indent="-299085" algn="l" rtl="0">
              <a:spcBef>
                <a:spcPts val="0"/>
              </a:spcBef>
              <a:spcAft>
                <a:spcPts val="0"/>
              </a:spcAft>
              <a:buSzPct val="100000"/>
              <a:buChar char="■"/>
            </a:pPr>
            <a:r>
              <a:rPr lang="ja" noProof="1"/>
              <a:t>First, it's important to train engineers. It's also necessary to upgrade all supply chain companies.</a:t>
            </a:r>
            <a:endParaRPr/>
          </a:p>
          <a:p>
            <a:pPr marL="914400" lvl="1" indent="-316706" algn="l" rtl="0">
              <a:spcBef>
                <a:spcPts val="0"/>
              </a:spcBef>
              <a:spcAft>
                <a:spcPts val="0"/>
              </a:spcAft>
              <a:buSzPct val="100000"/>
              <a:buChar char="○"/>
            </a:pPr>
            <a:r>
              <a:rPr lang="ja" noProof="1"/>
              <a:t>Tools are useful, but they make a lot of mistakes. But it's a lot of work to check everything.</a:t>
            </a:r>
            <a:endParaRPr/>
          </a:p>
          <a:p>
            <a:pPr marL="1371600" lvl="2" indent="-299085" algn="l" rtl="0">
              <a:spcBef>
                <a:spcPts val="0"/>
              </a:spcBef>
              <a:spcAft>
                <a:spcPts val="0"/>
              </a:spcAft>
              <a:buSzPct val="100000"/>
              <a:buChar char="■"/>
            </a:pPr>
            <a:r>
              <a:rPr lang="ja" noProof="1"/>
              <a:t>It's up to each company to decide what level to go.</a:t>
            </a:r>
            <a:endParaRPr/>
          </a:p>
          <a:p>
            <a:pPr marL="1371600" lvl="2" indent="-299085" algn="l" rtl="0">
              <a:spcBef>
                <a:spcPts val="0"/>
              </a:spcBef>
              <a:spcAft>
                <a:spcPts val="0"/>
              </a:spcAft>
              <a:buSzPct val="100000"/>
              <a:buChar char="■"/>
            </a:pPr>
            <a:r>
              <a:rPr lang="ja" noProof="1"/>
              <a:t>We can't hold tool vendors responsible for license violations.</a:t>
            </a:r>
            <a:endParaRPr/>
          </a:p>
          <a:p>
            <a:pPr marL="1828800" lvl="3" indent="-293211" algn="l" rtl="0">
              <a:spcBef>
                <a:spcPts val="0"/>
              </a:spcBef>
              <a:spcAft>
                <a:spcPts val="0"/>
              </a:spcAft>
              <a:buSzPct val="100000"/>
              <a:buChar char="●"/>
            </a:pPr>
            <a:r>
              <a:rPr lang="ja" noProof="1"/>
              <a:t>Whether we use OSS tools or major commercial tools makes a difference in how we hold them accountable.</a:t>
            </a:r>
            <a:endParaRPr/>
          </a:p>
          <a:p>
            <a:pPr marL="914400" lvl="1" indent="-316706" algn="l" rtl="0">
              <a:spcBef>
                <a:spcPts val="0"/>
              </a:spcBef>
              <a:spcAft>
                <a:spcPts val="0"/>
              </a:spcAft>
              <a:buSzPct val="100000"/>
              <a:buChar char="○"/>
            </a:pPr>
            <a:r>
              <a:rPr lang="ja" noProof="1"/>
              <a:t>Who's responsible for OSS issues?</a:t>
            </a:r>
            <a:endParaRPr/>
          </a:p>
          <a:p>
            <a:pPr marL="914400" lvl="1" indent="-316706" algn="l" rtl="0">
              <a:spcBef>
                <a:spcPts val="0"/>
              </a:spcBef>
              <a:spcAft>
                <a:spcPts val="0"/>
              </a:spcAft>
              <a:buSzPct val="100000"/>
              <a:buChar char="○"/>
            </a:pPr>
            <a:r>
              <a:rPr lang="ja" noProof="1"/>
              <a:t>When you start using generated AI</a:t>
            </a:r>
            <a:endParaRPr/>
          </a:p>
          <a:p>
            <a:pPr marL="1371600" lvl="2" indent="-299085" algn="l" rtl="0">
              <a:spcBef>
                <a:spcPts val="0"/>
              </a:spcBef>
              <a:spcAft>
                <a:spcPts val="0"/>
              </a:spcAft>
              <a:buSzPct val="100000"/>
              <a:buChar char="■"/>
            </a:pPr>
            <a:r>
              <a:rPr lang="ja" noProof="1"/>
              <a:t>Note: GitHub (Microsoft) has a Copilot Copyright Commitment, which compensates for AI-generated code. (If anyone is familiar with it, please explain.)</a:t>
            </a:r>
            <a:endParaRPr/>
          </a:p>
          <a:p>
            <a:pPr marL="0" lvl="0" indent="0" algn="l" rtl="0">
              <a:spcBef>
                <a:spcPts val="0"/>
              </a:spcBef>
              <a:spcAft>
                <a:spcPts val="0"/>
              </a:spcAft>
              <a:buNone/>
            </a:pPr>
            <a:r>
              <a:t> </a:t>
            </a:r>
          </a:p>
        </p:txBody>
      </p:sp>
    </p:spTree>
  </p:cSld>
  <p:clrMapOvr>
    <a:masterClrMapping/>
  </p:clrMapOvr>
</p:sld>
</file>

<file path=ppt/theme/theme1.xml><?xml version="1.0" encoding="utf-8"?>
<a:theme xmlns:a="http://schemas.openxmlformats.org/drawingml/2006/main" name="OpenChain Japan Work Group">
  <a:themeElements>
    <a:clrScheme name="ユーザー定義 1">
      <a:dk1>
        <a:srgbClr val="000000"/>
      </a:dk1>
      <a:lt1>
        <a:srgbClr val="FFFFFF"/>
      </a:lt1>
      <a:dk2>
        <a:srgbClr val="4E5B6F"/>
      </a:dk2>
      <a:lt2>
        <a:srgbClr val="D6ECFF"/>
      </a:lt2>
      <a:accent1>
        <a:srgbClr val="007DEA"/>
      </a:accent1>
      <a:accent2>
        <a:srgbClr val="FCB95D"/>
      </a:accent2>
      <a:accent3>
        <a:srgbClr val="FF0000"/>
      </a:accent3>
      <a:accent4>
        <a:srgbClr val="007DEA"/>
      </a:accent4>
      <a:accent5>
        <a:srgbClr val="738AC8"/>
      </a:accent5>
      <a:accent6>
        <a:srgbClr val="1AB39F"/>
      </a:accent6>
      <a:hlink>
        <a:srgbClr val="EB8803"/>
      </a:hlink>
      <a:folHlink>
        <a:srgbClr val="5F77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f41bcb5-c330-4cbb-8eba-49c9dbaaa5bd}" enabled="1" method="Privileged" siteId="{66c65d8a-9158-4521-a2d8-664963db48e4}" contentBits="0" removed="0"/>
</clbl:labelList>
</file>

<file path=docProps/app.xml><?xml version="1.0" encoding="utf-8"?>
<Properties xmlns="http://schemas.openxmlformats.org/officeDocument/2006/extended-properties" xmlns:vt="http://schemas.openxmlformats.org/officeDocument/2006/docPropsVTypes">
  <TotalTime>0</TotalTime>
  <Words>14267</Words>
  <Application>Microsoft Office PowerPoint</Application>
  <PresentationFormat>画面に合わせる (16:9)</PresentationFormat>
  <Paragraphs>1499</Paragraphs>
  <Slides>66</Slides>
  <Notes>66</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66</vt:i4>
      </vt:variant>
    </vt:vector>
  </HeadingPairs>
  <TitlesOfParts>
    <vt:vector size="72" baseType="lpstr">
      <vt:lpstr>Open Sans</vt:lpstr>
      <vt:lpstr>Arial</vt:lpstr>
      <vt:lpstr>Quattrocento Sans</vt:lpstr>
      <vt:lpstr>Courier New</vt:lpstr>
      <vt:lpstr>Tahoma</vt:lpstr>
      <vt:lpstr>OpenChain Japan Work Group</vt:lpstr>
      <vt:lpstr>Qx</vt:lpstr>
      <vt:lpstr> </vt:lpstr>
      <vt:lpstr>Q: What are the benefits of OSS activities?</vt:lpstr>
      <vt:lpstr>Q: What are the benefits of OSS activities?</vt:lpstr>
      <vt:lpstr>What is OSPO in the first place?</vt:lpstr>
      <vt:lpstr>What is an OSPO?</vt:lpstr>
      <vt:lpstr>What is an OSPO?</vt:lpstr>
      <vt:lpstr>What is OSPO anyway?</vt:lpstr>
      <vt:lpstr>What is OSPO in the first place?</vt:lpstr>
      <vt:lpstr>What is OSPO?</vt:lpstr>
      <vt:lpstr>OSPO Strategy: How to launch OSPO/Strategy</vt:lpstr>
      <vt:lpstr>Open Source Program What is a Program in Office?</vt:lpstr>
      <vt:lpstr> </vt:lpstr>
      <vt:lpstr>What is OSPO?</vt:lpstr>
      <vt:lpstr>Qx</vt:lpstr>
      <vt:lpstr>Qx</vt:lpstr>
      <vt:lpstr>Consideration of OSPO organizational growth</vt:lpstr>
      <vt:lpstr>Change in awareness of OSS</vt:lpstr>
      <vt:lpstr>7/11 Plenary Breakout Session</vt:lpstr>
      <vt:lpstr>Steps to start using OSS</vt:lpstr>
      <vt:lpstr>Consumer-Leader Open Source Value Map</vt:lpstr>
      <vt:lpstr>Consumer-Leader Open Source Value Map</vt:lpstr>
      <vt:lpstr>Qx</vt:lpstr>
      <vt:lpstr>Qx</vt:lpstr>
      <vt:lpstr>Qx</vt:lpstr>
      <vt:lpstr>Qx</vt:lpstr>
      <vt:lpstr>Qx</vt:lpstr>
      <vt:lpstr>Q1</vt:lpstr>
      <vt:lpstr>Q1 Reference Links</vt:lpstr>
      <vt:lpstr>Question candidates (in blue, added in MTG)</vt:lpstr>
      <vt:lpstr>2023/3/24  Meeting chat</vt:lpstr>
      <vt:lpstr>The relationship between the benefits of OSS, the role of OSPO, and the level of understanding of OSS</vt:lpstr>
      <vt:lpstr>Q: Leveraging OSS, what are the benefits of OSS activities?</vt:lpstr>
      <vt:lpstr>Q: Leveraging OSS, what are the benefits of OSS activities?</vt:lpstr>
      <vt:lpstr>Q: What are the benefits of OSS activities?</vt:lpstr>
      <vt:lpstr>Q: What are the benefits of OSS activities?</vt:lpstr>
      <vt:lpstr>Q: What are the benefits of OSS activities?</vt:lpstr>
      <vt:lpstr>Qx</vt:lpstr>
      <vt:lpstr>Qx</vt:lpstr>
      <vt:lpstr>Qx</vt:lpstr>
      <vt:lpstr>Qx</vt:lpstr>
      <vt:lpstr>Qx</vt:lpstr>
      <vt:lpstr>2024/6/28 agenda</vt:lpstr>
      <vt:lpstr>Concerns</vt:lpstr>
      <vt:lpstr> </vt:lpstr>
      <vt:lpstr>Gathering material (2024/7/26)</vt:lpstr>
      <vt:lpstr>About 2024/8/23 Contribution</vt:lpstr>
      <vt:lpstr>2024/10/18 Local Meetup</vt:lpstr>
      <vt:lpstr>2024/11/22</vt:lpstr>
      <vt:lpstr> </vt:lpstr>
      <vt:lpstr>2025/1/24</vt:lpstr>
      <vt:lpstr>2025/1/24, 2/28 - 3/28 Preliminary Fix - 4/25 Fix</vt:lpstr>
      <vt:lpstr>2025/1/24, 2/28</vt:lpstr>
      <vt:lpstr>3/28</vt:lpstr>
      <vt:lpstr>Here is a pictorial representation of the SBOM management process that was described and commented on 5/23. I would appreciate your advice and comments.</vt:lpstr>
      <vt:lpstr>5/23 of chat memos (excluding speaker information)</vt:lpstr>
      <vt:lpstr>7/11</vt:lpstr>
      <vt:lpstr>8/22</vt:lpstr>
      <vt:lpstr>8/22</vt:lpstr>
      <vt:lpstr>9/19</vt:lpstr>
      <vt:lpstr>9/19</vt:lpstr>
      <vt:lpstr>9/19</vt:lpstr>
      <vt:lpstr>9/19</vt:lpstr>
      <vt:lpstr>9/19</vt:lpstr>
      <vt:lpstr>10/24</vt:lpstr>
      <vt:lpstr>2025/11/28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Kuwata, Masayuki (SGC)</cp:lastModifiedBy>
  <cp:revision>1</cp:revision>
  <dcterms:modified xsi:type="dcterms:W3CDTF">2026-01-09T00:50:27Z</dcterms:modified>
</cp:coreProperties>
</file>